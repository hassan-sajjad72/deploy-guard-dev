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Hassan Sajjad
Purpose: Open the defense with the product identity, team, and central promise.
Presentation Content:
- DeployGuard is a platform-as-a-service-style control plane for deploying repository applications to AWS.
- It converts a selected source revision and explicit configuration into a traceable cloud release.
- The core promise is deterministic delivery: build, provision, verify, promote, observe, recover, and destroy through one governed lifecycle.
- Team members: Hassan Sajjad, Tania Khawar, and Faria Fatima.
- FYP-II focus: implementation maturity, end-to-end integration, lifecycle reliability, observability, and defensible verification.
Visual Recommendation: A clean title slide with the DeployGuard logo and a single flow: Repository → DeployGuard → AWS Runtime.
Defense Notes: Describe DeployGuard as a control plane, not merely a deployment script or dashboard. The differentiator is that it preserves source, image, configuration, infrastructure, and release identity throughout the lifecycle.
Purpose: ** Open the defense with the product identity, team, and central promise. ****Presentation Content:**** - DeployGuard is a platform-as-a-service-style control plane for deploying repository applications to AWS. - It converts a selected source revision and explicit configuration into a traceable cloud release. - The core promise is deterministic delivery: build, provision, verify, promote, observe, recover, and destroy through one governed lifecycle. - Team members: Hassan Sajjad, Tania Khawar, and Faria Fatima. - FYP-II focus: implementation maturity, end-to-end integration, lifecycle reliability, observability, and defensible verification. ****Visual Recommendation:**** A clean title slide with the DeployGuard logo and a single flow: Repository → DeployGuard → AWS Runtime. ****Defense Notes:**** Describe DeployGuard as a control plane, not merely a deployment script or dashboard. The differentiator is that it preserves source, image, configuration, infrastructure, and release identity throughout the lifecycle.
Defense notes: ** Describe DeployGuard as a control plane, not merely a deployment script or dashboard. The differentiator is that it preserves source, image, configuration, infrastructure, and release identity throughout the lifecycle.
Visual plan: ** A clean title slide with the DeployGuard logo and a single flow: Repository → DeployGuard → AWS Runtime. ****Defense Notes:**** Describe DeployGuard as a control plane, not merely a deployment script or dashboard. The differentiator is that it preserves source, image, configuration, infrastructure, and release identity throughout the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Hassan Sajjad
Purpose: Establish why the project is needed.
Presentation Content:
- Cloud deployment forces small teams to combine source control, container builds, infrastructure provisioning, runtime diagnosis, security scanning, cost review, and cleanup.
- These tools expose different identifiers and failure formats, so developers struggle to answer: what was deployed, why did it fail, and what is safe to do next?
- Common risks include configuration drift, mutable artifacts, incomplete cleanup, excessive cloud permissions, hidden cost, and rollback based on guesses.
- Existing automation often reports a failed command without identifying whether responsibility belongs to the application, platform, or cloud provider.
- DeployGuard unifies those concerns without hiding the underlying evidence.
Visual Recommendation: A “before DeployGuard” fragmentation diagram with GitHub, container tooling, Terraform, AWS, logs, security, and billing around a confused developer.
Defense Notes: Keep the problem technical and operational. The project is not claiming that individual cloud tools are inadequate; the problem is coordinating them into a consistent, auditable lifecycle.
Purpose: ** Establish why the project is needed. ****Presentation Content:**** - Cloud deployment forces small teams to combine source control, container builds, infrastructure provisioning, runtime diagnosis, security scanning, cost review, and cleanup. - These tools expose different identifiers and failure formats, so developers struggle to answer: what was deployed, why did it fail, and what is safe to do next? - Common risks include configuration drift, mutable artifacts, incomplete cleanup, excessive cloud permissions, hidden cost, and rollback based on guesses. - Existing automation often reports a failed command without identifying whether responsibility belongs to the application, platform, or cloud provider. - DeployGuard unifies those concerns without hiding the underlying evidence. ****Visual Recommendation:**** A “before DeployGuard” fragmentation diagram with GitHub, container tooling, Terraform, AWS, logs, security, and billing around a confused developer. ****Defense Notes:**** Keep the problem technical and operational. The project is not claiming that individual cloud tools are inadequate; the problem is coordinating them into a consistent, auditable lifecycle.
Defense notes: ** Keep the problem technical and operational. The project is not claiming that individual cloud tools are inadequate; the problem is coordinating them into a consistent, auditable lifecycle.
Visual plan: ** A “before DeployGuard” fragmentation diagram with GitHub, container tooling, Terraform, AWS, logs, security, and billing around a confused developer. ****Defense Notes:**** Keep the problem technical and operational. The project is not claiming that individual cloud tools are inadequate; the problem is coordinating them into a consistent, auditable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Hassan Sajjad
Purpose: State what was built and how success is defined.
Presentation Content:
- Provide self-service onboarding from a GitHub repository and selected source revision.
- Detect a reproducible application build target and runtime port, then produce immutable container images.
- Provision AWS infrastructure through Terraform and operate application releases through Amazon ECS.
- Enforce admission checks for permissions, configuration, security, cost, and managed-database readiness.
- Support first deployment, release-only redeployment, exact historical rollback, and verified destruction.
- Present live status, logs, metrics, cost context, audit history, and evidence-grounded AI assistance.
- Package the complete product for repeatable local operation with container orchestration.
Visual Recommendation: Seven objective cards grouped under Build, Cloud, Lifecycle, Governance, Observability, Intelligence, and Portability.
Defense Notes: Explicitly separate product features from proof status. An implemented path may be structurally verified while a particular cloud engine or failure scenario still requires fresh live-cloud evidence.
Purpose: ** State what was built and how success is defined. ****Presentation Content:**** - Provide self-service onboarding from a GitHub repository and selected source revision. - Detect a reproducible application build target and runtime port, then produce immutable container images. - Provision AWS infrastructure through Terraform and operate application releases through Amazon ECS. - Enforce admission checks for permissions, configuration, security, cost, and managed-database readiness. - Support first deployment, release-only redeployment, exact historical rollback, and verified destruction. - Present live status, logs, metrics, cost context, audit history, and evidence-grounded AI assistance. - Package the complete product for repeatable local operation with container orchestration. ****Visual Recommendation:**** Seven objective cards grouped under Build, Cloud, Lifecycle, Governance, Observability, Intelligence, and Portability. ****Defense Notes:**** Explicitly separate product features from proof status. An implemented path may be structurally verified while a particular cloud engine or failure scenario still requires fresh live-cloud evidence.
Defense notes: ** Explicitly separate product features from proof status. An implemented path may be structurally verified while a particular cloud engine or failure scenario still requires fresh live-cloud evidence.
Visual plan: ** Seven objective cards grouped under Build, Cloud, Lifecycle, Governance, Observability, Intelligence, and Portability. ****Defense Notes:**** Explicitly separate product features from proof status. An implemented path may be structurally verified while a particular cloud engine or failure scenario still requires fresh live-cloud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Hassan Sajjad
Purpose: Explain the product through the developer’s experience.
Presentation Content:
- A developer connects a GitHub App installation and selects a repository, source branch, and one or more service directories.
- DeployGuard analyzes each service, resolves its build and port contract, and collects service-scoped environment configuration.
- The developer may attach a supported managed database and reviews deployment readiness before starting.
- The platform builds, scans, publishes, provisions, starts, verifies, and promotes the release while exposing progress.
- After deployment, the developer sees the public endpoint, infrastructure, pipeline history, live logs, metrics, and troubleshooting evidence.
- The same project can be redeployed, rolled back to an immutable stable release, or destroyed with explicit verification.
Visual Recommendation: A numbered user-journey ribbon from Connect Repository to Operate or Destroy.
Defense Notes: Mention that multi-service selection is supported and configuration belongs to the selected service. The journey is designed to reduce ambiguity, not to remove control from the developer.
Purpose: ** Explain the product through the developer’s experience. ****Presentation Content:**** - A developer connects a GitHub App installation and selects a repository, source branch, and one or more service directories. - DeployGuard analyzes each service, resolves its build and port contract, and collects service-scoped environment configuration. - The developer may attach a supported managed database and reviews deployment readiness before starting. - The platform builds, scans, publishes, provisions, starts, verifies, and promotes the release while exposing progress. - After deployment, the developer sees the public endpoint, infrastructure, pipeline history, live logs, metrics, and troubleshooting evidence. - The same project can be redeployed, rolled back to an immutable stable release, or destroyed with explicit verification. ****Visual Recommendation:**** A numbered user-journey ribbon from Connect Repository to Operate or Destroy. ****Defense Notes:**** Mention that multi-service selection is supported and configuration belongs to the selected service. The journey is designed to reduce ambiguity, not to remove control from the developer.
Defense notes: ** Mention that multi-service selection is supported and configuration belongs to the selected service. The journey is designed to reduce ambiguity, not to remove control from the developer.
Visual plan: ** A numbered user-journey ribbon from Connect Repository to Operate or Destroy. ****Defense Notes:**** Mention that multi-service selection is supported and configuration belongs to the selected service. The journey is designed to reduce ambiguity, not to remove control from the developer.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Hassan Sajjad
Purpose: Give the panel a shared mental model before component detail.
Presentation Content:
- Presentation layer: React web application for projects, pipeline, infrastructure, monitoring, troubleshooting, billing, and administration.
- Control plane: NestJS APIs and workers for authentication, repository analysis, deployment admission, orchestration, lifecycle actions, audit, and billing.
- Durable control data: PostgreSQL for projects, configurations, generations, stable releases, evidence, infrastructure state, and audit records.
- Asynchronous execution: Redis-backed BullMQ queues for deployment, lifecycle, and emergency-cleanup work.
- Execution plane: GitHub Actions uses short-lived AWS federation to build, scan, publish, and invoke Terraform and ECS operations.
- Cloud plane: ECR, ECS on Fargate, Application Load Balancers, CloudWatch, Secrets Manager, EFS, service discovery, and managed database containers.
- Observability plane: CloudWatch evidence projected through APIs, Prometheus metrics, and Grafana dashboards.
Visual Recommendation: Layered architecture with arrows from browser to control plane, database and queues, workflow execution, then AWS services.
Defense Notes: Clarify that the control plane owns deployment decisions while the workflow is the privileged execution mechanism. PostgreSQL stores the durable product record; Redis coordinates asynchronous work rather than replacing that record.
Purpose: ** Give the panel a shared mental model before component detail. ****Presentation Content:**** - Presentation layer: React web application for projects, pipeline, infrastructure, monitoring, troubleshooting, billing, and administration. - Control plane: NestJS APIs and workers for authentication, repository analysis, deployment admission, orchestration, lifecycle actions, audit, and billing. - Durable control data: PostgreSQL for projects, configurations, generations, stable releases, evidence, infrastructure state, and audit records. - Asynchronous execution: Redis-backed BullMQ queues for deployment, lifecycle, and emergency-cleanup work. - Execution plane: GitHub Actions uses short-lived AWS federation to build, scan, publish, and invoke Terraform and ECS operations. - Cloud plane: ECR, ECS on Fargate, Application Load Balancers, CloudWatch, Secrets Manager, EFS, service discovery, and managed database containers. - Observability plane: CloudWatch evidence projected through APIs, Prometheus metrics, and Grafana dashboards. ****Visual Recommendation:**** Layered architecture with arrows from browser to control plane, database and queues, workflow execution, then AWS services. ****Defense Notes:**** Clarify that the control plane owns deployment decisions while the workflow is the privileged execution mechanism. PostgreSQL stores the durable product record; Redis coordinates asynchronous work rather than replacing that record.
Defense notes: ** Clarify that the control plane owns deployment decisions while the workflow is the privileged execution mechanism. PostgreSQL stores the durable product record; Redis coordinates asynchronous work rather than replacing that record.
Visual plan: ** Layered architecture with arrows from browser to control plane, database and queues, workflow execution, then AWS services. ****Defense Notes:**** Clarify that the control plane owns deployment decisions while the workflow is the privileged execution mechanism. PostgreSQL stores the durable product record; Redis coordinates asynchronous work rather than replacing that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Hassan Sajjad
Purpose: Connect technology choices to product requirements.
Presentation Content:
- Frontend: React, React Router, Vite, and charting components for a responsive single-page application.
- Backend: NestJS and TypeScript for modular APIs, validation, dependency injection, and background orchestration.
- Data and jobs: PostgreSQL with TypeORM, plus Redis and BullMQ for retryable asynchronous tasks.
- Delivery: GitHub App integration, GitHub Actions, Docker-compatible images, immutable ECR repositories, and Trivy scanning.
- Infrastructure: Terraform with encrypted, versioned S3 remote state and native lockfiles.
- Runtime: Amazon ECS Fargate behind per-service Application Load Balancers.
- Operations: CloudWatch, Prometheus, Grafana, structured audit data, and evidence-based AI analysis.
- Commerce: Stripe test-mode subscription and usage integration.
Visual Recommendation: A technology map grouped by Frontend, Control Plane, Delivery, AWS Runtime, Observability, and Billing.
Defense Notes: If asked why this is not a single monolith, explain that durable state, job execution, privileged workflow actions, and runtime observation have different reliability and security boundaries.
Purpose: ** Connect technology choices to product requirements. ****Presentation Content:**** - Frontend: React, React Router, Vite, and charting components for a responsive single-page application. - Backend: NestJS and TypeScript for modular APIs, validation, dependency injection, and background orchestration. - Data and jobs: PostgreSQL with TypeORM, plus Redis and BullMQ for retryable asynchronous tasks. - Delivery: GitHub App integration, GitHub Actions, Docker-compatible images, immutable ECR repositories, and Trivy scanning. - Infrastructure: Terraform with encrypted, versioned S3 remote state and native lockfiles. - Runtime: Amazon ECS Fargate behind per-service Application Load Balancers. - Operations: CloudWatch, Prometheus, Grafana, structured audit data, and evidence-based AI analysis. - Commerce: Stripe test-mode subscription and usage integration. ****Visual Recommendation:**** A technology map grouped by Frontend, Control Plane, Delivery, AWS Runtime, Observability, and Billing. ****Defense Notes:**** If asked why this is not a single monolith, explain that durable state, job execution, privileged workflow actions, and runtime observation have different reliability and security boundaries.
Defense notes: ** If asked why this is not a single monolith, explain that durable state, job execution, privileged workflow actions, and runtime observation have different reliability and security boundaries.
Visual plan: ** A technology map grouped by Frontend, Control Plane, Delivery, AWS Runtime, Observability, and Billing. ****Defense Notes:**** If asked why this is not a single monolith, explain that durable state, job execution, privileged workflow actions, and runtime observation have different reliability and security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Hassan Sajjad
Purpose: Explain the deterministic data model that connects every stage.
Presentation Content:
- Build Target records how a specific service is built and started.
- Runtime Config Revision records the environment and non-secret runtime contract without exposing secret values.
- Deployment Generation records one concrete deployment attempt and its source, artifacts, stages, and evidence.
- Stable Release points only to a generation that passed required verification.
- Failure Diagnostic stores deterministic code, stage, owner, affected service, root cause, and retry guidance.
- Primary sequence: resolve exact source → build and validate → publish immutable image → ensure infrastructure → satisfy database prerequisite → stabilize runtime → verify endpoint → promote.
- These linked identities prevent a later action from silently changing the meaning of an earlier release.
Visual Recommendation: An entity chain with identifiers flowing across Source, Build Target, Config Revision, Generation, Image Digest, Task Revision, and Stable Release.
Defense Notes: This is the conceptual center of the project. “Latest” is not accepted as a release identity; the system retains exact evidence so redeploy and rollback decisions are explainable.
Purpose: ** Explain the deterministic data model that connects every stage. ****Presentation Content:**** - Build Target records how a specific service is built and started. - Runtime Config Revision records the environment and non-secret runtime contract without exposing secret values. - Deployment Generation records one concrete deployment attempt and its source, artifacts, stages, and evidence. - Stable Release points only to a generation that passed required verification. - Failure Diagnostic stores deterministic code, stage, owner, affected service, root cause, and retry guidance. - Primary sequence: resolve exact source → build and validate → publish immutable image → ensure infrastructure → satisfy database prerequisite → stabilize runtime → verify endpoint → promote. - These linked identities prevent a later action from silently changing the meaning of an earlier release. ****Visual Recommendation:**** An entity chain with identifiers flowing across Source, Build Target, Config Revision, Generation, Image Digest, Task Revision, and Stable Release. ****Defense Notes:**** This is the conceptual center of the project. “Latest” is not accepted as a release identity; the system retains exact evidence so redeploy and rollback decisions are explainable.
Defense notes: ** This is the conceptual center of the project. “Latest” is not accepted as a release identity; the system retains exact evidence so redeploy and rollback decisions are explainable.
Visual plan: ** An entity chain with identifiers flowing across Source, Build Target, Config Revision, Generation, Image Digest, Task Revision, and Stable Release. ****Defense Notes:**** This is the conceptual center of the project. “Latest” is not accepted as a release identity; the system retains exact evidence so redeploy and rollback decisions are explainable.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Hassan Sajjad
Purpose: Make ownership explicit and transition into individual contributions.
Presentation Content:
- Hassan Sajjad: project leadership, deployment architecture, infrastructure as code, AWS lifecycle, security and cost gates, release reliability, and integration certification.
- Tania Khawar: frontend experience, onboarding and deployment visualization, real-time monitoring presentation, and AI-assisted troubleshooting experience.
- Faria Fatima: backend orchestration, authentication and repository integration, persistence, queues, auditability, billing integration, and containerized product operation.
- Shared work: requirements validation, cross-layer integration, test support, documentation, and final demonstration.
- Presentation order follows the implemented architecture: shared foundation → cloud and DevOps → frontend and AI → backend and product integration.
Visual Recommendation: Three-column responsibility matrix with a shared-integration band across the bottom.
Defense Notes: Ownership describes primary responsibility, not isolated work. Emphasize that all three layers meet through explicit contracts and were integrated as one product.
# SECTION 2 — HASSAN SAJJAD: CLOUD, DEVOPS, SECURITY, COST, AND RELIABILITY
Purpose: ** Make ownership explicit and transition into individual contributions. ****Presentation Content:**** - Hassan Sajjad: project leadership, deployment architecture, infrastructure as code, AWS lifecycle, security and cost gates, release reliability, and integration certification. - Tania Khawar: frontend experience, onboarding and deployment visualization, real-time monitoring presentation, and AI-assisted troubleshooting experience. - Faria Fatima: backend orchestration, authentication and repository integration, persistence, queues, auditability, billing integration, and containerized product operation. - Shared work: requirements validation, cross-layer integration, test support, documentation, and final demonstration. - Presentation order follows the implemented architecture: shared foundation → cloud and DevOps → frontend and AI → backend and product integration. ****Visual Recommendation:**** Three-column responsibility matrix with a shared-integration band across the bottom. ****Defense Notes:**** Ownership describes primary responsibility, not isolated work. Emphasize that all three layers meet through explicit contracts and were integrated as one product. **# SECTION 2 — HASSAN SAJJAD: CLOUD, DEVOPS, SECURITY, COST, AND RELIABILITY**
Defense notes: ** Ownership describes primary responsibility, not isolated work. Emphasize that all three layers meet through explicit contracts and were integrated as one product. **# SECTION 2 — HASSAN SAJJAD: CLOUD, DEVOPS, SECURITY, COST, AND RELIABILITY**
Visual plan: ** Three-column responsibility matrix with a shared-integration band across the bottom. ****Defense Notes:**** Ownership describes primary responsibility, not isolated work. Emphasize that all three layers meet through explicit contracts and were integrated as one product. **# SECTION 2 — HASSAN SAJJAD: CLOUD, DEVOPS, SECURITY, COST, AND RELIABILITY**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Hassan Sajjad
Purpose: Defend the architectural boundary that prevents competing authorities.
Presentation Content:
- Terraform owns infrastructure existence, networking, load balancers, IAM, EFS, service discovery, database infrastructure, state, and final destruction.
- DeployGuard owns admission, database readiness decisions, runtime-success classification, verification, stable-release promotion, and manual rollback policy.
- ECS owns low-level task placement, scaling, rolling deployment, and stability primitives.
- Application services protect externally managed desired count and active task revision from later topology applies.
- A database-attached application is created at zero desired tasks, then raised by DeployGuard only after its database prerequisite succeeds.
- Unrelated services do not wait on another service’s database.
Visual Recommendation: Three overlapping authority circles with non-overlapping responsibility lists and a shared lifecycle arrow.
Defense Notes: This boundary avoids configuration fights. Terraform can still destroy the service, but it does not undo a legitimate post-create scale-up or release-only task revision selected by DeployGuard.
Purpose: ** Defend the architectural boundary that prevents competing authorities. ****Presentation Content:**** - Terraform owns infrastructure existence, networking, load balancers, IAM, EFS, service discovery, database infrastructure, state, and final destruction. - DeployGuard owns admission, database readiness decisions, runtime-success classification, verification, stable-release promotion, and manual rollback policy. - ECS owns low-level task placement, scaling, rolling deployment, and stability primitives. - Application services protect externally managed desired count and active task revision from later topology applies. - A database-attached application is created at zero desired tasks, then raised by DeployGuard only after its database prerequisite succeeds. - Unrelated services do not wait on another service’s database. ****Visual Recommendation:**** Three overlapping authority circles with non-overlapping responsibility lists and a shared lifecycle arrow. ****Defense Notes:**** This boundary avoids configuration fights. Terraform can still destroy the service, but it does not undo a legitimate post-create scale-up or release-only task revision selected by DeployGuard.
Defense notes: ** This boundary avoids configuration fights. Terraform can still destroy the service, but it does not undo a legitimate post-create scale-up or release-only task revision selected by DeployGuard.
Visual plan: ** Three overlapping authority circles with non-overlapping responsibility lists and a shared lifecycle arrow. ****Defense Notes:**** This boundary avoids configuration fights. Terraform can still destroy the service, but it does not undo a legitimate post-create scale-up or release-only task revision selected by DeployGuard.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Hassan Sajjad
Purpose: Show the concrete cloud architecture of a deployed project.
Presentation Content:
- Each project receives an ECS cluster and each application service receives its own task definition, service, log group, target group, listener, and load balancer path.
- Application tasks run on Fargate and are reached through an Application Load Balancer health-checked target group.
- The application security group accepts only the declared service and probe ports from the load-balancer security group.
- A managed database is discovered through private service discovery and accepts its engine port only from its attached application security group.
- Encrypted EFS provides persistent database storage with transit encryption and a restricted access point.
- CloudWatch captures task logs and operational metrics; Secrets Manager supplies platform-owned database credentials.
Visual Recommendation: AWS topology diagram: Internet → ALB → app task; app task → database task → EFS; both → CloudWatch; secrets → tasks.
Defense Notes: Use “network-isolated with private service discovery,” not “private-subnet database.” Security-group relationships are the implemented inbound boundary.
Purpose: ** Show the concrete cloud architecture of a deployed project. ****Presentation Content:**** - Each project receives an ECS cluster and each application service receives its own task definition, service, log group, target group, listener, and load balancer path. - Application tasks run on Fargate and are reached through an Application Load Balancer health-checked target group. - The application security group accepts only the declared service and probe ports from the load-balancer security group. - A managed database is discovered through private service discovery and accepts its engine port only from its attached application security group. - Encrypted EFS provides persistent database storage with transit encryption and a restricted access point. - CloudWatch captures task logs and operational metrics; Secrets Manager supplies platform-owned database credentials. ****Visual Recommendation:**** AWS topology diagram: Internet → ALB → app task; app task → database task → EFS; both → CloudWatch; secrets → tasks. ****Defense Notes:**** Use “network-isolated with private service discovery,” not “private-subnet database.” Security-group relationships are the implemented inbound boundary.
Defense notes: ** Use “network-isolated with private service discovery,” not “private-subnet database.” Security-group relationships are the implemented inbound boundary.
Visual plan: ** AWS topology diagram: Internet → ALB → app task; app task → database task → EFS; both → CloudWatch; secrets → tasks. ****Defense Notes:**** Use “network-isolated with private service discovery,” not “private-subnet database.” Security-group relationships are the implemented inbound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Hassan Sajjad
Purpose: Explain repeatability, concurrency protection, and recoverability.
Presentation Content:
- Terraform modules materialize project-specific runtime inputs into deterministic infrastructure plans.
- Remote state uses an encrypted, versioned S3 bucket with public access blocked and native lockfile coordination.
- State admission validates backend ownership and safety before cloud mutation begins.
- Planning and applying are separate stages; planning failure is recorded with its own deterministic code and stage.
- Safety snapshots, lock and heartbeat records, workflow evidence, and cloud observation support recovery from interrupted operations.
- Lifecycle rules permit ECS-managed desired count and active release revision while retaining Terraform’s authority to delete resources.
Visual Recommendation: State-safety sequence: Validate Backend → Acquire Lock → Plan → Apply → Persist Evidence → Release Lock.
Defense Notes: If older documentation mentions a separate lock database, clarify that the implemented system uses S3’s native lockfile mechanism. The source implementation is authoritative for the final architecture.
Purpose: ** Explain repeatability, concurrency protection, and recoverability. ****Presentation Content:**** - Terraform modules materialize project-specific runtime inputs into deterministic infrastructure plans. - Remote state uses an encrypted, versioned S3 bucket with public access blocked and native lockfile coordination. - State admission validates backend ownership and safety before cloud mutation begins. - Planning and applying are separate stages; planning failure is recorded with its own deterministic code and stage. - Safety snapshots, lock and heartbeat records, workflow evidence, and cloud observation support recovery from interrupted operations. - Lifecycle rules permit ECS-managed desired count and active release revision while retaining Terraform’s authority to delete resources. ****Visual Recommendation:**** State-safety sequence: Validate Backend → Acquire Lock → Plan → Apply → Persist Evidence → Release Lock. ****Defense Notes:**** If older documentation mentions a separate lock database, clarify that the implemented system uses S3’s native lockfile mechanism. The source implementation is authoritative for the final architecture.
Defense notes: ** If older documentation mentions a separate lock database, clarify that the implemented system uses S3’s native lockfile mechanism. The source implementation is authoritative for the final architecture.
Visual plan: ** State-safety sequence: Validate Backend → Acquire Lock → Plan → Apply → Persist Evidence → Release Lock. ****Defense Notes:**** If older documentation mentions a separate lock database, clarify that the implemented system uses S3’s native lockfile mechanism. The source implementation is authoritative for the final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Hassan Sajjad
Purpose: Demonstrate how source becomes a verifiable runtime artifact.
Presentation Content:
- The workflow checks out the exact selected source revision rather than an ambiguous moving reference.
- Repository analysis resolves service root, build contract, start command, health route, and one canonical runtime port.
- Images are built and locally validated before publication to immutable ECR repositories.
- Trivy produces vulnerability evidence and can enforce configured severity policy before deployment proceeds.
- The workflow validates immutable inputs, performs Terraform init, validate, plan, and apply for infrastructure, then verifies ECS and the public endpoint.
- Final evidence binds source identity, image digest, runtime configuration, infrastructure action, and release result.
Visual Recommendation: Horizontal delivery pipeline with red stop-gates at Input Validation, Local Runtime, Security Scan, Infrastructure, and Public Verification.
Defense Notes: Build-system internals are deliberately hidden behind a canonical build contract. What matters at the control-plane boundary is reproducibility, local validation, immutable publication, and recorded evidence.
Purpose: ** Demonstrate how source becomes a verifiable runtime artifact. ****Presentation Content:**** - The workflow checks out the exact selected source revision rather than an ambiguous moving reference. - Repository analysis resolves service root, build contract, start command, health route, and one canonical runtime port. - Images are built and locally validated before publication to immutable ECR repositories. - Trivy produces vulnerability evidence and can enforce configured severity policy before deployment proceeds. - The workflow validates immutable inputs, performs Terraform init, validate, plan, and apply for infrastructure, then verifies ECS and the public endpoint. - Final evidence binds source identity, image digest, runtime configuration, infrastructure action, and release result. ****Visual Recommendation:**** Horizontal delivery pipeline with red stop-gates at Input Validation, Local Runtime, Security Scan, Infrastructure, and Public Verification. ****Defense Notes:**** Build-system internals are deliberately hidden behind a canonical build contract. What matters at the control-plane boundary is reproducibility, local validation, immutable publication, and recorded evidence.
Defense notes: ** Build-system internals are deliberately hidden behind a canonical build contract. What matters at the control-plane boundary is reproducibility, local validation, immutable publication, and recorded evidence.
Visual plan: ** Horizontal delivery pipeline with red stop-gates at Input Validation, Local Runtime, Security Scan, Infrastructure, and Public Verification. ****Defense Notes:**** Build-system internals are deliberately hidden behind a canonical build contract. What matters at the control-plane boundary is reproducibility, local validation, immutable publication, and recorded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Hassan Sajjad
Purpose: Show that security is enforced throughout the lifecycle.
Presentation Content:
- GitHub Actions obtains short-lived AWS credentials through OpenID Connect; long-lived cloud access keys are not the normal execution model.
- Capability admission verifies that the configured role can perform the exact AWS operations required by the selected action.
- Third-party workflow actions are pinned immutably, and container images are referenced by digest after publication.
- Secrets are encrypted at rest in the control plane, injected only into the correct service, and redacted from logs and AI evidence.
- HTTP protections include Helmet, restricted CORS, validated request DTOs, signed secure session cookies, OAuth state validation, and role separation.
- Audit records capture actor, action, resource, result, network context, and sanitized metadata.
Visual Recommendation: Defense-in-depth shield with Identity, Input, Artifact, Secret, Runtime, and Audit layers.
Defense Notes: Trivy is one control, not the whole security story. Stress temporary federation, explicit capability checks, service-scoped secrets, immutable references, and auditability.
Purpose: ** Show that security is enforced throughout the lifecycle. ****Presentation Content:**** - GitHub Actions obtains short-lived AWS credentials through OpenID Connect; long-lived cloud access keys are not the normal execution model. - Capability admission verifies that the configured role can perform the exact AWS operations required by the selected action. - Third-party workflow actions are pinned immutably, and container images are referenced by digest after publication. - Secrets are encrypted at rest in the control plane, injected only into the correct service, and redacted from logs and AI evidence. - HTTP protections include Helmet, restricted CORS, validated request DTOs, signed secure session cookies, OAuth state validation, and role separation. - Audit records capture actor, action, resource, result, network context, and sanitized metadata. ****Visual Recommendation:**** Defense-in-depth shield with Identity, Input, Artifact, Secret, Runtime, and Audit layers. ****Defense Notes:**** Trivy is one control, not the whole security story. Stress temporary federation, explicit capability checks, service-scoped secrets, immutable references, and auditability.
Defense notes: ** Trivy is one control, not the whole security story. Stress temporary federation, explicit capability checks, service-scoped secrets, immutable references, and auditability.
Visual plan: ** Defense-in-depth shield with Identity, Input, Artifact, Secret, Runtime, and Audit layers. ****Defense Notes:**** Trivy is one control, not the whole security story. Stress temporary federation, explicit capability checks, service-scoped secrets, immutable references, and auditability.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Hassan Sajjad
Purpose: Present cost as a deployment decision rather than a later surprise.
Presentation Content:
- DeployGuard computes a structured infrastructure estimate with service-level and resource-level breakdowns.
- Cost evidence is associated with the deployment context so a reviewer can see what is expected to create spend.
- Configurable thresholds and approval states can prevent a deployment from proceeding without acknowledgement.
- Billing entitlements and usage are evaluated by the control plane rather than trusted from the browser.
- Stripe integration supports test-mode plans, checkout, customer state, invoices, and signed webhook processing when configured.
- Cloud cost estimates and product subscription billing are separate concerns: one predicts AWS usage; the other governs DeployGuard access.
Visual Recommendation: Split panel: Estimated AWS Resources and DeployGuard Plan/Entitlement, joined at the admission gate.
Defense Notes: Do not claim exact future AWS bills. Estimates are decision support. Also state clearly that the preserved billing demonstration is test-mode integration, not evidence of live commercial charging.
Purpose: ** Present cost as a deployment decision rather than a later surprise. ****Presentation Content:**** - DeployGuard computes a structured infrastructure estimate with service-level and resource-level breakdowns. - Cost evidence is associated with the deployment context so a reviewer can see what is expected to create spend. - Configurable thresholds and approval states can prevent a deployment from proceeding without acknowledgement. - Billing entitlements and usage are evaluated by the control plane rather than trusted from the browser. - Stripe integration supports test-mode plans, checkout, customer state, invoices, and signed webhook processing when configured. - Cloud cost estimates and product subscription billing are separate concerns: one predicts AWS usage; the other governs DeployGuard access. ****Visual Recommendation:**** Split panel: Estimated AWS Resources and DeployGuard Plan/Entitlement, joined at the admission gate. ****Defense Notes:**** Do not claim exact future AWS bills. Estimates are decision support. Also state clearly that the preserved billing demonstration is test-mode integration, not evidence of live commercial charging.
Defense notes: ** Do not claim exact future AWS bills. Estimates are decision support. Also state clearly that the preserved billing demonstration is test-mode integration, not evidence of live commercial charging.
Visual plan: ** Split panel: Estimated AWS Resources and DeployGuard Plan/Entitlement, joined at the admission gate. ****Defense Notes:**** Do not claim exact future AWS bills. Estimates are decision support. Also state clearly that the preserved billing demonstration is test-mode integration, not evidence of live commercial charging.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Hassan Sajjad
Purpose: Explain database persistence without creating a global deployment bottleneck.
Presentation Content:
- Supported engine contracts cover PostgreSQL, MySQL, and MongoDB with engine-specific health behavior.
- Credentials are generated and stored through Secrets Manager; data is persisted on encrypted EFS.
- Database state is reconciled before deployment into HEALTHY, RECOVERABLE, DATA_LOST_RESET_REQUIRED, STALE_METADATA, or IDENTITY_MIGRATION_REQUIRED.
- Deployment proceeds only when the authoritative reconciliation result explicitly allows it.
- PostgreSQL and MongoDB require container readiness; MySQL additionally requires successful application-user grant reconciliation.
- Only the attached application waits for its database; independent services continue through their own lifecycle.
- A fresh deployment never silently deletes healthy persistent data.
Visual Recommendation: Three engine cards feeding a per-service readiness gate, with unrelated services bypassing that gate.
Defense Notes: Distinguish structural support from live certification. The current source contains the engine-specific contracts, while some engine and dynamic-network cases remain listed for fresh AWS proof.
Purpose: ** Explain database persistence without creating a global deployment bottleneck. ****Presentation Content:**** - Supported engine contracts cover PostgreSQL, MySQL, and MongoDB with engine-specific health behavior. - Credentials are generated and stored through Secrets Manager; data is persisted on encrypted EFS. - Database state is reconciled before deployment into HEALTHY, RECOVERABLE, DATA_LOST_RESET_REQUIRED, STALE_METADATA, or IDENTITY_MIGRATION_REQUIRED. - Deployment proceeds only when the authoritative reconciliation result explicitly allows it. - PostgreSQL and MongoDB require container readiness; MySQL additionally requires successful application-user grant reconciliation. - Only the attached application waits for its database; independent services continue through their own lifecycle. - A fresh deployment never silently deletes healthy persistent data. ****Visual Recommendation:**** Three engine cards feeding a per-service readiness gate, with unrelated services bypassing that gate. ****Defense Notes:**** Distinguish structural support from live certification. The current source contains the engine-specific contracts, while some engine and dynamic-network cases remain listed for fresh AWS proof.
Defense notes: ** Distinguish structural support from live certification. The current source contains the engine-specific contracts, while some engine and dynamic-network cases remain listed for fresh AWS proof.
Visual plan: ** Three engine cards feeding a per-service readiness gate, with unrelated services bypassing that gate. ****Defense Notes:**** Distinguish structural support from live certification. The current source contains the engine-specific contracts, while some engine and dynamic-network cases remain listed for fresh AWS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Hassan Sajjad
Purpose: Close the cloud section with lifecycle guarantees and honest evidence.
Presentation Content:
- First deployment provisions topology, starts prerequisites, stabilizes ECS, verifies the public route, and only then promotes a stable release.
- Release-only redeployment builds a new immutable artifact and updates ECS directly without a full infrastructure apply.
- Manual rollback selects an exact previous stable task revision; it does not rebuild source or guess historical configuration.
- Reset and Deploy Fresh performs reconciliation first, creates a new generation, and preserves healthy persistent data.
- Destroy requires explicit admission, executes Terraform destruction, inventories cloud resources, verifies deletion, and finalizes control-plane state.
- Failures are attributed to platform, repository application, external provider, or unverified, with stage-specific evidence.
- Preserved certification demonstrates clean deploys and a deploy–redeploy–rollback–destroy lifecycle; additional database isolation, topology-reapply, and repeat-destroy scenarios remain candidates for fresh cloud proof.
Visual Recommendation: Lifecycle loop with Deploy, Verify, Promote, Redeploy, Rollback, and Destroy; add green “preserved evidence” and amber “fresh proof pending” labels.
Defense Notes: Never present structural tests as live-cloud proof. The strongest defense is traceability: every transition has an immutable identity, terminal state, and evidence record.
# SECTION 3 — TANIA KHAWAR: FRONTEND, MONITORING EXPERIENCE, AND AI ASSISTANCE
Purpose: ** Close the cloud section with lifecycle guarantees and honest evidence. ****Presentation Content:**** - First deployment provisions topology, starts prerequisites, stabilizes ECS, verifies the public route, and only then promotes a stable release. - Release-only redeployment builds a new immutable artifact and updates ECS directly without a full infrastructure apply. - Manual rollback selects an exact previous stable task revision; it does not rebuild source or guess historical configuration. - Reset and Deploy Fresh performs reconciliation first, creates a new generation, and preserves healthy persistent data. - Destroy requires explicit admission, executes Terraform destruction, inventories cloud resources, verifies deletion, and finalizes control-plane state. - Failures are attributed to platform, repository application, external provider, or unverified, with stage-specific evidence. - Preserved certification demonstrates clean deploys and a deploy–redeploy–rollback–destroy lifecycle; additional database isolation, topology-reapply, and repeat-destroy scenarios remain candidates for fresh cloud proof. ****Visual Recommendation:**** Lifecycle loop with Deploy, Verify, Promote, Redeploy, Rollback, and Destroy; add green “preserved evidence” and amber “fresh proof pending” labels. ****Defense Notes:**** Never present structural tests as live-cloud proof. The strongest defense is traceability: every transition has an immutable identity, terminal state, and evidence record. **# SECTION 3 — TANIA KHAWAR: FRONTEND, MONITORING EXPERIENCE, AND AI ASSISTANCE**
Defense notes: ** Never present structural tests as live-cloud proof. The strongest defense is traceability: every transition has an immutable identity, terminal state, and evidence record. **# SECTION 3 — TANIA KHAWAR: FRONTEND, MONITORING EXPERIENCE, AND AI ASSISTANCE**
Visual plan: ** Lifecycle loop with Deploy, Verify, Promote, Redeploy, Rollback, and Destroy; add green “preserved evidence” and amber “fresh proof pending” labels. ****Defense Notes:**** Never present structural tests as live-cloud proof. The strongest defense is traceability: every transition has an immutable identity, terminal state, and evidence record. **# SECTION 3 — TANIA KHAWAR: FRONTEND, MONITORING EXPERIENCE, AND AI ASSISTANCE**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Tania Khawar
Purpose: Show how the interface turns a complex platform into understandable tasks.
Presentation Content:
- The React single-page application separates public entry, authentication, developer workspaces, and administration.
- Developer routes include Dashboard, Projects, New Project, Project Overview, Pipeline, Infrastructure, Monitoring, Settings, Troubleshooting, and Billing.
- Route protection prevents unauthenticated access, while role checks separate developer and administrator experiences.
- Project pages share a stable navigation context so users do not lose the selected project while moving between lifecycle views.
- Polling and server-sent events keep long-running cloud operations visible without requiring manual refresh.
- UI copy translates provider concepts into product states while retaining detailed evidence for technical users.
Visual Recommendation: Annotated sitemap with public, developer, project-detail, billing, and admin route groups.
Defense Notes: Explain the distinction between simplifying and hiding. Summary cards support quick decisions, while infrastructure, pipeline, logs, and diagnostics preserve technical detail.
Purpose: ** Show how the interface turns a complex platform into understandable tasks. ****Presentation Content:**** - The React single-page application separates public entry, authentication, developer workspaces, and administration. - Developer routes include Dashboard, Projects, New Project, Project Overview, Pipeline, Infrastructure, Monitoring, Settings, Troubleshooting, and Billing. - Route protection prevents unauthenticated access, while role checks separate developer and administrator experiences. - Project pages share a stable navigation context so users do not lose the selected project while moving between lifecycle views. - Polling and server-sent events keep long-running cloud operations visible without requiring manual refresh. - UI copy translates provider concepts into product states while retaining detailed evidence for technical users. ****Visual Recommendation:**** Annotated sitemap with public, developer, project-detail, billing, and admin route groups. ****Defense Notes:**** Explain the distinction between simplifying and hiding. Summary cards support quick decisions, while infrastructure, pipeline, logs, and diagnostics preserve technical detail.
Defense notes: ** Explain the distinction between simplifying and hiding. Summary cards support quick decisions, while infrastructure, pipeline, logs, and diagnostics preserve technical detail.
Visual plan: ** Annotated sitemap with public, developer, project-detail, billing, and admin route groups. ****Defense Notes:**** Explain the distinction between simplifying and hiding. Summary cards support quick decisions, while infrastructure, pipeline, logs, and diagnostics preserve technical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Tania Khawar
Purpose: Demonstrate the guided path from GitHub connection to deployment readiness.
Presentation Content:
- The New Project flow first verifies the user’s GitHub App connection and available installation repositories.
- Users select a repository and source branch, then choose one or more service directories for deployment.
- Each service receives its own environment configuration, detected port contract, and optional managed-database attachment.
- The interface supports bulk environment-variable paste while keeping service ownership visible.
- Readiness feedback blocks incomplete or contradictory configurations before a workflow is dispatched.
- The final review summarizes repository, services, runtime settings, database choices, and expected action.
Visual Recommendation: A five-step wizard storyboard using actual screenshots: Connect, Select, Configure Services, Attach Database, Review.
Defense Notes: For the presentation screenshot, crop any internal builder implementation label. Discuss the user-facing contract as automated container build and validation.
Purpose: ** Demonstrate the guided path from GitHub connection to deployment readiness. ****Presentation Content:**** - The New Project flow first verifies the user’s GitHub App connection and available installation repositories. - Users select a repository and source branch, then choose one or more service directories for deployment. - Each service receives its own environment configuration, detected port contract, and optional managed-database attachment. - The interface supports bulk environment-variable paste while keeping service ownership visible. - Readiness feedback blocks incomplete or contradictory configurations before a workflow is dispatched. - The final review summarizes repository, services, runtime settings, database choices, and expected action. ****Visual Recommendation:**** A five-step wizard storyboard using actual screenshots: Connect, Select, Configure Services, Attach Database, Review. ****Defense Notes:**** For the presentation screenshot, crop any internal builder implementation label. Discuss the user-facing contract as automated container build and validation.
Defense notes: ** For the presentation screenshot, crop any internal builder implementation label. Discuss the user-facing contract as automated container build and validation.
Visual plan: ** A five-step wizard storyboard using actual screenshots: Connect, Select, Configure Services, Attach Database, Review. ****Defense Notes:**** For the presentation screenshot, crop any internal builder implementation label. Discuss the user-facing contract as automated container build and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Tania Khawar
Purpose: Explain how the UI communicates asynchronous deployment truth.
Presentation Content:
- The dashboard highlights active deployments, progress, projects requiring attention, and recently used projects.
- Project Overview reconciles stored project information with active operation and cloud-derived current state.
- Pipeline presents deployment generations, stage progression, terminal status, failure evidence, and recovery actions.
- Long-running actions are represented as operations with explicit states rather than optimistic browser-only changes.
- Stable release and current generation are shown separately so the user can distinguish “attempted” from “verified and promoted.”
- Retry, reset, redeploy, rollback, and destroy controls are exposed only when their lifecycle conditions permit them.
Visual Recommendation: One real Pipeline screenshot annotated with Generation, Stage, Stable Release, Evidence, and Allowed Actions.
Defense Notes: The interface does not decide success. It renders authoritative backend and cloud evidence. This separation prevents a refreshed browser or interrupted connection from changing deployment truth.
Purpose: ** Explain how the UI communicates asynchronous deployment truth. ****Presentation Content:**** - The dashboard highlights active deployments, progress, projects requiring attention, and recently used projects. - Project Overview reconciles stored project information with active operation and cloud-derived current state. - Pipeline presents deployment generations, stage progression, terminal status, failure evidence, and recovery actions. - Long-running actions are represented as operations with explicit states rather than optimistic browser-only changes. - Stable release and current generation are shown separately so the user can distinguish “attempted” from “verified and promoted.” - Retry, reset, redeploy, rollback, and destroy controls are exposed only when their lifecycle conditions permit them. ****Visual Recommendation:**** One real Pipeline screenshot annotated with Generation, Stage, Stable Release, Evidence, and Allowed Actions. ****Defense Notes:**** The interface does not decide success. It renders authoritative backend and cloud evidence. This separation prevents a refreshed browser or interrupted connection from changing deployment truth.
Defense notes: ** The interface does not decide success. It renders authoritative backend and cloud evidence. This separation prevents a refreshed browser or interrupted connection from changing deployment truth.
Visual plan: ** One real Pipeline screenshot annotated with Generation, Stage, Stable Release, Evidence, and Allowed Actions. ****Defense Notes:**** The interface does not decide success. It renders authoritative backend and cloud evidence. This separation prevents a refreshed browser or interrupted connection from changing deployment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Tania Khawar
Purpose: Show the implemented observability experience, including Prometheus and Grafana.
Presentation Content:
- Monitoring presents CPU, memory, load-balancer latency, and healthy versus unhealthy target signals derived from AWS observations.
- Live CloudWatch logs are streamed to the browser through server-sent events with reconnection and filtering behavior.
- Project infrastructure views connect service topology, public endpoint, region, runtime state, and supporting services.
- The backend exposes authenticated Prometheus metrics for control-plane and pipeline health.
- Grafana is provisioned with data sources and dashboards for an operator-level view of platform behavior.
- Developer monitoring and operator monitoring are complementary: project users see scoped evidence, while operators see system-wide service health.
Visual Recommendation: Three-panel composition: Monitoring charts, live log stream, and a Grafana dashboard screenshot.
Defense Notes: Prometheus is not presented as a replacement for CloudWatch. CloudWatch is the AWS runtime evidence source; Prometheus and Grafana provide control-plane aggregation and operational dashboards.
Purpose: ** Show the implemented observability experience, including Prometheus and Grafana. ****Presentation Content:**** - Monitoring presents CPU, memory, load-balancer latency, and healthy versus unhealthy target signals derived from AWS observations. - Live CloudWatch logs are streamed to the browser through server-sent events with reconnection and filtering behavior. - Project infrastructure views connect service topology, public endpoint, region, runtime state, and supporting services. - The backend exposes authenticated Prometheus metrics for control-plane and pipeline health. - Grafana is provisioned with data sources and dashboards for an operator-level view of platform behavior. - Developer monitoring and operator monitoring are complementary: project users see scoped evidence, while operators see system-wide service health. ****Visual Recommendation:**** Three-panel composition: Monitoring charts, live log stream, and a Grafana dashboard screenshot. ****Defense Notes:**** Prometheus is not presented as a replacement for CloudWatch. CloudWatch is the AWS runtime evidence source; Prometheus and Grafana provide control-plane aggregation and operational dashboards.
Defense notes: ** Prometheus is not presented as a replacement for CloudWatch. CloudWatch is the AWS runtime evidence source; Prometheus and Grafana provide control-plane aggregation and operational dashboards.
Visual plan: ** Three-panel composition: Monitoring charts, live log stream, and a Grafana dashboard screenshot. ****Defense Notes:**** Prometheus is not presented as a replacement for CloudWatch. CloudWatch is the AWS runtime evidence source; Prometheus and Grafana provide control-plane aggregation and operational dashboards.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Tania Khawar
Purpose: Defend the AI feature as bounded assistance rather than deployment authority.
Presentation Content:
- The troubleshooting flow collects persisted pipeline events, sanitized logs, structured diagnostics, and relevant runtime evidence.
- Evidence is bounded, deduplicated, and filtered before it reaches the model provider.
- Sensitive patterns such as credentials, tokens, authorization headers, private keys, and secret URLs are redacted.
- Model output must follow a structured schema and cite only evidence identifiers supplied in the request.
- Authoritative failure owner, root cause, and retry policy cannot be overwritten by generated advice.
- If the provider is unavailable or its response fails validation, DeployGuard returns a deterministic evidence-only fallback.
- AI recommendations are advisory; lifecycle decisions remain deterministic.
Visual Recommendation: Guardrailed AI flow: Sanitized Evidence → Bounded Model Request → Schema Validation → Advice, with Deterministic Fallback below.
Defense Notes: The safe answer to “Can AI trigger deployment?” is no. It explains evidence and possible remediation; it does not promote a release, change ownership, or bypass admission.
Purpose: ** Defend the AI feature as bounded assistance rather than deployment authority. ****Presentation Content:**** - The troubleshooting flow collects persisted pipeline events, sanitized logs, structured diagnostics, and relevant runtime evidence. - Evidence is bounded, deduplicated, and filtered before it reaches the model provider. - Sensitive patterns such as credentials, tokens, authorization headers, private keys, and secret URLs are redacted. - Model output must follow a structured schema and cite only evidence identifiers supplied in the request. - Authoritative failure owner, root cause, and retry policy cannot be overwritten by generated advice. - If the provider is unavailable or its response fails validation, DeployGuard returns a deterministic evidence-only fallback. - AI recommendations are advisory; lifecycle decisions remain deterministic. ****Visual Recommendation:**** Guardrailed AI flow: Sanitized Evidence → Bounded Model Request → Schema Validation → Advice, with Deterministic Fallback below. ****Defense Notes:**** The safe answer to “Can AI trigger deployment?” is no. It explains evidence and possible remediation; it does not promote a release, change ownership, or bypass admission.
Defense notes: ** The safe answer to “Can AI trigger deployment?” is no. It explains evidence and possible remediation; it does not promote a release, change ownership, or bypass admission.
Visual plan: ** Guardrailed AI flow: Sanitized Evidence → Bounded Model Request → Schema Validation → Advice, with Deterministic Fallback below. ****Defense Notes:**** The safe answer to “Can AI trigger deployment?” is no. It explains evidence and possible remediation; it does not promote a release, change ownership, or bypass admission.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Tania Khawar
Purpose: Show how the user experience was tested and what the demo will prove.
Presentation Content:
- Frontend verification covers route protection, project visibility, lifecycle actions, state projection, infrastructure, monitoring, billing, and administration.
- An isolated full-stack run exercised browser mutations and cross-page surfaces against a real local API and database.
- That run reached a READY current-state result and verified that data remained consistent across core screens.
- The isolated GitHub repository-selection step remained an expected blocker because the test user had no GitHub App installation; it was not misreported as a product pass.
- The final demo should show actual page transitions and stored evidence rather than only static mockups.
- A prepared screenshot fallback protects the defense from network or cloud-session instability.
Visual Recommendation: Test-evidence collage with green checks for authenticated surfaces and one amber, clearly labeled external-integration prerequisite.
Defense Notes: Emphasize honest status semantics: PASS means executed proof, EXPECTED BLOCKER means a known missing external prerequisite, and UNVERIFIED means no sufficient executable evidence.
# SECTION 4 — FARIA FATIMA: BACKEND, DATA, CONTAINERIZATION, AND PRODUCT INTEGRATION
Purpose: ** Show how the user experience was tested and what the demo will prove. ****Presentation Content:**** - Frontend verification covers route protection, project visibility, lifecycle actions, state projection, infrastructure, monitoring, billing, and administration. - An isolated full-stack run exercised browser mutations and cross-page surfaces against a real local API and database. - That run reached a READY current-state result and verified that data remained consistent across core screens. - The isolated GitHub repository-selection step remained an expected blocker because the test user had no GitHub App installation; it was not misreported as a product pass. - The final demo should show actual page transitions and stored evidence rather than only static mockups. - A prepared screenshot fallback protects the defense from network or cloud-session instability. ****Visual Recommendation:**** Test-evidence collage with green checks for authenticated surfaces and one amber, clearly labeled external-integration prerequisite. ****Defense Notes:**** Emphasize honest status semantics: PASS means executed proof, EXPECTED BLOCKER means a known missing external prerequisite, and UNVERIFIED means no sufficient executable evidence. **# SECTION 4 — FARIA FATIMA: BACKEND, DATA, CONTAINERIZATION, AND PRODUCT INTEGRATION**
Defense notes: ** Emphasize honest status semantics: PASS means executed proof, EXPECTED BLOCKER means a known missing external prerequisite, and UNVERIFIED means no sufficient executable evidence. **# SECTION 4 — FARIA FATIMA: BACKEND, DATA, CONTAINERIZATION, AND PRODUCT INTEGRATION**
Visual plan: ** Test-evidence collage with green checks for authenticated surfaces and one amber, clearly labeled external-integration prerequisite. ****Defense Notes:**** Emphasize honest status semantics: PASS means executed proof, EXPECTED BLOCKER means a known missing external prerequisite, and UNVERIFIED means no sufficient executable evidence. **# SECTION 4 — FARIA FATIMA: BACKEND, DATA, CONTAINERIZATION, AND PRODUCT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Faria Fatima
Purpose: Explain how backend modules coordinate the product.
Presentation Content:
- NestJS organizes authentication, users, projects, deployment orchestration, observability, AI, administration, audit, export, and billing into explicit modules.
- Controllers validate transport requests and delegate lifecycle decisions to services rather than embedding deployment logic in routes.
- PostgreSQL stores durable product truth through TypeORM entities and migrations.
- Redis-backed BullMQ queues isolate long-running deployment, lifecycle, and emergency-cleanup jobs from request-response handling.
- Workers apply retry, backoff, concurrency, and completed-job retention policies while persisting durable results in PostgreSQL.
- Global validation rejects unknown fields, and centralized HTTP protections apply consistently across modules.
Visual Recommendation: Backend component diagram: Controllers → Domain Services → PostgreSQL, with Queues/Workers beside the synchronous path and adapters to external providers.
Defense Notes: Redis queue state is operational coordination, not the only record of a deployment. The durable generation, events, evidence, and terminal result are stored in PostgreSQL.
Purpose: ** Explain how backend modules coordinate the product. ****Presentation Content:**** - NestJS organizes authentication, users, projects, deployment orchestration, observability, AI, administration, audit, export, and billing into explicit modules. - Controllers validate transport requests and delegate lifecycle decisions to services rather than embedding deployment logic in routes. - PostgreSQL stores durable product truth through TypeORM entities and migrations. - Redis-backed BullMQ queues isolate long-running deployment, lifecycle, and emergency-cleanup jobs from request-response handling. - Workers apply retry, backoff, concurrency, and completed-job retention policies while persisting durable results in PostgreSQL. - Global validation rejects unknown fields, and centralized HTTP protections apply consistently across modules. ****Visual Recommendation:**** Backend component diagram: Controllers → Domain Services → PostgreSQL, with Queues/Workers beside the synchronous path and adapters to external providers. ****Defense Notes:**** Redis queue state is operational coordination, not the only record of a deployment. The durable generation, events, evidence, and terminal result are stored in PostgreSQL.
Defense notes: ** Background execution is operational coordination, not the durable source of truth. Generations, events, evidence, and terminal results remain in PostgreSQL.
Visual plan: ** Backend component diagram: Controllers → Domain Services → PostgreSQL, with Queues/Workers beside the synchronous path and adapters to external providers. ****Defense Notes:**** Redis queue state is operational coordination, not the only record of a deployment. The durable generation, events, evidence, and terminal result are stored in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Faria Fatima
Purpose: Demonstrate controlled access to users and repository source.
Presentation Content:
- Users can authenticate through local credentials or GitHub OAuth; signed HTTP-only cookies carry separate developer and administrator sessions.
- Local passwords use salted key derivation, and OAuth state is validated to prevent request forgery.
- GitHub App installation tokens are generated for short-lived repository access rather than storing a broad permanent personal token.
- Repository selection is restricted to installations available to the authenticated user.
- Source ingestion performs a shallow checkout for the selected reference, resolves it to an exact revision, and applies path-containment checks.
- Repository analysis creates service-specific build targets and rejects ambiguous or unsupported runtime contracts before cloud work begins.
Visual Recommendation: Trust flow: User Session → GitHub App Installation → Short-Lived Token → Exact Source Checkout → Analyzed Service Contract.
Defense Notes: Differentiate user OAuth from GitHub App repository access. OAuth identifies and links the user; the App installation token authorizes repository operations for a limited time and scope.
Purpose: ** Demonstrate controlled access to users and repository source. ****Presentation Content:**** - Users can authenticate through local credentials or GitHub OAuth; signed HTTP-only cookies carry separate developer and administrator sessions. - Local passwords use salted key derivation, and OAuth state is validated to prevent request forgery. - GitHub App installation tokens are generated for short-lived repository access rather than storing a broad permanent personal token. - Repository selection is restricted to installations available to the authenticated user. - Source ingestion performs a shallow checkout for the selected reference, resolves it to an exact revision, and applies path-containment checks. - Repository analysis creates service-specific build targets and rejects ambiguous or unsupported runtime contracts before cloud work begins. ****Visual Recommendation:**** Trust flow: User Session → GitHub App Installation → Short-Lived Token → Exact Source Checkout → Analyzed Service Contract. ****Defense Notes:**** Differentiate user OAuth from GitHub App repository access. OAuth identifies and links the user; the App installation token authorizes repository operations for a limited time and scope.
Defense notes: ** Differentiate user OAuth from GitHub App repository access. OAuth identifies and links the user; the App installation token authorizes repository operations for a limited time and scope.
Visual plan: ** Trust flow: User Session → GitHub App Installation → Short-Lived Token → Exact Source Checkout → Analyzed Service Contract. ****Defense Notes:**** Differentiate user OAuth from GitHub App repository access. OAuth identifies and links the user; the App installation token authorizes repository operations for a limited time and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Faria Fatima
Purpose: Explain how the backend preserves traceability and confidentiality.
Presentation Content:
- Core records include projects, deployable services, build-target revisions, runtime-config revisions, deployment generations, stable releases, and pipeline events.
- Additional records cover managed databases, environment routes, FinOps decisions, infrastructure evidence, state operations, storage, observability, AI analysis, notifications, and billing.
- Environment variables are service-scoped so values cannot silently leak between applications in a multi-service project.
- Sensitive values are encrypted with authenticated encryption before storage and are decrypted only for authorized execution paths.
- Runtime configuration revisions preserve deploy-time identity without displaying plaintext secrets in evidence or UI responses.
- Database migrations make schema evolution repeatable in local and containerized environments.
Visual Recommendation: Simplified entity relationship diagram centered on Project → Service → Config Revision → Generation → Stable Release.
Defense Notes: Avoid saying that an encrypted secret is safe merely because it is hidden in the interface. The defense includes encryption at rest, scoped access, controlled injection, redaction, and audit trails.
Purpose: ** Explain how the backend preserves traceability and confidentiality. ****Presentation Content:**** - Core records include projects, deployable services, build-target revisions, runtime-config revisions, deployment generations, stable releases, and pipeline events. - Additional records cover managed databases, environment routes, FinOps decisions, infrastructure evidence, state operations, storage, observability, AI analysis, notifications, and billing. - Environment variables are service-scoped so values cannot silently leak between applications in a multi-service project. - Sensitive values are encrypted with authenticated encryption before storage and are decrypted only for authorized execution paths. - Runtime configuration revisions preserve deploy-time identity without displaying plaintext secrets in evidence or UI responses. - Database migrations make schema evolution repeatable in local and containerized environments. ****Visual Recommendation:**** Simplified entity relationship diagram centered on Project → Service → Config Revision → Generation → Stable Release. ****Defense Notes:**** Avoid saying that an encrypted secret is safe merely because it is hidden in the interface. The defense includes encryption at rest, scoped access, controlled injection, redaction, and audit trails.
Defense notes: ** Avoid saying that an encrypted secret is safe merely because it is hidden in the interface. The defense includes encryption at rest, scoped access, controlled injection, redaction, and audit trails.
Visual plan: ** Simplified entity relationship diagram centered on Project → Service → Config Revision → Generation → Stable Release. ****Defense Notes:**** Avoid saying that an encrypted secret is safe merely because it is hidden in the interface. The defense includes encryption at rest, scoped access, controlled injection, redaction, and audit trails.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Faria Fatima
Purpose: Show how backend operations remain understandable during success and failure.
Presentation Content:
- Admission validates source identity, service contracts, managed-database state, AWS capabilities, runtime secrets, billing entitlement, and action eligibility.
- A lifecycle action creates or references a generation, dispatches asynchronous work, consumes workflow evidence, and persists terminal state.
- Failure diagnostics carry deterministic code, lifecycle stage, owner, affected service, root cause, evidence, and retry guidance.
- Audit logs preserve who performed an action, what resource was affected, whether it succeeded, and sanitized request context.
- Notification adapters can publish operational email subscriptions through AWS SNS when live configuration and credentials are available.
- Recovery actions reuse persisted evidence and reconciliation rules instead of treating every failure as a clean restart.
Visual Recommendation: Sequence diagram: API Admission → Queue → Workflow → Evidence Ingestion → State Transition → Audit/Notification → UI.
Defense Notes: A failure code alone is insufficient. DeployGuard combines code, stage, owner, service scope, and evidence so the next action can be safe and specific.
Purpose: ** Show how backend operations remain understandable during success and failure. ****Presentation Content:**** - Admission validates source identity, service contracts, managed-database state, AWS capabilities, runtime secrets, billing entitlement, and action eligibility. - A lifecycle action creates or references a generation, dispatches asynchronous work, consumes workflow evidence, and persists terminal state. - Failure diagnostics carry deterministic code, lifecycle stage, owner, affected service, root cause, evidence, and retry guidance. - Audit logs preserve who performed an action, what resource was affected, whether it succeeded, and sanitized request context. - Notification adapters can publish operational email subscriptions through AWS SNS when live configuration and credentials are available. - Recovery actions reuse persisted evidence and reconciliation rules instead of treating every failure as a clean restart. ****Visual Recommendation:**** Sequence diagram: API Admission → Queue → Workflow → Evidence Ingestion → State Transition → Audit/Notification → UI. ****Defense Notes:**** A failure code alone is insufficient. DeployGuard combines code, stage, owner, service scope, and evidence so the next action can be safe and specific.
Defense notes: ** A failure code alone is insufficient. DeployGuard combines code, stage, owner, service scope, and evidence so the next action can be safe and specific.
Visual plan: ** Sequence diagram: API Admission → Queue → Workflow → Evidence Ingestion → State Transition → Audit/Notification → UI. ****Defense Notes:**** A failure code alone is insufficient. DeployGuard combines code, stage, owner, service scope, and evidence so the next action can be safe and specific.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Faria Fatima
Purpose: Explain product governance beyond deployment mechanics.
Presentation Content:
- Billing services manage plan catalog, trial state, customer linkage, checkout sessions, subscription status, usage, and invoices.
- Signed webhook validation is required before external billing events alter durable subscription state.
- Entitlement checks are performed server-side for protected capabilities.
- The billing UI clearly indicates test mode in the demonstrated configuration.
- Administrator tools expose service readiness, users and roles, canonical project states, and sanitized audit events.
- Separate admin authentication and role enforcement reduce the chance that ordinary developer access becomes platform-wide control.
Visual Recommendation: Two-column view: Developer Billing Experience and Administrator Governance, both backed by server-side policy.
Defense Notes: Present billing as integrated product capability, not as proof of a production financial operation. The defensible result is the implemented test-mode path, signed event handling, and server-side entitlement model.
Purpose: ** Explain product governance beyond deployment mechanics. ****Presentation Content:**** - Billing services manage plan catalog, trial state, customer linkage, checkout sessions, subscription status, usage, and invoices. - Signed webhook validation is required before external billing events alter durable subscription state. - Entitlement checks are performed server-side for protected capabilities. - The billing UI clearly indicates test mode in the demonstrated configuration. - Administrator tools expose service readiness, users and roles, canonical project states, and sanitized audit events. - Separate admin authentication and role enforcement reduce the chance that ordinary developer access becomes platform-wide control. ****Visual Recommendation:**** Two-column view: Developer Billing Experience and Administrator Governance, both backed by server-side policy. ****Defense Notes:**** Present billing as integrated product capability, not as proof of a production financial operation. The defensible result is the implemented test-mode path, signed event handling, and server-side entitlement model.
Defense notes: ** Present billing as integrated product capability, not as proof of a production financial operation. The defensible result is the implemented test-mode path, signed event handling, and server-side entitlement model.
Visual plan: ** Two-column view: Developer Billing Experience and Administrator Governance, both backed by server-side policy. ****Defense Notes:**** Present billing as integrated product capability, not as proof of a production financial operation. The defensible result is the implemented test-mode path, signed event handling, and server-side entitlement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Faria Fatima
Purpose: Show that the full platform can run consistently outside an individual development machine.
Presentation Content:
- The local product stack is defined as containers for PostgreSQL, one-shot database migration, backend, frontend, Prometheus, and Grafana.
- Health checks and dependency ordering prevent the application from racing an unavailable database or unfinished migration.
- Named volumes preserve database and monitoring data across ordinary restarts.
- The backend image uses a multi-stage build, includes the required infrastructure tooling, and runs as a non-root user.
- The frontend is compiled once and served by an unprivileged Nginx runtime on its declared port.
- Environment-specific secrets remain external configuration; they are not baked into images or committed defaults.
Visual Recommendation: Container composition diagram with health arrows and persistent-volume icons.
Defense Notes: For a teammate handoff, the required inputs are Docker, the supplied environment configuration, and external credentials appropriate to the features being demonstrated. Local platform login credentials are distinct from Prometheus authentication and Grafana operator credentials.
Purpose: ** Show that the full platform can run consistently outside an individual development machine. ****Presentation Content:**** - The local product stack is defined as containers for PostgreSQL, one-shot database migration, backend, frontend, Prometheus, and Grafana. - Health checks and dependency ordering prevent the application from racing an unavailable database or unfinished migration. - Named volumes preserve database and monitoring data across ordinary restarts. - The backend image uses a multi-stage build, includes the required infrastructure tooling, and runs as a non-root user. - The frontend is compiled once and served by an unprivileged Nginx runtime on its declared port. - Environment-specific secrets remain external configuration; they are not baked into images or committed defaults. ****Visual Recommendation:**** Container composition diagram with health arrows and persistent-volume icons. ****Defense Notes:**** For a teammate handoff, the required inputs are Docker, the supplied environment configuration, and external credentials appropriate to the features being demonstrated. Local platform login credentials are distinct from Prometheus authentication and Grafana operator credentials.
Defense notes: ** For a teammate handoff, the required inputs are Docker, the supplied environment configuration, and external credentials appropriate to the features being demonstrated. Local platform login credentials are distinct from Prometheus authentication and Grafana operator credentials.
Visual plan: ** Container composition diagram with health arrows and persistent-volume icons. ****Defense Notes:**** For a teammate handoff, the required inputs are Docker, the supplied environment configuration, and external credentials appropriate to the features being demonstrated. Local platform login credentials are distinct from Prometheus authentication and Grafana operator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Faria Fatima
Purpose: Explain what was tested and prevent overclaiming.
Presentation Content:
- Verification spans backend compilation and contracts, frontend build and behavior checks, Terraform validation and tests, workflow contracts, container health, and full-stack browser flows.
- Stored certification evidence records two clean deployments and one complete deploy, release-only redeploy, rollback, and destroy sequence.
- That evidence includes a successful public health response and verified removal of project-scoped resources while shared platform components remained intact.
- Structural checks verify architecture and contracts; only execution against AWS can establish live end-to-end behavior for a specific revision and configuration.
- Fresh live proof is still appropriate for MySQL dynamic task-network grants, MongoDB, database-failure isolation and recovery, topology reapply preserving the active release, and repeat-destroy idempotency.
- External integration prerequisites are labeled instead of being converted into false passes.
Visual Recommendation: Evidence matrix with rows for Local, Contract, Full Stack, and Live Cloud, and columns for Deploy, Observe, Redeploy, Rollback, Destroy, and Database Cases.
Defense Notes: If challenged on an unverified case, state the exact boundary and the test required. Honest evidence classification is itself a reliability feature.
Purpose: ** Explain what was tested and prevent overclaiming. ****Presentation Content:**** - Verification spans backend compilation and contracts, frontend build and behavior checks, Terraform validation and tests, workflow contracts, container health, and full-stack browser flows. - Stored certification evidence records two clean deployments and one complete deploy, release-only redeploy, rollback, and destroy sequence. - That evidence includes a successful public health response and verified removal of project-scoped resources while shared platform components remained intact. - Structural checks verify architecture and contracts; only execution against AWS can establish live end-to-end behavior for a specific revision and configuration. - Fresh live proof is still appropriate for MySQL dynamic task-network grants, MongoDB, database-failure isolation and recovery, topology reapply preserving the active release, and repeat-destroy idempotency. - External integration prerequisites are labeled instead of being converted into false passes. ****Visual Recommendation:**** Evidence matrix with rows for Local, Contract, Full Stack, and Live Cloud, and columns for Deploy, Observe, Redeploy, Rollback, Destroy, and Database Cases. ****Defense Notes:**** If challenged on an unverified case, state the exact boundary and the test required. Honest evidence classification is itself a reliability feature.
Defense notes: ** If challenged on an unverified case, state the exact boundary and the test required. Honest evidence classification is itself a reliability feature.
Visual plan: ** Evidence matrix with rows for Local, Contract, Full Stack, and Live Cloud, and columns for Deploy, Observe, Redeploy, Rollback, Destroy, and Database Cases. ****Defense Notes:**** If challenged on an unverified case, state the exact boundary and the test required. Honest evidence classification is itself a reliability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Faria Fatima
Purpose: Close the presentation with the system-level achievement and future direction.
Presentation Content:
- DeployGuard integrates repository onboarding, deterministic build contracts, infrastructure provisioning, ECS runtime control, security, cost review, observability, AI assistance, billing, and lifecycle recovery.
- Its central contribution is an explicit authority model backed by immutable identities and persisted evidence.
- Developers receive one coherent workflow without losing access to source, artifact, infrastructure, runtime, and failure details.
- The team produced an operational control plane, a complete web experience, a portable container setup, and a repeatable verification framework.
- Immediate next work is focused certification of the remaining live-cloud database and idempotency scenarios, not an architectural rewrite.
- Final message: DeployGuard makes deployment state explainable, reversible, and governable.
Visual Recommendation: Return to the opening Repository → DeployGuard → AWS diagram, now surrounded by Security, Cost, Observability, AI, Audit, and Recovery outcomes.
Defense Notes: End on the system property, not a feature count. The project’s value is that every operation has a clear owner, immutable identity, observable outcome, and safe next step.
Purpose: ** Close the presentation with the system-level achievement and future direction. ****Presentation Content:**** - DeployGuard integrates repository onboarding, deterministic build contracts, infrastructure provisioning, ECS runtime control, security, cost review, observability, AI assistance, billing, and lifecycle recovery. - Its central contribution is an explicit authority model backed by immutable identities and persisted evidence. - Developers receive one coherent workflow without losing access to source, artifact, infrastructure, runtime, and failure details. - The team produced an operational control plane, a complete web experience, a portable container setup, and a repeatable verification framework. - Immediate next work is focused certification of the remaining live-cloud database and idempotency scenarios, not an architectural rewrite. - Final message: DeployGuard makes deployment state explainable, reversible, and governable. ****Visual Recommendation:**** Return to the opening Repository → DeployGuard → AWS diagram, now surrounded by Security, Cost, Observability, AI, Audit, and Recovery outcomes. ****Defense Notes:**** End on the system property, not a feature count. The project’s value is that every operation has a clear owner, immutable identity, observable outcome, and safe next step.
Defense notes: ** End on the system property, not a feature count. The project’s value is that every operation has a clear owner, immutable identity, observable outcome, and safe next step.
Visual plan: ** Return to the opening Repository → DeployGuard → AWS diagram, now surrounded by Security, Cost, Observability, AI, Audit, and Recovery outcomes. ****Defense Notes:**** End on the system property, not a feature count. The project’s value is that every operation has a clear owner, immutable identity, observable outcome, and safe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G_MASTER">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5C2D8"/>
          </a:solidFill>
          <a:ln w="12700">
            <a:solidFill>
              <a:srgbClr val="35C2D8"/>
            </a:solidFill>
            <a:prstDash val="solid"/>
          </a:ln>
        </p:spPr>
      </p:sp>
      <p:sp>
        <p:nvSpPr>
          <p:cNvPr id="3" name="Text 1"/>
          <p:cNvSpPr/>
          <p:nvPr/>
        </p:nvSpPr>
        <p:spPr>
          <a:xfrm>
            <a:off x="411480" y="6547104"/>
            <a:ext cx="7498080" cy="164592"/>
          </a:xfrm>
          <a:prstGeom prst="rect">
            <a:avLst/>
          </a:prstGeom>
          <a:noFill/>
          <a:ln/>
        </p:spPr>
        <p:txBody>
          <a:bodyPr wrap="square" lIns="0" tIns="0" rIns="0" bIns="0" rtlCol="0" anchor="ctr"/>
          <a:lstStyle/>
          <a:p>
            <a:pPr indent="0" marL="0">
              <a:buNone/>
            </a:pPr>
            <a:r>
              <a:rPr lang="en-US" sz="850" b="1" dirty="0">
                <a:solidFill>
                  <a:srgbClr val="6F879E"/>
                </a:solidFill>
                <a:latin typeface="Aptos" pitchFamily="34" charset="0"/>
                <a:ea typeface="Aptos" pitchFamily="34" charset="-122"/>
                <a:cs typeface="Aptos" pitchFamily="34" charset="-120"/>
              </a:rPr>
              <a:t>DEPLOYGUARD  •  FYP-II IMPLEMENTATION DEFENSE</a:t>
            </a:r>
            <a:endParaRPr lang="en-US" sz="850" dirty="0"/>
          </a:p>
        </p:txBody>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3" name="Text 1"/>
          <p:cNvSpPr/>
          <p:nvPr/>
        </p:nvSpPr>
        <p:spPr>
          <a:xfrm>
            <a:off x="685800" y="1005840"/>
            <a:ext cx="6400800" cy="713232"/>
          </a:xfrm>
          <a:prstGeom prst="rect">
            <a:avLst/>
          </a:prstGeom>
          <a:noFill/>
          <a:ln/>
        </p:spPr>
        <p:txBody>
          <a:bodyPr wrap="square" lIns="0" tIns="0" rIns="0" bIns="0" rtlCol="0" anchor="ctr"/>
          <a:lstStyle/>
          <a:p>
            <a:pPr indent="0" marL="0">
              <a:buNone/>
            </a:pPr>
            <a:r>
              <a:rPr lang="en-US" sz="3600" b="1" dirty="0">
                <a:solidFill>
                  <a:srgbClr val="F7FAFC"/>
                </a:solidFill>
              </a:rPr>
              <a:t>DeployGuard</a:t>
            </a:r>
            <a:endParaRPr lang="en-US" sz="3600" dirty="0"/>
          </a:p>
        </p:txBody>
      </p:sp>
      <p:sp>
        <p:nvSpPr>
          <p:cNvPr id="4" name="Text 2"/>
          <p:cNvSpPr/>
          <p:nvPr/>
        </p:nvSpPr>
        <p:spPr>
          <a:xfrm>
            <a:off x="713232" y="1783080"/>
            <a:ext cx="6309360" cy="411480"/>
          </a:xfrm>
          <a:prstGeom prst="rect">
            <a:avLst/>
          </a:prstGeom>
          <a:noFill/>
          <a:ln/>
        </p:spPr>
        <p:txBody>
          <a:bodyPr wrap="square" lIns="0" tIns="0" rIns="0" bIns="0" rtlCol="0" anchor="ctr"/>
          <a:lstStyle/>
          <a:p>
            <a:pPr indent="0" marL="0">
              <a:buNone/>
            </a:pPr>
            <a:r>
              <a:rPr lang="en-US" sz="2000" b="1" dirty="0">
                <a:solidFill>
                  <a:srgbClr val="35C2D8"/>
                </a:solidFill>
              </a:rPr>
              <a:t>FYP-II Final Implementation Defense</a:t>
            </a:r>
            <a:endParaRPr lang="en-US" sz="2000" dirty="0"/>
          </a:p>
        </p:txBody>
      </p:sp>
      <p:sp>
        <p:nvSpPr>
          <p:cNvPr id="5" name="Text 3"/>
          <p:cNvSpPr/>
          <p:nvPr/>
        </p:nvSpPr>
        <p:spPr>
          <a:xfrm>
            <a:off x="731520" y="2331720"/>
            <a:ext cx="6217920" cy="320040"/>
          </a:xfrm>
          <a:prstGeom prst="rect">
            <a:avLst/>
          </a:prstGeom>
          <a:noFill/>
          <a:ln/>
        </p:spPr>
        <p:txBody>
          <a:bodyPr wrap="square" lIns="0" tIns="0" rIns="0" bIns="0" rtlCol="0" anchor="ctr"/>
          <a:lstStyle/>
          <a:p>
            <a:pPr indent="0" marL="0">
              <a:buNone/>
            </a:pPr>
            <a:r>
              <a:rPr lang="en-US" sz="1500" dirty="0">
                <a:solidFill>
                  <a:srgbClr val="8FA6B9"/>
                </a:solidFill>
              </a:rPr>
              <a:t>Deterministic cloud deployment control plane</a:t>
            </a:r>
            <a:endParaRPr lang="en-US" sz="1500" dirty="0"/>
          </a:p>
        </p:txBody>
      </p:sp>
      <p:sp>
        <p:nvSpPr>
          <p:cNvPr id="6" name="Shape 4"/>
          <p:cNvSpPr/>
          <p:nvPr/>
        </p:nvSpPr>
        <p:spPr>
          <a:xfrm>
            <a:off x="6812280" y="1280160"/>
            <a:ext cx="3291840" cy="868680"/>
          </a:xfrm>
          <a:prstGeom prst="roundRect">
            <a:avLst>
              <a:gd name="adj" fmla="val 5263"/>
            </a:avLst>
          </a:prstGeom>
          <a:solidFill>
            <a:srgbClr val="12263A"/>
          </a:solidFill>
          <a:ln w="17780">
            <a:solidFill>
              <a:srgbClr val="B276FF"/>
            </a:solidFill>
            <a:prstDash val="solid"/>
          </a:ln>
        </p:spPr>
      </p:sp>
      <p:sp>
        <p:nvSpPr>
          <p:cNvPr id="7" name="Text 5"/>
          <p:cNvSpPr/>
          <p:nvPr/>
        </p:nvSpPr>
        <p:spPr>
          <a:xfrm>
            <a:off x="6903720" y="1408176"/>
            <a:ext cx="310896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Repository</a:t>
            </a:r>
            <a:endParaRPr lang="en-US" sz="1200" dirty="0"/>
          </a:p>
        </p:txBody>
      </p:sp>
      <p:sp>
        <p:nvSpPr>
          <p:cNvPr id="8" name="Shape 6"/>
          <p:cNvSpPr/>
          <p:nvPr/>
        </p:nvSpPr>
        <p:spPr>
          <a:xfrm>
            <a:off x="8458200" y="2423160"/>
            <a:ext cx="3291840" cy="868680"/>
          </a:xfrm>
          <a:prstGeom prst="roundRect">
            <a:avLst>
              <a:gd name="adj" fmla="val 5263"/>
            </a:avLst>
          </a:prstGeom>
          <a:solidFill>
            <a:srgbClr val="12263A"/>
          </a:solidFill>
          <a:ln w="17780">
            <a:solidFill>
              <a:srgbClr val="35C2D8"/>
            </a:solidFill>
            <a:prstDash val="solid"/>
          </a:ln>
        </p:spPr>
      </p:sp>
      <p:sp>
        <p:nvSpPr>
          <p:cNvPr id="9" name="Text 7"/>
          <p:cNvSpPr/>
          <p:nvPr/>
        </p:nvSpPr>
        <p:spPr>
          <a:xfrm>
            <a:off x="8549640" y="2551176"/>
            <a:ext cx="310896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DeployGuard</a:t>
            </a:r>
            <a:endParaRPr lang="en-US" sz="1200" dirty="0"/>
          </a:p>
        </p:txBody>
      </p:sp>
      <p:sp>
        <p:nvSpPr>
          <p:cNvPr id="10" name="Shape 8"/>
          <p:cNvSpPr/>
          <p:nvPr/>
        </p:nvSpPr>
        <p:spPr>
          <a:xfrm>
            <a:off x="6812280" y="3657600"/>
            <a:ext cx="3291840" cy="868680"/>
          </a:xfrm>
          <a:prstGeom prst="roundRect">
            <a:avLst>
              <a:gd name="adj" fmla="val 5263"/>
            </a:avLst>
          </a:prstGeom>
          <a:solidFill>
            <a:srgbClr val="12263A"/>
          </a:solidFill>
          <a:ln w="17780">
            <a:solidFill>
              <a:srgbClr val="54D6A3"/>
            </a:solidFill>
            <a:prstDash val="solid"/>
          </a:ln>
        </p:spPr>
      </p:sp>
      <p:sp>
        <p:nvSpPr>
          <p:cNvPr id="11" name="Text 9"/>
          <p:cNvSpPr/>
          <p:nvPr/>
        </p:nvSpPr>
        <p:spPr>
          <a:xfrm>
            <a:off x="6903720" y="3785616"/>
            <a:ext cx="310896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AWS Runtime</a:t>
            </a:r>
            <a:endParaRPr lang="en-US" sz="1200" dirty="0"/>
          </a:p>
        </p:txBody>
      </p:sp>
      <p:sp>
        <p:nvSpPr>
          <p:cNvPr id="12" name="Shape 10"/>
          <p:cNvSpPr/>
          <p:nvPr/>
        </p:nvSpPr>
        <p:spPr>
          <a:xfrm>
            <a:off x="8458200" y="2148840"/>
            <a:ext cx="1371600" cy="274320"/>
          </a:xfrm>
          <a:prstGeom prst="line">
            <a:avLst/>
          </a:prstGeom>
          <a:noFill/>
          <a:ln w="31750">
            <a:solidFill>
              <a:srgbClr val="35C2D8"/>
            </a:solidFill>
            <a:prstDash val="solid"/>
            <a:tailEnd type="triangle"/>
          </a:ln>
        </p:spPr>
      </p:sp>
      <p:sp>
        <p:nvSpPr>
          <p:cNvPr id="13" name="Shape 11"/>
          <p:cNvSpPr/>
          <p:nvPr/>
        </p:nvSpPr>
        <p:spPr>
          <a:xfrm>
            <a:off x="9829800" y="3291840"/>
            <a:ext cx="-1371600" cy="365760"/>
          </a:xfrm>
          <a:prstGeom prst="line">
            <a:avLst/>
          </a:prstGeom>
          <a:noFill/>
          <a:ln w="31750">
            <a:solidFill>
              <a:srgbClr val="54D6A3"/>
            </a:solidFill>
            <a:prstDash val="solid"/>
            <a:tailEnd type="triangle"/>
          </a:ln>
        </p:spPr>
      </p:sp>
      <p:sp>
        <p:nvSpPr>
          <p:cNvPr id="14" name="Text 12"/>
          <p:cNvSpPr/>
          <p:nvPr/>
        </p:nvSpPr>
        <p:spPr>
          <a:xfrm>
            <a:off x="731520" y="4983480"/>
            <a:ext cx="6309360" cy="292608"/>
          </a:xfrm>
          <a:prstGeom prst="rect">
            <a:avLst/>
          </a:prstGeom>
          <a:noFill/>
          <a:ln/>
        </p:spPr>
        <p:txBody>
          <a:bodyPr wrap="square" lIns="0" tIns="0" rIns="0" bIns="0" rtlCol="0" anchor="ctr"/>
          <a:lstStyle/>
          <a:p>
            <a:pPr indent="0" marL="0">
              <a:buNone/>
            </a:pPr>
            <a:r>
              <a:rPr lang="en-US" sz="1300" b="1" dirty="0">
                <a:solidFill>
                  <a:srgbClr val="D9E5EF"/>
                </a:solidFill>
              </a:rPr>
              <a:t>Hassan Sajjad  •  Tania Khawar  •  Faria Fatima</a:t>
            </a:r>
            <a:endParaRPr lang="en-US" sz="1300" dirty="0"/>
          </a:p>
        </p:txBody>
      </p:sp>
      <p:sp>
        <p:nvSpPr>
          <p:cNvPr id="15" name="Text 13"/>
          <p:cNvSpPr/>
          <p:nvPr/>
        </p:nvSpPr>
        <p:spPr>
          <a:xfrm>
            <a:off x="731520" y="5376672"/>
            <a:ext cx="6309360" cy="228600"/>
          </a:xfrm>
          <a:prstGeom prst="rect">
            <a:avLst/>
          </a:prstGeom>
          <a:noFill/>
          <a:ln/>
        </p:spPr>
        <p:txBody>
          <a:bodyPr wrap="square" lIns="0" tIns="0" rIns="0" bIns="0" rtlCol="0" anchor="ctr"/>
          <a:lstStyle/>
          <a:p>
            <a:pPr indent="0" marL="0">
              <a:buNone/>
            </a:pPr>
            <a:r>
              <a:rPr lang="en-US" sz="1100" dirty="0">
                <a:solidFill>
                  <a:srgbClr val="8FA6B9"/>
                </a:solidFill>
              </a:rPr>
              <a:t>Air University Islamabad</a:t>
            </a:r>
            <a:endParaRPr lang="en-US" sz="1100" dirty="0"/>
          </a:p>
        </p:txBody>
      </p:sp>
      <p:sp>
        <p:nvSpPr>
          <p:cNvPr id="16" name="Shape 14"/>
          <p:cNvSpPr/>
          <p:nvPr/>
        </p:nvSpPr>
        <p:spPr>
          <a:xfrm>
            <a:off x="731520" y="5870448"/>
            <a:ext cx="1965960" cy="347472"/>
          </a:xfrm>
          <a:prstGeom prst="roundRect">
            <a:avLst>
              <a:gd name="adj" fmla="val 47368"/>
            </a:avLst>
          </a:prstGeom>
          <a:solidFill>
            <a:srgbClr val="4FA3FF">
              <a:alpha val="88000"/>
            </a:srgbClr>
          </a:solidFill>
          <a:ln w="12700">
            <a:solidFill>
              <a:srgbClr val="4FA3FF">
                <a:alpha val="0"/>
              </a:srgbClr>
            </a:solidFill>
            <a:prstDash val="solid"/>
          </a:ln>
        </p:spPr>
      </p:sp>
      <p:sp>
        <p:nvSpPr>
          <p:cNvPr id="17" name="Text 15"/>
          <p:cNvSpPr/>
          <p:nvPr/>
        </p:nvSpPr>
        <p:spPr>
          <a:xfrm>
            <a:off x="804672" y="5952744"/>
            <a:ext cx="1819656" cy="118872"/>
          </a:xfrm>
          <a:prstGeom prst="rect">
            <a:avLst/>
          </a:prstGeom>
          <a:noFill/>
          <a:ln/>
        </p:spPr>
        <p:txBody>
          <a:bodyPr wrap="square" lIns="0" tIns="0" rIns="0" bIns="0" rtlCol="0" anchor="ctr">
            <a:normAutofit/>
          </a:bodyPr>
          <a:lstStyle/>
          <a:p>
            <a:pPr algn="ctr" indent="0" marL="0">
              <a:buNone/>
            </a:pPr>
            <a:r>
              <a:rPr lang="en-US" sz="950" b="1" dirty="0">
                <a:solidFill>
                  <a:srgbClr val="07111F"/>
                </a:solidFill>
              </a:rPr>
              <a:t>IMPLEMENTATION DEFENSE</a:t>
            </a:r>
            <a:endParaRPr lang="en-US" sz="950" dirty="0"/>
          </a:p>
        </p:txBody>
      </p:sp>
      <p:sp>
        <p:nvSpPr>
          <p:cNvPr id="18" name="Shape 16"/>
          <p:cNvSpPr/>
          <p:nvPr/>
        </p:nvSpPr>
        <p:spPr>
          <a:xfrm>
            <a:off x="2834640" y="5870448"/>
            <a:ext cx="1508760" cy="347472"/>
          </a:xfrm>
          <a:prstGeom prst="roundRect">
            <a:avLst>
              <a:gd name="adj" fmla="val 47368"/>
            </a:avLst>
          </a:prstGeom>
          <a:solidFill>
            <a:srgbClr val="54D6A3">
              <a:alpha val="88000"/>
            </a:srgbClr>
          </a:solidFill>
          <a:ln w="12700">
            <a:solidFill>
              <a:srgbClr val="54D6A3">
                <a:alpha val="0"/>
              </a:srgbClr>
            </a:solidFill>
            <a:prstDash val="solid"/>
          </a:ln>
        </p:spPr>
      </p:sp>
      <p:sp>
        <p:nvSpPr>
          <p:cNvPr id="19" name="Text 17"/>
          <p:cNvSpPr/>
          <p:nvPr/>
        </p:nvSpPr>
        <p:spPr>
          <a:xfrm>
            <a:off x="2907792" y="5952744"/>
            <a:ext cx="1362456" cy="118872"/>
          </a:xfrm>
          <a:prstGeom prst="rect">
            <a:avLst/>
          </a:prstGeom>
          <a:noFill/>
          <a:ln/>
        </p:spPr>
        <p:txBody>
          <a:bodyPr wrap="square" lIns="0" tIns="0" rIns="0" bIns="0" rtlCol="0" anchor="ctr">
            <a:normAutofit/>
          </a:bodyPr>
          <a:lstStyle/>
          <a:p>
            <a:pPr algn="ctr" indent="0" marL="0">
              <a:buNone/>
            </a:pPr>
            <a:r>
              <a:rPr lang="en-US" sz="950" b="1" dirty="0">
                <a:solidFill>
                  <a:srgbClr val="07111F"/>
                </a:solidFill>
              </a:rPr>
              <a:t>AWS + IaC</a:t>
            </a:r>
            <a:endParaRPr lang="en-US" sz="950" dirty="0"/>
          </a:p>
        </p:txBody>
      </p:sp>
      <p:sp>
        <p:nvSpPr>
          <p:cNvPr id="20" name="Shape 18"/>
          <p:cNvSpPr/>
          <p:nvPr/>
        </p:nvSpPr>
        <p:spPr>
          <a:xfrm>
            <a:off x="4526280" y="5870448"/>
            <a:ext cx="1691640" cy="347472"/>
          </a:xfrm>
          <a:prstGeom prst="roundRect">
            <a:avLst>
              <a:gd name="adj" fmla="val 47368"/>
            </a:avLst>
          </a:prstGeom>
          <a:solidFill>
            <a:srgbClr val="B276FF">
              <a:alpha val="88000"/>
            </a:srgbClr>
          </a:solidFill>
          <a:ln w="12700">
            <a:solidFill>
              <a:srgbClr val="B276FF">
                <a:alpha val="0"/>
              </a:srgbClr>
            </a:solidFill>
            <a:prstDash val="solid"/>
          </a:ln>
        </p:spPr>
      </p:sp>
      <p:sp>
        <p:nvSpPr>
          <p:cNvPr id="21" name="Text 19"/>
          <p:cNvSpPr/>
          <p:nvPr/>
        </p:nvSpPr>
        <p:spPr>
          <a:xfrm>
            <a:off x="4599432" y="5952744"/>
            <a:ext cx="1545336" cy="118872"/>
          </a:xfrm>
          <a:prstGeom prst="rect">
            <a:avLst/>
          </a:prstGeom>
          <a:noFill/>
          <a:ln/>
        </p:spPr>
        <p:txBody>
          <a:bodyPr wrap="square" lIns="0" tIns="0" rIns="0" bIns="0" rtlCol="0" anchor="ctr">
            <a:normAutofit/>
          </a:bodyPr>
          <a:lstStyle/>
          <a:p>
            <a:pPr algn="ctr" indent="0" marL="0">
              <a:buNone/>
            </a:pPr>
            <a:r>
              <a:rPr lang="en-US" sz="950" b="1" dirty="0">
                <a:solidFill>
                  <a:srgbClr val="07111F"/>
                </a:solidFill>
              </a:rPr>
              <a:t>OBSERVABILITY</a:t>
            </a:r>
            <a:endParaRPr lang="en-US" sz="950" dirty="0"/>
          </a:p>
        </p:txBody>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47472"/>
            <a:ext cx="9098280" cy="475488"/>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Problem Statement</a:t>
            </a:r>
            <a:endParaRPr lang="en-US" sz="2400" dirty="0"/>
          </a:p>
        </p:txBody>
      </p:sp>
      <p:sp>
        <p:nvSpPr>
          <p:cNvPr id="3" name="Shape 1"/>
          <p:cNvSpPr/>
          <p:nvPr/>
        </p:nvSpPr>
        <p:spPr>
          <a:xfrm>
            <a:off x="9829800" y="338328"/>
            <a:ext cx="1783080" cy="329184"/>
          </a:xfrm>
          <a:prstGeom prst="roundRect">
            <a:avLst>
              <a:gd name="adj" fmla="val 22222"/>
            </a:avLst>
          </a:prstGeom>
          <a:solidFill>
            <a:srgbClr val="4FA3FF">
              <a:alpha val="92000"/>
            </a:srgbClr>
          </a:solidFill>
          <a:ln w="12700">
            <a:solidFill>
              <a:srgbClr val="4FA3FF">
                <a:alpha val="0"/>
              </a:srgbClr>
            </a:solidFill>
            <a:prstDash val="solid"/>
          </a:ln>
        </p:spPr>
      </p:sp>
      <p:sp>
        <p:nvSpPr>
          <p:cNvPr id="4" name="Text 2"/>
          <p:cNvSpPr/>
          <p:nvPr/>
        </p:nvSpPr>
        <p:spPr>
          <a:xfrm>
            <a:off x="9912096" y="416052"/>
            <a:ext cx="1609344" cy="118872"/>
          </a:xfrm>
          <a:prstGeom prst="rect">
            <a:avLst/>
          </a:prstGeom>
          <a:noFill/>
          <a:ln/>
        </p:spPr>
        <p:txBody>
          <a:bodyPr wrap="square" lIns="0" tIns="0" rIns="0" bIns="0" rtlCol="0" anchor="ctr">
            <a:normAutofit/>
          </a:bodyPr>
          <a:lstStyle/>
          <a:p>
            <a:pPr algn="ctr" indent="0" marL="0">
              <a:buNone/>
            </a:pPr>
            <a:r>
              <a:rPr lang="en-US" sz="1000" b="1" dirty="0">
                <a:solidFill>
                  <a:srgbClr val="07111F"/>
                </a:solidFill>
              </a:rPr>
              <a:t>Hassan Sajjad</a:t>
            </a:r>
            <a:endParaRPr lang="en-US" sz="1000" dirty="0"/>
          </a:p>
          <a:p>
            <a:pPr algn="ctr" indent="0" marL="0">
              <a:buNone/>
            </a:pPr>
            <a:endParaRPr lang="en-US" sz="1000" dirty="0"/>
          </a:p>
          <a:p>
            <a:pPr algn="ctr" indent="0" marL="0">
              <a:buNone/>
            </a:pPr>
            <a:r>
              <a:rPr lang="en-US" sz="1000" b="1" dirty="0">
                <a:solidFill>
                  <a:srgbClr val="07111F"/>
                </a:solidFill>
              </a:rPr>
              <a:t>Purpose: Establish why the project is needed.</a:t>
            </a:r>
            <a:endParaRPr lang="en-US" sz="1000" dirty="0"/>
          </a:p>
          <a:p>
            <a:pPr algn="ctr" indent="0" marL="0">
              <a:buNone/>
            </a:pPr>
            <a:endParaRPr lang="en-US" sz="1000" dirty="0"/>
          </a:p>
          <a:p>
            <a:pPr algn="ctr" indent="0" marL="0">
              <a:buNone/>
            </a:pPr>
            <a:r>
              <a:rPr lang="en-US" sz="1000" b="1" dirty="0">
                <a:solidFill>
                  <a:srgbClr val="07111F"/>
                </a:solidFill>
              </a:rPr>
              <a:t>Presentation Content:</a:t>
            </a:r>
            <a:endParaRPr lang="en-US" sz="1000" dirty="0"/>
          </a:p>
          <a:p>
            <a:pPr algn="ctr" indent="0" marL="0">
              <a:buNone/>
            </a:pPr>
            <a:endParaRPr lang="en-US" sz="1000" dirty="0"/>
          </a:p>
          <a:p>
            <a:pPr algn="ctr" indent="0" marL="0">
              <a:buNone/>
            </a:pPr>
            <a:r>
              <a:rPr lang="en-US" sz="1000" b="1" dirty="0">
                <a:solidFill>
                  <a:srgbClr val="07111F"/>
                </a:solidFill>
              </a:rPr>
              <a:t>- Cloud deployment forces small teams to combine source control, container builds, infrastructure provisioning, runtime diagnosis, security scanning, cost review, and cleanup.</a:t>
            </a:r>
            <a:endParaRPr lang="en-US" sz="1000" dirty="0"/>
          </a:p>
          <a:p>
            <a:pPr algn="ctr" indent="0" marL="0">
              <a:buNone/>
            </a:pPr>
            <a:endParaRPr lang="en-US" sz="1000" dirty="0"/>
          </a:p>
          <a:p>
            <a:pPr algn="ctr" indent="0" marL="0">
              <a:buNone/>
            </a:pPr>
            <a:r>
              <a:rPr lang="en-US" sz="1000" b="1" dirty="0">
                <a:solidFill>
                  <a:srgbClr val="07111F"/>
                </a:solidFill>
              </a:rPr>
              <a:t>- These tools expose different identifiers and failure formats, so developers struggle to answer: what was deployed, why did it fail, and what is safe to do next?</a:t>
            </a:r>
            <a:endParaRPr lang="en-US" sz="1000" dirty="0"/>
          </a:p>
          <a:p>
            <a:pPr algn="ctr" indent="0" marL="0">
              <a:buNone/>
            </a:pPr>
            <a:endParaRPr lang="en-US" sz="1000" dirty="0"/>
          </a:p>
          <a:p>
            <a:pPr algn="ctr" indent="0" marL="0">
              <a:buNone/>
            </a:pPr>
            <a:r>
              <a:rPr lang="en-US" sz="1000" b="1" dirty="0">
                <a:solidFill>
                  <a:srgbClr val="07111F"/>
                </a:solidFill>
              </a:rPr>
              <a:t>- Common risks include configuration drift, mutable artifacts, incomplete cleanup, excessive cloud permissions, hidden cost, and rollback based on guesses.</a:t>
            </a:r>
            <a:endParaRPr lang="en-US" sz="1000" dirty="0"/>
          </a:p>
          <a:p>
            <a:pPr algn="ctr" indent="0" marL="0">
              <a:buNone/>
            </a:pPr>
            <a:endParaRPr lang="en-US" sz="1000" dirty="0"/>
          </a:p>
          <a:p>
            <a:pPr algn="ctr" indent="0" marL="0">
              <a:buNone/>
            </a:pPr>
            <a:r>
              <a:rPr lang="en-US" sz="1000" b="1" dirty="0">
                <a:solidFill>
                  <a:srgbClr val="07111F"/>
                </a:solidFill>
              </a:rPr>
              <a:t>- Existing automation often reports a failed command without identifying whether responsibility belongs to the application, platform, or cloud provider.</a:t>
            </a:r>
            <a:endParaRPr lang="en-US" sz="1000" dirty="0"/>
          </a:p>
          <a:p>
            <a:pPr algn="ctr" indent="0" marL="0">
              <a:buNone/>
            </a:pPr>
            <a:endParaRPr lang="en-US" sz="1000" dirty="0"/>
          </a:p>
          <a:p>
            <a:pPr algn="ctr" indent="0" marL="0">
              <a:buNone/>
            </a:pPr>
            <a:r>
              <a:rPr lang="en-US" sz="1000" b="1" dirty="0">
                <a:solidFill>
                  <a:srgbClr val="07111F"/>
                </a:solidFill>
              </a:rPr>
              <a:t>- DeployGuard unifies those concerns without hiding the underlying evidence.</a:t>
            </a:r>
            <a:endParaRPr lang="en-US" sz="1000" dirty="0"/>
          </a:p>
          <a:p>
            <a:pPr algn="ctr" indent="0" marL="0">
              <a:buNone/>
            </a:pPr>
            <a:endParaRPr lang="en-US" sz="1000" dirty="0"/>
          </a:p>
          <a:p>
            <a:pPr algn="ctr" indent="0" marL="0">
              <a:buNone/>
            </a:pPr>
            <a:r>
              <a:rPr lang="en-US" sz="1000" b="1" dirty="0">
                <a:solidFill>
                  <a:srgbClr val="07111F"/>
                </a:solidFill>
              </a:rPr>
              <a:t>Visual Recommendation: A “before DeployGuard” fragmentation diagram with GitHub, container tooling, Terraform, AWS, logs, security, and billing around a confused developer.</a:t>
            </a:r>
            <a:endParaRPr lang="en-US" sz="1000" dirty="0"/>
          </a:p>
          <a:p>
            <a:pPr algn="ctr" indent="0" marL="0">
              <a:buNone/>
            </a:pPr>
            <a:endParaRPr lang="en-US" sz="1000" dirty="0"/>
          </a:p>
          <a:p>
            <a:pPr algn="ctr" indent="0" marL="0">
              <a:buNone/>
            </a:pPr>
            <a:r>
              <a:rPr lang="en-US" sz="1000" b="1" dirty="0">
                <a:solidFill>
                  <a:srgbClr val="07111F"/>
                </a:solidFill>
              </a:rPr>
              <a:t>Defense Notes: Keep the problem technical and operational. The project is not claiming that individual cloud tools are inadequate; the problem is coordinating them into a consistent, auditable lifecycle.</a:t>
            </a:r>
            <a:endParaRPr lang="en-US" sz="1000" dirty="0"/>
          </a:p>
        </p:txBody>
      </p:sp>
      <p:sp>
        <p:nvSpPr>
          <p:cNvPr id="5" name="Shape 3"/>
          <p:cNvSpPr/>
          <p:nvPr/>
        </p:nvSpPr>
        <p:spPr>
          <a:xfrm>
            <a:off x="502920" y="932688"/>
            <a:ext cx="11109960" cy="0"/>
          </a:xfrm>
          <a:prstGeom prst="line">
            <a:avLst/>
          </a:prstGeom>
          <a:noFill/>
          <a:ln w="17780">
            <a:solidFill>
              <a:srgbClr val="35C2D8">
                <a:alpha val="75000"/>
              </a:srgbClr>
            </a:solidFill>
            <a:prstDash val="solid"/>
          </a:ln>
        </p:spPr>
      </p:sp>
      <p:sp>
        <p:nvSpPr>
          <p:cNvPr id="6" name="Text 4"/>
          <p:cNvSpPr/>
          <p:nvPr/>
        </p:nvSpPr>
        <p:spPr>
          <a:xfrm>
            <a:off x="502920" y="996696"/>
            <a:ext cx="5212080" cy="164592"/>
          </a:xfrm>
          <a:prstGeom prst="rect">
            <a:avLst/>
          </a:prstGeom>
          <a:noFill/>
          <a:ln/>
        </p:spPr>
        <p:txBody>
          <a:bodyPr wrap="square" lIns="0" tIns="0" rIns="0" bIns="0" rtlCol="0" anchor="ctr"/>
          <a:lstStyle/>
          <a:p>
            <a:pPr indent="0" marL="0">
              <a:buNone/>
            </a:pPr>
            <a:r>
              <a:rPr lang="en-US" sz="850" b="1" spc="110" kern="0" dirty="0">
                <a:solidFill>
                  <a:srgbClr val="35C2D8"/>
                </a:solidFill>
              </a:rPr>
              <a:t>OVERVIEW</a:t>
            </a:r>
            <a:endParaRPr lang="en-US" sz="850" dirty="0"/>
          </a:p>
        </p:txBody>
      </p:sp>
      <p:sp>
        <p:nvSpPr>
          <p:cNvPr id="7" name="Text 5"/>
          <p:cNvSpPr/>
          <p:nvPr/>
        </p:nvSpPr>
        <p:spPr>
          <a:xfrm>
            <a:off x="594360" y="1325880"/>
            <a:ext cx="5349240" cy="4937760"/>
          </a:xfrm>
          <a:prstGeom prst="rect">
            <a:avLst/>
          </a:prstGeom>
          <a:noFill/>
          <a:ln/>
        </p:spPr>
        <p:txBody>
          <a:bodyPr wrap="square" lIns="254" tIns="254" rIns="254" bIns="254" rtlCol="0" anchor="ctr">
            <a:normAutofit/>
          </a:bodyPr>
          <a:lstStyle/>
          <a:p>
            <a:pPr marL="190500" indent="-190500">
              <a:buSzPct val="100000"/>
              <a:buChar char="•"/>
            </a:pPr>
            <a:r>
              <a:rPr lang="en-US" sz="1580" dirty="0">
                <a:solidFill>
                  <a:srgbClr val="D9E5EF"/>
                </a:solidFill>
                <a:latin typeface="Aptos" pitchFamily="34" charset="0"/>
                <a:ea typeface="Aptos" pitchFamily="34" charset="-122"/>
                <a:cs typeface="Aptos" pitchFamily="34" charset="-120"/>
              </a:rPr>
              <a:t>Cloud deployment forces small teams to combine source control, container builds, infrastructure provisioning, runtime diagnosis, security scanning, cost review, and cleanup.</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These tools expose different identifiers and failure formats, so developers struggle to answer: what was deployed, why did it fail, and what is safe to do next?</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Common risks include configuration drift, mutable artifacts, incomplete cleanup, excessive cloud permissions, hidden cost, and rollback based on guesses.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Existing automation often reports a failed command without identifying whether responsibility belongs to the application, platform, or cloud provider.</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DeployGuard unifies those concerns without hiding the underlying evidence.</a:t>
            </a:r>
            <a:endParaRPr lang="en-US" sz="1580" dirty="0"/>
          </a:p>
        </p:txBody>
      </p:sp>
      <p:sp>
        <p:nvSpPr>
          <p:cNvPr id="8" name="Shape 6"/>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9" name="Shape 7"/>
          <p:cNvSpPr/>
          <p:nvPr/>
        </p:nvSpPr>
        <p:spPr>
          <a:xfrm>
            <a:off x="8046720" y="2633472"/>
            <a:ext cx="1783080" cy="1783080"/>
          </a:xfrm>
          <a:prstGeom prst="ellipse">
            <a:avLst/>
          </a:prstGeom>
          <a:solidFill>
            <a:srgbClr val="12263A"/>
          </a:solidFill>
          <a:ln w="25400">
            <a:solidFill>
              <a:srgbClr val="35C2D8"/>
            </a:solidFill>
            <a:prstDash val="solid"/>
          </a:ln>
        </p:spPr>
      </p:sp>
      <p:sp>
        <p:nvSpPr>
          <p:cNvPr id="10" name="Text 8"/>
          <p:cNvSpPr/>
          <p:nvPr/>
        </p:nvSpPr>
        <p:spPr>
          <a:xfrm>
            <a:off x="8275320" y="3273552"/>
            <a:ext cx="1325880" cy="228600"/>
          </a:xfrm>
          <a:prstGeom prst="rect">
            <a:avLst/>
          </a:prstGeom>
          <a:noFill/>
          <a:ln/>
        </p:spPr>
        <p:txBody>
          <a:bodyPr wrap="square" lIns="0" tIns="0" rIns="0" bIns="0" rtlCol="0" anchor="ctr"/>
          <a:lstStyle/>
          <a:p>
            <a:pPr algn="ctr" indent="0" marL="0">
              <a:buNone/>
            </a:pPr>
            <a:r>
              <a:rPr lang="en-US" sz="1500" b="1" dirty="0">
                <a:solidFill>
                  <a:srgbClr val="F7FAFC"/>
                </a:solidFill>
              </a:rPr>
              <a:t>Developer</a:t>
            </a:r>
            <a:endParaRPr lang="en-US" sz="1500" dirty="0"/>
          </a:p>
        </p:txBody>
      </p:sp>
      <p:sp>
        <p:nvSpPr>
          <p:cNvPr id="11" name="Shape 9"/>
          <p:cNvSpPr/>
          <p:nvPr/>
        </p:nvSpPr>
        <p:spPr>
          <a:xfrm>
            <a:off x="6400800" y="1417320"/>
            <a:ext cx="1600200" cy="658368"/>
          </a:xfrm>
          <a:prstGeom prst="roundRect">
            <a:avLst>
              <a:gd name="adj" fmla="val 6944"/>
            </a:avLst>
          </a:prstGeom>
          <a:solidFill>
            <a:srgbClr val="12263A"/>
          </a:solidFill>
          <a:ln w="17780">
            <a:solidFill>
              <a:srgbClr val="B276FF"/>
            </a:solidFill>
            <a:prstDash val="solid"/>
          </a:ln>
        </p:spPr>
      </p:sp>
      <p:sp>
        <p:nvSpPr>
          <p:cNvPr id="12" name="Text 10"/>
          <p:cNvSpPr/>
          <p:nvPr/>
        </p:nvSpPr>
        <p:spPr>
          <a:xfrm>
            <a:off x="6492240" y="1545336"/>
            <a:ext cx="141732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GitHub</a:t>
            </a:r>
            <a:endParaRPr lang="en-US" sz="1200" dirty="0"/>
          </a:p>
        </p:txBody>
      </p:sp>
      <p:sp>
        <p:nvSpPr>
          <p:cNvPr id="13" name="Shape 11"/>
          <p:cNvSpPr/>
          <p:nvPr/>
        </p:nvSpPr>
        <p:spPr>
          <a:xfrm>
            <a:off x="7205472" y="2075688"/>
            <a:ext cx="1737360" cy="1444752"/>
          </a:xfrm>
          <a:prstGeom prst="line">
            <a:avLst/>
          </a:prstGeom>
          <a:noFill/>
          <a:ln w="15240">
            <a:solidFill>
              <a:srgbClr val="B276FF"/>
            </a:solidFill>
            <a:prstDash val="solid"/>
            <a:tailEnd type="triangle"/>
          </a:ln>
        </p:spPr>
      </p:sp>
      <p:sp>
        <p:nvSpPr>
          <p:cNvPr id="14" name="Shape 12"/>
          <p:cNvSpPr/>
          <p:nvPr/>
        </p:nvSpPr>
        <p:spPr>
          <a:xfrm>
            <a:off x="9509760" y="1353312"/>
            <a:ext cx="1600200" cy="658368"/>
          </a:xfrm>
          <a:prstGeom prst="roundRect">
            <a:avLst>
              <a:gd name="adj" fmla="val 6944"/>
            </a:avLst>
          </a:prstGeom>
          <a:solidFill>
            <a:srgbClr val="12263A"/>
          </a:solidFill>
          <a:ln w="17780">
            <a:solidFill>
              <a:srgbClr val="35C2D8"/>
            </a:solidFill>
            <a:prstDash val="solid"/>
          </a:ln>
        </p:spPr>
      </p:sp>
      <p:sp>
        <p:nvSpPr>
          <p:cNvPr id="15" name="Text 13"/>
          <p:cNvSpPr/>
          <p:nvPr/>
        </p:nvSpPr>
        <p:spPr>
          <a:xfrm>
            <a:off x="9601200" y="1481328"/>
            <a:ext cx="141732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Containers</a:t>
            </a:r>
            <a:endParaRPr lang="en-US" sz="1200" dirty="0"/>
          </a:p>
        </p:txBody>
      </p:sp>
      <p:sp>
        <p:nvSpPr>
          <p:cNvPr id="16" name="Shape 14"/>
          <p:cNvSpPr/>
          <p:nvPr/>
        </p:nvSpPr>
        <p:spPr>
          <a:xfrm>
            <a:off x="10314432" y="2011680"/>
            <a:ext cx="-1371600" cy="1508760"/>
          </a:xfrm>
          <a:prstGeom prst="line">
            <a:avLst/>
          </a:prstGeom>
          <a:noFill/>
          <a:ln w="15240">
            <a:solidFill>
              <a:srgbClr val="35C2D8"/>
            </a:solidFill>
            <a:prstDash val="solid"/>
            <a:tailEnd type="triangle"/>
          </a:ln>
        </p:spPr>
      </p:sp>
      <p:sp>
        <p:nvSpPr>
          <p:cNvPr id="17" name="Shape 15"/>
          <p:cNvSpPr/>
          <p:nvPr/>
        </p:nvSpPr>
        <p:spPr>
          <a:xfrm>
            <a:off x="10058400" y="2926080"/>
            <a:ext cx="1600200" cy="658368"/>
          </a:xfrm>
          <a:prstGeom prst="roundRect">
            <a:avLst>
              <a:gd name="adj" fmla="val 6944"/>
            </a:avLst>
          </a:prstGeom>
          <a:solidFill>
            <a:srgbClr val="12263A"/>
          </a:solidFill>
          <a:ln w="17780">
            <a:solidFill>
              <a:srgbClr val="4FA3FF"/>
            </a:solidFill>
            <a:prstDash val="solid"/>
          </a:ln>
        </p:spPr>
      </p:sp>
      <p:sp>
        <p:nvSpPr>
          <p:cNvPr id="18" name="Text 16"/>
          <p:cNvSpPr/>
          <p:nvPr/>
        </p:nvSpPr>
        <p:spPr>
          <a:xfrm>
            <a:off x="10149840" y="3054096"/>
            <a:ext cx="141732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Terraform</a:t>
            </a:r>
            <a:endParaRPr lang="en-US" sz="1200" dirty="0"/>
          </a:p>
        </p:txBody>
      </p:sp>
      <p:sp>
        <p:nvSpPr>
          <p:cNvPr id="19" name="Shape 17"/>
          <p:cNvSpPr/>
          <p:nvPr/>
        </p:nvSpPr>
        <p:spPr>
          <a:xfrm>
            <a:off x="10863072" y="3584448"/>
            <a:ext cx="-1920240" cy="-64008"/>
          </a:xfrm>
          <a:prstGeom prst="line">
            <a:avLst/>
          </a:prstGeom>
          <a:noFill/>
          <a:ln w="15240">
            <a:solidFill>
              <a:srgbClr val="4FA3FF"/>
            </a:solidFill>
            <a:prstDash val="solid"/>
            <a:tailEnd type="triangle"/>
          </a:ln>
        </p:spPr>
      </p:sp>
      <p:sp>
        <p:nvSpPr>
          <p:cNvPr id="20" name="Shape 18"/>
          <p:cNvSpPr/>
          <p:nvPr/>
        </p:nvSpPr>
        <p:spPr>
          <a:xfrm>
            <a:off x="9692640" y="4736592"/>
            <a:ext cx="1600200" cy="658368"/>
          </a:xfrm>
          <a:prstGeom prst="roundRect">
            <a:avLst>
              <a:gd name="adj" fmla="val 6944"/>
            </a:avLst>
          </a:prstGeom>
          <a:solidFill>
            <a:srgbClr val="12263A"/>
          </a:solidFill>
          <a:ln w="17780">
            <a:solidFill>
              <a:srgbClr val="54D6A3"/>
            </a:solidFill>
            <a:prstDash val="solid"/>
          </a:ln>
        </p:spPr>
      </p:sp>
      <p:sp>
        <p:nvSpPr>
          <p:cNvPr id="21" name="Text 19"/>
          <p:cNvSpPr/>
          <p:nvPr/>
        </p:nvSpPr>
        <p:spPr>
          <a:xfrm>
            <a:off x="9784080" y="4864608"/>
            <a:ext cx="141732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AWS</a:t>
            </a:r>
            <a:endParaRPr lang="en-US" sz="1200" dirty="0"/>
          </a:p>
        </p:txBody>
      </p:sp>
      <p:sp>
        <p:nvSpPr>
          <p:cNvPr id="22" name="Shape 20"/>
          <p:cNvSpPr/>
          <p:nvPr/>
        </p:nvSpPr>
        <p:spPr>
          <a:xfrm>
            <a:off x="10497312" y="5394960"/>
            <a:ext cx="-1554480" cy="-1874520"/>
          </a:xfrm>
          <a:prstGeom prst="line">
            <a:avLst/>
          </a:prstGeom>
          <a:noFill/>
          <a:ln w="15240">
            <a:solidFill>
              <a:srgbClr val="54D6A3"/>
            </a:solidFill>
            <a:prstDash val="solid"/>
            <a:tailEnd type="triangle"/>
          </a:ln>
        </p:spPr>
      </p:sp>
      <p:sp>
        <p:nvSpPr>
          <p:cNvPr id="23" name="Shape 21"/>
          <p:cNvSpPr/>
          <p:nvPr/>
        </p:nvSpPr>
        <p:spPr>
          <a:xfrm>
            <a:off x="6492240" y="4754880"/>
            <a:ext cx="1600200" cy="658368"/>
          </a:xfrm>
          <a:prstGeom prst="roundRect">
            <a:avLst>
              <a:gd name="adj" fmla="val 6944"/>
            </a:avLst>
          </a:prstGeom>
          <a:solidFill>
            <a:srgbClr val="12263A"/>
          </a:solidFill>
          <a:ln w="17780">
            <a:solidFill>
              <a:srgbClr val="F5B041"/>
            </a:solidFill>
            <a:prstDash val="solid"/>
          </a:ln>
        </p:spPr>
      </p:sp>
      <p:sp>
        <p:nvSpPr>
          <p:cNvPr id="24" name="Text 22"/>
          <p:cNvSpPr/>
          <p:nvPr/>
        </p:nvSpPr>
        <p:spPr>
          <a:xfrm>
            <a:off x="6583680" y="4882896"/>
            <a:ext cx="141732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Logs</a:t>
            </a:r>
            <a:endParaRPr lang="en-US" sz="1200" dirty="0"/>
          </a:p>
        </p:txBody>
      </p:sp>
      <p:sp>
        <p:nvSpPr>
          <p:cNvPr id="25" name="Shape 23"/>
          <p:cNvSpPr/>
          <p:nvPr/>
        </p:nvSpPr>
        <p:spPr>
          <a:xfrm>
            <a:off x="7296912" y="5413248"/>
            <a:ext cx="1645920" cy="-1892808"/>
          </a:xfrm>
          <a:prstGeom prst="line">
            <a:avLst/>
          </a:prstGeom>
          <a:noFill/>
          <a:ln w="15240">
            <a:solidFill>
              <a:srgbClr val="F5B041"/>
            </a:solidFill>
            <a:prstDash val="solid"/>
            <a:tailEnd type="triangle"/>
          </a:ln>
        </p:spPr>
      </p:sp>
      <p:sp>
        <p:nvSpPr>
          <p:cNvPr id="26" name="Shape 24"/>
          <p:cNvSpPr/>
          <p:nvPr/>
        </p:nvSpPr>
        <p:spPr>
          <a:xfrm>
            <a:off x="6309360" y="2971800"/>
            <a:ext cx="1600200" cy="658368"/>
          </a:xfrm>
          <a:prstGeom prst="roundRect">
            <a:avLst>
              <a:gd name="adj" fmla="val 6944"/>
            </a:avLst>
          </a:prstGeom>
          <a:solidFill>
            <a:srgbClr val="12263A"/>
          </a:solidFill>
          <a:ln w="17780">
            <a:solidFill>
              <a:srgbClr val="FF6B6B"/>
            </a:solidFill>
            <a:prstDash val="solid"/>
          </a:ln>
        </p:spPr>
      </p:sp>
      <p:sp>
        <p:nvSpPr>
          <p:cNvPr id="27" name="Text 25"/>
          <p:cNvSpPr/>
          <p:nvPr/>
        </p:nvSpPr>
        <p:spPr>
          <a:xfrm>
            <a:off x="6400800" y="3099816"/>
            <a:ext cx="141732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Security</a:t>
            </a:r>
            <a:endParaRPr lang="en-US" sz="1200" dirty="0"/>
          </a:p>
        </p:txBody>
      </p:sp>
      <p:sp>
        <p:nvSpPr>
          <p:cNvPr id="28" name="Shape 26"/>
          <p:cNvSpPr/>
          <p:nvPr/>
        </p:nvSpPr>
        <p:spPr>
          <a:xfrm>
            <a:off x="7114032" y="3630168"/>
            <a:ext cx="1828800" cy="-109728"/>
          </a:xfrm>
          <a:prstGeom prst="line">
            <a:avLst/>
          </a:prstGeom>
          <a:noFill/>
          <a:ln w="15240">
            <a:solidFill>
              <a:srgbClr val="FF6B6B"/>
            </a:solidFill>
            <a:prstDash val="solid"/>
            <a:tailEnd type="triangle"/>
          </a:ln>
        </p:spPr>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47472"/>
            <a:ext cx="9098280" cy="475488"/>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Objectives and Final Product Scope</a:t>
            </a:r>
            <a:endParaRPr lang="en-US" sz="2400" dirty="0"/>
          </a:p>
        </p:txBody>
      </p:sp>
      <p:sp>
        <p:nvSpPr>
          <p:cNvPr id="3" name="Shape 1"/>
          <p:cNvSpPr/>
          <p:nvPr/>
        </p:nvSpPr>
        <p:spPr>
          <a:xfrm>
            <a:off x="9829800" y="338328"/>
            <a:ext cx="1783080" cy="329184"/>
          </a:xfrm>
          <a:prstGeom prst="roundRect">
            <a:avLst>
              <a:gd name="adj" fmla="val 22222"/>
            </a:avLst>
          </a:prstGeom>
          <a:solidFill>
            <a:srgbClr val="4FA3FF">
              <a:alpha val="92000"/>
            </a:srgbClr>
          </a:solidFill>
          <a:ln w="12700">
            <a:solidFill>
              <a:srgbClr val="4FA3FF">
                <a:alpha val="0"/>
              </a:srgbClr>
            </a:solidFill>
            <a:prstDash val="solid"/>
          </a:ln>
        </p:spPr>
      </p:sp>
      <p:sp>
        <p:nvSpPr>
          <p:cNvPr id="4" name="Text 2"/>
          <p:cNvSpPr/>
          <p:nvPr/>
        </p:nvSpPr>
        <p:spPr>
          <a:xfrm>
            <a:off x="9912096" y="416052"/>
            <a:ext cx="1609344" cy="118872"/>
          </a:xfrm>
          <a:prstGeom prst="rect">
            <a:avLst/>
          </a:prstGeom>
          <a:noFill/>
          <a:ln/>
        </p:spPr>
        <p:txBody>
          <a:bodyPr wrap="square" lIns="0" tIns="0" rIns="0" bIns="0" rtlCol="0" anchor="ctr">
            <a:normAutofit/>
          </a:bodyPr>
          <a:lstStyle/>
          <a:p>
            <a:pPr algn="ctr" indent="0" marL="0">
              <a:buNone/>
            </a:pPr>
            <a:r>
              <a:rPr lang="en-US" sz="1000" b="1" dirty="0">
                <a:solidFill>
                  <a:srgbClr val="07111F"/>
                </a:solidFill>
              </a:rPr>
              <a:t>Hassan Sajjad</a:t>
            </a:r>
            <a:endParaRPr lang="en-US" sz="1000" dirty="0"/>
          </a:p>
          <a:p>
            <a:pPr algn="ctr" indent="0" marL="0">
              <a:buNone/>
            </a:pPr>
            <a:endParaRPr lang="en-US" sz="1000" dirty="0"/>
          </a:p>
          <a:p>
            <a:pPr algn="ctr" indent="0" marL="0">
              <a:buNone/>
            </a:pPr>
            <a:r>
              <a:rPr lang="en-US" sz="1000" b="1" dirty="0">
                <a:solidFill>
                  <a:srgbClr val="07111F"/>
                </a:solidFill>
              </a:rPr>
              <a:t>Purpose: State what was built and how success is defined.</a:t>
            </a:r>
            <a:endParaRPr lang="en-US" sz="1000" dirty="0"/>
          </a:p>
          <a:p>
            <a:pPr algn="ctr" indent="0" marL="0">
              <a:buNone/>
            </a:pPr>
            <a:endParaRPr lang="en-US" sz="1000" dirty="0"/>
          </a:p>
          <a:p>
            <a:pPr algn="ctr" indent="0" marL="0">
              <a:buNone/>
            </a:pPr>
            <a:r>
              <a:rPr lang="en-US" sz="1000" b="1" dirty="0">
                <a:solidFill>
                  <a:srgbClr val="07111F"/>
                </a:solidFill>
              </a:rPr>
              <a:t>Presentation Content:</a:t>
            </a:r>
            <a:endParaRPr lang="en-US" sz="1000" dirty="0"/>
          </a:p>
          <a:p>
            <a:pPr algn="ctr" indent="0" marL="0">
              <a:buNone/>
            </a:pPr>
            <a:endParaRPr lang="en-US" sz="1000" dirty="0"/>
          </a:p>
          <a:p>
            <a:pPr algn="ctr" indent="0" marL="0">
              <a:buNone/>
            </a:pPr>
            <a:r>
              <a:rPr lang="en-US" sz="1000" b="1" dirty="0">
                <a:solidFill>
                  <a:srgbClr val="07111F"/>
                </a:solidFill>
              </a:rPr>
              <a:t>- Provide self-service onboarding from a GitHub repository and selected source revision.</a:t>
            </a:r>
            <a:endParaRPr lang="en-US" sz="1000" dirty="0"/>
          </a:p>
          <a:p>
            <a:pPr algn="ctr" indent="0" marL="0">
              <a:buNone/>
            </a:pPr>
            <a:endParaRPr lang="en-US" sz="1000" dirty="0"/>
          </a:p>
          <a:p>
            <a:pPr algn="ctr" indent="0" marL="0">
              <a:buNone/>
            </a:pPr>
            <a:r>
              <a:rPr lang="en-US" sz="1000" b="1" dirty="0">
                <a:solidFill>
                  <a:srgbClr val="07111F"/>
                </a:solidFill>
              </a:rPr>
              <a:t>- Detect a reproducible application build target and runtime port, then produce immutable container images.</a:t>
            </a:r>
            <a:endParaRPr lang="en-US" sz="1000" dirty="0"/>
          </a:p>
          <a:p>
            <a:pPr algn="ctr" indent="0" marL="0">
              <a:buNone/>
            </a:pPr>
            <a:endParaRPr lang="en-US" sz="1000" dirty="0"/>
          </a:p>
          <a:p>
            <a:pPr algn="ctr" indent="0" marL="0">
              <a:buNone/>
            </a:pPr>
            <a:r>
              <a:rPr lang="en-US" sz="1000" b="1" dirty="0">
                <a:solidFill>
                  <a:srgbClr val="07111F"/>
                </a:solidFill>
              </a:rPr>
              <a:t>- Provision AWS infrastructure through Terraform and operate application releases through Amazon ECS.</a:t>
            </a:r>
            <a:endParaRPr lang="en-US" sz="1000" dirty="0"/>
          </a:p>
          <a:p>
            <a:pPr algn="ctr" indent="0" marL="0">
              <a:buNone/>
            </a:pPr>
            <a:endParaRPr lang="en-US" sz="1000" dirty="0"/>
          </a:p>
          <a:p>
            <a:pPr algn="ctr" indent="0" marL="0">
              <a:buNone/>
            </a:pPr>
            <a:r>
              <a:rPr lang="en-US" sz="1000" b="1" dirty="0">
                <a:solidFill>
                  <a:srgbClr val="07111F"/>
                </a:solidFill>
              </a:rPr>
              <a:t>- Enforce admission checks for permissions, configuration, security, cost, and managed-database readiness.</a:t>
            </a:r>
            <a:endParaRPr lang="en-US" sz="1000" dirty="0"/>
          </a:p>
          <a:p>
            <a:pPr algn="ctr" indent="0" marL="0">
              <a:buNone/>
            </a:pPr>
            <a:endParaRPr lang="en-US" sz="1000" dirty="0"/>
          </a:p>
          <a:p>
            <a:pPr algn="ctr" indent="0" marL="0">
              <a:buNone/>
            </a:pPr>
            <a:r>
              <a:rPr lang="en-US" sz="1000" b="1" dirty="0">
                <a:solidFill>
                  <a:srgbClr val="07111F"/>
                </a:solidFill>
              </a:rPr>
              <a:t>- Support first deployment, release-only redeployment, exact historical rollback, and verified destruction.</a:t>
            </a:r>
            <a:endParaRPr lang="en-US" sz="1000" dirty="0"/>
          </a:p>
          <a:p>
            <a:pPr algn="ctr" indent="0" marL="0">
              <a:buNone/>
            </a:pPr>
            <a:endParaRPr lang="en-US" sz="1000" dirty="0"/>
          </a:p>
          <a:p>
            <a:pPr algn="ctr" indent="0" marL="0">
              <a:buNone/>
            </a:pPr>
            <a:r>
              <a:rPr lang="en-US" sz="1000" b="1" dirty="0">
                <a:solidFill>
                  <a:srgbClr val="07111F"/>
                </a:solidFill>
              </a:rPr>
              <a:t>- Present live status, logs, metrics, cost context, audit history, and evidence-grounded AI assistance.</a:t>
            </a:r>
            <a:endParaRPr lang="en-US" sz="1000" dirty="0"/>
          </a:p>
          <a:p>
            <a:pPr algn="ctr" indent="0" marL="0">
              <a:buNone/>
            </a:pPr>
            <a:endParaRPr lang="en-US" sz="1000" dirty="0"/>
          </a:p>
          <a:p>
            <a:pPr algn="ctr" indent="0" marL="0">
              <a:buNone/>
            </a:pPr>
            <a:r>
              <a:rPr lang="en-US" sz="1000" b="1" dirty="0">
                <a:solidFill>
                  <a:srgbClr val="07111F"/>
                </a:solidFill>
              </a:rPr>
              <a:t>- Package the complete product for repeatable local operation with container orchestration.</a:t>
            </a:r>
            <a:endParaRPr lang="en-US" sz="1000" dirty="0"/>
          </a:p>
          <a:p>
            <a:pPr algn="ctr" indent="0" marL="0">
              <a:buNone/>
            </a:pPr>
            <a:endParaRPr lang="en-US" sz="1000" dirty="0"/>
          </a:p>
          <a:p>
            <a:pPr algn="ctr" indent="0" marL="0">
              <a:buNone/>
            </a:pPr>
            <a:r>
              <a:rPr lang="en-US" sz="1000" b="1" dirty="0">
                <a:solidFill>
                  <a:srgbClr val="07111F"/>
                </a:solidFill>
              </a:rPr>
              <a:t>Visual Recommendation: Seven objective cards grouped under Build, Cloud, Lifecycle, Governance, Observability, Intelligence, and Portability.</a:t>
            </a:r>
            <a:endParaRPr lang="en-US" sz="1000" dirty="0"/>
          </a:p>
          <a:p>
            <a:pPr algn="ctr" indent="0" marL="0">
              <a:buNone/>
            </a:pPr>
            <a:endParaRPr lang="en-US" sz="1000" dirty="0"/>
          </a:p>
          <a:p>
            <a:pPr algn="ctr" indent="0" marL="0">
              <a:buNone/>
            </a:pPr>
            <a:r>
              <a:rPr lang="en-US" sz="1000" b="1" dirty="0">
                <a:solidFill>
                  <a:srgbClr val="07111F"/>
                </a:solidFill>
              </a:rPr>
              <a:t>Defense Notes: Explicitly separate product features from proof status. An implemented path may be structurally verified while a particular cloud engine or failure scenario still requires fresh live-cloud evidence.</a:t>
            </a:r>
            <a:endParaRPr lang="en-US" sz="1000" dirty="0"/>
          </a:p>
        </p:txBody>
      </p:sp>
      <p:sp>
        <p:nvSpPr>
          <p:cNvPr id="5" name="Shape 3"/>
          <p:cNvSpPr/>
          <p:nvPr/>
        </p:nvSpPr>
        <p:spPr>
          <a:xfrm>
            <a:off x="502920" y="932688"/>
            <a:ext cx="11109960" cy="0"/>
          </a:xfrm>
          <a:prstGeom prst="line">
            <a:avLst/>
          </a:prstGeom>
          <a:noFill/>
          <a:ln w="17780">
            <a:solidFill>
              <a:srgbClr val="35C2D8">
                <a:alpha val="75000"/>
              </a:srgbClr>
            </a:solidFill>
            <a:prstDash val="solid"/>
          </a:ln>
        </p:spPr>
      </p:sp>
      <p:sp>
        <p:nvSpPr>
          <p:cNvPr id="6" name="Text 4"/>
          <p:cNvSpPr/>
          <p:nvPr/>
        </p:nvSpPr>
        <p:spPr>
          <a:xfrm>
            <a:off x="502920" y="996696"/>
            <a:ext cx="5212080" cy="164592"/>
          </a:xfrm>
          <a:prstGeom prst="rect">
            <a:avLst/>
          </a:prstGeom>
          <a:noFill/>
          <a:ln/>
        </p:spPr>
        <p:txBody>
          <a:bodyPr wrap="square" lIns="0" tIns="0" rIns="0" bIns="0" rtlCol="0" anchor="ctr"/>
          <a:lstStyle/>
          <a:p>
            <a:pPr indent="0" marL="0">
              <a:buNone/>
            </a:pPr>
            <a:r>
              <a:rPr lang="en-US" sz="850" b="1" spc="110" kern="0" dirty="0">
                <a:solidFill>
                  <a:srgbClr val="35C2D8"/>
                </a:solidFill>
              </a:rPr>
              <a:t>OVERVIEW</a:t>
            </a:r>
            <a:endParaRPr lang="en-US" sz="850" dirty="0"/>
          </a:p>
        </p:txBody>
      </p:sp>
      <p:sp>
        <p:nvSpPr>
          <p:cNvPr id="7" name="Text 5"/>
          <p:cNvSpPr/>
          <p:nvPr/>
        </p:nvSpPr>
        <p:spPr>
          <a:xfrm>
            <a:off x="594360" y="1325880"/>
            <a:ext cx="5349240" cy="4937760"/>
          </a:xfrm>
          <a:prstGeom prst="rect">
            <a:avLst/>
          </a:prstGeom>
          <a:noFill/>
          <a:ln/>
        </p:spPr>
        <p:txBody>
          <a:bodyPr wrap="square" lIns="254" tIns="254" rIns="254" bIns="254" rtlCol="0" anchor="ctr">
            <a:normAutofit/>
          </a:bodyPr>
          <a:lstStyle/>
          <a:p>
            <a:pPr marL="190500" indent="-190500">
              <a:buSzPct val="100000"/>
              <a:buChar char="•"/>
            </a:pPr>
            <a:r>
              <a:rPr lang="en-US" sz="1580" dirty="0">
                <a:solidFill>
                  <a:srgbClr val="D9E5EF"/>
                </a:solidFill>
                <a:latin typeface="Aptos" pitchFamily="34" charset="0"/>
                <a:ea typeface="Aptos" pitchFamily="34" charset="-122"/>
                <a:cs typeface="Aptos" pitchFamily="34" charset="-120"/>
              </a:rPr>
              <a:t>Provide self-service onboarding from a GitHub repository and selected source revision.</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Detect a reproducible application build target and runtime port, then produce immutable container images.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Provision AWS infrastructure through Terraform and operate application releases through Amazon ECS.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Enforce admission checks for permissions, configuration, security, cost, and managed-database readiness.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Support first deployment, release-only redeployment, exact historical rollback, and verified destruction.</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Present live status, logs, metrics, cost context, audit history, and evidence-grounded AI assistance.</a:t>
            </a:r>
            <a:endParaRPr lang="en-US" sz="1580" dirty="0"/>
          </a:p>
        </p:txBody>
      </p:sp>
      <p:sp>
        <p:nvSpPr>
          <p:cNvPr id="8" name="Shape 6"/>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9" name="Shape 7"/>
          <p:cNvSpPr/>
          <p:nvPr/>
        </p:nvSpPr>
        <p:spPr>
          <a:xfrm>
            <a:off x="6446520" y="1481328"/>
            <a:ext cx="2240280" cy="841248"/>
          </a:xfrm>
          <a:prstGeom prst="roundRect">
            <a:avLst>
              <a:gd name="adj" fmla="val 6522"/>
            </a:avLst>
          </a:prstGeom>
          <a:solidFill>
            <a:srgbClr val="0F1D2D"/>
          </a:solidFill>
          <a:ln w="12700">
            <a:solidFill>
              <a:srgbClr val="29445C"/>
            </a:solidFill>
            <a:prstDash val="solid"/>
          </a:ln>
        </p:spPr>
      </p:sp>
      <p:sp>
        <p:nvSpPr>
          <p:cNvPr id="10" name="Shape 8"/>
          <p:cNvSpPr/>
          <p:nvPr/>
        </p:nvSpPr>
        <p:spPr>
          <a:xfrm>
            <a:off x="6446520" y="1481328"/>
            <a:ext cx="54864" cy="841248"/>
          </a:xfrm>
          <a:prstGeom prst="rect">
            <a:avLst/>
          </a:prstGeom>
          <a:solidFill>
            <a:srgbClr val="B276FF"/>
          </a:solidFill>
          <a:ln w="12700">
            <a:solidFill>
              <a:srgbClr val="B276FF"/>
            </a:solidFill>
            <a:prstDash val="solid"/>
          </a:ln>
        </p:spPr>
      </p:sp>
      <p:sp>
        <p:nvSpPr>
          <p:cNvPr id="11" name="Text 9"/>
          <p:cNvSpPr/>
          <p:nvPr/>
        </p:nvSpPr>
        <p:spPr>
          <a:xfrm>
            <a:off x="6647688" y="1636776"/>
            <a:ext cx="1929384"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BUILD</a:t>
            </a:r>
            <a:endParaRPr lang="en-US" sz="1150" dirty="0"/>
          </a:p>
        </p:txBody>
      </p:sp>
      <p:sp>
        <p:nvSpPr>
          <p:cNvPr id="12" name="Text 10"/>
          <p:cNvSpPr/>
          <p:nvPr/>
        </p:nvSpPr>
        <p:spPr>
          <a:xfrm>
            <a:off x="6647688" y="1993392"/>
            <a:ext cx="1929384" cy="182880"/>
          </a:xfrm>
          <a:prstGeom prst="rect">
            <a:avLst/>
          </a:prstGeom>
          <a:noFill/>
          <a:ln/>
        </p:spPr>
        <p:txBody>
          <a:bodyPr wrap="square" lIns="0" tIns="0" rIns="0" bIns="0" rtlCol="0" anchor="ctr">
            <a:normAutofit/>
          </a:bodyPr>
          <a:lstStyle/>
          <a:p>
            <a:pPr indent="0" marL="0">
              <a:buNone/>
            </a:pPr>
            <a:r>
              <a:rPr lang="en-US" sz="930" dirty="0">
                <a:solidFill>
                  <a:srgbClr val="8FA6B9"/>
                </a:solidFill>
              </a:rPr>
              <a:t>Reproducible source → image</a:t>
            </a:r>
            <a:endParaRPr lang="en-US" sz="930" dirty="0"/>
          </a:p>
        </p:txBody>
      </p:sp>
      <p:sp>
        <p:nvSpPr>
          <p:cNvPr id="13" name="Shape 11"/>
          <p:cNvSpPr/>
          <p:nvPr/>
        </p:nvSpPr>
        <p:spPr>
          <a:xfrm>
            <a:off x="8915400" y="1481328"/>
            <a:ext cx="2240280" cy="841248"/>
          </a:xfrm>
          <a:prstGeom prst="roundRect">
            <a:avLst>
              <a:gd name="adj" fmla="val 6522"/>
            </a:avLst>
          </a:prstGeom>
          <a:solidFill>
            <a:srgbClr val="0F1D2D"/>
          </a:solidFill>
          <a:ln w="12700">
            <a:solidFill>
              <a:srgbClr val="29445C"/>
            </a:solidFill>
            <a:prstDash val="solid"/>
          </a:ln>
        </p:spPr>
      </p:sp>
      <p:sp>
        <p:nvSpPr>
          <p:cNvPr id="14" name="Shape 12"/>
          <p:cNvSpPr/>
          <p:nvPr/>
        </p:nvSpPr>
        <p:spPr>
          <a:xfrm>
            <a:off x="8915400" y="1481328"/>
            <a:ext cx="54864" cy="841248"/>
          </a:xfrm>
          <a:prstGeom prst="rect">
            <a:avLst/>
          </a:prstGeom>
          <a:solidFill>
            <a:srgbClr val="4FA3FF"/>
          </a:solidFill>
          <a:ln w="12700">
            <a:solidFill>
              <a:srgbClr val="4FA3FF"/>
            </a:solidFill>
            <a:prstDash val="solid"/>
          </a:ln>
        </p:spPr>
      </p:sp>
      <p:sp>
        <p:nvSpPr>
          <p:cNvPr id="15" name="Text 13"/>
          <p:cNvSpPr/>
          <p:nvPr/>
        </p:nvSpPr>
        <p:spPr>
          <a:xfrm>
            <a:off x="9116568" y="1636776"/>
            <a:ext cx="1929384"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CLOUD</a:t>
            </a:r>
            <a:endParaRPr lang="en-US" sz="1150" dirty="0"/>
          </a:p>
        </p:txBody>
      </p:sp>
      <p:sp>
        <p:nvSpPr>
          <p:cNvPr id="16" name="Text 14"/>
          <p:cNvSpPr/>
          <p:nvPr/>
        </p:nvSpPr>
        <p:spPr>
          <a:xfrm>
            <a:off x="9116568" y="1993392"/>
            <a:ext cx="1929384" cy="182880"/>
          </a:xfrm>
          <a:prstGeom prst="rect">
            <a:avLst/>
          </a:prstGeom>
          <a:noFill/>
          <a:ln/>
        </p:spPr>
        <p:txBody>
          <a:bodyPr wrap="square" lIns="0" tIns="0" rIns="0" bIns="0" rtlCol="0" anchor="ctr">
            <a:normAutofit/>
          </a:bodyPr>
          <a:lstStyle/>
          <a:p>
            <a:pPr indent="0" marL="0">
              <a:buNone/>
            </a:pPr>
            <a:r>
              <a:rPr lang="en-US" sz="930" dirty="0">
                <a:solidFill>
                  <a:srgbClr val="8FA6B9"/>
                </a:solidFill>
              </a:rPr>
              <a:t>Terraform + ECS runtime</a:t>
            </a:r>
            <a:endParaRPr lang="en-US" sz="930" dirty="0"/>
          </a:p>
        </p:txBody>
      </p:sp>
      <p:sp>
        <p:nvSpPr>
          <p:cNvPr id="17" name="Shape 15"/>
          <p:cNvSpPr/>
          <p:nvPr/>
        </p:nvSpPr>
        <p:spPr>
          <a:xfrm>
            <a:off x="6446520" y="2505456"/>
            <a:ext cx="2240280" cy="841248"/>
          </a:xfrm>
          <a:prstGeom prst="roundRect">
            <a:avLst>
              <a:gd name="adj" fmla="val 6522"/>
            </a:avLst>
          </a:prstGeom>
          <a:solidFill>
            <a:srgbClr val="0F1D2D"/>
          </a:solidFill>
          <a:ln w="12700">
            <a:solidFill>
              <a:srgbClr val="29445C"/>
            </a:solidFill>
            <a:prstDash val="solid"/>
          </a:ln>
        </p:spPr>
      </p:sp>
      <p:sp>
        <p:nvSpPr>
          <p:cNvPr id="18" name="Shape 16"/>
          <p:cNvSpPr/>
          <p:nvPr/>
        </p:nvSpPr>
        <p:spPr>
          <a:xfrm>
            <a:off x="6446520" y="2505456"/>
            <a:ext cx="54864" cy="841248"/>
          </a:xfrm>
          <a:prstGeom prst="rect">
            <a:avLst/>
          </a:prstGeom>
          <a:solidFill>
            <a:srgbClr val="54D6A3"/>
          </a:solidFill>
          <a:ln w="12700">
            <a:solidFill>
              <a:srgbClr val="54D6A3"/>
            </a:solidFill>
            <a:prstDash val="solid"/>
          </a:ln>
        </p:spPr>
      </p:sp>
      <p:sp>
        <p:nvSpPr>
          <p:cNvPr id="19" name="Text 17"/>
          <p:cNvSpPr/>
          <p:nvPr/>
        </p:nvSpPr>
        <p:spPr>
          <a:xfrm>
            <a:off x="6647688" y="2660904"/>
            <a:ext cx="1929384"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LIFECYCLE</a:t>
            </a:r>
            <a:endParaRPr lang="en-US" sz="1150" dirty="0"/>
          </a:p>
        </p:txBody>
      </p:sp>
      <p:sp>
        <p:nvSpPr>
          <p:cNvPr id="20" name="Text 18"/>
          <p:cNvSpPr/>
          <p:nvPr/>
        </p:nvSpPr>
        <p:spPr>
          <a:xfrm>
            <a:off x="6647688" y="3017520"/>
            <a:ext cx="1929384" cy="182880"/>
          </a:xfrm>
          <a:prstGeom prst="rect">
            <a:avLst/>
          </a:prstGeom>
          <a:noFill/>
          <a:ln/>
        </p:spPr>
        <p:txBody>
          <a:bodyPr wrap="square" lIns="0" tIns="0" rIns="0" bIns="0" rtlCol="0" anchor="ctr">
            <a:normAutofit/>
          </a:bodyPr>
          <a:lstStyle/>
          <a:p>
            <a:pPr indent="0" marL="0">
              <a:buNone/>
            </a:pPr>
            <a:r>
              <a:rPr lang="en-US" sz="930" dirty="0">
                <a:solidFill>
                  <a:srgbClr val="8FA6B9"/>
                </a:solidFill>
              </a:rPr>
              <a:t>Deploy / redeploy / rollback / destroy</a:t>
            </a:r>
            <a:endParaRPr lang="en-US" sz="930" dirty="0"/>
          </a:p>
        </p:txBody>
      </p:sp>
      <p:sp>
        <p:nvSpPr>
          <p:cNvPr id="21" name="Shape 19"/>
          <p:cNvSpPr/>
          <p:nvPr/>
        </p:nvSpPr>
        <p:spPr>
          <a:xfrm>
            <a:off x="8915400" y="2505456"/>
            <a:ext cx="2240280" cy="841248"/>
          </a:xfrm>
          <a:prstGeom prst="roundRect">
            <a:avLst>
              <a:gd name="adj" fmla="val 6522"/>
            </a:avLst>
          </a:prstGeom>
          <a:solidFill>
            <a:srgbClr val="0F1D2D"/>
          </a:solidFill>
          <a:ln w="12700">
            <a:solidFill>
              <a:srgbClr val="29445C"/>
            </a:solidFill>
            <a:prstDash val="solid"/>
          </a:ln>
        </p:spPr>
      </p:sp>
      <p:sp>
        <p:nvSpPr>
          <p:cNvPr id="22" name="Shape 20"/>
          <p:cNvSpPr/>
          <p:nvPr/>
        </p:nvSpPr>
        <p:spPr>
          <a:xfrm>
            <a:off x="8915400" y="2505456"/>
            <a:ext cx="54864" cy="841248"/>
          </a:xfrm>
          <a:prstGeom prst="rect">
            <a:avLst/>
          </a:prstGeom>
          <a:solidFill>
            <a:srgbClr val="35C2D8"/>
          </a:solidFill>
          <a:ln w="12700">
            <a:solidFill>
              <a:srgbClr val="35C2D8"/>
            </a:solidFill>
            <a:prstDash val="solid"/>
          </a:ln>
        </p:spPr>
      </p:sp>
      <p:sp>
        <p:nvSpPr>
          <p:cNvPr id="23" name="Text 21"/>
          <p:cNvSpPr/>
          <p:nvPr/>
        </p:nvSpPr>
        <p:spPr>
          <a:xfrm>
            <a:off x="9116568" y="2660904"/>
            <a:ext cx="1929384"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GOVERNANCE</a:t>
            </a:r>
            <a:endParaRPr lang="en-US" sz="1150" dirty="0"/>
          </a:p>
        </p:txBody>
      </p:sp>
      <p:sp>
        <p:nvSpPr>
          <p:cNvPr id="24" name="Text 22"/>
          <p:cNvSpPr/>
          <p:nvPr/>
        </p:nvSpPr>
        <p:spPr>
          <a:xfrm>
            <a:off x="9116568" y="3017520"/>
            <a:ext cx="1929384" cy="182880"/>
          </a:xfrm>
          <a:prstGeom prst="rect">
            <a:avLst/>
          </a:prstGeom>
          <a:noFill/>
          <a:ln/>
        </p:spPr>
        <p:txBody>
          <a:bodyPr wrap="square" lIns="0" tIns="0" rIns="0" bIns="0" rtlCol="0" anchor="ctr">
            <a:normAutofit/>
          </a:bodyPr>
          <a:lstStyle/>
          <a:p>
            <a:pPr indent="0" marL="0">
              <a:buNone/>
            </a:pPr>
            <a:r>
              <a:rPr lang="en-US" sz="930" dirty="0">
                <a:solidFill>
                  <a:srgbClr val="8FA6B9"/>
                </a:solidFill>
              </a:rPr>
              <a:t>Permissions + configuration + audit</a:t>
            </a:r>
            <a:endParaRPr lang="en-US" sz="930" dirty="0"/>
          </a:p>
        </p:txBody>
      </p:sp>
      <p:sp>
        <p:nvSpPr>
          <p:cNvPr id="25" name="Shape 23"/>
          <p:cNvSpPr/>
          <p:nvPr/>
        </p:nvSpPr>
        <p:spPr>
          <a:xfrm>
            <a:off x="6446520" y="3529584"/>
            <a:ext cx="2240280" cy="841248"/>
          </a:xfrm>
          <a:prstGeom prst="roundRect">
            <a:avLst>
              <a:gd name="adj" fmla="val 6522"/>
            </a:avLst>
          </a:prstGeom>
          <a:solidFill>
            <a:srgbClr val="0F1D2D"/>
          </a:solidFill>
          <a:ln w="12700">
            <a:solidFill>
              <a:srgbClr val="29445C"/>
            </a:solidFill>
            <a:prstDash val="solid"/>
          </a:ln>
        </p:spPr>
      </p:sp>
      <p:sp>
        <p:nvSpPr>
          <p:cNvPr id="26" name="Shape 24"/>
          <p:cNvSpPr/>
          <p:nvPr/>
        </p:nvSpPr>
        <p:spPr>
          <a:xfrm>
            <a:off x="6446520" y="3529584"/>
            <a:ext cx="54864" cy="841248"/>
          </a:xfrm>
          <a:prstGeom prst="rect">
            <a:avLst/>
          </a:prstGeom>
          <a:solidFill>
            <a:srgbClr val="F5B041"/>
          </a:solidFill>
          <a:ln w="12700">
            <a:solidFill>
              <a:srgbClr val="F5B041"/>
            </a:solidFill>
            <a:prstDash val="solid"/>
          </a:ln>
        </p:spPr>
      </p:sp>
      <p:sp>
        <p:nvSpPr>
          <p:cNvPr id="27" name="Text 25"/>
          <p:cNvSpPr/>
          <p:nvPr/>
        </p:nvSpPr>
        <p:spPr>
          <a:xfrm>
            <a:off x="6647688" y="3685032"/>
            <a:ext cx="1929384"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OBSERVE</a:t>
            </a:r>
            <a:endParaRPr lang="en-US" sz="1150" dirty="0"/>
          </a:p>
        </p:txBody>
      </p:sp>
      <p:sp>
        <p:nvSpPr>
          <p:cNvPr id="28" name="Text 26"/>
          <p:cNvSpPr/>
          <p:nvPr/>
        </p:nvSpPr>
        <p:spPr>
          <a:xfrm>
            <a:off x="6647688" y="4041648"/>
            <a:ext cx="1929384" cy="182880"/>
          </a:xfrm>
          <a:prstGeom prst="rect">
            <a:avLst/>
          </a:prstGeom>
          <a:noFill/>
          <a:ln/>
        </p:spPr>
        <p:txBody>
          <a:bodyPr wrap="square" lIns="0" tIns="0" rIns="0" bIns="0" rtlCol="0" anchor="ctr">
            <a:normAutofit/>
          </a:bodyPr>
          <a:lstStyle/>
          <a:p>
            <a:pPr indent="0" marL="0">
              <a:buNone/>
            </a:pPr>
            <a:r>
              <a:rPr lang="en-US" sz="930" dirty="0">
                <a:solidFill>
                  <a:srgbClr val="8FA6B9"/>
                </a:solidFill>
              </a:rPr>
              <a:t>Logs + metrics + dashboards</a:t>
            </a:r>
            <a:endParaRPr lang="en-US" sz="930" dirty="0"/>
          </a:p>
        </p:txBody>
      </p:sp>
      <p:sp>
        <p:nvSpPr>
          <p:cNvPr id="29" name="Shape 27"/>
          <p:cNvSpPr/>
          <p:nvPr/>
        </p:nvSpPr>
        <p:spPr>
          <a:xfrm>
            <a:off x="8915400" y="3529584"/>
            <a:ext cx="2240280" cy="841248"/>
          </a:xfrm>
          <a:prstGeom prst="roundRect">
            <a:avLst>
              <a:gd name="adj" fmla="val 6522"/>
            </a:avLst>
          </a:prstGeom>
          <a:solidFill>
            <a:srgbClr val="0F1D2D"/>
          </a:solidFill>
          <a:ln w="12700">
            <a:solidFill>
              <a:srgbClr val="29445C"/>
            </a:solidFill>
            <a:prstDash val="solid"/>
          </a:ln>
        </p:spPr>
      </p:sp>
      <p:sp>
        <p:nvSpPr>
          <p:cNvPr id="30" name="Shape 28"/>
          <p:cNvSpPr/>
          <p:nvPr/>
        </p:nvSpPr>
        <p:spPr>
          <a:xfrm>
            <a:off x="8915400" y="3529584"/>
            <a:ext cx="54864" cy="841248"/>
          </a:xfrm>
          <a:prstGeom prst="rect">
            <a:avLst/>
          </a:prstGeom>
          <a:solidFill>
            <a:srgbClr val="B276FF"/>
          </a:solidFill>
          <a:ln w="12700">
            <a:solidFill>
              <a:srgbClr val="B276FF"/>
            </a:solidFill>
            <a:prstDash val="solid"/>
          </a:ln>
        </p:spPr>
      </p:sp>
      <p:sp>
        <p:nvSpPr>
          <p:cNvPr id="31" name="Text 29"/>
          <p:cNvSpPr/>
          <p:nvPr/>
        </p:nvSpPr>
        <p:spPr>
          <a:xfrm>
            <a:off x="9116568" y="3685032"/>
            <a:ext cx="1929384"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INTELLIGENCE</a:t>
            </a:r>
            <a:endParaRPr lang="en-US" sz="1150" dirty="0"/>
          </a:p>
        </p:txBody>
      </p:sp>
      <p:sp>
        <p:nvSpPr>
          <p:cNvPr id="32" name="Text 30"/>
          <p:cNvSpPr/>
          <p:nvPr/>
        </p:nvSpPr>
        <p:spPr>
          <a:xfrm>
            <a:off x="9116568" y="4041648"/>
            <a:ext cx="1929384" cy="182880"/>
          </a:xfrm>
          <a:prstGeom prst="rect">
            <a:avLst/>
          </a:prstGeom>
          <a:noFill/>
          <a:ln/>
        </p:spPr>
        <p:txBody>
          <a:bodyPr wrap="square" lIns="0" tIns="0" rIns="0" bIns="0" rtlCol="0" anchor="ctr">
            <a:normAutofit/>
          </a:bodyPr>
          <a:lstStyle/>
          <a:p>
            <a:pPr indent="0" marL="0">
              <a:buNone/>
            </a:pPr>
            <a:r>
              <a:rPr lang="en-US" sz="930" dirty="0">
                <a:solidFill>
                  <a:srgbClr val="8FA6B9"/>
                </a:solidFill>
              </a:rPr>
              <a:t>Evidence-bounded assistance</a:t>
            </a:r>
            <a:endParaRPr lang="en-US" sz="930" dirty="0"/>
          </a:p>
        </p:txBody>
      </p:sp>
      <p:sp>
        <p:nvSpPr>
          <p:cNvPr id="33" name="Shape 31"/>
          <p:cNvSpPr/>
          <p:nvPr/>
        </p:nvSpPr>
        <p:spPr>
          <a:xfrm>
            <a:off x="6446520" y="4553712"/>
            <a:ext cx="2240280" cy="841248"/>
          </a:xfrm>
          <a:prstGeom prst="roundRect">
            <a:avLst>
              <a:gd name="adj" fmla="val 6522"/>
            </a:avLst>
          </a:prstGeom>
          <a:solidFill>
            <a:srgbClr val="0F1D2D"/>
          </a:solidFill>
          <a:ln w="12700">
            <a:solidFill>
              <a:srgbClr val="29445C"/>
            </a:solidFill>
            <a:prstDash val="solid"/>
          </a:ln>
        </p:spPr>
      </p:sp>
      <p:sp>
        <p:nvSpPr>
          <p:cNvPr id="34" name="Shape 32"/>
          <p:cNvSpPr/>
          <p:nvPr/>
        </p:nvSpPr>
        <p:spPr>
          <a:xfrm>
            <a:off x="6446520" y="4553712"/>
            <a:ext cx="54864" cy="841248"/>
          </a:xfrm>
          <a:prstGeom prst="rect">
            <a:avLst/>
          </a:prstGeom>
          <a:solidFill>
            <a:srgbClr val="54D6A3"/>
          </a:solidFill>
          <a:ln w="12700">
            <a:solidFill>
              <a:srgbClr val="54D6A3"/>
            </a:solidFill>
            <a:prstDash val="solid"/>
          </a:ln>
        </p:spPr>
      </p:sp>
      <p:sp>
        <p:nvSpPr>
          <p:cNvPr id="35" name="Text 33"/>
          <p:cNvSpPr/>
          <p:nvPr/>
        </p:nvSpPr>
        <p:spPr>
          <a:xfrm>
            <a:off x="6647688" y="4709160"/>
            <a:ext cx="1929384"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PORTABILITY</a:t>
            </a:r>
            <a:endParaRPr lang="en-US" sz="1150" dirty="0"/>
          </a:p>
        </p:txBody>
      </p:sp>
      <p:sp>
        <p:nvSpPr>
          <p:cNvPr id="36" name="Text 34"/>
          <p:cNvSpPr/>
          <p:nvPr/>
        </p:nvSpPr>
        <p:spPr>
          <a:xfrm>
            <a:off x="6647688" y="5065776"/>
            <a:ext cx="1929384" cy="182880"/>
          </a:xfrm>
          <a:prstGeom prst="rect">
            <a:avLst/>
          </a:prstGeom>
          <a:noFill/>
          <a:ln/>
        </p:spPr>
        <p:txBody>
          <a:bodyPr wrap="square" lIns="0" tIns="0" rIns="0" bIns="0" rtlCol="0" anchor="ctr">
            <a:normAutofit/>
          </a:bodyPr>
          <a:lstStyle/>
          <a:p>
            <a:pPr indent="0" marL="0">
              <a:buNone/>
            </a:pPr>
            <a:r>
              <a:rPr lang="en-US" sz="930" dirty="0">
                <a:solidFill>
                  <a:srgbClr val="8FA6B9"/>
                </a:solidFill>
              </a:rPr>
              <a:t>Containerized product handoff</a:t>
            </a:r>
            <a:endParaRPr lang="en-US" sz="930" dirty="0"/>
          </a:p>
        </p:txBody>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47472"/>
            <a:ext cx="9098280" cy="475488"/>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Target Users and End-to-End User Journey</a:t>
            </a:r>
            <a:endParaRPr lang="en-US" sz="2400" dirty="0"/>
          </a:p>
        </p:txBody>
      </p:sp>
      <p:sp>
        <p:nvSpPr>
          <p:cNvPr id="3" name="Shape 1"/>
          <p:cNvSpPr/>
          <p:nvPr/>
        </p:nvSpPr>
        <p:spPr>
          <a:xfrm>
            <a:off x="9829800" y="338328"/>
            <a:ext cx="1783080" cy="329184"/>
          </a:xfrm>
          <a:prstGeom prst="roundRect">
            <a:avLst>
              <a:gd name="adj" fmla="val 22222"/>
            </a:avLst>
          </a:prstGeom>
          <a:solidFill>
            <a:srgbClr val="4FA3FF">
              <a:alpha val="92000"/>
            </a:srgbClr>
          </a:solidFill>
          <a:ln w="12700">
            <a:solidFill>
              <a:srgbClr val="4FA3FF">
                <a:alpha val="0"/>
              </a:srgbClr>
            </a:solidFill>
            <a:prstDash val="solid"/>
          </a:ln>
        </p:spPr>
      </p:sp>
      <p:sp>
        <p:nvSpPr>
          <p:cNvPr id="4" name="Text 2"/>
          <p:cNvSpPr/>
          <p:nvPr/>
        </p:nvSpPr>
        <p:spPr>
          <a:xfrm>
            <a:off x="9912096" y="416052"/>
            <a:ext cx="1609344" cy="118872"/>
          </a:xfrm>
          <a:prstGeom prst="rect">
            <a:avLst/>
          </a:prstGeom>
          <a:noFill/>
          <a:ln/>
        </p:spPr>
        <p:txBody>
          <a:bodyPr wrap="square" lIns="0" tIns="0" rIns="0" bIns="0" rtlCol="0" anchor="ctr">
            <a:normAutofit/>
          </a:bodyPr>
          <a:lstStyle/>
          <a:p>
            <a:pPr algn="ctr" indent="0" marL="0">
              <a:buNone/>
            </a:pPr>
            <a:r>
              <a:rPr lang="en-US" sz="1000" b="1" dirty="0">
                <a:solidFill>
                  <a:srgbClr val="07111F"/>
                </a:solidFill>
              </a:rPr>
              <a:t>Hassan Sajjad</a:t>
            </a:r>
            <a:endParaRPr lang="en-US" sz="1000" dirty="0"/>
          </a:p>
          <a:p>
            <a:pPr algn="ctr" indent="0" marL="0">
              <a:buNone/>
            </a:pPr>
            <a:endParaRPr lang="en-US" sz="1000" dirty="0"/>
          </a:p>
          <a:p>
            <a:pPr algn="ctr" indent="0" marL="0">
              <a:buNone/>
            </a:pPr>
            <a:r>
              <a:rPr lang="en-US" sz="1000" b="1" dirty="0">
                <a:solidFill>
                  <a:srgbClr val="07111F"/>
                </a:solidFill>
              </a:rPr>
              <a:t>Purpose: Explain the product through the developer’s experience.</a:t>
            </a:r>
            <a:endParaRPr lang="en-US" sz="1000" dirty="0"/>
          </a:p>
          <a:p>
            <a:pPr algn="ctr" indent="0" marL="0">
              <a:buNone/>
            </a:pPr>
            <a:endParaRPr lang="en-US" sz="1000" dirty="0"/>
          </a:p>
          <a:p>
            <a:pPr algn="ctr" indent="0" marL="0">
              <a:buNone/>
            </a:pPr>
            <a:r>
              <a:rPr lang="en-US" sz="1000" b="1" dirty="0">
                <a:solidFill>
                  <a:srgbClr val="07111F"/>
                </a:solidFill>
              </a:rPr>
              <a:t>Presentation Content:</a:t>
            </a:r>
            <a:endParaRPr lang="en-US" sz="1000" dirty="0"/>
          </a:p>
          <a:p>
            <a:pPr algn="ctr" indent="0" marL="0">
              <a:buNone/>
            </a:pPr>
            <a:endParaRPr lang="en-US" sz="1000" dirty="0"/>
          </a:p>
          <a:p>
            <a:pPr algn="ctr" indent="0" marL="0">
              <a:buNone/>
            </a:pPr>
            <a:r>
              <a:rPr lang="en-US" sz="1000" b="1" dirty="0">
                <a:solidFill>
                  <a:srgbClr val="07111F"/>
                </a:solidFill>
              </a:rPr>
              <a:t>- A developer connects a GitHub App installation and selects a repository, source branch, and one or more service directories.</a:t>
            </a:r>
            <a:endParaRPr lang="en-US" sz="1000" dirty="0"/>
          </a:p>
          <a:p>
            <a:pPr algn="ctr" indent="0" marL="0">
              <a:buNone/>
            </a:pPr>
            <a:endParaRPr lang="en-US" sz="1000" dirty="0"/>
          </a:p>
          <a:p>
            <a:pPr algn="ctr" indent="0" marL="0">
              <a:buNone/>
            </a:pPr>
            <a:r>
              <a:rPr lang="en-US" sz="1000" b="1" dirty="0">
                <a:solidFill>
                  <a:srgbClr val="07111F"/>
                </a:solidFill>
              </a:rPr>
              <a:t>- DeployGuard analyzes each service, resolves its build and port contract, and collects service-scoped environment configuration.</a:t>
            </a:r>
            <a:endParaRPr lang="en-US" sz="1000" dirty="0"/>
          </a:p>
          <a:p>
            <a:pPr algn="ctr" indent="0" marL="0">
              <a:buNone/>
            </a:pPr>
            <a:endParaRPr lang="en-US" sz="1000" dirty="0"/>
          </a:p>
          <a:p>
            <a:pPr algn="ctr" indent="0" marL="0">
              <a:buNone/>
            </a:pPr>
            <a:r>
              <a:rPr lang="en-US" sz="1000" b="1" dirty="0">
                <a:solidFill>
                  <a:srgbClr val="07111F"/>
                </a:solidFill>
              </a:rPr>
              <a:t>- The developer may attach a supported managed database and reviews deployment readiness before starting.</a:t>
            </a:r>
            <a:endParaRPr lang="en-US" sz="1000" dirty="0"/>
          </a:p>
          <a:p>
            <a:pPr algn="ctr" indent="0" marL="0">
              <a:buNone/>
            </a:pPr>
            <a:endParaRPr lang="en-US" sz="1000" dirty="0"/>
          </a:p>
          <a:p>
            <a:pPr algn="ctr" indent="0" marL="0">
              <a:buNone/>
            </a:pPr>
            <a:r>
              <a:rPr lang="en-US" sz="1000" b="1" dirty="0">
                <a:solidFill>
                  <a:srgbClr val="07111F"/>
                </a:solidFill>
              </a:rPr>
              <a:t>- The platform builds, scans, publishes, provisions, starts, verifies, and promotes the release while exposing progress.</a:t>
            </a:r>
            <a:endParaRPr lang="en-US" sz="1000" dirty="0"/>
          </a:p>
          <a:p>
            <a:pPr algn="ctr" indent="0" marL="0">
              <a:buNone/>
            </a:pPr>
            <a:endParaRPr lang="en-US" sz="1000" dirty="0"/>
          </a:p>
          <a:p>
            <a:pPr algn="ctr" indent="0" marL="0">
              <a:buNone/>
            </a:pPr>
            <a:r>
              <a:rPr lang="en-US" sz="1000" b="1" dirty="0">
                <a:solidFill>
                  <a:srgbClr val="07111F"/>
                </a:solidFill>
              </a:rPr>
              <a:t>- After deployment, the developer sees the public endpoint, infrastructure, pipeline history, live logs, metrics, and troubleshooting evidence.</a:t>
            </a:r>
            <a:endParaRPr lang="en-US" sz="1000" dirty="0"/>
          </a:p>
          <a:p>
            <a:pPr algn="ctr" indent="0" marL="0">
              <a:buNone/>
            </a:pPr>
            <a:endParaRPr lang="en-US" sz="1000" dirty="0"/>
          </a:p>
          <a:p>
            <a:pPr algn="ctr" indent="0" marL="0">
              <a:buNone/>
            </a:pPr>
            <a:r>
              <a:rPr lang="en-US" sz="1000" b="1" dirty="0">
                <a:solidFill>
                  <a:srgbClr val="07111F"/>
                </a:solidFill>
              </a:rPr>
              <a:t>- The same project can be redeployed, rolled back to an immutable stable release, or destroyed with explicit verification.</a:t>
            </a:r>
            <a:endParaRPr lang="en-US" sz="1000" dirty="0"/>
          </a:p>
          <a:p>
            <a:pPr algn="ctr" indent="0" marL="0">
              <a:buNone/>
            </a:pPr>
            <a:endParaRPr lang="en-US" sz="1000" dirty="0"/>
          </a:p>
          <a:p>
            <a:pPr algn="ctr" indent="0" marL="0">
              <a:buNone/>
            </a:pPr>
            <a:r>
              <a:rPr lang="en-US" sz="1000" b="1" dirty="0">
                <a:solidFill>
                  <a:srgbClr val="07111F"/>
                </a:solidFill>
              </a:rPr>
              <a:t>Visual Recommendation: A numbered user-journey ribbon from Connect Repository to Operate or Destroy.</a:t>
            </a:r>
            <a:endParaRPr lang="en-US" sz="1000" dirty="0"/>
          </a:p>
          <a:p>
            <a:pPr algn="ctr" indent="0" marL="0">
              <a:buNone/>
            </a:pPr>
            <a:endParaRPr lang="en-US" sz="1000" dirty="0"/>
          </a:p>
          <a:p>
            <a:pPr algn="ctr" indent="0" marL="0">
              <a:buNone/>
            </a:pPr>
            <a:r>
              <a:rPr lang="en-US" sz="1000" b="1" dirty="0">
                <a:solidFill>
                  <a:srgbClr val="07111F"/>
                </a:solidFill>
              </a:rPr>
              <a:t>Defense Notes: Mention that multi-service selection is supported and configuration belongs to the selected service. The journey is designed to reduce ambiguity, not to remove control from the developer.</a:t>
            </a:r>
            <a:endParaRPr lang="en-US" sz="1000" dirty="0"/>
          </a:p>
        </p:txBody>
      </p:sp>
      <p:sp>
        <p:nvSpPr>
          <p:cNvPr id="5" name="Shape 3"/>
          <p:cNvSpPr/>
          <p:nvPr/>
        </p:nvSpPr>
        <p:spPr>
          <a:xfrm>
            <a:off x="502920" y="932688"/>
            <a:ext cx="11109960" cy="0"/>
          </a:xfrm>
          <a:prstGeom prst="line">
            <a:avLst/>
          </a:prstGeom>
          <a:noFill/>
          <a:ln w="17780">
            <a:solidFill>
              <a:srgbClr val="35C2D8">
                <a:alpha val="75000"/>
              </a:srgbClr>
            </a:solidFill>
            <a:prstDash val="solid"/>
          </a:ln>
        </p:spPr>
      </p:sp>
      <p:sp>
        <p:nvSpPr>
          <p:cNvPr id="6" name="Text 4"/>
          <p:cNvSpPr/>
          <p:nvPr/>
        </p:nvSpPr>
        <p:spPr>
          <a:xfrm>
            <a:off x="502920" y="996696"/>
            <a:ext cx="5212080" cy="164592"/>
          </a:xfrm>
          <a:prstGeom prst="rect">
            <a:avLst/>
          </a:prstGeom>
          <a:noFill/>
          <a:ln/>
        </p:spPr>
        <p:txBody>
          <a:bodyPr wrap="square" lIns="0" tIns="0" rIns="0" bIns="0" rtlCol="0" anchor="ctr"/>
          <a:lstStyle/>
          <a:p>
            <a:pPr indent="0" marL="0">
              <a:buNone/>
            </a:pPr>
            <a:r>
              <a:rPr lang="en-US" sz="850" b="1" spc="110" kern="0" dirty="0">
                <a:solidFill>
                  <a:srgbClr val="35C2D8"/>
                </a:solidFill>
              </a:rPr>
              <a:t>OVERVIEW</a:t>
            </a:r>
            <a:endParaRPr lang="en-US" sz="850" dirty="0"/>
          </a:p>
        </p:txBody>
      </p:sp>
      <p:sp>
        <p:nvSpPr>
          <p:cNvPr id="7" name="Text 5"/>
          <p:cNvSpPr/>
          <p:nvPr/>
        </p:nvSpPr>
        <p:spPr>
          <a:xfrm>
            <a:off x="594360" y="1325880"/>
            <a:ext cx="5349240" cy="4937760"/>
          </a:xfrm>
          <a:prstGeom prst="rect">
            <a:avLst/>
          </a:prstGeom>
          <a:noFill/>
          <a:ln/>
        </p:spPr>
        <p:txBody>
          <a:bodyPr wrap="square" lIns="254" tIns="254" rIns="254" bIns="254" rtlCol="0" anchor="ctr">
            <a:normAutofit/>
          </a:bodyPr>
          <a:lstStyle/>
          <a:p>
            <a:pPr marL="190500" indent="-190500">
              <a:buSzPct val="100000"/>
              <a:buChar char="•"/>
            </a:pPr>
            <a:r>
              <a:rPr lang="en-US" sz="1580" dirty="0">
                <a:solidFill>
                  <a:srgbClr val="D9E5EF"/>
                </a:solidFill>
                <a:latin typeface="Aptos" pitchFamily="34" charset="0"/>
                <a:ea typeface="Aptos" pitchFamily="34" charset="-122"/>
                <a:cs typeface="Aptos" pitchFamily="34" charset="-120"/>
              </a:rPr>
              <a:t>A developer connects a GitHub App installation and selects a repository, source branch, and one or more service directories.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DeployGuard analyzes each service, resolves its build and port contract, and collects service-scoped environment configuration.</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The developer may attach a supported managed database and reviews deployment readiness before starting.</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The platform builds, scans, publishes, provisions, starts, verifies, and promotes the release while exposing progress.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After deployment, the developer sees the public endpoint, infrastructure, pipeline history, live logs, metrics, and troubleshooting evidence.</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The same project can be redeployed, rolled back to an immutable stable release, or destroyed with explicit verification.</a:t>
            </a:r>
            <a:endParaRPr lang="en-US" sz="1580" dirty="0"/>
          </a:p>
        </p:txBody>
      </p:sp>
      <p:sp>
        <p:nvSpPr>
          <p:cNvPr id="8" name="Shape 6"/>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9" name="Shape 7"/>
          <p:cNvSpPr/>
          <p:nvPr/>
        </p:nvSpPr>
        <p:spPr>
          <a:xfrm>
            <a:off x="6510528" y="1600200"/>
            <a:ext cx="1389888" cy="786384"/>
          </a:xfrm>
          <a:prstGeom prst="roundRect">
            <a:avLst>
              <a:gd name="adj" fmla="val 5814"/>
            </a:avLst>
          </a:prstGeom>
          <a:solidFill>
            <a:srgbClr val="12263A"/>
          </a:solidFill>
          <a:ln w="17780">
            <a:solidFill>
              <a:srgbClr val="B276FF"/>
            </a:solidFill>
            <a:prstDash val="solid"/>
          </a:ln>
        </p:spPr>
      </p:sp>
      <p:sp>
        <p:nvSpPr>
          <p:cNvPr id="10" name="Text 8"/>
          <p:cNvSpPr/>
          <p:nvPr/>
        </p:nvSpPr>
        <p:spPr>
          <a:xfrm>
            <a:off x="6601968" y="1728216"/>
            <a:ext cx="1207008"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Connect</a:t>
            </a:r>
            <a:endParaRPr lang="en-US" sz="1200" dirty="0"/>
          </a:p>
        </p:txBody>
      </p:sp>
      <p:sp>
        <p:nvSpPr>
          <p:cNvPr id="11" name="Shape 9"/>
          <p:cNvSpPr/>
          <p:nvPr/>
        </p:nvSpPr>
        <p:spPr>
          <a:xfrm>
            <a:off x="7900416" y="1993392"/>
            <a:ext cx="256032" cy="0"/>
          </a:xfrm>
          <a:prstGeom prst="line">
            <a:avLst/>
          </a:prstGeom>
          <a:noFill/>
          <a:ln w="16510">
            <a:solidFill>
              <a:srgbClr val="35C2D8"/>
            </a:solidFill>
            <a:prstDash val="solid"/>
            <a:tailEnd type="triangle"/>
          </a:ln>
        </p:spPr>
      </p:sp>
      <p:sp>
        <p:nvSpPr>
          <p:cNvPr id="12" name="Shape 10"/>
          <p:cNvSpPr/>
          <p:nvPr/>
        </p:nvSpPr>
        <p:spPr>
          <a:xfrm>
            <a:off x="8174736" y="1600200"/>
            <a:ext cx="1389888" cy="786384"/>
          </a:xfrm>
          <a:prstGeom prst="roundRect">
            <a:avLst>
              <a:gd name="adj" fmla="val 5814"/>
            </a:avLst>
          </a:prstGeom>
          <a:solidFill>
            <a:srgbClr val="12263A"/>
          </a:solidFill>
          <a:ln w="17780">
            <a:solidFill>
              <a:srgbClr val="35C2D8"/>
            </a:solidFill>
            <a:prstDash val="solid"/>
          </a:ln>
        </p:spPr>
      </p:sp>
      <p:sp>
        <p:nvSpPr>
          <p:cNvPr id="13" name="Text 11"/>
          <p:cNvSpPr/>
          <p:nvPr/>
        </p:nvSpPr>
        <p:spPr>
          <a:xfrm>
            <a:off x="8266176" y="1728216"/>
            <a:ext cx="1207008"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Analyze</a:t>
            </a:r>
            <a:endParaRPr lang="en-US" sz="1200" dirty="0"/>
          </a:p>
        </p:txBody>
      </p:sp>
      <p:sp>
        <p:nvSpPr>
          <p:cNvPr id="14" name="Shape 12"/>
          <p:cNvSpPr/>
          <p:nvPr/>
        </p:nvSpPr>
        <p:spPr>
          <a:xfrm>
            <a:off x="9564624" y="1993392"/>
            <a:ext cx="256032" cy="0"/>
          </a:xfrm>
          <a:prstGeom prst="line">
            <a:avLst/>
          </a:prstGeom>
          <a:noFill/>
          <a:ln w="16510">
            <a:solidFill>
              <a:srgbClr val="35C2D8"/>
            </a:solidFill>
            <a:prstDash val="solid"/>
            <a:tailEnd type="triangle"/>
          </a:ln>
        </p:spPr>
      </p:sp>
      <p:sp>
        <p:nvSpPr>
          <p:cNvPr id="15" name="Shape 13"/>
          <p:cNvSpPr/>
          <p:nvPr/>
        </p:nvSpPr>
        <p:spPr>
          <a:xfrm>
            <a:off x="9838944" y="1600200"/>
            <a:ext cx="1389888" cy="786384"/>
          </a:xfrm>
          <a:prstGeom prst="roundRect">
            <a:avLst>
              <a:gd name="adj" fmla="val 5814"/>
            </a:avLst>
          </a:prstGeom>
          <a:solidFill>
            <a:srgbClr val="12263A"/>
          </a:solidFill>
          <a:ln w="17780">
            <a:solidFill>
              <a:srgbClr val="4FA3FF"/>
            </a:solidFill>
            <a:prstDash val="solid"/>
          </a:ln>
        </p:spPr>
      </p:sp>
      <p:sp>
        <p:nvSpPr>
          <p:cNvPr id="16" name="Text 14"/>
          <p:cNvSpPr/>
          <p:nvPr/>
        </p:nvSpPr>
        <p:spPr>
          <a:xfrm>
            <a:off x="9930384" y="1728216"/>
            <a:ext cx="1207008"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Configure</a:t>
            </a:r>
            <a:endParaRPr lang="en-US" sz="1200" dirty="0"/>
          </a:p>
        </p:txBody>
      </p:sp>
      <p:sp>
        <p:nvSpPr>
          <p:cNvPr id="17" name="Shape 15"/>
          <p:cNvSpPr/>
          <p:nvPr/>
        </p:nvSpPr>
        <p:spPr>
          <a:xfrm>
            <a:off x="6510528" y="3474720"/>
            <a:ext cx="1389888" cy="786384"/>
          </a:xfrm>
          <a:prstGeom prst="roundRect">
            <a:avLst>
              <a:gd name="adj" fmla="val 5814"/>
            </a:avLst>
          </a:prstGeom>
          <a:solidFill>
            <a:srgbClr val="12263A"/>
          </a:solidFill>
          <a:ln w="17780">
            <a:solidFill>
              <a:srgbClr val="54D6A3"/>
            </a:solidFill>
            <a:prstDash val="solid"/>
          </a:ln>
        </p:spPr>
      </p:sp>
      <p:sp>
        <p:nvSpPr>
          <p:cNvPr id="18" name="Text 16"/>
          <p:cNvSpPr/>
          <p:nvPr/>
        </p:nvSpPr>
        <p:spPr>
          <a:xfrm>
            <a:off x="6601968" y="3602736"/>
            <a:ext cx="1207008"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Deploy</a:t>
            </a:r>
            <a:endParaRPr lang="en-US" sz="1200" dirty="0"/>
          </a:p>
        </p:txBody>
      </p:sp>
      <p:sp>
        <p:nvSpPr>
          <p:cNvPr id="19" name="Shape 17"/>
          <p:cNvSpPr/>
          <p:nvPr/>
        </p:nvSpPr>
        <p:spPr>
          <a:xfrm>
            <a:off x="7900416" y="3867912"/>
            <a:ext cx="256032" cy="0"/>
          </a:xfrm>
          <a:prstGeom prst="line">
            <a:avLst/>
          </a:prstGeom>
          <a:noFill/>
          <a:ln w="16510">
            <a:solidFill>
              <a:srgbClr val="35C2D8"/>
            </a:solidFill>
            <a:prstDash val="solid"/>
            <a:tailEnd type="triangle"/>
          </a:ln>
        </p:spPr>
      </p:sp>
      <p:sp>
        <p:nvSpPr>
          <p:cNvPr id="20" name="Shape 18"/>
          <p:cNvSpPr/>
          <p:nvPr/>
        </p:nvSpPr>
        <p:spPr>
          <a:xfrm>
            <a:off x="8174736" y="3474720"/>
            <a:ext cx="1389888" cy="786384"/>
          </a:xfrm>
          <a:prstGeom prst="roundRect">
            <a:avLst>
              <a:gd name="adj" fmla="val 5814"/>
            </a:avLst>
          </a:prstGeom>
          <a:solidFill>
            <a:srgbClr val="12263A"/>
          </a:solidFill>
          <a:ln w="17780">
            <a:solidFill>
              <a:srgbClr val="F5B041"/>
            </a:solidFill>
            <a:prstDash val="solid"/>
          </a:ln>
        </p:spPr>
      </p:sp>
      <p:sp>
        <p:nvSpPr>
          <p:cNvPr id="21" name="Text 19"/>
          <p:cNvSpPr/>
          <p:nvPr/>
        </p:nvSpPr>
        <p:spPr>
          <a:xfrm>
            <a:off x="8266176" y="3602736"/>
            <a:ext cx="1207008"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Verify</a:t>
            </a:r>
            <a:endParaRPr lang="en-US" sz="1200" dirty="0"/>
          </a:p>
        </p:txBody>
      </p:sp>
      <p:sp>
        <p:nvSpPr>
          <p:cNvPr id="22" name="Shape 20"/>
          <p:cNvSpPr/>
          <p:nvPr/>
        </p:nvSpPr>
        <p:spPr>
          <a:xfrm>
            <a:off x="9564624" y="3867912"/>
            <a:ext cx="256032" cy="0"/>
          </a:xfrm>
          <a:prstGeom prst="line">
            <a:avLst/>
          </a:prstGeom>
          <a:noFill/>
          <a:ln w="16510">
            <a:solidFill>
              <a:srgbClr val="35C2D8"/>
            </a:solidFill>
            <a:prstDash val="solid"/>
            <a:tailEnd type="triangle"/>
          </a:ln>
        </p:spPr>
      </p:sp>
      <p:sp>
        <p:nvSpPr>
          <p:cNvPr id="23" name="Shape 21"/>
          <p:cNvSpPr/>
          <p:nvPr/>
        </p:nvSpPr>
        <p:spPr>
          <a:xfrm>
            <a:off x="9838944" y="3474720"/>
            <a:ext cx="1389888" cy="786384"/>
          </a:xfrm>
          <a:prstGeom prst="roundRect">
            <a:avLst>
              <a:gd name="adj" fmla="val 5814"/>
            </a:avLst>
          </a:prstGeom>
          <a:solidFill>
            <a:srgbClr val="12263A"/>
          </a:solidFill>
          <a:ln w="17780">
            <a:solidFill>
              <a:srgbClr val="35C2D8"/>
            </a:solidFill>
            <a:prstDash val="solid"/>
          </a:ln>
        </p:spPr>
      </p:sp>
      <p:sp>
        <p:nvSpPr>
          <p:cNvPr id="24" name="Text 22"/>
          <p:cNvSpPr/>
          <p:nvPr/>
        </p:nvSpPr>
        <p:spPr>
          <a:xfrm>
            <a:off x="9930384" y="3602736"/>
            <a:ext cx="1207008"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Operate</a:t>
            </a:r>
            <a:endParaRPr lang="en-US" sz="1200" dirty="0"/>
          </a:p>
        </p:txBody>
      </p:sp>
      <p:sp>
        <p:nvSpPr>
          <p:cNvPr id="25" name="Text 23"/>
          <p:cNvSpPr/>
          <p:nvPr/>
        </p:nvSpPr>
        <p:spPr>
          <a:xfrm>
            <a:off x="6510528" y="5321808"/>
            <a:ext cx="4754880" cy="256032"/>
          </a:xfrm>
          <a:prstGeom prst="rect">
            <a:avLst/>
          </a:prstGeom>
          <a:noFill/>
          <a:ln/>
        </p:spPr>
        <p:txBody>
          <a:bodyPr wrap="square" lIns="0" tIns="0" rIns="0" bIns="0" rtlCol="0" anchor="ctr"/>
          <a:lstStyle/>
          <a:p>
            <a:pPr algn="ctr" indent="0" marL="0">
              <a:buNone/>
            </a:pPr>
            <a:r>
              <a:rPr lang="en-US" sz="1100" b="1" dirty="0">
                <a:solidFill>
                  <a:srgbClr val="8FA6B9"/>
                </a:solidFill>
              </a:rPr>
              <a:t>Developer journey</a:t>
            </a:r>
            <a:endParaRPr lang="en-US" sz="1100" dirty="0"/>
          </a:p>
        </p:txBody>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47472"/>
            <a:ext cx="9098280" cy="475488"/>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Complete System Architecture</a:t>
            </a:r>
            <a:endParaRPr lang="en-US" sz="2400" dirty="0"/>
          </a:p>
        </p:txBody>
      </p:sp>
      <p:sp>
        <p:nvSpPr>
          <p:cNvPr id="3" name="Shape 1"/>
          <p:cNvSpPr/>
          <p:nvPr/>
        </p:nvSpPr>
        <p:spPr>
          <a:xfrm>
            <a:off x="9829800" y="338328"/>
            <a:ext cx="1783080" cy="329184"/>
          </a:xfrm>
          <a:prstGeom prst="roundRect">
            <a:avLst>
              <a:gd name="adj" fmla="val 22222"/>
            </a:avLst>
          </a:prstGeom>
          <a:solidFill>
            <a:srgbClr val="4FA3FF">
              <a:alpha val="92000"/>
            </a:srgbClr>
          </a:solidFill>
          <a:ln w="12700">
            <a:solidFill>
              <a:srgbClr val="4FA3FF">
                <a:alpha val="0"/>
              </a:srgbClr>
            </a:solidFill>
            <a:prstDash val="solid"/>
          </a:ln>
        </p:spPr>
      </p:sp>
      <p:sp>
        <p:nvSpPr>
          <p:cNvPr id="4" name="Text 2"/>
          <p:cNvSpPr/>
          <p:nvPr/>
        </p:nvSpPr>
        <p:spPr>
          <a:xfrm>
            <a:off x="9912096" y="416052"/>
            <a:ext cx="1609344" cy="118872"/>
          </a:xfrm>
          <a:prstGeom prst="rect">
            <a:avLst/>
          </a:prstGeom>
          <a:noFill/>
          <a:ln/>
        </p:spPr>
        <p:txBody>
          <a:bodyPr wrap="square" lIns="0" tIns="0" rIns="0" bIns="0" rtlCol="0" anchor="ctr">
            <a:normAutofit/>
          </a:bodyPr>
          <a:lstStyle/>
          <a:p>
            <a:pPr algn="ctr" indent="0" marL="0">
              <a:buNone/>
            </a:pPr>
            <a:r>
              <a:rPr lang="en-US" sz="1000" b="1" dirty="0">
                <a:solidFill>
                  <a:srgbClr val="07111F"/>
                </a:solidFill>
              </a:rPr>
              <a:t>Hassan Sajjad</a:t>
            </a:r>
            <a:endParaRPr lang="en-US" sz="1000" dirty="0"/>
          </a:p>
          <a:p>
            <a:pPr algn="ctr" indent="0" marL="0">
              <a:buNone/>
            </a:pPr>
            <a:endParaRPr lang="en-US" sz="1000" dirty="0"/>
          </a:p>
          <a:p>
            <a:pPr algn="ctr" indent="0" marL="0">
              <a:buNone/>
            </a:pPr>
            <a:r>
              <a:rPr lang="en-US" sz="1000" b="1" dirty="0">
                <a:solidFill>
                  <a:srgbClr val="07111F"/>
                </a:solidFill>
              </a:rPr>
              <a:t>Purpose: Give the panel a shared mental model before component detail.</a:t>
            </a:r>
            <a:endParaRPr lang="en-US" sz="1000" dirty="0"/>
          </a:p>
          <a:p>
            <a:pPr algn="ctr" indent="0" marL="0">
              <a:buNone/>
            </a:pPr>
            <a:endParaRPr lang="en-US" sz="1000" dirty="0"/>
          </a:p>
          <a:p>
            <a:pPr algn="ctr" indent="0" marL="0">
              <a:buNone/>
            </a:pPr>
            <a:r>
              <a:rPr lang="en-US" sz="1000" b="1" dirty="0">
                <a:solidFill>
                  <a:srgbClr val="07111F"/>
                </a:solidFill>
              </a:rPr>
              <a:t>Presentation Content:</a:t>
            </a:r>
            <a:endParaRPr lang="en-US" sz="1000" dirty="0"/>
          </a:p>
          <a:p>
            <a:pPr algn="ctr" indent="0" marL="0">
              <a:buNone/>
            </a:pPr>
            <a:endParaRPr lang="en-US" sz="1000" dirty="0"/>
          </a:p>
          <a:p>
            <a:pPr algn="ctr" indent="0" marL="0">
              <a:buNone/>
            </a:pPr>
            <a:r>
              <a:rPr lang="en-US" sz="1000" b="1" dirty="0">
                <a:solidFill>
                  <a:srgbClr val="07111F"/>
                </a:solidFill>
              </a:rPr>
              <a:t>- Presentation layer: React web application for projects, pipeline, infrastructure, monitoring, troubleshooting, billing, and administration.</a:t>
            </a:r>
            <a:endParaRPr lang="en-US" sz="1000" dirty="0"/>
          </a:p>
          <a:p>
            <a:pPr algn="ctr" indent="0" marL="0">
              <a:buNone/>
            </a:pPr>
            <a:endParaRPr lang="en-US" sz="1000" dirty="0"/>
          </a:p>
          <a:p>
            <a:pPr algn="ctr" indent="0" marL="0">
              <a:buNone/>
            </a:pPr>
            <a:r>
              <a:rPr lang="en-US" sz="1000" b="1" dirty="0">
                <a:solidFill>
                  <a:srgbClr val="07111F"/>
                </a:solidFill>
              </a:rPr>
              <a:t>- Control plane: NestJS APIs and workers for authentication, repository analysis, deployment admission, orchestration, lifecycle actions, audit, and billing.</a:t>
            </a:r>
            <a:endParaRPr lang="en-US" sz="1000" dirty="0"/>
          </a:p>
          <a:p>
            <a:pPr algn="ctr" indent="0" marL="0">
              <a:buNone/>
            </a:pPr>
            <a:endParaRPr lang="en-US" sz="1000" dirty="0"/>
          </a:p>
          <a:p>
            <a:pPr algn="ctr" indent="0" marL="0">
              <a:buNone/>
            </a:pPr>
            <a:r>
              <a:rPr lang="en-US" sz="1000" b="1" dirty="0">
                <a:solidFill>
                  <a:srgbClr val="07111F"/>
                </a:solidFill>
              </a:rPr>
              <a:t>- Durable control data: PostgreSQL for projects, configurations, generations, stable releases, evidence, infrastructure state, and audit records.</a:t>
            </a:r>
            <a:endParaRPr lang="en-US" sz="1000" dirty="0"/>
          </a:p>
          <a:p>
            <a:pPr algn="ctr" indent="0" marL="0">
              <a:buNone/>
            </a:pPr>
            <a:endParaRPr lang="en-US" sz="1000" dirty="0"/>
          </a:p>
          <a:p>
            <a:pPr algn="ctr" indent="0" marL="0">
              <a:buNone/>
            </a:pPr>
            <a:r>
              <a:rPr lang="en-US" sz="1000" b="1" dirty="0">
                <a:solidFill>
                  <a:srgbClr val="07111F"/>
                </a:solidFill>
              </a:rPr>
              <a:t>- Asynchronous execution: Redis-backed BullMQ queues for deployment, lifecycle, and emergency-cleanup work.</a:t>
            </a:r>
            <a:endParaRPr lang="en-US" sz="1000" dirty="0"/>
          </a:p>
          <a:p>
            <a:pPr algn="ctr" indent="0" marL="0">
              <a:buNone/>
            </a:pPr>
            <a:endParaRPr lang="en-US" sz="1000" dirty="0"/>
          </a:p>
          <a:p>
            <a:pPr algn="ctr" indent="0" marL="0">
              <a:buNone/>
            </a:pPr>
            <a:r>
              <a:rPr lang="en-US" sz="1000" b="1" dirty="0">
                <a:solidFill>
                  <a:srgbClr val="07111F"/>
                </a:solidFill>
              </a:rPr>
              <a:t>- Execution plane: GitHub Actions uses short-lived AWS federation to build, scan, publish, and invoke Terraform and ECS operations.</a:t>
            </a:r>
            <a:endParaRPr lang="en-US" sz="1000" dirty="0"/>
          </a:p>
          <a:p>
            <a:pPr algn="ctr" indent="0" marL="0">
              <a:buNone/>
            </a:pPr>
            <a:endParaRPr lang="en-US" sz="1000" dirty="0"/>
          </a:p>
          <a:p>
            <a:pPr algn="ctr" indent="0" marL="0">
              <a:buNone/>
            </a:pPr>
            <a:r>
              <a:rPr lang="en-US" sz="1000" b="1" dirty="0">
                <a:solidFill>
                  <a:srgbClr val="07111F"/>
                </a:solidFill>
              </a:rPr>
              <a:t>- Cloud plane: ECR, ECS on Fargate, Application Load Balancers, CloudWatch, Secrets Manager, EFS, service discovery, and managed database containers.</a:t>
            </a:r>
            <a:endParaRPr lang="en-US" sz="1000" dirty="0"/>
          </a:p>
          <a:p>
            <a:pPr algn="ctr" indent="0" marL="0">
              <a:buNone/>
            </a:pPr>
            <a:endParaRPr lang="en-US" sz="1000" dirty="0"/>
          </a:p>
          <a:p>
            <a:pPr algn="ctr" indent="0" marL="0">
              <a:buNone/>
            </a:pPr>
            <a:r>
              <a:rPr lang="en-US" sz="1000" b="1" dirty="0">
                <a:solidFill>
                  <a:srgbClr val="07111F"/>
                </a:solidFill>
              </a:rPr>
              <a:t>- Observability plane: CloudWatch evidence projected through APIs, Prometheus metrics, and Grafana dashboards.</a:t>
            </a:r>
            <a:endParaRPr lang="en-US" sz="1000" dirty="0"/>
          </a:p>
          <a:p>
            <a:pPr algn="ctr" indent="0" marL="0">
              <a:buNone/>
            </a:pPr>
            <a:endParaRPr lang="en-US" sz="1000" dirty="0"/>
          </a:p>
          <a:p>
            <a:pPr algn="ctr" indent="0" marL="0">
              <a:buNone/>
            </a:pPr>
            <a:r>
              <a:rPr lang="en-US" sz="1000" b="1" dirty="0">
                <a:solidFill>
                  <a:srgbClr val="07111F"/>
                </a:solidFill>
              </a:rPr>
              <a:t>Visual Recommendation: Layered architecture with arrows from browser to control plane, database and queues, workflow execution, then AWS services.</a:t>
            </a:r>
            <a:endParaRPr lang="en-US" sz="1000" dirty="0"/>
          </a:p>
          <a:p>
            <a:pPr algn="ctr" indent="0" marL="0">
              <a:buNone/>
            </a:pPr>
            <a:endParaRPr lang="en-US" sz="1000" dirty="0"/>
          </a:p>
          <a:p>
            <a:pPr algn="ctr" indent="0" marL="0">
              <a:buNone/>
            </a:pPr>
            <a:r>
              <a:rPr lang="en-US" sz="1000" b="1" dirty="0">
                <a:solidFill>
                  <a:srgbClr val="07111F"/>
                </a:solidFill>
              </a:rPr>
              <a:t>Defense Notes: Clarify that the control plane owns deployment decisions while the workflow is the privileged execution mechanism. PostgreSQL stores the durable product record; Redis coordinates asynchronous work rather than replacing that record.</a:t>
            </a:r>
            <a:endParaRPr lang="en-US" sz="1000" dirty="0"/>
          </a:p>
        </p:txBody>
      </p:sp>
      <p:sp>
        <p:nvSpPr>
          <p:cNvPr id="5" name="Shape 3"/>
          <p:cNvSpPr/>
          <p:nvPr/>
        </p:nvSpPr>
        <p:spPr>
          <a:xfrm>
            <a:off x="502920" y="932688"/>
            <a:ext cx="11109960" cy="0"/>
          </a:xfrm>
          <a:prstGeom prst="line">
            <a:avLst/>
          </a:prstGeom>
          <a:noFill/>
          <a:ln w="17780">
            <a:solidFill>
              <a:srgbClr val="35C2D8">
                <a:alpha val="75000"/>
              </a:srgbClr>
            </a:solidFill>
            <a:prstDash val="solid"/>
          </a:ln>
        </p:spPr>
      </p:sp>
      <p:sp>
        <p:nvSpPr>
          <p:cNvPr id="6" name="Text 4"/>
          <p:cNvSpPr/>
          <p:nvPr/>
        </p:nvSpPr>
        <p:spPr>
          <a:xfrm>
            <a:off x="502920" y="996696"/>
            <a:ext cx="5212080" cy="164592"/>
          </a:xfrm>
          <a:prstGeom prst="rect">
            <a:avLst/>
          </a:prstGeom>
          <a:noFill/>
          <a:ln/>
        </p:spPr>
        <p:txBody>
          <a:bodyPr wrap="square" lIns="0" tIns="0" rIns="0" bIns="0" rtlCol="0" anchor="ctr"/>
          <a:lstStyle/>
          <a:p>
            <a:pPr indent="0" marL="0">
              <a:buNone/>
            </a:pPr>
            <a:r>
              <a:rPr lang="en-US" sz="850" b="1" spc="110" kern="0" dirty="0">
                <a:solidFill>
                  <a:srgbClr val="35C2D8"/>
                </a:solidFill>
              </a:rPr>
              <a:t>OVERVIEW</a:t>
            </a:r>
            <a:endParaRPr lang="en-US" sz="850" dirty="0"/>
          </a:p>
        </p:txBody>
      </p:sp>
      <p:sp>
        <p:nvSpPr>
          <p:cNvPr id="7" name="Text 5"/>
          <p:cNvSpPr/>
          <p:nvPr/>
        </p:nvSpPr>
        <p:spPr>
          <a:xfrm>
            <a:off x="594360" y="1325880"/>
            <a:ext cx="5349240" cy="4937760"/>
          </a:xfrm>
          <a:prstGeom prst="rect">
            <a:avLst/>
          </a:prstGeom>
          <a:noFill/>
          <a:ln/>
        </p:spPr>
        <p:txBody>
          <a:bodyPr wrap="square" lIns="254" tIns="254" rIns="254" bIns="254" rtlCol="0" anchor="ctr">
            <a:normAutofit/>
          </a:bodyPr>
          <a:lstStyle/>
          <a:p>
            <a:pPr marL="190500" indent="-190500">
              <a:buSzPct val="100000"/>
              <a:buChar char="•"/>
            </a:pPr>
            <a:r>
              <a:rPr lang="en-US" sz="1580" dirty="0">
                <a:solidFill>
                  <a:srgbClr val="D9E5EF"/>
                </a:solidFill>
                <a:latin typeface="Aptos" pitchFamily="34" charset="0"/>
                <a:ea typeface="Aptos" pitchFamily="34" charset="-122"/>
                <a:cs typeface="Aptos" pitchFamily="34" charset="-120"/>
              </a:rPr>
              <a:t>Presentation layer: React web application for projects, pipeline, infrastructure, monitoring, troubleshooting, billing, and administration.</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Control plane: NestJS APIs and workers for authentication, repository analysis, deployment admission, orchestration, lifecycle actions, audit, and billing.</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Durable control data: PostgreSQL for projects, configurations, generations, stable releases, evidence, infrastructure state, and audit records.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Asynchronous execution: Background orchestration workers handle long-running deployment, lifecycle, and cleanup operations outside normal request-response handling.</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Execution plane: GitHub Actions uses short-lived AWS federation to build, scan, publish, and invoke Terraform and ECS operations.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Cloud plane: ECR, ECS on Fargate, Application Load Balancers, CloudWatch, Secrets Manager, EFS, service discovery, and managed database containers.</a:t>
            </a:r>
            <a:endParaRPr lang="en-US" sz="1580" dirty="0"/>
          </a:p>
        </p:txBody>
      </p:sp>
      <p:sp>
        <p:nvSpPr>
          <p:cNvPr id="8" name="Shape 6"/>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9" name="Shape 7"/>
          <p:cNvSpPr/>
          <p:nvPr/>
        </p:nvSpPr>
        <p:spPr>
          <a:xfrm>
            <a:off x="6537960" y="1426464"/>
            <a:ext cx="4800600" cy="566928"/>
          </a:xfrm>
          <a:prstGeom prst="roundRect">
            <a:avLst>
              <a:gd name="adj" fmla="val 9677"/>
            </a:avLst>
          </a:prstGeom>
          <a:solidFill>
            <a:srgbClr val="0F1D2D"/>
          </a:solidFill>
          <a:ln w="12700">
            <a:solidFill>
              <a:srgbClr val="29445C"/>
            </a:solidFill>
            <a:prstDash val="solid"/>
          </a:ln>
        </p:spPr>
      </p:sp>
      <p:sp>
        <p:nvSpPr>
          <p:cNvPr id="10" name="Shape 8"/>
          <p:cNvSpPr/>
          <p:nvPr/>
        </p:nvSpPr>
        <p:spPr>
          <a:xfrm>
            <a:off x="6537960" y="1426464"/>
            <a:ext cx="54864" cy="566928"/>
          </a:xfrm>
          <a:prstGeom prst="rect">
            <a:avLst/>
          </a:prstGeom>
          <a:solidFill>
            <a:srgbClr val="B276FF"/>
          </a:solidFill>
          <a:ln w="12700">
            <a:solidFill>
              <a:srgbClr val="B276FF"/>
            </a:solidFill>
            <a:prstDash val="solid"/>
          </a:ln>
        </p:spPr>
      </p:sp>
      <p:sp>
        <p:nvSpPr>
          <p:cNvPr id="11" name="Text 9"/>
          <p:cNvSpPr/>
          <p:nvPr/>
        </p:nvSpPr>
        <p:spPr>
          <a:xfrm>
            <a:off x="6739128" y="1581912"/>
            <a:ext cx="4489704"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Presentation</a:t>
            </a:r>
            <a:endParaRPr lang="en-US" sz="1150" dirty="0"/>
          </a:p>
        </p:txBody>
      </p:sp>
      <p:sp>
        <p:nvSpPr>
          <p:cNvPr id="12" name="Text 10"/>
          <p:cNvSpPr/>
          <p:nvPr/>
        </p:nvSpPr>
        <p:spPr>
          <a:xfrm>
            <a:off x="6739128" y="1938528"/>
            <a:ext cx="4489704" cy="-91440"/>
          </a:xfrm>
          <a:prstGeom prst="rect">
            <a:avLst/>
          </a:prstGeom>
          <a:noFill/>
          <a:ln/>
        </p:spPr>
        <p:txBody>
          <a:bodyPr wrap="square" lIns="0" tIns="0" rIns="0" bIns="0" rtlCol="0" anchor="ctr">
            <a:normAutofit/>
          </a:bodyPr>
          <a:lstStyle/>
          <a:p>
            <a:pPr indent="0" marL="0">
              <a:buNone/>
            </a:pPr>
            <a:r>
              <a:rPr lang="en-US" sz="940" dirty="0">
                <a:solidFill>
                  <a:srgbClr val="8FA6B9"/>
                </a:solidFill>
              </a:rPr>
              <a:t>React web application</a:t>
            </a:r>
            <a:endParaRPr lang="en-US" sz="940" dirty="0"/>
          </a:p>
        </p:txBody>
      </p:sp>
      <p:sp>
        <p:nvSpPr>
          <p:cNvPr id="13" name="Shape 11"/>
          <p:cNvSpPr/>
          <p:nvPr/>
        </p:nvSpPr>
        <p:spPr>
          <a:xfrm>
            <a:off x="8933688" y="1993392"/>
            <a:ext cx="0" cy="146304"/>
          </a:xfrm>
          <a:prstGeom prst="line">
            <a:avLst/>
          </a:prstGeom>
          <a:noFill/>
          <a:ln w="12700">
            <a:solidFill>
              <a:srgbClr val="29445C"/>
            </a:solidFill>
            <a:prstDash val="solid"/>
            <a:tailEnd type="triangle"/>
          </a:ln>
        </p:spPr>
      </p:sp>
      <p:sp>
        <p:nvSpPr>
          <p:cNvPr id="14" name="Shape 12"/>
          <p:cNvSpPr/>
          <p:nvPr/>
        </p:nvSpPr>
        <p:spPr>
          <a:xfrm>
            <a:off x="6537960" y="2139696"/>
            <a:ext cx="4800600" cy="566928"/>
          </a:xfrm>
          <a:prstGeom prst="roundRect">
            <a:avLst>
              <a:gd name="adj" fmla="val 9677"/>
            </a:avLst>
          </a:prstGeom>
          <a:solidFill>
            <a:srgbClr val="0F1D2D"/>
          </a:solidFill>
          <a:ln w="12700">
            <a:solidFill>
              <a:srgbClr val="29445C"/>
            </a:solidFill>
            <a:prstDash val="solid"/>
          </a:ln>
        </p:spPr>
      </p:sp>
      <p:sp>
        <p:nvSpPr>
          <p:cNvPr id="15" name="Shape 13"/>
          <p:cNvSpPr/>
          <p:nvPr/>
        </p:nvSpPr>
        <p:spPr>
          <a:xfrm>
            <a:off x="6537960" y="2139696"/>
            <a:ext cx="54864" cy="566928"/>
          </a:xfrm>
          <a:prstGeom prst="rect">
            <a:avLst/>
          </a:prstGeom>
          <a:solidFill>
            <a:srgbClr val="35C2D8"/>
          </a:solidFill>
          <a:ln w="12700">
            <a:solidFill>
              <a:srgbClr val="35C2D8"/>
            </a:solidFill>
            <a:prstDash val="solid"/>
          </a:ln>
        </p:spPr>
      </p:sp>
      <p:sp>
        <p:nvSpPr>
          <p:cNvPr id="16" name="Text 14"/>
          <p:cNvSpPr/>
          <p:nvPr/>
        </p:nvSpPr>
        <p:spPr>
          <a:xfrm>
            <a:off x="6739128" y="2295144"/>
            <a:ext cx="4489704"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Control plane</a:t>
            </a:r>
            <a:endParaRPr lang="en-US" sz="1150" dirty="0"/>
          </a:p>
        </p:txBody>
      </p:sp>
      <p:sp>
        <p:nvSpPr>
          <p:cNvPr id="17" name="Text 15"/>
          <p:cNvSpPr/>
          <p:nvPr/>
        </p:nvSpPr>
        <p:spPr>
          <a:xfrm>
            <a:off x="6739128" y="2651760"/>
            <a:ext cx="4489704" cy="-91440"/>
          </a:xfrm>
          <a:prstGeom prst="rect">
            <a:avLst/>
          </a:prstGeom>
          <a:noFill/>
          <a:ln/>
        </p:spPr>
        <p:txBody>
          <a:bodyPr wrap="square" lIns="0" tIns="0" rIns="0" bIns="0" rtlCol="0" anchor="ctr">
            <a:normAutofit/>
          </a:bodyPr>
          <a:lstStyle/>
          <a:p>
            <a:pPr indent="0" marL="0">
              <a:buNone/>
            </a:pPr>
            <a:r>
              <a:rPr lang="en-US" sz="940" dirty="0">
                <a:solidFill>
                  <a:srgbClr val="8FA6B9"/>
                </a:solidFill>
              </a:rPr>
              <a:t>NestJS APIs + orchestration</a:t>
            </a:r>
            <a:endParaRPr lang="en-US" sz="940" dirty="0"/>
          </a:p>
        </p:txBody>
      </p:sp>
      <p:sp>
        <p:nvSpPr>
          <p:cNvPr id="18" name="Shape 16"/>
          <p:cNvSpPr/>
          <p:nvPr/>
        </p:nvSpPr>
        <p:spPr>
          <a:xfrm>
            <a:off x="8933688" y="2706624"/>
            <a:ext cx="0" cy="146304"/>
          </a:xfrm>
          <a:prstGeom prst="line">
            <a:avLst/>
          </a:prstGeom>
          <a:noFill/>
          <a:ln w="12700">
            <a:solidFill>
              <a:srgbClr val="29445C"/>
            </a:solidFill>
            <a:prstDash val="solid"/>
            <a:tailEnd type="triangle"/>
          </a:ln>
        </p:spPr>
      </p:sp>
      <p:sp>
        <p:nvSpPr>
          <p:cNvPr id="19" name="Shape 17"/>
          <p:cNvSpPr/>
          <p:nvPr/>
        </p:nvSpPr>
        <p:spPr>
          <a:xfrm>
            <a:off x="6537960" y="2852928"/>
            <a:ext cx="4800600" cy="566928"/>
          </a:xfrm>
          <a:prstGeom prst="roundRect">
            <a:avLst>
              <a:gd name="adj" fmla="val 9677"/>
            </a:avLst>
          </a:prstGeom>
          <a:solidFill>
            <a:srgbClr val="0F1D2D"/>
          </a:solidFill>
          <a:ln w="12700">
            <a:solidFill>
              <a:srgbClr val="29445C"/>
            </a:solidFill>
            <a:prstDash val="solid"/>
          </a:ln>
        </p:spPr>
      </p:sp>
      <p:sp>
        <p:nvSpPr>
          <p:cNvPr id="20" name="Shape 18"/>
          <p:cNvSpPr/>
          <p:nvPr/>
        </p:nvSpPr>
        <p:spPr>
          <a:xfrm>
            <a:off x="6537960" y="2852928"/>
            <a:ext cx="54864" cy="566928"/>
          </a:xfrm>
          <a:prstGeom prst="rect">
            <a:avLst/>
          </a:prstGeom>
          <a:solidFill>
            <a:srgbClr val="4FA3FF"/>
          </a:solidFill>
          <a:ln w="12700">
            <a:solidFill>
              <a:srgbClr val="4FA3FF"/>
            </a:solidFill>
            <a:prstDash val="solid"/>
          </a:ln>
        </p:spPr>
      </p:sp>
      <p:sp>
        <p:nvSpPr>
          <p:cNvPr id="21" name="Text 19"/>
          <p:cNvSpPr/>
          <p:nvPr/>
        </p:nvSpPr>
        <p:spPr>
          <a:xfrm>
            <a:off x="6739128" y="3008376"/>
            <a:ext cx="4489704"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Durable state</a:t>
            </a:r>
            <a:endParaRPr lang="en-US" sz="1150" dirty="0"/>
          </a:p>
        </p:txBody>
      </p:sp>
      <p:sp>
        <p:nvSpPr>
          <p:cNvPr id="22" name="Text 20"/>
          <p:cNvSpPr/>
          <p:nvPr/>
        </p:nvSpPr>
        <p:spPr>
          <a:xfrm>
            <a:off x="6739128" y="3364992"/>
            <a:ext cx="4489704" cy="-91440"/>
          </a:xfrm>
          <a:prstGeom prst="rect">
            <a:avLst/>
          </a:prstGeom>
          <a:noFill/>
          <a:ln/>
        </p:spPr>
        <p:txBody>
          <a:bodyPr wrap="square" lIns="0" tIns="0" rIns="0" bIns="0" rtlCol="0" anchor="ctr">
            <a:normAutofit/>
          </a:bodyPr>
          <a:lstStyle/>
          <a:p>
            <a:pPr indent="0" marL="0">
              <a:buNone/>
            </a:pPr>
            <a:r>
              <a:rPr lang="en-US" sz="940" dirty="0">
                <a:solidFill>
                  <a:srgbClr val="8FA6B9"/>
                </a:solidFill>
              </a:rPr>
              <a:t>PostgreSQL</a:t>
            </a:r>
            <a:endParaRPr lang="en-US" sz="940" dirty="0"/>
          </a:p>
        </p:txBody>
      </p:sp>
      <p:sp>
        <p:nvSpPr>
          <p:cNvPr id="23" name="Shape 21"/>
          <p:cNvSpPr/>
          <p:nvPr/>
        </p:nvSpPr>
        <p:spPr>
          <a:xfrm>
            <a:off x="8933688" y="3419856"/>
            <a:ext cx="0" cy="146304"/>
          </a:xfrm>
          <a:prstGeom prst="line">
            <a:avLst/>
          </a:prstGeom>
          <a:noFill/>
          <a:ln w="12700">
            <a:solidFill>
              <a:srgbClr val="29445C"/>
            </a:solidFill>
            <a:prstDash val="solid"/>
            <a:tailEnd type="triangle"/>
          </a:ln>
        </p:spPr>
      </p:sp>
      <p:sp>
        <p:nvSpPr>
          <p:cNvPr id="24" name="Shape 22"/>
          <p:cNvSpPr/>
          <p:nvPr/>
        </p:nvSpPr>
        <p:spPr>
          <a:xfrm>
            <a:off x="6537960" y="3566160"/>
            <a:ext cx="4800600" cy="566928"/>
          </a:xfrm>
          <a:prstGeom prst="roundRect">
            <a:avLst>
              <a:gd name="adj" fmla="val 9677"/>
            </a:avLst>
          </a:prstGeom>
          <a:solidFill>
            <a:srgbClr val="0F1D2D"/>
          </a:solidFill>
          <a:ln w="12700">
            <a:solidFill>
              <a:srgbClr val="29445C"/>
            </a:solidFill>
            <a:prstDash val="solid"/>
          </a:ln>
        </p:spPr>
      </p:sp>
      <p:sp>
        <p:nvSpPr>
          <p:cNvPr id="25" name="Shape 23"/>
          <p:cNvSpPr/>
          <p:nvPr/>
        </p:nvSpPr>
        <p:spPr>
          <a:xfrm>
            <a:off x="6537960" y="3566160"/>
            <a:ext cx="54864" cy="566928"/>
          </a:xfrm>
          <a:prstGeom prst="rect">
            <a:avLst/>
          </a:prstGeom>
          <a:solidFill>
            <a:srgbClr val="F5B041"/>
          </a:solidFill>
          <a:ln w="12700">
            <a:solidFill>
              <a:srgbClr val="F5B041"/>
            </a:solidFill>
            <a:prstDash val="solid"/>
          </a:ln>
        </p:spPr>
      </p:sp>
      <p:sp>
        <p:nvSpPr>
          <p:cNvPr id="26" name="Text 24"/>
          <p:cNvSpPr/>
          <p:nvPr/>
        </p:nvSpPr>
        <p:spPr>
          <a:xfrm>
            <a:off x="6739128" y="3721608"/>
            <a:ext cx="4489704"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Execution</a:t>
            </a:r>
            <a:endParaRPr lang="en-US" sz="1150" dirty="0"/>
          </a:p>
        </p:txBody>
      </p:sp>
      <p:sp>
        <p:nvSpPr>
          <p:cNvPr id="27" name="Text 25"/>
          <p:cNvSpPr/>
          <p:nvPr/>
        </p:nvSpPr>
        <p:spPr>
          <a:xfrm>
            <a:off x="6739128" y="4078224"/>
            <a:ext cx="4489704" cy="-91440"/>
          </a:xfrm>
          <a:prstGeom prst="rect">
            <a:avLst/>
          </a:prstGeom>
          <a:noFill/>
          <a:ln/>
        </p:spPr>
        <p:txBody>
          <a:bodyPr wrap="square" lIns="0" tIns="0" rIns="0" bIns="0" rtlCol="0" anchor="ctr">
            <a:normAutofit/>
          </a:bodyPr>
          <a:lstStyle/>
          <a:p>
            <a:pPr indent="0" marL="0">
              <a:buNone/>
            </a:pPr>
            <a:r>
              <a:rPr lang="en-US" sz="940" dirty="0">
                <a:solidFill>
                  <a:srgbClr val="8FA6B9"/>
                </a:solidFill>
              </a:rPr>
              <a:t>GitHub Actions + container build</a:t>
            </a:r>
            <a:endParaRPr lang="en-US" sz="940" dirty="0"/>
          </a:p>
        </p:txBody>
      </p:sp>
      <p:sp>
        <p:nvSpPr>
          <p:cNvPr id="28" name="Shape 26"/>
          <p:cNvSpPr/>
          <p:nvPr/>
        </p:nvSpPr>
        <p:spPr>
          <a:xfrm>
            <a:off x="8933688" y="4133088"/>
            <a:ext cx="0" cy="146304"/>
          </a:xfrm>
          <a:prstGeom prst="line">
            <a:avLst/>
          </a:prstGeom>
          <a:noFill/>
          <a:ln w="12700">
            <a:solidFill>
              <a:srgbClr val="29445C"/>
            </a:solidFill>
            <a:prstDash val="solid"/>
            <a:tailEnd type="triangle"/>
          </a:ln>
        </p:spPr>
      </p:sp>
      <p:sp>
        <p:nvSpPr>
          <p:cNvPr id="29" name="Shape 27"/>
          <p:cNvSpPr/>
          <p:nvPr/>
        </p:nvSpPr>
        <p:spPr>
          <a:xfrm>
            <a:off x="6537960" y="4279392"/>
            <a:ext cx="4800600" cy="566928"/>
          </a:xfrm>
          <a:prstGeom prst="roundRect">
            <a:avLst>
              <a:gd name="adj" fmla="val 9677"/>
            </a:avLst>
          </a:prstGeom>
          <a:solidFill>
            <a:srgbClr val="0F1D2D"/>
          </a:solidFill>
          <a:ln w="12700">
            <a:solidFill>
              <a:srgbClr val="29445C"/>
            </a:solidFill>
            <a:prstDash val="solid"/>
          </a:ln>
        </p:spPr>
      </p:sp>
      <p:sp>
        <p:nvSpPr>
          <p:cNvPr id="30" name="Shape 28"/>
          <p:cNvSpPr/>
          <p:nvPr/>
        </p:nvSpPr>
        <p:spPr>
          <a:xfrm>
            <a:off x="6537960" y="4279392"/>
            <a:ext cx="54864" cy="566928"/>
          </a:xfrm>
          <a:prstGeom prst="rect">
            <a:avLst/>
          </a:prstGeom>
          <a:solidFill>
            <a:srgbClr val="54D6A3"/>
          </a:solidFill>
          <a:ln w="12700">
            <a:solidFill>
              <a:srgbClr val="54D6A3"/>
            </a:solidFill>
            <a:prstDash val="solid"/>
          </a:ln>
        </p:spPr>
      </p:sp>
      <p:sp>
        <p:nvSpPr>
          <p:cNvPr id="31" name="Text 29"/>
          <p:cNvSpPr/>
          <p:nvPr/>
        </p:nvSpPr>
        <p:spPr>
          <a:xfrm>
            <a:off x="6739128" y="4434840"/>
            <a:ext cx="4489704"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Cloud runtime</a:t>
            </a:r>
            <a:endParaRPr lang="en-US" sz="1150" dirty="0"/>
          </a:p>
        </p:txBody>
      </p:sp>
      <p:sp>
        <p:nvSpPr>
          <p:cNvPr id="32" name="Text 30"/>
          <p:cNvSpPr/>
          <p:nvPr/>
        </p:nvSpPr>
        <p:spPr>
          <a:xfrm>
            <a:off x="6739128" y="4791456"/>
            <a:ext cx="4489704" cy="-91440"/>
          </a:xfrm>
          <a:prstGeom prst="rect">
            <a:avLst/>
          </a:prstGeom>
          <a:noFill/>
          <a:ln/>
        </p:spPr>
        <p:txBody>
          <a:bodyPr wrap="square" lIns="0" tIns="0" rIns="0" bIns="0" rtlCol="0" anchor="ctr">
            <a:normAutofit/>
          </a:bodyPr>
          <a:lstStyle/>
          <a:p>
            <a:pPr indent="0" marL="0">
              <a:buNone/>
            </a:pPr>
            <a:r>
              <a:rPr lang="en-US" sz="940" dirty="0">
                <a:solidFill>
                  <a:srgbClr val="8FA6B9"/>
                </a:solidFill>
              </a:rPr>
              <a:t>ECR • ECS/Fargate • ALB • CloudWatch</a:t>
            </a:r>
            <a:endParaRPr lang="en-US" sz="940" dirty="0"/>
          </a:p>
        </p:txBody>
      </p:sp>
      <p:sp>
        <p:nvSpPr>
          <p:cNvPr id="33" name="Shape 31"/>
          <p:cNvSpPr/>
          <p:nvPr/>
        </p:nvSpPr>
        <p:spPr>
          <a:xfrm>
            <a:off x="8933688" y="4846320"/>
            <a:ext cx="0" cy="146304"/>
          </a:xfrm>
          <a:prstGeom prst="line">
            <a:avLst/>
          </a:prstGeom>
          <a:noFill/>
          <a:ln w="12700">
            <a:solidFill>
              <a:srgbClr val="29445C"/>
            </a:solidFill>
            <a:prstDash val="solid"/>
            <a:tailEnd type="triangle"/>
          </a:ln>
        </p:spPr>
      </p:sp>
      <p:sp>
        <p:nvSpPr>
          <p:cNvPr id="34" name="Shape 32"/>
          <p:cNvSpPr/>
          <p:nvPr/>
        </p:nvSpPr>
        <p:spPr>
          <a:xfrm>
            <a:off x="6537960" y="4992624"/>
            <a:ext cx="4800600" cy="566928"/>
          </a:xfrm>
          <a:prstGeom prst="roundRect">
            <a:avLst>
              <a:gd name="adj" fmla="val 9677"/>
            </a:avLst>
          </a:prstGeom>
          <a:solidFill>
            <a:srgbClr val="0F1D2D"/>
          </a:solidFill>
          <a:ln w="12700">
            <a:solidFill>
              <a:srgbClr val="29445C"/>
            </a:solidFill>
            <a:prstDash val="solid"/>
          </a:ln>
        </p:spPr>
      </p:sp>
      <p:sp>
        <p:nvSpPr>
          <p:cNvPr id="35" name="Shape 33"/>
          <p:cNvSpPr/>
          <p:nvPr/>
        </p:nvSpPr>
        <p:spPr>
          <a:xfrm>
            <a:off x="6537960" y="4992624"/>
            <a:ext cx="54864" cy="566928"/>
          </a:xfrm>
          <a:prstGeom prst="rect">
            <a:avLst/>
          </a:prstGeom>
          <a:solidFill>
            <a:srgbClr val="B276FF"/>
          </a:solidFill>
          <a:ln w="12700">
            <a:solidFill>
              <a:srgbClr val="B276FF"/>
            </a:solidFill>
            <a:prstDash val="solid"/>
          </a:ln>
        </p:spPr>
      </p:sp>
      <p:sp>
        <p:nvSpPr>
          <p:cNvPr id="36" name="Text 34"/>
          <p:cNvSpPr/>
          <p:nvPr/>
        </p:nvSpPr>
        <p:spPr>
          <a:xfrm>
            <a:off x="6739128" y="5148072"/>
            <a:ext cx="4489704"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Observability</a:t>
            </a:r>
            <a:endParaRPr lang="en-US" sz="1150" dirty="0"/>
          </a:p>
        </p:txBody>
      </p:sp>
      <p:sp>
        <p:nvSpPr>
          <p:cNvPr id="37" name="Text 35"/>
          <p:cNvSpPr/>
          <p:nvPr/>
        </p:nvSpPr>
        <p:spPr>
          <a:xfrm>
            <a:off x="6739128" y="5504688"/>
            <a:ext cx="4489704" cy="-91440"/>
          </a:xfrm>
          <a:prstGeom prst="rect">
            <a:avLst/>
          </a:prstGeom>
          <a:noFill/>
          <a:ln/>
        </p:spPr>
        <p:txBody>
          <a:bodyPr wrap="square" lIns="0" tIns="0" rIns="0" bIns="0" rtlCol="0" anchor="ctr">
            <a:normAutofit/>
          </a:bodyPr>
          <a:lstStyle/>
          <a:p>
            <a:pPr indent="0" marL="0">
              <a:buNone/>
            </a:pPr>
            <a:r>
              <a:rPr lang="en-US" sz="940" dirty="0">
                <a:solidFill>
                  <a:srgbClr val="8FA6B9"/>
                </a:solidFill>
              </a:rPr>
              <a:t>Prometheus • Grafana</a:t>
            </a:r>
            <a:endParaRPr lang="en-US" sz="940" dirty="0"/>
          </a:p>
        </p:txBody>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47472"/>
            <a:ext cx="9098280" cy="475488"/>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Technology Stack and Why It Fits</a:t>
            </a:r>
            <a:endParaRPr lang="en-US" sz="2400" dirty="0"/>
          </a:p>
        </p:txBody>
      </p:sp>
      <p:sp>
        <p:nvSpPr>
          <p:cNvPr id="3" name="Shape 1"/>
          <p:cNvSpPr/>
          <p:nvPr/>
        </p:nvSpPr>
        <p:spPr>
          <a:xfrm>
            <a:off x="9829800" y="338328"/>
            <a:ext cx="1783080" cy="329184"/>
          </a:xfrm>
          <a:prstGeom prst="roundRect">
            <a:avLst>
              <a:gd name="adj" fmla="val 22222"/>
            </a:avLst>
          </a:prstGeom>
          <a:solidFill>
            <a:srgbClr val="4FA3FF">
              <a:alpha val="92000"/>
            </a:srgbClr>
          </a:solidFill>
          <a:ln w="12700">
            <a:solidFill>
              <a:srgbClr val="4FA3FF">
                <a:alpha val="0"/>
              </a:srgbClr>
            </a:solidFill>
            <a:prstDash val="solid"/>
          </a:ln>
        </p:spPr>
      </p:sp>
      <p:sp>
        <p:nvSpPr>
          <p:cNvPr id="4" name="Text 2"/>
          <p:cNvSpPr/>
          <p:nvPr/>
        </p:nvSpPr>
        <p:spPr>
          <a:xfrm>
            <a:off x="9912096" y="416052"/>
            <a:ext cx="1609344" cy="118872"/>
          </a:xfrm>
          <a:prstGeom prst="rect">
            <a:avLst/>
          </a:prstGeom>
          <a:noFill/>
          <a:ln/>
        </p:spPr>
        <p:txBody>
          <a:bodyPr wrap="square" lIns="0" tIns="0" rIns="0" bIns="0" rtlCol="0" anchor="ctr">
            <a:normAutofit/>
          </a:bodyPr>
          <a:lstStyle/>
          <a:p>
            <a:pPr algn="ctr" indent="0" marL="0">
              <a:buNone/>
            </a:pPr>
            <a:r>
              <a:rPr lang="en-US" sz="1000" b="1" dirty="0">
                <a:solidFill>
                  <a:srgbClr val="07111F"/>
                </a:solidFill>
              </a:rPr>
              <a:t>Hassan Sajjad</a:t>
            </a:r>
            <a:endParaRPr lang="en-US" sz="1000" dirty="0"/>
          </a:p>
          <a:p>
            <a:pPr algn="ctr" indent="0" marL="0">
              <a:buNone/>
            </a:pPr>
            <a:endParaRPr lang="en-US" sz="1000" dirty="0"/>
          </a:p>
          <a:p>
            <a:pPr algn="ctr" indent="0" marL="0">
              <a:buNone/>
            </a:pPr>
            <a:r>
              <a:rPr lang="en-US" sz="1000" b="1" dirty="0">
                <a:solidFill>
                  <a:srgbClr val="07111F"/>
                </a:solidFill>
              </a:rPr>
              <a:t>Purpose: Connect technology choices to product requirements.</a:t>
            </a:r>
            <a:endParaRPr lang="en-US" sz="1000" dirty="0"/>
          </a:p>
          <a:p>
            <a:pPr algn="ctr" indent="0" marL="0">
              <a:buNone/>
            </a:pPr>
            <a:endParaRPr lang="en-US" sz="1000" dirty="0"/>
          </a:p>
          <a:p>
            <a:pPr algn="ctr" indent="0" marL="0">
              <a:buNone/>
            </a:pPr>
            <a:r>
              <a:rPr lang="en-US" sz="1000" b="1" dirty="0">
                <a:solidFill>
                  <a:srgbClr val="07111F"/>
                </a:solidFill>
              </a:rPr>
              <a:t>Presentation Content:</a:t>
            </a:r>
            <a:endParaRPr lang="en-US" sz="1000" dirty="0"/>
          </a:p>
          <a:p>
            <a:pPr algn="ctr" indent="0" marL="0">
              <a:buNone/>
            </a:pPr>
            <a:endParaRPr lang="en-US" sz="1000" dirty="0"/>
          </a:p>
          <a:p>
            <a:pPr algn="ctr" indent="0" marL="0">
              <a:buNone/>
            </a:pPr>
            <a:r>
              <a:rPr lang="en-US" sz="1000" b="1" dirty="0">
                <a:solidFill>
                  <a:srgbClr val="07111F"/>
                </a:solidFill>
              </a:rPr>
              <a:t>- Frontend: React, React Router, Vite, and charting components for a responsive single-page application.</a:t>
            </a:r>
            <a:endParaRPr lang="en-US" sz="1000" dirty="0"/>
          </a:p>
          <a:p>
            <a:pPr algn="ctr" indent="0" marL="0">
              <a:buNone/>
            </a:pPr>
            <a:endParaRPr lang="en-US" sz="1000" dirty="0"/>
          </a:p>
          <a:p>
            <a:pPr algn="ctr" indent="0" marL="0">
              <a:buNone/>
            </a:pPr>
            <a:r>
              <a:rPr lang="en-US" sz="1000" b="1" dirty="0">
                <a:solidFill>
                  <a:srgbClr val="07111F"/>
                </a:solidFill>
              </a:rPr>
              <a:t>- Backend: NestJS and TypeScript for modular APIs, validation, dependency injection, and background orchestration.</a:t>
            </a:r>
            <a:endParaRPr lang="en-US" sz="1000" dirty="0"/>
          </a:p>
          <a:p>
            <a:pPr algn="ctr" indent="0" marL="0">
              <a:buNone/>
            </a:pPr>
            <a:endParaRPr lang="en-US" sz="1000" dirty="0"/>
          </a:p>
          <a:p>
            <a:pPr algn="ctr" indent="0" marL="0">
              <a:buNone/>
            </a:pPr>
            <a:r>
              <a:rPr lang="en-US" sz="1000" b="1" dirty="0">
                <a:solidFill>
                  <a:srgbClr val="07111F"/>
                </a:solidFill>
              </a:rPr>
              <a:t>- Data and jobs: PostgreSQL with TypeORM, plus Redis and BullMQ for retryable asynchronous tasks.</a:t>
            </a:r>
            <a:endParaRPr lang="en-US" sz="1000" dirty="0"/>
          </a:p>
          <a:p>
            <a:pPr algn="ctr" indent="0" marL="0">
              <a:buNone/>
            </a:pPr>
            <a:endParaRPr lang="en-US" sz="1000" dirty="0"/>
          </a:p>
          <a:p>
            <a:pPr algn="ctr" indent="0" marL="0">
              <a:buNone/>
            </a:pPr>
            <a:r>
              <a:rPr lang="en-US" sz="1000" b="1" dirty="0">
                <a:solidFill>
                  <a:srgbClr val="07111F"/>
                </a:solidFill>
              </a:rPr>
              <a:t>- Delivery: GitHub App integration, GitHub Actions, Docker-compatible images, immutable ECR repositories, and Trivy scanning.</a:t>
            </a:r>
            <a:endParaRPr lang="en-US" sz="1000" dirty="0"/>
          </a:p>
          <a:p>
            <a:pPr algn="ctr" indent="0" marL="0">
              <a:buNone/>
            </a:pPr>
            <a:endParaRPr lang="en-US" sz="1000" dirty="0"/>
          </a:p>
          <a:p>
            <a:pPr algn="ctr" indent="0" marL="0">
              <a:buNone/>
            </a:pPr>
            <a:r>
              <a:rPr lang="en-US" sz="1000" b="1" dirty="0">
                <a:solidFill>
                  <a:srgbClr val="07111F"/>
                </a:solidFill>
              </a:rPr>
              <a:t>- Infrastructure: Terraform with encrypted, versioned S3 remote state and native lockfiles.</a:t>
            </a:r>
            <a:endParaRPr lang="en-US" sz="1000" dirty="0"/>
          </a:p>
          <a:p>
            <a:pPr algn="ctr" indent="0" marL="0">
              <a:buNone/>
            </a:pPr>
            <a:endParaRPr lang="en-US" sz="1000" dirty="0"/>
          </a:p>
          <a:p>
            <a:pPr algn="ctr" indent="0" marL="0">
              <a:buNone/>
            </a:pPr>
            <a:r>
              <a:rPr lang="en-US" sz="1000" b="1" dirty="0">
                <a:solidFill>
                  <a:srgbClr val="07111F"/>
                </a:solidFill>
              </a:rPr>
              <a:t>- Runtime: Amazon ECS Fargate behind per-service Application Load Balancers.</a:t>
            </a:r>
            <a:endParaRPr lang="en-US" sz="1000" dirty="0"/>
          </a:p>
          <a:p>
            <a:pPr algn="ctr" indent="0" marL="0">
              <a:buNone/>
            </a:pPr>
            <a:endParaRPr lang="en-US" sz="1000" dirty="0"/>
          </a:p>
          <a:p>
            <a:pPr algn="ctr" indent="0" marL="0">
              <a:buNone/>
            </a:pPr>
            <a:r>
              <a:rPr lang="en-US" sz="1000" b="1" dirty="0">
                <a:solidFill>
                  <a:srgbClr val="07111F"/>
                </a:solidFill>
              </a:rPr>
              <a:t>- Operations: CloudWatch, Prometheus, Grafana, structured audit data, and evidence-based AI analysis.</a:t>
            </a:r>
            <a:endParaRPr lang="en-US" sz="1000" dirty="0"/>
          </a:p>
          <a:p>
            <a:pPr algn="ctr" indent="0" marL="0">
              <a:buNone/>
            </a:pPr>
            <a:endParaRPr lang="en-US" sz="1000" dirty="0"/>
          </a:p>
          <a:p>
            <a:pPr algn="ctr" indent="0" marL="0">
              <a:buNone/>
            </a:pPr>
            <a:r>
              <a:rPr lang="en-US" sz="1000" b="1" dirty="0">
                <a:solidFill>
                  <a:srgbClr val="07111F"/>
                </a:solidFill>
              </a:rPr>
              <a:t>- Commerce: Stripe test-mode subscription and usage integration.</a:t>
            </a:r>
            <a:endParaRPr lang="en-US" sz="1000" dirty="0"/>
          </a:p>
          <a:p>
            <a:pPr algn="ctr" indent="0" marL="0">
              <a:buNone/>
            </a:pPr>
            <a:endParaRPr lang="en-US" sz="1000" dirty="0"/>
          </a:p>
          <a:p>
            <a:pPr algn="ctr" indent="0" marL="0">
              <a:buNone/>
            </a:pPr>
            <a:r>
              <a:rPr lang="en-US" sz="1000" b="1" dirty="0">
                <a:solidFill>
                  <a:srgbClr val="07111F"/>
                </a:solidFill>
              </a:rPr>
              <a:t>Visual Recommendation: A technology map grouped by Frontend, Control Plane, Delivery, AWS Runtime, Observability, and Billing.</a:t>
            </a:r>
            <a:endParaRPr lang="en-US" sz="1000" dirty="0"/>
          </a:p>
          <a:p>
            <a:pPr algn="ctr" indent="0" marL="0">
              <a:buNone/>
            </a:pPr>
            <a:endParaRPr lang="en-US" sz="1000" dirty="0"/>
          </a:p>
          <a:p>
            <a:pPr algn="ctr" indent="0" marL="0">
              <a:buNone/>
            </a:pPr>
            <a:r>
              <a:rPr lang="en-US" sz="1000" b="1" dirty="0">
                <a:solidFill>
                  <a:srgbClr val="07111F"/>
                </a:solidFill>
              </a:rPr>
              <a:t>Defense Notes: If asked why this is not a single monolith, explain that durable state, job execution, privileged workflow actions, and runtime observation have different reliability and security boundaries.</a:t>
            </a:r>
            <a:endParaRPr lang="en-US" sz="1000" dirty="0"/>
          </a:p>
        </p:txBody>
      </p:sp>
      <p:sp>
        <p:nvSpPr>
          <p:cNvPr id="5" name="Shape 3"/>
          <p:cNvSpPr/>
          <p:nvPr/>
        </p:nvSpPr>
        <p:spPr>
          <a:xfrm>
            <a:off x="502920" y="932688"/>
            <a:ext cx="11109960" cy="0"/>
          </a:xfrm>
          <a:prstGeom prst="line">
            <a:avLst/>
          </a:prstGeom>
          <a:noFill/>
          <a:ln w="17780">
            <a:solidFill>
              <a:srgbClr val="35C2D8">
                <a:alpha val="75000"/>
              </a:srgbClr>
            </a:solidFill>
            <a:prstDash val="solid"/>
          </a:ln>
        </p:spPr>
      </p:sp>
      <p:sp>
        <p:nvSpPr>
          <p:cNvPr id="6" name="Text 4"/>
          <p:cNvSpPr/>
          <p:nvPr/>
        </p:nvSpPr>
        <p:spPr>
          <a:xfrm>
            <a:off x="502920" y="996696"/>
            <a:ext cx="5212080" cy="164592"/>
          </a:xfrm>
          <a:prstGeom prst="rect">
            <a:avLst/>
          </a:prstGeom>
          <a:noFill/>
          <a:ln/>
        </p:spPr>
        <p:txBody>
          <a:bodyPr wrap="square" lIns="0" tIns="0" rIns="0" bIns="0" rtlCol="0" anchor="ctr"/>
          <a:lstStyle/>
          <a:p>
            <a:pPr indent="0" marL="0">
              <a:buNone/>
            </a:pPr>
            <a:r>
              <a:rPr lang="en-US" sz="850" b="1" spc="110" kern="0" dirty="0">
                <a:solidFill>
                  <a:srgbClr val="35C2D8"/>
                </a:solidFill>
              </a:rPr>
              <a:t>OVERVIEW</a:t>
            </a:r>
            <a:endParaRPr lang="en-US" sz="850" dirty="0"/>
          </a:p>
        </p:txBody>
      </p:sp>
      <p:sp>
        <p:nvSpPr>
          <p:cNvPr id="7" name="Text 5"/>
          <p:cNvSpPr/>
          <p:nvPr/>
        </p:nvSpPr>
        <p:spPr>
          <a:xfrm>
            <a:off x="594360" y="1325880"/>
            <a:ext cx="5349240" cy="4937760"/>
          </a:xfrm>
          <a:prstGeom prst="rect">
            <a:avLst/>
          </a:prstGeom>
          <a:noFill/>
          <a:ln/>
        </p:spPr>
        <p:txBody>
          <a:bodyPr wrap="square" lIns="254" tIns="254" rIns="254" bIns="254" rtlCol="0" anchor="ctr">
            <a:normAutofit/>
          </a:bodyPr>
          <a:lstStyle/>
          <a:p>
            <a:pPr marL="190500" indent="-190500">
              <a:buSzPct val="100000"/>
              <a:buChar char="•"/>
            </a:pPr>
            <a:r>
              <a:rPr lang="en-US" sz="1580" dirty="0">
                <a:solidFill>
                  <a:srgbClr val="D9E5EF"/>
                </a:solidFill>
                <a:latin typeface="Aptos" pitchFamily="34" charset="0"/>
                <a:ea typeface="Aptos" pitchFamily="34" charset="-122"/>
                <a:cs typeface="Aptos" pitchFamily="34" charset="-120"/>
              </a:rPr>
              <a:t>Frontend: React, React Router, Vite, and charting components for a responsive single-page application.</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Backend: NestJS and TypeScript for modular APIs, validation, dependency injection, and background orchestration.</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Data and jobs: PostgreSQL with TypeORM for durable product state, with background orchestration for long-running operations.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Delivery: GitHub App integration, GitHub Actions, Docker-compatible images, immutable ECR repositories, and Trivy scanning.</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Infrastructure: Terraform with encrypted, versioned S3 remote state and native lockfiles.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Runtime: Amazon ECS Fargate behind per-service Application Load Balancers.</a:t>
            </a:r>
            <a:endParaRPr lang="en-US" sz="1580" dirty="0"/>
          </a:p>
        </p:txBody>
      </p:sp>
      <p:sp>
        <p:nvSpPr>
          <p:cNvPr id="8" name="Shape 6"/>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9" name="Shape 7"/>
          <p:cNvSpPr/>
          <p:nvPr/>
        </p:nvSpPr>
        <p:spPr>
          <a:xfrm>
            <a:off x="6428232" y="1444752"/>
            <a:ext cx="2267712" cy="841248"/>
          </a:xfrm>
          <a:prstGeom prst="roundRect">
            <a:avLst>
              <a:gd name="adj" fmla="val 6522"/>
            </a:avLst>
          </a:prstGeom>
          <a:solidFill>
            <a:srgbClr val="0F1D2D"/>
          </a:solidFill>
          <a:ln w="12700">
            <a:solidFill>
              <a:srgbClr val="29445C"/>
            </a:solidFill>
            <a:prstDash val="solid"/>
          </a:ln>
        </p:spPr>
      </p:sp>
      <p:sp>
        <p:nvSpPr>
          <p:cNvPr id="10" name="Shape 8"/>
          <p:cNvSpPr/>
          <p:nvPr/>
        </p:nvSpPr>
        <p:spPr>
          <a:xfrm>
            <a:off x="6428232" y="1444752"/>
            <a:ext cx="54864" cy="841248"/>
          </a:xfrm>
          <a:prstGeom prst="rect">
            <a:avLst/>
          </a:prstGeom>
          <a:solidFill>
            <a:srgbClr val="B276FF"/>
          </a:solidFill>
          <a:ln w="12700">
            <a:solidFill>
              <a:srgbClr val="B276FF"/>
            </a:solidFill>
            <a:prstDash val="solid"/>
          </a:ln>
        </p:spPr>
      </p:sp>
      <p:sp>
        <p:nvSpPr>
          <p:cNvPr id="11" name="Text 9"/>
          <p:cNvSpPr/>
          <p:nvPr/>
        </p:nvSpPr>
        <p:spPr>
          <a:xfrm>
            <a:off x="6629400" y="1600200"/>
            <a:ext cx="1956816"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Frontend</a:t>
            </a:r>
            <a:endParaRPr lang="en-US" sz="1150" dirty="0"/>
          </a:p>
        </p:txBody>
      </p:sp>
      <p:sp>
        <p:nvSpPr>
          <p:cNvPr id="12" name="Text 10"/>
          <p:cNvSpPr/>
          <p:nvPr/>
        </p:nvSpPr>
        <p:spPr>
          <a:xfrm>
            <a:off x="6629400" y="1956816"/>
            <a:ext cx="1956816" cy="182880"/>
          </a:xfrm>
          <a:prstGeom prst="rect">
            <a:avLst/>
          </a:prstGeom>
          <a:noFill/>
          <a:ln/>
        </p:spPr>
        <p:txBody>
          <a:bodyPr wrap="square" lIns="0" tIns="0" rIns="0" bIns="0" rtlCol="0" anchor="ctr">
            <a:normAutofit/>
          </a:bodyPr>
          <a:lstStyle/>
          <a:p>
            <a:pPr indent="0" marL="0">
              <a:buNone/>
            </a:pPr>
            <a:r>
              <a:rPr lang="en-US" sz="950" dirty="0">
                <a:solidFill>
                  <a:srgbClr val="8FA6B9"/>
                </a:solidFill>
              </a:rPr>
              <a:t>React • Vite</a:t>
            </a:r>
            <a:endParaRPr lang="en-US" sz="950" dirty="0"/>
          </a:p>
        </p:txBody>
      </p:sp>
      <p:sp>
        <p:nvSpPr>
          <p:cNvPr id="13" name="Shape 11"/>
          <p:cNvSpPr/>
          <p:nvPr/>
        </p:nvSpPr>
        <p:spPr>
          <a:xfrm>
            <a:off x="8942832" y="1444752"/>
            <a:ext cx="2267712" cy="841248"/>
          </a:xfrm>
          <a:prstGeom prst="roundRect">
            <a:avLst>
              <a:gd name="adj" fmla="val 6522"/>
            </a:avLst>
          </a:prstGeom>
          <a:solidFill>
            <a:srgbClr val="0F1D2D"/>
          </a:solidFill>
          <a:ln w="12700">
            <a:solidFill>
              <a:srgbClr val="29445C"/>
            </a:solidFill>
            <a:prstDash val="solid"/>
          </a:ln>
        </p:spPr>
      </p:sp>
      <p:sp>
        <p:nvSpPr>
          <p:cNvPr id="14" name="Shape 12"/>
          <p:cNvSpPr/>
          <p:nvPr/>
        </p:nvSpPr>
        <p:spPr>
          <a:xfrm>
            <a:off x="8942832" y="1444752"/>
            <a:ext cx="54864" cy="841248"/>
          </a:xfrm>
          <a:prstGeom prst="rect">
            <a:avLst/>
          </a:prstGeom>
          <a:solidFill>
            <a:srgbClr val="35C2D8"/>
          </a:solidFill>
          <a:ln w="12700">
            <a:solidFill>
              <a:srgbClr val="35C2D8"/>
            </a:solidFill>
            <a:prstDash val="solid"/>
          </a:ln>
        </p:spPr>
      </p:sp>
      <p:sp>
        <p:nvSpPr>
          <p:cNvPr id="15" name="Text 13"/>
          <p:cNvSpPr/>
          <p:nvPr/>
        </p:nvSpPr>
        <p:spPr>
          <a:xfrm>
            <a:off x="9144000" y="1600200"/>
            <a:ext cx="1956816"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Backend</a:t>
            </a:r>
            <a:endParaRPr lang="en-US" sz="1150" dirty="0"/>
          </a:p>
        </p:txBody>
      </p:sp>
      <p:sp>
        <p:nvSpPr>
          <p:cNvPr id="16" name="Text 14"/>
          <p:cNvSpPr/>
          <p:nvPr/>
        </p:nvSpPr>
        <p:spPr>
          <a:xfrm>
            <a:off x="9144000" y="1956816"/>
            <a:ext cx="1956816" cy="182880"/>
          </a:xfrm>
          <a:prstGeom prst="rect">
            <a:avLst/>
          </a:prstGeom>
          <a:noFill/>
          <a:ln/>
        </p:spPr>
        <p:txBody>
          <a:bodyPr wrap="square" lIns="0" tIns="0" rIns="0" bIns="0" rtlCol="0" anchor="ctr">
            <a:normAutofit/>
          </a:bodyPr>
          <a:lstStyle/>
          <a:p>
            <a:pPr indent="0" marL="0">
              <a:buNone/>
            </a:pPr>
            <a:r>
              <a:rPr lang="en-US" sz="950" dirty="0">
                <a:solidFill>
                  <a:srgbClr val="8FA6B9"/>
                </a:solidFill>
              </a:rPr>
              <a:t>NestJS • TypeScript</a:t>
            </a:r>
            <a:endParaRPr lang="en-US" sz="950" dirty="0"/>
          </a:p>
        </p:txBody>
      </p:sp>
      <p:sp>
        <p:nvSpPr>
          <p:cNvPr id="17" name="Shape 15"/>
          <p:cNvSpPr/>
          <p:nvPr/>
        </p:nvSpPr>
        <p:spPr>
          <a:xfrm>
            <a:off x="6428232" y="2468880"/>
            <a:ext cx="2267712" cy="841248"/>
          </a:xfrm>
          <a:prstGeom prst="roundRect">
            <a:avLst>
              <a:gd name="adj" fmla="val 6522"/>
            </a:avLst>
          </a:prstGeom>
          <a:solidFill>
            <a:srgbClr val="0F1D2D"/>
          </a:solidFill>
          <a:ln w="12700">
            <a:solidFill>
              <a:srgbClr val="29445C"/>
            </a:solidFill>
            <a:prstDash val="solid"/>
          </a:ln>
        </p:spPr>
      </p:sp>
      <p:sp>
        <p:nvSpPr>
          <p:cNvPr id="18" name="Shape 16"/>
          <p:cNvSpPr/>
          <p:nvPr/>
        </p:nvSpPr>
        <p:spPr>
          <a:xfrm>
            <a:off x="6428232" y="2468880"/>
            <a:ext cx="54864" cy="841248"/>
          </a:xfrm>
          <a:prstGeom prst="rect">
            <a:avLst/>
          </a:prstGeom>
          <a:solidFill>
            <a:srgbClr val="4FA3FF"/>
          </a:solidFill>
          <a:ln w="12700">
            <a:solidFill>
              <a:srgbClr val="4FA3FF"/>
            </a:solidFill>
            <a:prstDash val="solid"/>
          </a:ln>
        </p:spPr>
      </p:sp>
      <p:sp>
        <p:nvSpPr>
          <p:cNvPr id="19" name="Text 17"/>
          <p:cNvSpPr/>
          <p:nvPr/>
        </p:nvSpPr>
        <p:spPr>
          <a:xfrm>
            <a:off x="6629400" y="2624328"/>
            <a:ext cx="1956816"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Data</a:t>
            </a:r>
            <a:endParaRPr lang="en-US" sz="1150" dirty="0"/>
          </a:p>
        </p:txBody>
      </p:sp>
      <p:sp>
        <p:nvSpPr>
          <p:cNvPr id="20" name="Text 18"/>
          <p:cNvSpPr/>
          <p:nvPr/>
        </p:nvSpPr>
        <p:spPr>
          <a:xfrm>
            <a:off x="6629400" y="2980944"/>
            <a:ext cx="1956816" cy="182880"/>
          </a:xfrm>
          <a:prstGeom prst="rect">
            <a:avLst/>
          </a:prstGeom>
          <a:noFill/>
          <a:ln/>
        </p:spPr>
        <p:txBody>
          <a:bodyPr wrap="square" lIns="0" tIns="0" rIns="0" bIns="0" rtlCol="0" anchor="ctr">
            <a:normAutofit/>
          </a:bodyPr>
          <a:lstStyle/>
          <a:p>
            <a:pPr indent="0" marL="0">
              <a:buNone/>
            </a:pPr>
            <a:r>
              <a:rPr lang="en-US" sz="950" dirty="0">
                <a:solidFill>
                  <a:srgbClr val="8FA6B9"/>
                </a:solidFill>
              </a:rPr>
              <a:t>PostgreSQL • TypeORM</a:t>
            </a:r>
            <a:endParaRPr lang="en-US" sz="950" dirty="0"/>
          </a:p>
        </p:txBody>
      </p:sp>
      <p:sp>
        <p:nvSpPr>
          <p:cNvPr id="21" name="Shape 19"/>
          <p:cNvSpPr/>
          <p:nvPr/>
        </p:nvSpPr>
        <p:spPr>
          <a:xfrm>
            <a:off x="8942832" y="2468880"/>
            <a:ext cx="2267712" cy="841248"/>
          </a:xfrm>
          <a:prstGeom prst="roundRect">
            <a:avLst>
              <a:gd name="adj" fmla="val 6522"/>
            </a:avLst>
          </a:prstGeom>
          <a:solidFill>
            <a:srgbClr val="0F1D2D"/>
          </a:solidFill>
          <a:ln w="12700">
            <a:solidFill>
              <a:srgbClr val="29445C"/>
            </a:solidFill>
            <a:prstDash val="solid"/>
          </a:ln>
        </p:spPr>
      </p:sp>
      <p:sp>
        <p:nvSpPr>
          <p:cNvPr id="22" name="Shape 20"/>
          <p:cNvSpPr/>
          <p:nvPr/>
        </p:nvSpPr>
        <p:spPr>
          <a:xfrm>
            <a:off x="8942832" y="2468880"/>
            <a:ext cx="54864" cy="841248"/>
          </a:xfrm>
          <a:prstGeom prst="rect">
            <a:avLst/>
          </a:prstGeom>
          <a:solidFill>
            <a:srgbClr val="F5B041"/>
          </a:solidFill>
          <a:ln w="12700">
            <a:solidFill>
              <a:srgbClr val="F5B041"/>
            </a:solidFill>
            <a:prstDash val="solid"/>
          </a:ln>
        </p:spPr>
      </p:sp>
      <p:sp>
        <p:nvSpPr>
          <p:cNvPr id="23" name="Text 21"/>
          <p:cNvSpPr/>
          <p:nvPr/>
        </p:nvSpPr>
        <p:spPr>
          <a:xfrm>
            <a:off x="9144000" y="2624328"/>
            <a:ext cx="1956816"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Delivery</a:t>
            </a:r>
            <a:endParaRPr lang="en-US" sz="1150" dirty="0"/>
          </a:p>
        </p:txBody>
      </p:sp>
      <p:sp>
        <p:nvSpPr>
          <p:cNvPr id="24" name="Text 22"/>
          <p:cNvSpPr/>
          <p:nvPr/>
        </p:nvSpPr>
        <p:spPr>
          <a:xfrm>
            <a:off x="9144000" y="2980944"/>
            <a:ext cx="1956816" cy="182880"/>
          </a:xfrm>
          <a:prstGeom prst="rect">
            <a:avLst/>
          </a:prstGeom>
          <a:noFill/>
          <a:ln/>
        </p:spPr>
        <p:txBody>
          <a:bodyPr wrap="square" lIns="0" tIns="0" rIns="0" bIns="0" rtlCol="0" anchor="ctr">
            <a:normAutofit/>
          </a:bodyPr>
          <a:lstStyle/>
          <a:p>
            <a:pPr indent="0" marL="0">
              <a:buNone/>
            </a:pPr>
            <a:r>
              <a:rPr lang="en-US" sz="950" dirty="0">
                <a:solidFill>
                  <a:srgbClr val="8FA6B9"/>
                </a:solidFill>
              </a:rPr>
              <a:t>GitHub App • Actions • Docker</a:t>
            </a:r>
            <a:endParaRPr lang="en-US" sz="950" dirty="0"/>
          </a:p>
        </p:txBody>
      </p:sp>
      <p:sp>
        <p:nvSpPr>
          <p:cNvPr id="25" name="Shape 23"/>
          <p:cNvSpPr/>
          <p:nvPr/>
        </p:nvSpPr>
        <p:spPr>
          <a:xfrm>
            <a:off x="6428232" y="3493008"/>
            <a:ext cx="2267712" cy="841248"/>
          </a:xfrm>
          <a:prstGeom prst="roundRect">
            <a:avLst>
              <a:gd name="adj" fmla="val 6522"/>
            </a:avLst>
          </a:prstGeom>
          <a:solidFill>
            <a:srgbClr val="0F1D2D"/>
          </a:solidFill>
          <a:ln w="12700">
            <a:solidFill>
              <a:srgbClr val="29445C"/>
            </a:solidFill>
            <a:prstDash val="solid"/>
          </a:ln>
        </p:spPr>
      </p:sp>
      <p:sp>
        <p:nvSpPr>
          <p:cNvPr id="26" name="Shape 24"/>
          <p:cNvSpPr/>
          <p:nvPr/>
        </p:nvSpPr>
        <p:spPr>
          <a:xfrm>
            <a:off x="6428232" y="3493008"/>
            <a:ext cx="54864" cy="841248"/>
          </a:xfrm>
          <a:prstGeom prst="rect">
            <a:avLst/>
          </a:prstGeom>
          <a:solidFill>
            <a:srgbClr val="54D6A3"/>
          </a:solidFill>
          <a:ln w="12700">
            <a:solidFill>
              <a:srgbClr val="54D6A3"/>
            </a:solidFill>
            <a:prstDash val="solid"/>
          </a:ln>
        </p:spPr>
      </p:sp>
      <p:sp>
        <p:nvSpPr>
          <p:cNvPr id="27" name="Text 25"/>
          <p:cNvSpPr/>
          <p:nvPr/>
        </p:nvSpPr>
        <p:spPr>
          <a:xfrm>
            <a:off x="6629400" y="3648456"/>
            <a:ext cx="1956816"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Infrastructure</a:t>
            </a:r>
            <a:endParaRPr lang="en-US" sz="1150" dirty="0"/>
          </a:p>
        </p:txBody>
      </p:sp>
      <p:sp>
        <p:nvSpPr>
          <p:cNvPr id="28" name="Text 26"/>
          <p:cNvSpPr/>
          <p:nvPr/>
        </p:nvSpPr>
        <p:spPr>
          <a:xfrm>
            <a:off x="6629400" y="4005072"/>
            <a:ext cx="1956816" cy="182880"/>
          </a:xfrm>
          <a:prstGeom prst="rect">
            <a:avLst/>
          </a:prstGeom>
          <a:noFill/>
          <a:ln/>
        </p:spPr>
        <p:txBody>
          <a:bodyPr wrap="square" lIns="0" tIns="0" rIns="0" bIns="0" rtlCol="0" anchor="ctr">
            <a:normAutofit/>
          </a:bodyPr>
          <a:lstStyle/>
          <a:p>
            <a:pPr indent="0" marL="0">
              <a:buNone/>
            </a:pPr>
            <a:r>
              <a:rPr lang="en-US" sz="950" dirty="0">
                <a:solidFill>
                  <a:srgbClr val="8FA6B9"/>
                </a:solidFill>
              </a:rPr>
              <a:t>Terraform • S3 state</a:t>
            </a:r>
            <a:endParaRPr lang="en-US" sz="950" dirty="0"/>
          </a:p>
        </p:txBody>
      </p:sp>
      <p:sp>
        <p:nvSpPr>
          <p:cNvPr id="29" name="Shape 27"/>
          <p:cNvSpPr/>
          <p:nvPr/>
        </p:nvSpPr>
        <p:spPr>
          <a:xfrm>
            <a:off x="8942832" y="3493008"/>
            <a:ext cx="2267712" cy="841248"/>
          </a:xfrm>
          <a:prstGeom prst="roundRect">
            <a:avLst>
              <a:gd name="adj" fmla="val 6522"/>
            </a:avLst>
          </a:prstGeom>
          <a:solidFill>
            <a:srgbClr val="0F1D2D"/>
          </a:solidFill>
          <a:ln w="12700">
            <a:solidFill>
              <a:srgbClr val="29445C"/>
            </a:solidFill>
            <a:prstDash val="solid"/>
          </a:ln>
        </p:spPr>
      </p:sp>
      <p:sp>
        <p:nvSpPr>
          <p:cNvPr id="30" name="Shape 28"/>
          <p:cNvSpPr/>
          <p:nvPr/>
        </p:nvSpPr>
        <p:spPr>
          <a:xfrm>
            <a:off x="8942832" y="3493008"/>
            <a:ext cx="54864" cy="841248"/>
          </a:xfrm>
          <a:prstGeom prst="rect">
            <a:avLst/>
          </a:prstGeom>
          <a:solidFill>
            <a:srgbClr val="4FA3FF"/>
          </a:solidFill>
          <a:ln w="12700">
            <a:solidFill>
              <a:srgbClr val="4FA3FF"/>
            </a:solidFill>
            <a:prstDash val="solid"/>
          </a:ln>
        </p:spPr>
      </p:sp>
      <p:sp>
        <p:nvSpPr>
          <p:cNvPr id="31" name="Text 29"/>
          <p:cNvSpPr/>
          <p:nvPr/>
        </p:nvSpPr>
        <p:spPr>
          <a:xfrm>
            <a:off x="9144000" y="3648456"/>
            <a:ext cx="1956816"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Runtime</a:t>
            </a:r>
            <a:endParaRPr lang="en-US" sz="1150" dirty="0"/>
          </a:p>
        </p:txBody>
      </p:sp>
      <p:sp>
        <p:nvSpPr>
          <p:cNvPr id="32" name="Text 30"/>
          <p:cNvSpPr/>
          <p:nvPr/>
        </p:nvSpPr>
        <p:spPr>
          <a:xfrm>
            <a:off x="9144000" y="4005072"/>
            <a:ext cx="1956816" cy="182880"/>
          </a:xfrm>
          <a:prstGeom prst="rect">
            <a:avLst/>
          </a:prstGeom>
          <a:noFill/>
          <a:ln/>
        </p:spPr>
        <p:txBody>
          <a:bodyPr wrap="square" lIns="0" tIns="0" rIns="0" bIns="0" rtlCol="0" anchor="ctr">
            <a:normAutofit/>
          </a:bodyPr>
          <a:lstStyle/>
          <a:p>
            <a:pPr indent="0" marL="0">
              <a:buNone/>
            </a:pPr>
            <a:r>
              <a:rPr lang="en-US" sz="950" dirty="0">
                <a:solidFill>
                  <a:srgbClr val="8FA6B9"/>
                </a:solidFill>
              </a:rPr>
              <a:t>ECS Fargate • ALB</a:t>
            </a:r>
            <a:endParaRPr lang="en-US" sz="950" dirty="0"/>
          </a:p>
        </p:txBody>
      </p:sp>
      <p:sp>
        <p:nvSpPr>
          <p:cNvPr id="33" name="Shape 31"/>
          <p:cNvSpPr/>
          <p:nvPr/>
        </p:nvSpPr>
        <p:spPr>
          <a:xfrm>
            <a:off x="6428232" y="4517136"/>
            <a:ext cx="2267712" cy="841248"/>
          </a:xfrm>
          <a:prstGeom prst="roundRect">
            <a:avLst>
              <a:gd name="adj" fmla="val 6522"/>
            </a:avLst>
          </a:prstGeom>
          <a:solidFill>
            <a:srgbClr val="0F1D2D"/>
          </a:solidFill>
          <a:ln w="12700">
            <a:solidFill>
              <a:srgbClr val="29445C"/>
            </a:solidFill>
            <a:prstDash val="solid"/>
          </a:ln>
        </p:spPr>
      </p:sp>
      <p:sp>
        <p:nvSpPr>
          <p:cNvPr id="34" name="Shape 32"/>
          <p:cNvSpPr/>
          <p:nvPr/>
        </p:nvSpPr>
        <p:spPr>
          <a:xfrm>
            <a:off x="6428232" y="4517136"/>
            <a:ext cx="54864" cy="841248"/>
          </a:xfrm>
          <a:prstGeom prst="rect">
            <a:avLst/>
          </a:prstGeom>
          <a:solidFill>
            <a:srgbClr val="B276FF"/>
          </a:solidFill>
          <a:ln w="12700">
            <a:solidFill>
              <a:srgbClr val="B276FF"/>
            </a:solidFill>
            <a:prstDash val="solid"/>
          </a:ln>
        </p:spPr>
      </p:sp>
      <p:sp>
        <p:nvSpPr>
          <p:cNvPr id="35" name="Text 33"/>
          <p:cNvSpPr/>
          <p:nvPr/>
        </p:nvSpPr>
        <p:spPr>
          <a:xfrm>
            <a:off x="6629400" y="4672584"/>
            <a:ext cx="1956816"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Operations</a:t>
            </a:r>
            <a:endParaRPr lang="en-US" sz="1150" dirty="0"/>
          </a:p>
        </p:txBody>
      </p:sp>
      <p:sp>
        <p:nvSpPr>
          <p:cNvPr id="36" name="Text 34"/>
          <p:cNvSpPr/>
          <p:nvPr/>
        </p:nvSpPr>
        <p:spPr>
          <a:xfrm>
            <a:off x="6629400" y="5029200"/>
            <a:ext cx="1956816" cy="182880"/>
          </a:xfrm>
          <a:prstGeom prst="rect">
            <a:avLst/>
          </a:prstGeom>
          <a:noFill/>
          <a:ln/>
        </p:spPr>
        <p:txBody>
          <a:bodyPr wrap="square" lIns="0" tIns="0" rIns="0" bIns="0" rtlCol="0" anchor="ctr">
            <a:normAutofit/>
          </a:bodyPr>
          <a:lstStyle/>
          <a:p>
            <a:pPr indent="0" marL="0">
              <a:buNone/>
            </a:pPr>
            <a:r>
              <a:rPr lang="en-US" sz="950" dirty="0">
                <a:solidFill>
                  <a:srgbClr val="8FA6B9"/>
                </a:solidFill>
              </a:rPr>
              <a:t>CloudWatch • Prometheus • Grafana</a:t>
            </a:r>
            <a:endParaRPr lang="en-US" sz="950" dirty="0"/>
          </a:p>
        </p:txBody>
      </p:sp>
      <p:sp>
        <p:nvSpPr>
          <p:cNvPr id="37" name="Shape 35"/>
          <p:cNvSpPr/>
          <p:nvPr/>
        </p:nvSpPr>
        <p:spPr>
          <a:xfrm>
            <a:off x="8942832" y="4517136"/>
            <a:ext cx="2267712" cy="841248"/>
          </a:xfrm>
          <a:prstGeom prst="roundRect">
            <a:avLst>
              <a:gd name="adj" fmla="val 6522"/>
            </a:avLst>
          </a:prstGeom>
          <a:solidFill>
            <a:srgbClr val="0F1D2D"/>
          </a:solidFill>
          <a:ln w="12700">
            <a:solidFill>
              <a:srgbClr val="29445C"/>
            </a:solidFill>
            <a:prstDash val="solid"/>
          </a:ln>
        </p:spPr>
      </p:sp>
      <p:sp>
        <p:nvSpPr>
          <p:cNvPr id="38" name="Shape 36"/>
          <p:cNvSpPr/>
          <p:nvPr/>
        </p:nvSpPr>
        <p:spPr>
          <a:xfrm>
            <a:off x="8942832" y="4517136"/>
            <a:ext cx="54864" cy="841248"/>
          </a:xfrm>
          <a:prstGeom prst="rect">
            <a:avLst/>
          </a:prstGeom>
          <a:solidFill>
            <a:srgbClr val="54D6A3"/>
          </a:solidFill>
          <a:ln w="12700">
            <a:solidFill>
              <a:srgbClr val="54D6A3"/>
            </a:solidFill>
            <a:prstDash val="solid"/>
          </a:ln>
        </p:spPr>
      </p:sp>
      <p:sp>
        <p:nvSpPr>
          <p:cNvPr id="39" name="Text 37"/>
          <p:cNvSpPr/>
          <p:nvPr/>
        </p:nvSpPr>
        <p:spPr>
          <a:xfrm>
            <a:off x="9144000" y="4672584"/>
            <a:ext cx="1956816"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Commerce</a:t>
            </a:r>
            <a:endParaRPr lang="en-US" sz="1150" dirty="0"/>
          </a:p>
        </p:txBody>
      </p:sp>
      <p:sp>
        <p:nvSpPr>
          <p:cNvPr id="40" name="Text 38"/>
          <p:cNvSpPr/>
          <p:nvPr/>
        </p:nvSpPr>
        <p:spPr>
          <a:xfrm>
            <a:off x="9144000" y="5029200"/>
            <a:ext cx="1956816" cy="182880"/>
          </a:xfrm>
          <a:prstGeom prst="rect">
            <a:avLst/>
          </a:prstGeom>
          <a:noFill/>
          <a:ln/>
        </p:spPr>
        <p:txBody>
          <a:bodyPr wrap="square" lIns="0" tIns="0" rIns="0" bIns="0" rtlCol="0" anchor="ctr">
            <a:normAutofit/>
          </a:bodyPr>
          <a:lstStyle/>
          <a:p>
            <a:pPr indent="0" marL="0">
              <a:buNone/>
            </a:pPr>
            <a:r>
              <a:rPr lang="en-US" sz="950" dirty="0">
                <a:solidFill>
                  <a:srgbClr val="8FA6B9"/>
                </a:solidFill>
              </a:rPr>
              <a:t>Stripe test-mode</a:t>
            </a:r>
            <a:endParaRPr lang="en-US" sz="950" dirty="0"/>
          </a:p>
        </p:txBody>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47472"/>
            <a:ext cx="9098280" cy="475488"/>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Canonical Identity and Deployment Lifecycle</a:t>
            </a:r>
            <a:endParaRPr lang="en-US" sz="2400" dirty="0"/>
          </a:p>
        </p:txBody>
      </p:sp>
      <p:sp>
        <p:nvSpPr>
          <p:cNvPr id="3" name="Shape 1"/>
          <p:cNvSpPr/>
          <p:nvPr/>
        </p:nvSpPr>
        <p:spPr>
          <a:xfrm>
            <a:off x="9829800" y="338328"/>
            <a:ext cx="1783080" cy="329184"/>
          </a:xfrm>
          <a:prstGeom prst="roundRect">
            <a:avLst>
              <a:gd name="adj" fmla="val 22222"/>
            </a:avLst>
          </a:prstGeom>
          <a:solidFill>
            <a:srgbClr val="4FA3FF">
              <a:alpha val="92000"/>
            </a:srgbClr>
          </a:solidFill>
          <a:ln w="12700">
            <a:solidFill>
              <a:srgbClr val="4FA3FF">
                <a:alpha val="0"/>
              </a:srgbClr>
            </a:solidFill>
            <a:prstDash val="solid"/>
          </a:ln>
        </p:spPr>
      </p:sp>
      <p:sp>
        <p:nvSpPr>
          <p:cNvPr id="4" name="Text 2"/>
          <p:cNvSpPr/>
          <p:nvPr/>
        </p:nvSpPr>
        <p:spPr>
          <a:xfrm>
            <a:off x="9912096" y="416052"/>
            <a:ext cx="1609344" cy="118872"/>
          </a:xfrm>
          <a:prstGeom prst="rect">
            <a:avLst/>
          </a:prstGeom>
          <a:noFill/>
          <a:ln/>
        </p:spPr>
        <p:txBody>
          <a:bodyPr wrap="square" lIns="0" tIns="0" rIns="0" bIns="0" rtlCol="0" anchor="ctr">
            <a:normAutofit/>
          </a:bodyPr>
          <a:lstStyle/>
          <a:p>
            <a:pPr algn="ctr" indent="0" marL="0">
              <a:buNone/>
            </a:pPr>
            <a:r>
              <a:rPr lang="en-US" sz="1000" b="1" dirty="0">
                <a:solidFill>
                  <a:srgbClr val="07111F"/>
                </a:solidFill>
              </a:rPr>
              <a:t>Hassan Sajjad</a:t>
            </a:r>
            <a:endParaRPr lang="en-US" sz="1000" dirty="0"/>
          </a:p>
          <a:p>
            <a:pPr algn="ctr" indent="0" marL="0">
              <a:buNone/>
            </a:pPr>
            <a:endParaRPr lang="en-US" sz="1000" dirty="0"/>
          </a:p>
          <a:p>
            <a:pPr algn="ctr" indent="0" marL="0">
              <a:buNone/>
            </a:pPr>
            <a:r>
              <a:rPr lang="en-US" sz="1000" b="1" dirty="0">
                <a:solidFill>
                  <a:srgbClr val="07111F"/>
                </a:solidFill>
              </a:rPr>
              <a:t>Purpose: Explain the deterministic data model that connects every stage.</a:t>
            </a:r>
            <a:endParaRPr lang="en-US" sz="1000" dirty="0"/>
          </a:p>
          <a:p>
            <a:pPr algn="ctr" indent="0" marL="0">
              <a:buNone/>
            </a:pPr>
            <a:endParaRPr lang="en-US" sz="1000" dirty="0"/>
          </a:p>
          <a:p>
            <a:pPr algn="ctr" indent="0" marL="0">
              <a:buNone/>
            </a:pPr>
            <a:r>
              <a:rPr lang="en-US" sz="1000" b="1" dirty="0">
                <a:solidFill>
                  <a:srgbClr val="07111F"/>
                </a:solidFill>
              </a:rPr>
              <a:t>Presentation Content:</a:t>
            </a:r>
            <a:endParaRPr lang="en-US" sz="1000" dirty="0"/>
          </a:p>
          <a:p>
            <a:pPr algn="ctr" indent="0" marL="0">
              <a:buNone/>
            </a:pPr>
            <a:endParaRPr lang="en-US" sz="1000" dirty="0"/>
          </a:p>
          <a:p>
            <a:pPr algn="ctr" indent="0" marL="0">
              <a:buNone/>
            </a:pPr>
            <a:r>
              <a:rPr lang="en-US" sz="1000" b="1" dirty="0">
                <a:solidFill>
                  <a:srgbClr val="07111F"/>
                </a:solidFill>
              </a:rPr>
              <a:t>- Build Target records how a specific service is built and started.</a:t>
            </a:r>
            <a:endParaRPr lang="en-US" sz="1000" dirty="0"/>
          </a:p>
          <a:p>
            <a:pPr algn="ctr" indent="0" marL="0">
              <a:buNone/>
            </a:pPr>
            <a:endParaRPr lang="en-US" sz="1000" dirty="0"/>
          </a:p>
          <a:p>
            <a:pPr algn="ctr" indent="0" marL="0">
              <a:buNone/>
            </a:pPr>
            <a:r>
              <a:rPr lang="en-US" sz="1000" b="1" dirty="0">
                <a:solidFill>
                  <a:srgbClr val="07111F"/>
                </a:solidFill>
              </a:rPr>
              <a:t>- Runtime Config Revision records the environment and non-secret runtime contract without exposing secret values.</a:t>
            </a:r>
            <a:endParaRPr lang="en-US" sz="1000" dirty="0"/>
          </a:p>
          <a:p>
            <a:pPr algn="ctr" indent="0" marL="0">
              <a:buNone/>
            </a:pPr>
            <a:endParaRPr lang="en-US" sz="1000" dirty="0"/>
          </a:p>
          <a:p>
            <a:pPr algn="ctr" indent="0" marL="0">
              <a:buNone/>
            </a:pPr>
            <a:r>
              <a:rPr lang="en-US" sz="1000" b="1" dirty="0">
                <a:solidFill>
                  <a:srgbClr val="07111F"/>
                </a:solidFill>
              </a:rPr>
              <a:t>- Deployment Generation records one concrete deployment attempt and its source, artifacts, stages, and evidence.</a:t>
            </a:r>
            <a:endParaRPr lang="en-US" sz="1000" dirty="0"/>
          </a:p>
          <a:p>
            <a:pPr algn="ctr" indent="0" marL="0">
              <a:buNone/>
            </a:pPr>
            <a:endParaRPr lang="en-US" sz="1000" dirty="0"/>
          </a:p>
          <a:p>
            <a:pPr algn="ctr" indent="0" marL="0">
              <a:buNone/>
            </a:pPr>
            <a:r>
              <a:rPr lang="en-US" sz="1000" b="1" dirty="0">
                <a:solidFill>
                  <a:srgbClr val="07111F"/>
                </a:solidFill>
              </a:rPr>
              <a:t>- Stable Release points only to a generation that passed required verification.</a:t>
            </a:r>
            <a:endParaRPr lang="en-US" sz="1000" dirty="0"/>
          </a:p>
          <a:p>
            <a:pPr algn="ctr" indent="0" marL="0">
              <a:buNone/>
            </a:pPr>
            <a:endParaRPr lang="en-US" sz="1000" dirty="0"/>
          </a:p>
          <a:p>
            <a:pPr algn="ctr" indent="0" marL="0">
              <a:buNone/>
            </a:pPr>
            <a:r>
              <a:rPr lang="en-US" sz="1000" b="1" dirty="0">
                <a:solidFill>
                  <a:srgbClr val="07111F"/>
                </a:solidFill>
              </a:rPr>
              <a:t>- Failure Diagnostic stores deterministic code, stage, owner, affected service, root cause, and retry guidance.</a:t>
            </a:r>
            <a:endParaRPr lang="en-US" sz="1000" dirty="0"/>
          </a:p>
          <a:p>
            <a:pPr algn="ctr" indent="0" marL="0">
              <a:buNone/>
            </a:pPr>
            <a:endParaRPr lang="en-US" sz="1000" dirty="0"/>
          </a:p>
          <a:p>
            <a:pPr algn="ctr" indent="0" marL="0">
              <a:buNone/>
            </a:pPr>
            <a:r>
              <a:rPr lang="en-US" sz="1000" b="1" dirty="0">
                <a:solidFill>
                  <a:srgbClr val="07111F"/>
                </a:solidFill>
              </a:rPr>
              <a:t>- Primary sequence: resolve exact source → build and validate → publish immutable image → ensure infrastructure → satisfy database prerequisite → stabilize runtime → verify endpoint → promote.</a:t>
            </a:r>
            <a:endParaRPr lang="en-US" sz="1000" dirty="0"/>
          </a:p>
          <a:p>
            <a:pPr algn="ctr" indent="0" marL="0">
              <a:buNone/>
            </a:pPr>
            <a:endParaRPr lang="en-US" sz="1000" dirty="0"/>
          </a:p>
          <a:p>
            <a:pPr algn="ctr" indent="0" marL="0">
              <a:buNone/>
            </a:pPr>
            <a:r>
              <a:rPr lang="en-US" sz="1000" b="1" dirty="0">
                <a:solidFill>
                  <a:srgbClr val="07111F"/>
                </a:solidFill>
              </a:rPr>
              <a:t>- These linked identities prevent a later action from silently changing the meaning of an earlier release.</a:t>
            </a:r>
            <a:endParaRPr lang="en-US" sz="1000" dirty="0"/>
          </a:p>
          <a:p>
            <a:pPr algn="ctr" indent="0" marL="0">
              <a:buNone/>
            </a:pPr>
            <a:endParaRPr lang="en-US" sz="1000" dirty="0"/>
          </a:p>
          <a:p>
            <a:pPr algn="ctr" indent="0" marL="0">
              <a:buNone/>
            </a:pPr>
            <a:r>
              <a:rPr lang="en-US" sz="1000" b="1" dirty="0">
                <a:solidFill>
                  <a:srgbClr val="07111F"/>
                </a:solidFill>
              </a:rPr>
              <a:t>Visual Recommendation: An entity chain with identifiers flowing across Source, Build Target, Config Revision, Generation, Image Digest, Task Revision, and Stable Release.</a:t>
            </a:r>
            <a:endParaRPr lang="en-US" sz="1000" dirty="0"/>
          </a:p>
          <a:p>
            <a:pPr algn="ctr" indent="0" marL="0">
              <a:buNone/>
            </a:pPr>
            <a:endParaRPr lang="en-US" sz="1000" dirty="0"/>
          </a:p>
          <a:p>
            <a:pPr algn="ctr" indent="0" marL="0">
              <a:buNone/>
            </a:pPr>
            <a:r>
              <a:rPr lang="en-US" sz="1000" b="1" dirty="0">
                <a:solidFill>
                  <a:srgbClr val="07111F"/>
                </a:solidFill>
              </a:rPr>
              <a:t>Defense Notes: This is the conceptual center of the project. “Latest” is not accepted as a release identity; the system retains exact evidence so redeploy and rollback decisions are explainable.</a:t>
            </a:r>
            <a:endParaRPr lang="en-US" sz="1000" dirty="0"/>
          </a:p>
        </p:txBody>
      </p:sp>
      <p:sp>
        <p:nvSpPr>
          <p:cNvPr id="5" name="Shape 3"/>
          <p:cNvSpPr/>
          <p:nvPr/>
        </p:nvSpPr>
        <p:spPr>
          <a:xfrm>
            <a:off x="502920" y="932688"/>
            <a:ext cx="11109960" cy="0"/>
          </a:xfrm>
          <a:prstGeom prst="line">
            <a:avLst/>
          </a:prstGeom>
          <a:noFill/>
          <a:ln w="17780">
            <a:solidFill>
              <a:srgbClr val="35C2D8">
                <a:alpha val="75000"/>
              </a:srgbClr>
            </a:solidFill>
            <a:prstDash val="solid"/>
          </a:ln>
        </p:spPr>
      </p:sp>
      <p:sp>
        <p:nvSpPr>
          <p:cNvPr id="6" name="Text 4"/>
          <p:cNvSpPr/>
          <p:nvPr/>
        </p:nvSpPr>
        <p:spPr>
          <a:xfrm>
            <a:off x="502920" y="996696"/>
            <a:ext cx="5212080" cy="164592"/>
          </a:xfrm>
          <a:prstGeom prst="rect">
            <a:avLst/>
          </a:prstGeom>
          <a:noFill/>
          <a:ln/>
        </p:spPr>
        <p:txBody>
          <a:bodyPr wrap="square" lIns="0" tIns="0" rIns="0" bIns="0" rtlCol="0" anchor="ctr"/>
          <a:lstStyle/>
          <a:p>
            <a:pPr indent="0" marL="0">
              <a:buNone/>
            </a:pPr>
            <a:r>
              <a:rPr lang="en-US" sz="850" b="1" spc="110" kern="0" dirty="0">
                <a:solidFill>
                  <a:srgbClr val="35C2D8"/>
                </a:solidFill>
              </a:rPr>
              <a:t>OVERVIEW</a:t>
            </a:r>
            <a:endParaRPr lang="en-US" sz="850" dirty="0"/>
          </a:p>
        </p:txBody>
      </p:sp>
      <p:sp>
        <p:nvSpPr>
          <p:cNvPr id="7" name="Text 5"/>
          <p:cNvSpPr/>
          <p:nvPr/>
        </p:nvSpPr>
        <p:spPr>
          <a:xfrm>
            <a:off x="594360" y="1325880"/>
            <a:ext cx="5349240" cy="4937760"/>
          </a:xfrm>
          <a:prstGeom prst="rect">
            <a:avLst/>
          </a:prstGeom>
          <a:noFill/>
          <a:ln/>
        </p:spPr>
        <p:txBody>
          <a:bodyPr wrap="square" lIns="254" tIns="254" rIns="254" bIns="254" rtlCol="0" anchor="ctr">
            <a:normAutofit/>
          </a:bodyPr>
          <a:lstStyle/>
          <a:p>
            <a:pPr marL="190500" indent="-190500">
              <a:buSzPct val="100000"/>
              <a:buChar char="•"/>
            </a:pPr>
            <a:r>
              <a:rPr lang="en-US" sz="1580" dirty="0">
                <a:solidFill>
                  <a:srgbClr val="D9E5EF"/>
                </a:solidFill>
                <a:latin typeface="Aptos" pitchFamily="34" charset="0"/>
                <a:ea typeface="Aptos" pitchFamily="34" charset="-122"/>
                <a:cs typeface="Aptos" pitchFamily="34" charset="-120"/>
              </a:rPr>
              <a:t>Build Target records how a specific service is built and started.</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Runtime Config Revision records the environment and non-secret runtime contract without exposing secret values.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Deployment Generation records one concrete deployment attempt and its source, artifacts, stages, and evidence.</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Stable Release points only to a generation that passed required verification.</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Failure Diagnostic stores deterministic code, stage, owner, affected service, root cause, and retry guidance.</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Primary sequence: resolve exact source → build and validate → publish immutable image → ensure infrastructure → satisfy database prerequisite → stabilize runtime → verify endpoint → promote.</a:t>
            </a:r>
            <a:endParaRPr lang="en-US" sz="1580" dirty="0"/>
          </a:p>
        </p:txBody>
      </p:sp>
      <p:sp>
        <p:nvSpPr>
          <p:cNvPr id="8" name="Shape 6"/>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9" name="Shape 7"/>
          <p:cNvSpPr/>
          <p:nvPr/>
        </p:nvSpPr>
        <p:spPr>
          <a:xfrm>
            <a:off x="6492240" y="1463040"/>
            <a:ext cx="2331720" cy="804672"/>
          </a:xfrm>
          <a:prstGeom prst="roundRect">
            <a:avLst>
              <a:gd name="adj" fmla="val 5682"/>
            </a:avLst>
          </a:prstGeom>
          <a:solidFill>
            <a:srgbClr val="12263A"/>
          </a:solidFill>
          <a:ln w="17780">
            <a:solidFill>
              <a:srgbClr val="B276FF"/>
            </a:solidFill>
            <a:prstDash val="solid"/>
          </a:ln>
        </p:spPr>
      </p:sp>
      <p:sp>
        <p:nvSpPr>
          <p:cNvPr id="10" name="Text 8"/>
          <p:cNvSpPr/>
          <p:nvPr/>
        </p:nvSpPr>
        <p:spPr>
          <a:xfrm>
            <a:off x="6583680" y="1591056"/>
            <a:ext cx="214884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Source SHA</a:t>
            </a:r>
            <a:endParaRPr lang="en-US" sz="1200" dirty="0"/>
          </a:p>
        </p:txBody>
      </p:sp>
      <p:sp>
        <p:nvSpPr>
          <p:cNvPr id="11" name="Shape 9"/>
          <p:cNvSpPr/>
          <p:nvPr/>
        </p:nvSpPr>
        <p:spPr>
          <a:xfrm>
            <a:off x="8823960" y="1865376"/>
            <a:ext cx="246888" cy="0"/>
          </a:xfrm>
          <a:prstGeom prst="line">
            <a:avLst/>
          </a:prstGeom>
          <a:noFill/>
          <a:ln w="15240">
            <a:solidFill>
              <a:srgbClr val="35C2D8"/>
            </a:solidFill>
            <a:prstDash val="solid"/>
            <a:tailEnd type="triangle"/>
          </a:ln>
        </p:spPr>
      </p:sp>
      <p:sp>
        <p:nvSpPr>
          <p:cNvPr id="12" name="Shape 10"/>
          <p:cNvSpPr/>
          <p:nvPr/>
        </p:nvSpPr>
        <p:spPr>
          <a:xfrm>
            <a:off x="9098280" y="1463040"/>
            <a:ext cx="2331720" cy="804672"/>
          </a:xfrm>
          <a:prstGeom prst="roundRect">
            <a:avLst>
              <a:gd name="adj" fmla="val 5682"/>
            </a:avLst>
          </a:prstGeom>
          <a:solidFill>
            <a:srgbClr val="12263A"/>
          </a:solidFill>
          <a:ln w="17780">
            <a:solidFill>
              <a:srgbClr val="35C2D8"/>
            </a:solidFill>
            <a:prstDash val="solid"/>
          </a:ln>
        </p:spPr>
      </p:sp>
      <p:sp>
        <p:nvSpPr>
          <p:cNvPr id="13" name="Text 11"/>
          <p:cNvSpPr/>
          <p:nvPr/>
        </p:nvSpPr>
        <p:spPr>
          <a:xfrm>
            <a:off x="9189720" y="1591056"/>
            <a:ext cx="214884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Build Target</a:t>
            </a:r>
            <a:endParaRPr lang="en-US" sz="1200" dirty="0"/>
          </a:p>
        </p:txBody>
      </p:sp>
      <p:sp>
        <p:nvSpPr>
          <p:cNvPr id="14" name="Shape 12"/>
          <p:cNvSpPr/>
          <p:nvPr/>
        </p:nvSpPr>
        <p:spPr>
          <a:xfrm>
            <a:off x="6492240" y="2880360"/>
            <a:ext cx="2331720" cy="804672"/>
          </a:xfrm>
          <a:prstGeom prst="roundRect">
            <a:avLst>
              <a:gd name="adj" fmla="val 5682"/>
            </a:avLst>
          </a:prstGeom>
          <a:solidFill>
            <a:srgbClr val="12263A"/>
          </a:solidFill>
          <a:ln w="17780">
            <a:solidFill>
              <a:srgbClr val="4FA3FF"/>
            </a:solidFill>
            <a:prstDash val="solid"/>
          </a:ln>
        </p:spPr>
      </p:sp>
      <p:sp>
        <p:nvSpPr>
          <p:cNvPr id="15" name="Text 13"/>
          <p:cNvSpPr/>
          <p:nvPr/>
        </p:nvSpPr>
        <p:spPr>
          <a:xfrm>
            <a:off x="6583680" y="3008376"/>
            <a:ext cx="214884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Runtime Config</a:t>
            </a:r>
            <a:endParaRPr lang="en-US" sz="1200" dirty="0"/>
          </a:p>
        </p:txBody>
      </p:sp>
      <p:sp>
        <p:nvSpPr>
          <p:cNvPr id="16" name="Shape 14"/>
          <p:cNvSpPr/>
          <p:nvPr/>
        </p:nvSpPr>
        <p:spPr>
          <a:xfrm>
            <a:off x="8823960" y="3282696"/>
            <a:ext cx="246888" cy="0"/>
          </a:xfrm>
          <a:prstGeom prst="line">
            <a:avLst/>
          </a:prstGeom>
          <a:noFill/>
          <a:ln w="15240">
            <a:solidFill>
              <a:srgbClr val="35C2D8"/>
            </a:solidFill>
            <a:prstDash val="solid"/>
            <a:tailEnd type="triangle"/>
          </a:ln>
        </p:spPr>
      </p:sp>
      <p:sp>
        <p:nvSpPr>
          <p:cNvPr id="17" name="Shape 15"/>
          <p:cNvSpPr/>
          <p:nvPr/>
        </p:nvSpPr>
        <p:spPr>
          <a:xfrm>
            <a:off x="9098280" y="2880360"/>
            <a:ext cx="2331720" cy="804672"/>
          </a:xfrm>
          <a:prstGeom prst="roundRect">
            <a:avLst>
              <a:gd name="adj" fmla="val 5682"/>
            </a:avLst>
          </a:prstGeom>
          <a:solidFill>
            <a:srgbClr val="12263A"/>
          </a:solidFill>
          <a:ln w="17780">
            <a:solidFill>
              <a:srgbClr val="F5B041"/>
            </a:solidFill>
            <a:prstDash val="solid"/>
          </a:ln>
        </p:spPr>
      </p:sp>
      <p:sp>
        <p:nvSpPr>
          <p:cNvPr id="18" name="Text 16"/>
          <p:cNvSpPr/>
          <p:nvPr/>
        </p:nvSpPr>
        <p:spPr>
          <a:xfrm>
            <a:off x="9189720" y="3008376"/>
            <a:ext cx="214884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Generation</a:t>
            </a:r>
            <a:endParaRPr lang="en-US" sz="1200" dirty="0"/>
          </a:p>
        </p:txBody>
      </p:sp>
      <p:sp>
        <p:nvSpPr>
          <p:cNvPr id="19" name="Shape 17"/>
          <p:cNvSpPr/>
          <p:nvPr/>
        </p:nvSpPr>
        <p:spPr>
          <a:xfrm>
            <a:off x="6492240" y="4297680"/>
            <a:ext cx="2331720" cy="804672"/>
          </a:xfrm>
          <a:prstGeom prst="roundRect">
            <a:avLst>
              <a:gd name="adj" fmla="val 5682"/>
            </a:avLst>
          </a:prstGeom>
          <a:solidFill>
            <a:srgbClr val="12263A"/>
          </a:solidFill>
          <a:ln w="17780">
            <a:solidFill>
              <a:srgbClr val="54D6A3"/>
            </a:solidFill>
            <a:prstDash val="solid"/>
          </a:ln>
        </p:spPr>
      </p:sp>
      <p:sp>
        <p:nvSpPr>
          <p:cNvPr id="20" name="Text 18"/>
          <p:cNvSpPr/>
          <p:nvPr/>
        </p:nvSpPr>
        <p:spPr>
          <a:xfrm>
            <a:off x="6583680" y="4425696"/>
            <a:ext cx="214884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Image Digest</a:t>
            </a:r>
            <a:endParaRPr lang="en-US" sz="1200" dirty="0"/>
          </a:p>
        </p:txBody>
      </p:sp>
      <p:sp>
        <p:nvSpPr>
          <p:cNvPr id="21" name="Shape 19"/>
          <p:cNvSpPr/>
          <p:nvPr/>
        </p:nvSpPr>
        <p:spPr>
          <a:xfrm>
            <a:off x="8823960" y="4700016"/>
            <a:ext cx="246888" cy="0"/>
          </a:xfrm>
          <a:prstGeom prst="line">
            <a:avLst/>
          </a:prstGeom>
          <a:noFill/>
          <a:ln w="15240">
            <a:solidFill>
              <a:srgbClr val="35C2D8"/>
            </a:solidFill>
            <a:prstDash val="solid"/>
            <a:tailEnd type="triangle"/>
          </a:ln>
        </p:spPr>
      </p:sp>
      <p:sp>
        <p:nvSpPr>
          <p:cNvPr id="22" name="Shape 20"/>
          <p:cNvSpPr/>
          <p:nvPr/>
        </p:nvSpPr>
        <p:spPr>
          <a:xfrm>
            <a:off x="9098280" y="4297680"/>
            <a:ext cx="2331720" cy="804672"/>
          </a:xfrm>
          <a:prstGeom prst="roundRect">
            <a:avLst>
              <a:gd name="adj" fmla="val 5682"/>
            </a:avLst>
          </a:prstGeom>
          <a:solidFill>
            <a:srgbClr val="12263A"/>
          </a:solidFill>
          <a:ln w="17780">
            <a:solidFill>
              <a:srgbClr val="35C2D8"/>
            </a:solidFill>
            <a:prstDash val="solid"/>
          </a:ln>
        </p:spPr>
      </p:sp>
      <p:sp>
        <p:nvSpPr>
          <p:cNvPr id="23" name="Text 21"/>
          <p:cNvSpPr/>
          <p:nvPr/>
        </p:nvSpPr>
        <p:spPr>
          <a:xfrm>
            <a:off x="9189720" y="4425696"/>
            <a:ext cx="214884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Stable Release</a:t>
            </a:r>
            <a:endParaRPr lang="en-US" sz="1200" dirty="0"/>
          </a:p>
        </p:txBody>
      </p:sp>
      <p:sp>
        <p:nvSpPr>
          <p:cNvPr id="24" name="Text 22"/>
          <p:cNvSpPr/>
          <p:nvPr/>
        </p:nvSpPr>
        <p:spPr>
          <a:xfrm>
            <a:off x="6583680" y="5486400"/>
            <a:ext cx="4709160" cy="292608"/>
          </a:xfrm>
          <a:prstGeom prst="rect">
            <a:avLst/>
          </a:prstGeom>
          <a:noFill/>
          <a:ln/>
        </p:spPr>
        <p:txBody>
          <a:bodyPr wrap="square" lIns="0" tIns="0" rIns="0" bIns="0" rtlCol="0" anchor="ctr"/>
          <a:lstStyle/>
          <a:p>
            <a:pPr algn="ctr" indent="0" marL="0">
              <a:buNone/>
            </a:pPr>
            <a:r>
              <a:rPr lang="en-US" sz="1150" b="1" dirty="0">
                <a:solidFill>
                  <a:srgbClr val="F5B041"/>
                </a:solidFill>
              </a:rPr>
              <a:t>“Latest” is never the release identity</a:t>
            </a:r>
            <a:endParaRPr lang="en-US" sz="1150" dirty="0"/>
          </a:p>
        </p:txBody>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47472"/>
            <a:ext cx="9098280" cy="475488"/>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Team Responsibilities and Presentation Route</a:t>
            </a:r>
            <a:endParaRPr lang="en-US" sz="2400" dirty="0"/>
          </a:p>
        </p:txBody>
      </p:sp>
      <p:sp>
        <p:nvSpPr>
          <p:cNvPr id="3" name="Shape 1"/>
          <p:cNvSpPr/>
          <p:nvPr/>
        </p:nvSpPr>
        <p:spPr>
          <a:xfrm>
            <a:off x="9829800" y="338328"/>
            <a:ext cx="1783080" cy="329184"/>
          </a:xfrm>
          <a:prstGeom prst="roundRect">
            <a:avLst>
              <a:gd name="adj" fmla="val 22222"/>
            </a:avLst>
          </a:prstGeom>
          <a:solidFill>
            <a:srgbClr val="4FA3FF">
              <a:alpha val="92000"/>
            </a:srgbClr>
          </a:solidFill>
          <a:ln w="12700">
            <a:solidFill>
              <a:srgbClr val="4FA3FF">
                <a:alpha val="0"/>
              </a:srgbClr>
            </a:solidFill>
            <a:prstDash val="solid"/>
          </a:ln>
        </p:spPr>
      </p:sp>
      <p:sp>
        <p:nvSpPr>
          <p:cNvPr id="4" name="Text 2"/>
          <p:cNvSpPr/>
          <p:nvPr/>
        </p:nvSpPr>
        <p:spPr>
          <a:xfrm>
            <a:off x="9912096" y="416052"/>
            <a:ext cx="1609344" cy="118872"/>
          </a:xfrm>
          <a:prstGeom prst="rect">
            <a:avLst/>
          </a:prstGeom>
          <a:noFill/>
          <a:ln/>
        </p:spPr>
        <p:txBody>
          <a:bodyPr wrap="square" lIns="0" tIns="0" rIns="0" bIns="0" rtlCol="0" anchor="ctr">
            <a:normAutofit/>
          </a:bodyPr>
          <a:lstStyle/>
          <a:p>
            <a:pPr algn="ctr" indent="0" marL="0">
              <a:buNone/>
            </a:pPr>
            <a:r>
              <a:rPr lang="en-US" sz="1000" b="1" dirty="0">
                <a:solidFill>
                  <a:srgbClr val="07111F"/>
                </a:solidFill>
              </a:rPr>
              <a:t>Hassan Sajjad</a:t>
            </a:r>
            <a:endParaRPr lang="en-US" sz="1000" dirty="0"/>
          </a:p>
          <a:p>
            <a:pPr algn="ctr" indent="0" marL="0">
              <a:buNone/>
            </a:pPr>
            <a:endParaRPr lang="en-US" sz="1000" dirty="0"/>
          </a:p>
          <a:p>
            <a:pPr algn="ctr" indent="0" marL="0">
              <a:buNone/>
            </a:pPr>
            <a:r>
              <a:rPr lang="en-US" sz="1000" b="1" dirty="0">
                <a:solidFill>
                  <a:srgbClr val="07111F"/>
                </a:solidFill>
              </a:rPr>
              <a:t>Purpose: Make ownership explicit and transition into individual contributions.</a:t>
            </a:r>
            <a:endParaRPr lang="en-US" sz="1000" dirty="0"/>
          </a:p>
          <a:p>
            <a:pPr algn="ctr" indent="0" marL="0">
              <a:buNone/>
            </a:pPr>
            <a:endParaRPr lang="en-US" sz="1000" dirty="0"/>
          </a:p>
          <a:p>
            <a:pPr algn="ctr" indent="0" marL="0">
              <a:buNone/>
            </a:pPr>
            <a:r>
              <a:rPr lang="en-US" sz="1000" b="1" dirty="0">
                <a:solidFill>
                  <a:srgbClr val="07111F"/>
                </a:solidFill>
              </a:rPr>
              <a:t>Presentation Content:</a:t>
            </a:r>
            <a:endParaRPr lang="en-US" sz="1000" dirty="0"/>
          </a:p>
          <a:p>
            <a:pPr algn="ctr" indent="0" marL="0">
              <a:buNone/>
            </a:pPr>
            <a:endParaRPr lang="en-US" sz="1000" dirty="0"/>
          </a:p>
          <a:p>
            <a:pPr algn="ctr" indent="0" marL="0">
              <a:buNone/>
            </a:pPr>
            <a:r>
              <a:rPr lang="en-US" sz="1000" b="1" dirty="0">
                <a:solidFill>
                  <a:srgbClr val="07111F"/>
                </a:solidFill>
              </a:rPr>
              <a:t>- Hassan Sajjad: project leadership, deployment architecture, infrastructure as code, AWS lifecycle, security and cost gates, release reliability, and integration certification.</a:t>
            </a:r>
            <a:endParaRPr lang="en-US" sz="1000" dirty="0"/>
          </a:p>
          <a:p>
            <a:pPr algn="ctr" indent="0" marL="0">
              <a:buNone/>
            </a:pPr>
            <a:endParaRPr lang="en-US" sz="1000" dirty="0"/>
          </a:p>
          <a:p>
            <a:pPr algn="ctr" indent="0" marL="0">
              <a:buNone/>
            </a:pPr>
            <a:r>
              <a:rPr lang="en-US" sz="1000" b="1" dirty="0">
                <a:solidFill>
                  <a:srgbClr val="07111F"/>
                </a:solidFill>
              </a:rPr>
              <a:t>- Tania Khawar: frontend experience, onboarding and deployment visualization, real-time monitoring presentation, and AI-assisted troubleshooting experience.</a:t>
            </a:r>
            <a:endParaRPr lang="en-US" sz="1000" dirty="0"/>
          </a:p>
          <a:p>
            <a:pPr algn="ctr" indent="0" marL="0">
              <a:buNone/>
            </a:pPr>
            <a:endParaRPr lang="en-US" sz="1000" dirty="0"/>
          </a:p>
          <a:p>
            <a:pPr algn="ctr" indent="0" marL="0">
              <a:buNone/>
            </a:pPr>
            <a:r>
              <a:rPr lang="en-US" sz="1000" b="1" dirty="0">
                <a:solidFill>
                  <a:srgbClr val="07111F"/>
                </a:solidFill>
              </a:rPr>
              <a:t>- Faria Fatima: backend orchestration, authentication and repository integration, persistence, queues, auditability, billing integration, and containerized product operation.</a:t>
            </a:r>
            <a:endParaRPr lang="en-US" sz="1000" dirty="0"/>
          </a:p>
          <a:p>
            <a:pPr algn="ctr" indent="0" marL="0">
              <a:buNone/>
            </a:pPr>
            <a:endParaRPr lang="en-US" sz="1000" dirty="0"/>
          </a:p>
          <a:p>
            <a:pPr algn="ctr" indent="0" marL="0">
              <a:buNone/>
            </a:pPr>
            <a:r>
              <a:rPr lang="en-US" sz="1000" b="1" dirty="0">
                <a:solidFill>
                  <a:srgbClr val="07111F"/>
                </a:solidFill>
              </a:rPr>
              <a:t>- Shared work: requirements validation, cross-layer integration, test support, documentation, and final demonstration.</a:t>
            </a:r>
            <a:endParaRPr lang="en-US" sz="1000" dirty="0"/>
          </a:p>
          <a:p>
            <a:pPr algn="ctr" indent="0" marL="0">
              <a:buNone/>
            </a:pPr>
            <a:endParaRPr lang="en-US" sz="1000" dirty="0"/>
          </a:p>
          <a:p>
            <a:pPr algn="ctr" indent="0" marL="0">
              <a:buNone/>
            </a:pPr>
            <a:r>
              <a:rPr lang="en-US" sz="1000" b="1" dirty="0">
                <a:solidFill>
                  <a:srgbClr val="07111F"/>
                </a:solidFill>
              </a:rPr>
              <a:t>- Presentation order follows the implemented architecture: shared foundation → cloud and DevOps → frontend and AI → backend and product integration.</a:t>
            </a:r>
            <a:endParaRPr lang="en-US" sz="1000" dirty="0"/>
          </a:p>
          <a:p>
            <a:pPr algn="ctr" indent="0" marL="0">
              <a:buNone/>
            </a:pPr>
            <a:endParaRPr lang="en-US" sz="1000" dirty="0"/>
          </a:p>
          <a:p>
            <a:pPr algn="ctr" indent="0" marL="0">
              <a:buNone/>
            </a:pPr>
            <a:r>
              <a:rPr lang="en-US" sz="1000" b="1" dirty="0">
                <a:solidFill>
                  <a:srgbClr val="07111F"/>
                </a:solidFill>
              </a:rPr>
              <a:t>Visual Recommendation: Three-column responsibility matrix with a shared-integration band across the bottom.</a:t>
            </a:r>
            <a:endParaRPr lang="en-US" sz="1000" dirty="0"/>
          </a:p>
          <a:p>
            <a:pPr algn="ctr" indent="0" marL="0">
              <a:buNone/>
            </a:pPr>
            <a:endParaRPr lang="en-US" sz="1000" dirty="0"/>
          </a:p>
          <a:p>
            <a:pPr algn="ctr" indent="0" marL="0">
              <a:buNone/>
            </a:pPr>
            <a:r>
              <a:rPr lang="en-US" sz="1000" b="1" dirty="0">
                <a:solidFill>
                  <a:srgbClr val="07111F"/>
                </a:solidFill>
              </a:rPr>
              <a:t>Defense Notes: Ownership describes primary responsibility, not isolated work. Emphasize that all three layers meet through explicit contracts and were integrated as one product.</a:t>
            </a:r>
            <a:endParaRPr lang="en-US" sz="1000" dirty="0"/>
          </a:p>
          <a:p>
            <a:pPr algn="ctr" indent="0" marL="0">
              <a:buNone/>
            </a:pPr>
            <a:endParaRPr lang="en-US" sz="1000" dirty="0"/>
          </a:p>
          <a:p>
            <a:pPr algn="ctr" indent="0" marL="0">
              <a:buNone/>
            </a:pPr>
            <a:r>
              <a:rPr lang="en-US" sz="1000" b="1" dirty="0">
                <a:solidFill>
                  <a:srgbClr val="07111F"/>
                </a:solidFill>
              </a:rPr>
              <a:t># SECTION 2 — HASSAN SAJJAD: CLOUD, DEVOPS, SECURITY, COST, AND RELIABILITY</a:t>
            </a:r>
            <a:endParaRPr lang="en-US" sz="1000" dirty="0"/>
          </a:p>
        </p:txBody>
      </p:sp>
      <p:sp>
        <p:nvSpPr>
          <p:cNvPr id="5" name="Shape 3"/>
          <p:cNvSpPr/>
          <p:nvPr/>
        </p:nvSpPr>
        <p:spPr>
          <a:xfrm>
            <a:off x="502920" y="932688"/>
            <a:ext cx="11109960" cy="0"/>
          </a:xfrm>
          <a:prstGeom prst="line">
            <a:avLst/>
          </a:prstGeom>
          <a:noFill/>
          <a:ln w="17780">
            <a:solidFill>
              <a:srgbClr val="35C2D8">
                <a:alpha val="75000"/>
              </a:srgbClr>
            </a:solidFill>
            <a:prstDash val="solid"/>
          </a:ln>
        </p:spPr>
      </p:sp>
      <p:sp>
        <p:nvSpPr>
          <p:cNvPr id="6" name="Text 4"/>
          <p:cNvSpPr/>
          <p:nvPr/>
        </p:nvSpPr>
        <p:spPr>
          <a:xfrm>
            <a:off x="502920" y="996696"/>
            <a:ext cx="5212080" cy="164592"/>
          </a:xfrm>
          <a:prstGeom prst="rect">
            <a:avLst/>
          </a:prstGeom>
          <a:noFill/>
          <a:ln/>
        </p:spPr>
        <p:txBody>
          <a:bodyPr wrap="square" lIns="0" tIns="0" rIns="0" bIns="0" rtlCol="0" anchor="ctr"/>
          <a:lstStyle/>
          <a:p>
            <a:pPr indent="0" marL="0">
              <a:buNone/>
            </a:pPr>
            <a:r>
              <a:rPr lang="en-US" sz="850" b="1" spc="110" kern="0" dirty="0">
                <a:solidFill>
                  <a:srgbClr val="35C2D8"/>
                </a:solidFill>
              </a:rPr>
              <a:t>OVERVIEW</a:t>
            </a:r>
            <a:endParaRPr lang="en-US" sz="850" dirty="0"/>
          </a:p>
        </p:txBody>
      </p:sp>
      <p:sp>
        <p:nvSpPr>
          <p:cNvPr id="7" name="Text 5"/>
          <p:cNvSpPr/>
          <p:nvPr/>
        </p:nvSpPr>
        <p:spPr>
          <a:xfrm>
            <a:off x="594360" y="1325880"/>
            <a:ext cx="5349240" cy="4937760"/>
          </a:xfrm>
          <a:prstGeom prst="rect">
            <a:avLst/>
          </a:prstGeom>
          <a:noFill/>
          <a:ln/>
        </p:spPr>
        <p:txBody>
          <a:bodyPr wrap="square" lIns="254" tIns="254" rIns="254" bIns="254" rtlCol="0" anchor="ctr">
            <a:normAutofit/>
          </a:bodyPr>
          <a:lstStyle/>
          <a:p>
            <a:pPr marL="190500" indent="-190500">
              <a:buSzPct val="100000"/>
              <a:buChar char="•"/>
            </a:pPr>
            <a:r>
              <a:rPr lang="en-US" sz="1580" dirty="0">
                <a:solidFill>
                  <a:srgbClr val="D9E5EF"/>
                </a:solidFill>
                <a:latin typeface="Aptos" pitchFamily="34" charset="0"/>
                <a:ea typeface="Aptos" pitchFamily="34" charset="-122"/>
                <a:cs typeface="Aptos" pitchFamily="34" charset="-120"/>
              </a:rPr>
              <a:t>Hassan Sajjad: project leadership, deployment architecture, infrastructure as code, AWS lifecycle, security and cost gates, release reliability, and integration certification.</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Tania Khawar: frontend experience, onboarding and deployment visualization, real-time monitoring presentation, and AI-assisted troubleshooting experience.</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Faria Fatima: backend orchestration, authentication and repository integration, persistence, queues, auditability, billing integration, and containerized product operation.</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Shared work: requirements validation, cross-layer integration, test support, documentation, and final demonstration.</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Presentation order follows the implemented architecture: shared foundation → cloud and DevOps → frontend and AI → backend and product integration.</a:t>
            </a:r>
            <a:endParaRPr lang="en-US" sz="1580" dirty="0"/>
          </a:p>
        </p:txBody>
      </p:sp>
      <p:sp>
        <p:nvSpPr>
          <p:cNvPr id="8" name="Shape 6"/>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9" name="Shape 7"/>
          <p:cNvSpPr/>
          <p:nvPr/>
        </p:nvSpPr>
        <p:spPr>
          <a:xfrm>
            <a:off x="6446520" y="1572768"/>
            <a:ext cx="1490472" cy="3611880"/>
          </a:xfrm>
          <a:prstGeom prst="roundRect">
            <a:avLst>
              <a:gd name="adj" fmla="val 3681"/>
            </a:avLst>
          </a:prstGeom>
          <a:solidFill>
            <a:srgbClr val="0F1D2D"/>
          </a:solidFill>
          <a:ln w="12700">
            <a:solidFill>
              <a:srgbClr val="29445C"/>
            </a:solidFill>
            <a:prstDash val="solid"/>
          </a:ln>
        </p:spPr>
      </p:sp>
      <p:sp>
        <p:nvSpPr>
          <p:cNvPr id="10" name="Shape 8"/>
          <p:cNvSpPr/>
          <p:nvPr/>
        </p:nvSpPr>
        <p:spPr>
          <a:xfrm>
            <a:off x="6446520" y="1572768"/>
            <a:ext cx="54864" cy="3611880"/>
          </a:xfrm>
          <a:prstGeom prst="rect">
            <a:avLst/>
          </a:prstGeom>
          <a:solidFill>
            <a:srgbClr val="4FA3FF"/>
          </a:solidFill>
          <a:ln w="12700">
            <a:solidFill>
              <a:srgbClr val="4FA3FF"/>
            </a:solidFill>
            <a:prstDash val="solid"/>
          </a:ln>
        </p:spPr>
      </p:sp>
      <p:sp>
        <p:nvSpPr>
          <p:cNvPr id="11" name="Text 9"/>
          <p:cNvSpPr/>
          <p:nvPr/>
        </p:nvSpPr>
        <p:spPr>
          <a:xfrm>
            <a:off x="6647688" y="1728216"/>
            <a:ext cx="1179576" cy="256032"/>
          </a:xfrm>
          <a:prstGeom prst="rect">
            <a:avLst/>
          </a:prstGeom>
          <a:noFill/>
          <a:ln/>
        </p:spPr>
        <p:txBody>
          <a:bodyPr wrap="square" lIns="0" tIns="0" rIns="0" bIns="0" rtlCol="0" anchor="ctr">
            <a:normAutofit/>
          </a:bodyPr>
          <a:lstStyle/>
          <a:p>
            <a:pPr indent="0" marL="0">
              <a:buNone/>
            </a:pPr>
            <a:r>
              <a:rPr lang="en-US" sz="1300" b="1" dirty="0">
                <a:solidFill>
                  <a:srgbClr val="F7FAFC"/>
                </a:solidFill>
              </a:rPr>
              <a:t>HASSAN</a:t>
            </a:r>
            <a:endParaRPr lang="en-US" sz="1300" dirty="0"/>
          </a:p>
        </p:txBody>
      </p:sp>
      <p:sp>
        <p:nvSpPr>
          <p:cNvPr id="12" name="Text 10"/>
          <p:cNvSpPr/>
          <p:nvPr/>
        </p:nvSpPr>
        <p:spPr>
          <a:xfrm>
            <a:off x="6647688" y="2084832"/>
            <a:ext cx="1179576" cy="2953512"/>
          </a:xfrm>
          <a:prstGeom prst="rect">
            <a:avLst/>
          </a:prstGeom>
          <a:noFill/>
          <a:ln/>
        </p:spPr>
        <p:txBody>
          <a:bodyPr wrap="square" lIns="0" tIns="0" rIns="0" bIns="0" rtlCol="0" anchor="ctr">
            <a:normAutofit/>
          </a:bodyPr>
          <a:lstStyle/>
          <a:p>
            <a:pPr indent="0" marL="0">
              <a:buNone/>
            </a:pPr>
            <a:r>
              <a:rPr lang="en-US" sz="1200" dirty="0">
                <a:solidFill>
                  <a:srgbClr val="8FA6B9"/>
                </a:solidFill>
              </a:rPr>
              <a:t>Cloud architecture</a:t>
            </a:r>
            <a:endParaRPr lang="en-US" sz="1200" dirty="0"/>
          </a:p>
          <a:p>
            <a:pPr indent="0" marL="0">
              <a:buNone/>
            </a:pPr>
            <a:r>
              <a:rPr lang="en-US" sz="1200" dirty="0">
                <a:solidFill>
                  <a:srgbClr val="8FA6B9"/>
                </a:solidFill>
              </a:rPr>
              <a:t>Terraform / AWS</a:t>
            </a:r>
            <a:endParaRPr lang="en-US" sz="1200" dirty="0"/>
          </a:p>
          <a:p>
            <a:pPr indent="0" marL="0">
              <a:buNone/>
            </a:pPr>
            <a:r>
              <a:rPr lang="en-US" sz="1200" dirty="0">
                <a:solidFill>
                  <a:srgbClr val="8FA6B9"/>
                </a:solidFill>
              </a:rPr>
              <a:t>Security + cost</a:t>
            </a:r>
            <a:endParaRPr lang="en-US" sz="1200" dirty="0"/>
          </a:p>
          <a:p>
            <a:pPr indent="0" marL="0">
              <a:buNone/>
            </a:pPr>
            <a:r>
              <a:rPr lang="en-US" sz="1200" dirty="0">
                <a:solidFill>
                  <a:srgbClr val="8FA6B9"/>
                </a:solidFill>
              </a:rPr>
              <a:t>Lifecycle reliability</a:t>
            </a:r>
            <a:endParaRPr lang="en-US" sz="1200" dirty="0"/>
          </a:p>
        </p:txBody>
      </p:sp>
      <p:sp>
        <p:nvSpPr>
          <p:cNvPr id="13" name="Shape 11"/>
          <p:cNvSpPr/>
          <p:nvPr/>
        </p:nvSpPr>
        <p:spPr>
          <a:xfrm>
            <a:off x="8165592" y="1572768"/>
            <a:ext cx="1490472" cy="3611880"/>
          </a:xfrm>
          <a:prstGeom prst="roundRect">
            <a:avLst>
              <a:gd name="adj" fmla="val 3681"/>
            </a:avLst>
          </a:prstGeom>
          <a:solidFill>
            <a:srgbClr val="0F1D2D"/>
          </a:solidFill>
          <a:ln w="12700">
            <a:solidFill>
              <a:srgbClr val="29445C"/>
            </a:solidFill>
            <a:prstDash val="solid"/>
          </a:ln>
        </p:spPr>
      </p:sp>
      <p:sp>
        <p:nvSpPr>
          <p:cNvPr id="14" name="Shape 12"/>
          <p:cNvSpPr/>
          <p:nvPr/>
        </p:nvSpPr>
        <p:spPr>
          <a:xfrm>
            <a:off x="8165592" y="1572768"/>
            <a:ext cx="54864" cy="3611880"/>
          </a:xfrm>
          <a:prstGeom prst="rect">
            <a:avLst/>
          </a:prstGeom>
          <a:solidFill>
            <a:srgbClr val="B276FF"/>
          </a:solidFill>
          <a:ln w="12700">
            <a:solidFill>
              <a:srgbClr val="B276FF"/>
            </a:solidFill>
            <a:prstDash val="solid"/>
          </a:ln>
        </p:spPr>
      </p:sp>
      <p:sp>
        <p:nvSpPr>
          <p:cNvPr id="15" name="Text 13"/>
          <p:cNvSpPr/>
          <p:nvPr/>
        </p:nvSpPr>
        <p:spPr>
          <a:xfrm>
            <a:off x="8366760" y="1728216"/>
            <a:ext cx="1179576" cy="256032"/>
          </a:xfrm>
          <a:prstGeom prst="rect">
            <a:avLst/>
          </a:prstGeom>
          <a:noFill/>
          <a:ln/>
        </p:spPr>
        <p:txBody>
          <a:bodyPr wrap="square" lIns="0" tIns="0" rIns="0" bIns="0" rtlCol="0" anchor="ctr">
            <a:normAutofit/>
          </a:bodyPr>
          <a:lstStyle/>
          <a:p>
            <a:pPr indent="0" marL="0">
              <a:buNone/>
            </a:pPr>
            <a:r>
              <a:rPr lang="en-US" sz="1300" b="1" dirty="0">
                <a:solidFill>
                  <a:srgbClr val="F7FAFC"/>
                </a:solidFill>
              </a:rPr>
              <a:t>TANIA</a:t>
            </a:r>
            <a:endParaRPr lang="en-US" sz="1300" dirty="0"/>
          </a:p>
        </p:txBody>
      </p:sp>
      <p:sp>
        <p:nvSpPr>
          <p:cNvPr id="16" name="Text 14"/>
          <p:cNvSpPr/>
          <p:nvPr/>
        </p:nvSpPr>
        <p:spPr>
          <a:xfrm>
            <a:off x="8366760" y="2084832"/>
            <a:ext cx="1179576" cy="2953512"/>
          </a:xfrm>
          <a:prstGeom prst="rect">
            <a:avLst/>
          </a:prstGeom>
          <a:noFill/>
          <a:ln/>
        </p:spPr>
        <p:txBody>
          <a:bodyPr wrap="square" lIns="0" tIns="0" rIns="0" bIns="0" rtlCol="0" anchor="ctr">
            <a:normAutofit/>
          </a:bodyPr>
          <a:lstStyle/>
          <a:p>
            <a:pPr indent="0" marL="0">
              <a:buNone/>
            </a:pPr>
            <a:r>
              <a:rPr lang="en-US" sz="1200" dirty="0">
                <a:solidFill>
                  <a:srgbClr val="8FA6B9"/>
                </a:solidFill>
              </a:rPr>
              <a:t>Frontend UX</a:t>
            </a:r>
            <a:endParaRPr lang="en-US" sz="1200" dirty="0"/>
          </a:p>
          <a:p>
            <a:pPr indent="0" marL="0">
              <a:buNone/>
            </a:pPr>
            <a:r>
              <a:rPr lang="en-US" sz="1200" dirty="0">
                <a:solidFill>
                  <a:srgbClr val="8FA6B9"/>
                </a:solidFill>
              </a:rPr>
              <a:t>Pipeline views</a:t>
            </a:r>
            <a:endParaRPr lang="en-US" sz="1200" dirty="0"/>
          </a:p>
          <a:p>
            <a:pPr indent="0" marL="0">
              <a:buNone/>
            </a:pPr>
            <a:r>
              <a:rPr lang="en-US" sz="1200" dirty="0">
                <a:solidFill>
                  <a:srgbClr val="8FA6B9"/>
                </a:solidFill>
              </a:rPr>
              <a:t>Monitoring</a:t>
            </a:r>
            <a:endParaRPr lang="en-US" sz="1200" dirty="0"/>
          </a:p>
          <a:p>
            <a:pPr indent="0" marL="0">
              <a:buNone/>
            </a:pPr>
            <a:r>
              <a:rPr lang="en-US" sz="1200" dirty="0">
                <a:solidFill>
                  <a:srgbClr val="8FA6B9"/>
                </a:solidFill>
              </a:rPr>
              <a:t>AI assistance</a:t>
            </a:r>
            <a:endParaRPr lang="en-US" sz="1200" dirty="0"/>
          </a:p>
        </p:txBody>
      </p:sp>
      <p:sp>
        <p:nvSpPr>
          <p:cNvPr id="17" name="Shape 15"/>
          <p:cNvSpPr/>
          <p:nvPr/>
        </p:nvSpPr>
        <p:spPr>
          <a:xfrm>
            <a:off x="9884664" y="1572768"/>
            <a:ext cx="1490472" cy="3611880"/>
          </a:xfrm>
          <a:prstGeom prst="roundRect">
            <a:avLst>
              <a:gd name="adj" fmla="val 3681"/>
            </a:avLst>
          </a:prstGeom>
          <a:solidFill>
            <a:srgbClr val="0F1D2D"/>
          </a:solidFill>
          <a:ln w="12700">
            <a:solidFill>
              <a:srgbClr val="29445C"/>
            </a:solidFill>
            <a:prstDash val="solid"/>
          </a:ln>
        </p:spPr>
      </p:sp>
      <p:sp>
        <p:nvSpPr>
          <p:cNvPr id="18" name="Shape 16"/>
          <p:cNvSpPr/>
          <p:nvPr/>
        </p:nvSpPr>
        <p:spPr>
          <a:xfrm>
            <a:off x="9884664" y="1572768"/>
            <a:ext cx="54864" cy="3611880"/>
          </a:xfrm>
          <a:prstGeom prst="rect">
            <a:avLst/>
          </a:prstGeom>
          <a:solidFill>
            <a:srgbClr val="54D6A3"/>
          </a:solidFill>
          <a:ln w="12700">
            <a:solidFill>
              <a:srgbClr val="54D6A3"/>
            </a:solidFill>
            <a:prstDash val="solid"/>
          </a:ln>
        </p:spPr>
      </p:sp>
      <p:sp>
        <p:nvSpPr>
          <p:cNvPr id="19" name="Text 17"/>
          <p:cNvSpPr/>
          <p:nvPr/>
        </p:nvSpPr>
        <p:spPr>
          <a:xfrm>
            <a:off x="10085832" y="1728216"/>
            <a:ext cx="1179576" cy="256032"/>
          </a:xfrm>
          <a:prstGeom prst="rect">
            <a:avLst/>
          </a:prstGeom>
          <a:noFill/>
          <a:ln/>
        </p:spPr>
        <p:txBody>
          <a:bodyPr wrap="square" lIns="0" tIns="0" rIns="0" bIns="0" rtlCol="0" anchor="ctr">
            <a:normAutofit/>
          </a:bodyPr>
          <a:lstStyle/>
          <a:p>
            <a:pPr indent="0" marL="0">
              <a:buNone/>
            </a:pPr>
            <a:r>
              <a:rPr lang="en-US" sz="1300" b="1" dirty="0">
                <a:solidFill>
                  <a:srgbClr val="F7FAFC"/>
                </a:solidFill>
              </a:rPr>
              <a:t>FARIA</a:t>
            </a:r>
            <a:endParaRPr lang="en-US" sz="1300" dirty="0"/>
          </a:p>
        </p:txBody>
      </p:sp>
      <p:sp>
        <p:nvSpPr>
          <p:cNvPr id="20" name="Text 18"/>
          <p:cNvSpPr/>
          <p:nvPr/>
        </p:nvSpPr>
        <p:spPr>
          <a:xfrm>
            <a:off x="10085832" y="2084832"/>
            <a:ext cx="1179576" cy="2953512"/>
          </a:xfrm>
          <a:prstGeom prst="rect">
            <a:avLst/>
          </a:prstGeom>
          <a:noFill/>
          <a:ln/>
        </p:spPr>
        <p:txBody>
          <a:bodyPr wrap="square" lIns="0" tIns="0" rIns="0" bIns="0" rtlCol="0" anchor="ctr">
            <a:normAutofit/>
          </a:bodyPr>
          <a:lstStyle/>
          <a:p>
            <a:pPr indent="0" marL="0">
              <a:buNone/>
            </a:pPr>
            <a:r>
              <a:rPr lang="en-US" sz="1200" dirty="0">
                <a:solidFill>
                  <a:srgbClr val="8FA6B9"/>
                </a:solidFill>
              </a:rPr>
              <a:t>Backend APIs</a:t>
            </a:r>
            <a:endParaRPr lang="en-US" sz="1200" dirty="0"/>
          </a:p>
          <a:p>
            <a:pPr indent="0" marL="0">
              <a:buNone/>
            </a:pPr>
            <a:r>
              <a:rPr lang="en-US" sz="1200" dirty="0">
                <a:solidFill>
                  <a:srgbClr val="8FA6B9"/>
                </a:solidFill>
              </a:rPr>
              <a:t>Auth + GitHub</a:t>
            </a:r>
            <a:endParaRPr lang="en-US" sz="1200" dirty="0"/>
          </a:p>
          <a:p>
            <a:pPr indent="0" marL="0">
              <a:buNone/>
            </a:pPr>
            <a:r>
              <a:rPr lang="en-US" sz="1200" dirty="0">
                <a:solidFill>
                  <a:srgbClr val="8FA6B9"/>
                </a:solidFill>
              </a:rPr>
              <a:t>Data + billing</a:t>
            </a:r>
            <a:endParaRPr lang="en-US" sz="1200" dirty="0"/>
          </a:p>
          <a:p>
            <a:pPr indent="0" marL="0">
              <a:buNone/>
            </a:pPr>
            <a:r>
              <a:rPr lang="en-US" sz="1200" dirty="0">
                <a:solidFill>
                  <a:srgbClr val="8FA6B9"/>
                </a:solidFill>
              </a:rPr>
              <a:t>Container operation</a:t>
            </a:r>
            <a:endParaRPr lang="en-US" sz="1200" dirty="0"/>
          </a:p>
        </p:txBody>
      </p:sp>
      <p:sp>
        <p:nvSpPr>
          <p:cNvPr id="21" name="Shape 19"/>
          <p:cNvSpPr/>
          <p:nvPr/>
        </p:nvSpPr>
        <p:spPr>
          <a:xfrm>
            <a:off x="6812280" y="5468112"/>
            <a:ext cx="4297680" cy="347472"/>
          </a:xfrm>
          <a:prstGeom prst="roundRect">
            <a:avLst>
              <a:gd name="adj" fmla="val 47368"/>
            </a:avLst>
          </a:prstGeom>
          <a:solidFill>
            <a:srgbClr val="35C2D8">
              <a:alpha val="88000"/>
            </a:srgbClr>
          </a:solidFill>
          <a:ln w="12700">
            <a:solidFill>
              <a:srgbClr val="35C2D8">
                <a:alpha val="0"/>
              </a:srgbClr>
            </a:solidFill>
            <a:prstDash val="solid"/>
          </a:ln>
        </p:spPr>
      </p:sp>
      <p:sp>
        <p:nvSpPr>
          <p:cNvPr id="22" name="Text 20"/>
          <p:cNvSpPr/>
          <p:nvPr/>
        </p:nvSpPr>
        <p:spPr>
          <a:xfrm>
            <a:off x="6885432" y="5550408"/>
            <a:ext cx="4151376" cy="118872"/>
          </a:xfrm>
          <a:prstGeom prst="rect">
            <a:avLst/>
          </a:prstGeom>
          <a:noFill/>
          <a:ln/>
        </p:spPr>
        <p:txBody>
          <a:bodyPr wrap="square" lIns="0" tIns="0" rIns="0" bIns="0" rtlCol="0" anchor="ctr">
            <a:normAutofit/>
          </a:bodyPr>
          <a:lstStyle/>
          <a:p>
            <a:pPr algn="ctr" indent="0" marL="0">
              <a:buNone/>
            </a:pPr>
            <a:r>
              <a:rPr lang="en-US" sz="950" b="1" dirty="0">
                <a:solidFill>
                  <a:srgbClr val="07111F"/>
                </a:solidFill>
              </a:rPr>
              <a:t>SHARED: INTEGRATION • TESTING • DOCUMENTATION</a:t>
            </a:r>
            <a:endParaRPr lang="en-US" sz="950" dirty="0"/>
          </a:p>
        </p:txBody>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47472"/>
            <a:ext cx="9098280" cy="475488"/>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Control-Plane, Terraform, and ECS Ownership</a:t>
            </a:r>
            <a:endParaRPr lang="en-US" sz="2400" dirty="0"/>
          </a:p>
        </p:txBody>
      </p:sp>
      <p:sp>
        <p:nvSpPr>
          <p:cNvPr id="3" name="Shape 1"/>
          <p:cNvSpPr/>
          <p:nvPr/>
        </p:nvSpPr>
        <p:spPr>
          <a:xfrm>
            <a:off x="9829800" y="338328"/>
            <a:ext cx="1783080" cy="329184"/>
          </a:xfrm>
          <a:prstGeom prst="roundRect">
            <a:avLst>
              <a:gd name="adj" fmla="val 22222"/>
            </a:avLst>
          </a:prstGeom>
          <a:solidFill>
            <a:srgbClr val="4FA3FF">
              <a:alpha val="92000"/>
            </a:srgbClr>
          </a:solidFill>
          <a:ln w="12700">
            <a:solidFill>
              <a:srgbClr val="4FA3FF">
                <a:alpha val="0"/>
              </a:srgbClr>
            </a:solidFill>
            <a:prstDash val="solid"/>
          </a:ln>
        </p:spPr>
      </p:sp>
      <p:sp>
        <p:nvSpPr>
          <p:cNvPr id="4" name="Text 2"/>
          <p:cNvSpPr/>
          <p:nvPr/>
        </p:nvSpPr>
        <p:spPr>
          <a:xfrm>
            <a:off x="9912096" y="416052"/>
            <a:ext cx="1609344" cy="118872"/>
          </a:xfrm>
          <a:prstGeom prst="rect">
            <a:avLst/>
          </a:prstGeom>
          <a:noFill/>
          <a:ln/>
        </p:spPr>
        <p:txBody>
          <a:bodyPr wrap="square" lIns="0" tIns="0" rIns="0" bIns="0" rtlCol="0" anchor="ctr">
            <a:normAutofit/>
          </a:bodyPr>
          <a:lstStyle/>
          <a:p>
            <a:pPr algn="ctr" indent="0" marL="0">
              <a:buNone/>
            </a:pPr>
            <a:r>
              <a:rPr lang="en-US" sz="1000" b="1" dirty="0">
                <a:solidFill>
                  <a:srgbClr val="07111F"/>
                </a:solidFill>
              </a:rPr>
              <a:t>Hassan Sajjad</a:t>
            </a:r>
            <a:endParaRPr lang="en-US" sz="1000" dirty="0"/>
          </a:p>
          <a:p>
            <a:pPr algn="ctr" indent="0" marL="0">
              <a:buNone/>
            </a:pPr>
            <a:endParaRPr lang="en-US" sz="1000" dirty="0"/>
          </a:p>
          <a:p>
            <a:pPr algn="ctr" indent="0" marL="0">
              <a:buNone/>
            </a:pPr>
            <a:r>
              <a:rPr lang="en-US" sz="1000" b="1" dirty="0">
                <a:solidFill>
                  <a:srgbClr val="07111F"/>
                </a:solidFill>
              </a:rPr>
              <a:t>Purpose: Defend the architectural boundary that prevents competing authorities.</a:t>
            </a:r>
            <a:endParaRPr lang="en-US" sz="1000" dirty="0"/>
          </a:p>
          <a:p>
            <a:pPr algn="ctr" indent="0" marL="0">
              <a:buNone/>
            </a:pPr>
            <a:endParaRPr lang="en-US" sz="1000" dirty="0"/>
          </a:p>
          <a:p>
            <a:pPr algn="ctr" indent="0" marL="0">
              <a:buNone/>
            </a:pPr>
            <a:r>
              <a:rPr lang="en-US" sz="1000" b="1" dirty="0">
                <a:solidFill>
                  <a:srgbClr val="07111F"/>
                </a:solidFill>
              </a:rPr>
              <a:t>Presentation Content:</a:t>
            </a:r>
            <a:endParaRPr lang="en-US" sz="1000" dirty="0"/>
          </a:p>
          <a:p>
            <a:pPr algn="ctr" indent="0" marL="0">
              <a:buNone/>
            </a:pPr>
            <a:endParaRPr lang="en-US" sz="1000" dirty="0"/>
          </a:p>
          <a:p>
            <a:pPr algn="ctr" indent="0" marL="0">
              <a:buNone/>
            </a:pPr>
            <a:r>
              <a:rPr lang="en-US" sz="1000" b="1" dirty="0">
                <a:solidFill>
                  <a:srgbClr val="07111F"/>
                </a:solidFill>
              </a:rPr>
              <a:t>- Terraform owns infrastructure existence, networking, load balancers, IAM, EFS, service discovery, database infrastructure, state, and final destruction.</a:t>
            </a:r>
            <a:endParaRPr lang="en-US" sz="1000" dirty="0"/>
          </a:p>
          <a:p>
            <a:pPr algn="ctr" indent="0" marL="0">
              <a:buNone/>
            </a:pPr>
            <a:endParaRPr lang="en-US" sz="1000" dirty="0"/>
          </a:p>
          <a:p>
            <a:pPr algn="ctr" indent="0" marL="0">
              <a:buNone/>
            </a:pPr>
            <a:r>
              <a:rPr lang="en-US" sz="1000" b="1" dirty="0">
                <a:solidFill>
                  <a:srgbClr val="07111F"/>
                </a:solidFill>
              </a:rPr>
              <a:t>- DeployGuard owns admission, database readiness decisions, runtime-success classification, verification, stable-release promotion, and manual rollback policy.</a:t>
            </a:r>
            <a:endParaRPr lang="en-US" sz="1000" dirty="0"/>
          </a:p>
          <a:p>
            <a:pPr algn="ctr" indent="0" marL="0">
              <a:buNone/>
            </a:pPr>
            <a:endParaRPr lang="en-US" sz="1000" dirty="0"/>
          </a:p>
          <a:p>
            <a:pPr algn="ctr" indent="0" marL="0">
              <a:buNone/>
            </a:pPr>
            <a:r>
              <a:rPr lang="en-US" sz="1000" b="1" dirty="0">
                <a:solidFill>
                  <a:srgbClr val="07111F"/>
                </a:solidFill>
              </a:rPr>
              <a:t>- ECS owns low-level task placement, scaling, rolling deployment, and stability primitives.</a:t>
            </a:r>
            <a:endParaRPr lang="en-US" sz="1000" dirty="0"/>
          </a:p>
          <a:p>
            <a:pPr algn="ctr" indent="0" marL="0">
              <a:buNone/>
            </a:pPr>
            <a:endParaRPr lang="en-US" sz="1000" dirty="0"/>
          </a:p>
          <a:p>
            <a:pPr algn="ctr" indent="0" marL="0">
              <a:buNone/>
            </a:pPr>
            <a:r>
              <a:rPr lang="en-US" sz="1000" b="1" dirty="0">
                <a:solidFill>
                  <a:srgbClr val="07111F"/>
                </a:solidFill>
              </a:rPr>
              <a:t>- Application services protect externally managed desired count and active task revision from later topology applies.</a:t>
            </a:r>
            <a:endParaRPr lang="en-US" sz="1000" dirty="0"/>
          </a:p>
          <a:p>
            <a:pPr algn="ctr" indent="0" marL="0">
              <a:buNone/>
            </a:pPr>
            <a:endParaRPr lang="en-US" sz="1000" dirty="0"/>
          </a:p>
          <a:p>
            <a:pPr algn="ctr" indent="0" marL="0">
              <a:buNone/>
            </a:pPr>
            <a:r>
              <a:rPr lang="en-US" sz="1000" b="1" dirty="0">
                <a:solidFill>
                  <a:srgbClr val="07111F"/>
                </a:solidFill>
              </a:rPr>
              <a:t>- A database-attached application is created at zero desired tasks, then raised by DeployGuard only after its database prerequisite succeeds.</a:t>
            </a:r>
            <a:endParaRPr lang="en-US" sz="1000" dirty="0"/>
          </a:p>
          <a:p>
            <a:pPr algn="ctr" indent="0" marL="0">
              <a:buNone/>
            </a:pPr>
            <a:endParaRPr lang="en-US" sz="1000" dirty="0"/>
          </a:p>
          <a:p>
            <a:pPr algn="ctr" indent="0" marL="0">
              <a:buNone/>
            </a:pPr>
            <a:r>
              <a:rPr lang="en-US" sz="1000" b="1" dirty="0">
                <a:solidFill>
                  <a:srgbClr val="07111F"/>
                </a:solidFill>
              </a:rPr>
              <a:t>- Unrelated services do not wait on another service’s database.</a:t>
            </a:r>
            <a:endParaRPr lang="en-US" sz="1000" dirty="0"/>
          </a:p>
          <a:p>
            <a:pPr algn="ctr" indent="0" marL="0">
              <a:buNone/>
            </a:pPr>
            <a:endParaRPr lang="en-US" sz="1000" dirty="0"/>
          </a:p>
          <a:p>
            <a:pPr algn="ctr" indent="0" marL="0">
              <a:buNone/>
            </a:pPr>
            <a:r>
              <a:rPr lang="en-US" sz="1000" b="1" dirty="0">
                <a:solidFill>
                  <a:srgbClr val="07111F"/>
                </a:solidFill>
              </a:rPr>
              <a:t>Visual Recommendation: Three overlapping authority circles with non-overlapping responsibility lists and a shared lifecycle arrow.</a:t>
            </a:r>
            <a:endParaRPr lang="en-US" sz="1000" dirty="0"/>
          </a:p>
          <a:p>
            <a:pPr algn="ctr" indent="0" marL="0">
              <a:buNone/>
            </a:pPr>
            <a:endParaRPr lang="en-US" sz="1000" dirty="0"/>
          </a:p>
          <a:p>
            <a:pPr algn="ctr" indent="0" marL="0">
              <a:buNone/>
            </a:pPr>
            <a:r>
              <a:rPr lang="en-US" sz="1000" b="1" dirty="0">
                <a:solidFill>
                  <a:srgbClr val="07111F"/>
                </a:solidFill>
              </a:rPr>
              <a:t>Defense Notes: This boundary avoids configuration fights. Terraform can still destroy the service, but it does not undo a legitimate post-create scale-up or release-only task revision selected by DeployGuard.</a:t>
            </a:r>
            <a:endParaRPr lang="en-US" sz="1000" dirty="0"/>
          </a:p>
        </p:txBody>
      </p:sp>
      <p:sp>
        <p:nvSpPr>
          <p:cNvPr id="5" name="Shape 3"/>
          <p:cNvSpPr/>
          <p:nvPr/>
        </p:nvSpPr>
        <p:spPr>
          <a:xfrm>
            <a:off x="502920" y="932688"/>
            <a:ext cx="11109960" cy="0"/>
          </a:xfrm>
          <a:prstGeom prst="line">
            <a:avLst/>
          </a:prstGeom>
          <a:noFill/>
          <a:ln w="17780">
            <a:solidFill>
              <a:srgbClr val="4FA3FF">
                <a:alpha val="75000"/>
              </a:srgbClr>
            </a:solidFill>
            <a:prstDash val="solid"/>
          </a:ln>
        </p:spPr>
      </p:sp>
      <p:sp>
        <p:nvSpPr>
          <p:cNvPr id="6" name="Text 4"/>
          <p:cNvSpPr/>
          <p:nvPr/>
        </p:nvSpPr>
        <p:spPr>
          <a:xfrm>
            <a:off x="502920" y="996696"/>
            <a:ext cx="5212080" cy="164592"/>
          </a:xfrm>
          <a:prstGeom prst="rect">
            <a:avLst/>
          </a:prstGeom>
          <a:noFill/>
          <a:ln/>
        </p:spPr>
        <p:txBody>
          <a:bodyPr wrap="square" lIns="0" tIns="0" rIns="0" bIns="0" rtlCol="0" anchor="ctr"/>
          <a:lstStyle/>
          <a:p>
            <a:pPr indent="0" marL="0">
              <a:buNone/>
            </a:pPr>
            <a:r>
              <a:rPr lang="en-US" sz="850" b="1" spc="110" kern="0" dirty="0">
                <a:solidFill>
                  <a:srgbClr val="4FA3FF"/>
                </a:solidFill>
              </a:rPr>
              <a:t>HASSAN — CLOUD &amp; DEVOPS</a:t>
            </a:r>
            <a:endParaRPr lang="en-US" sz="850" dirty="0"/>
          </a:p>
        </p:txBody>
      </p:sp>
      <p:sp>
        <p:nvSpPr>
          <p:cNvPr id="7" name="Text 5"/>
          <p:cNvSpPr/>
          <p:nvPr/>
        </p:nvSpPr>
        <p:spPr>
          <a:xfrm>
            <a:off x="594360" y="1325880"/>
            <a:ext cx="5349240" cy="4937760"/>
          </a:xfrm>
          <a:prstGeom prst="rect">
            <a:avLst/>
          </a:prstGeom>
          <a:noFill/>
          <a:ln/>
        </p:spPr>
        <p:txBody>
          <a:bodyPr wrap="square" lIns="254" tIns="254" rIns="254" bIns="254" rtlCol="0" anchor="ctr">
            <a:normAutofit/>
          </a:bodyPr>
          <a:lstStyle/>
          <a:p>
            <a:pPr marL="190500" indent="-190500">
              <a:buSzPct val="100000"/>
              <a:buChar char="•"/>
            </a:pPr>
            <a:r>
              <a:rPr lang="en-US" sz="1580" dirty="0">
                <a:solidFill>
                  <a:srgbClr val="D9E5EF"/>
                </a:solidFill>
                <a:latin typeface="Aptos" pitchFamily="34" charset="0"/>
                <a:ea typeface="Aptos" pitchFamily="34" charset="-122"/>
                <a:cs typeface="Aptos" pitchFamily="34" charset="-120"/>
              </a:rPr>
              <a:t>Terraform owns infrastructure existence, networking, load balancers, IAM, EFS, service discovery, database infrastructure, state, and final destruction.</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DeployGuard owns admission, database readiness decisions, runtime-success classification, verification, stable-release promotion, and manual rollback policy.</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ECS owns low-level task placement, scaling, rolling deployment, and stability primitives.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Application services protect externally managed desired count and active task revision from later topology applies.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A database-attached application is created at zero desired tasks, then raised by DeployGuard only after its database prerequisite succeeds.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Unrelated services do not wait on another service’s database.</a:t>
            </a:r>
            <a:endParaRPr lang="en-US" sz="1580" dirty="0"/>
          </a:p>
        </p:txBody>
      </p:sp>
      <p:sp>
        <p:nvSpPr>
          <p:cNvPr id="8" name="Shape 6"/>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9" name="Shape 7"/>
          <p:cNvSpPr/>
          <p:nvPr/>
        </p:nvSpPr>
        <p:spPr>
          <a:xfrm>
            <a:off x="6675120" y="1828800"/>
            <a:ext cx="1874520" cy="1874520"/>
          </a:xfrm>
          <a:prstGeom prst="ellipse">
            <a:avLst/>
          </a:prstGeom>
          <a:solidFill>
            <a:srgbClr val="4FA3FF">
              <a:alpha val="17000"/>
            </a:srgbClr>
          </a:solidFill>
          <a:ln w="25400">
            <a:solidFill>
              <a:srgbClr val="4FA3FF"/>
            </a:solidFill>
            <a:prstDash val="solid"/>
          </a:ln>
        </p:spPr>
      </p:sp>
      <p:sp>
        <p:nvSpPr>
          <p:cNvPr id="10" name="Text 8"/>
          <p:cNvSpPr/>
          <p:nvPr/>
        </p:nvSpPr>
        <p:spPr>
          <a:xfrm>
            <a:off x="6858000" y="2331720"/>
            <a:ext cx="1508760" cy="228600"/>
          </a:xfrm>
          <a:prstGeom prst="rect">
            <a:avLst/>
          </a:prstGeom>
          <a:noFill/>
          <a:ln/>
        </p:spPr>
        <p:txBody>
          <a:bodyPr wrap="square" lIns="0" tIns="0" rIns="0" bIns="0" rtlCol="0" anchor="ctr"/>
          <a:lstStyle/>
          <a:p>
            <a:pPr algn="ctr" indent="0" marL="0">
              <a:buNone/>
            </a:pPr>
            <a:r>
              <a:rPr lang="en-US" sz="1400" b="1" dirty="0">
                <a:solidFill>
                  <a:srgbClr val="F7FAFC"/>
                </a:solidFill>
              </a:rPr>
              <a:t>Terraform</a:t>
            </a:r>
            <a:endParaRPr lang="en-US" sz="1400" dirty="0"/>
          </a:p>
        </p:txBody>
      </p:sp>
      <p:sp>
        <p:nvSpPr>
          <p:cNvPr id="11" name="Text 9"/>
          <p:cNvSpPr/>
          <p:nvPr/>
        </p:nvSpPr>
        <p:spPr>
          <a:xfrm>
            <a:off x="6858000" y="2788920"/>
            <a:ext cx="1508760" cy="411480"/>
          </a:xfrm>
          <a:prstGeom prst="rect">
            <a:avLst/>
          </a:prstGeom>
          <a:noFill/>
          <a:ln/>
        </p:spPr>
        <p:txBody>
          <a:bodyPr wrap="square" lIns="0" tIns="0" rIns="0" bIns="0" rtlCol="0" anchor="ctr">
            <a:normAutofit/>
          </a:bodyPr>
          <a:lstStyle/>
          <a:p>
            <a:pPr algn="ctr" indent="0" marL="0">
              <a:buNone/>
            </a:pPr>
            <a:r>
              <a:rPr lang="en-US" sz="940" dirty="0">
                <a:solidFill>
                  <a:srgbClr val="D9E5EF"/>
                </a:solidFill>
              </a:rPr>
              <a:t>Infrastructure</a:t>
            </a:r>
            <a:endParaRPr lang="en-US" sz="940" dirty="0"/>
          </a:p>
          <a:p>
            <a:pPr algn="ctr" indent="0" marL="0">
              <a:buNone/>
            </a:pPr>
            <a:r>
              <a:rPr lang="en-US" sz="940" dirty="0">
                <a:solidFill>
                  <a:srgbClr val="D9E5EF"/>
                </a:solidFill>
              </a:rPr>
              <a:t>existence + destroy</a:t>
            </a:r>
            <a:endParaRPr lang="en-US" sz="940" dirty="0"/>
          </a:p>
        </p:txBody>
      </p:sp>
      <p:sp>
        <p:nvSpPr>
          <p:cNvPr id="12" name="Shape 10"/>
          <p:cNvSpPr/>
          <p:nvPr/>
        </p:nvSpPr>
        <p:spPr>
          <a:xfrm>
            <a:off x="8366760" y="3063240"/>
            <a:ext cx="1874520" cy="1874520"/>
          </a:xfrm>
          <a:prstGeom prst="ellipse">
            <a:avLst/>
          </a:prstGeom>
          <a:solidFill>
            <a:srgbClr val="35C2D8">
              <a:alpha val="17000"/>
            </a:srgbClr>
          </a:solidFill>
          <a:ln w="25400">
            <a:solidFill>
              <a:srgbClr val="35C2D8"/>
            </a:solidFill>
            <a:prstDash val="solid"/>
          </a:ln>
        </p:spPr>
      </p:sp>
      <p:sp>
        <p:nvSpPr>
          <p:cNvPr id="13" name="Text 11"/>
          <p:cNvSpPr/>
          <p:nvPr/>
        </p:nvSpPr>
        <p:spPr>
          <a:xfrm>
            <a:off x="8549640" y="3566160"/>
            <a:ext cx="1508760" cy="228600"/>
          </a:xfrm>
          <a:prstGeom prst="rect">
            <a:avLst/>
          </a:prstGeom>
          <a:noFill/>
          <a:ln/>
        </p:spPr>
        <p:txBody>
          <a:bodyPr wrap="square" lIns="0" tIns="0" rIns="0" bIns="0" rtlCol="0" anchor="ctr"/>
          <a:lstStyle/>
          <a:p>
            <a:pPr algn="ctr" indent="0" marL="0">
              <a:buNone/>
            </a:pPr>
            <a:r>
              <a:rPr lang="en-US" sz="1400" b="1" dirty="0">
                <a:solidFill>
                  <a:srgbClr val="F7FAFC"/>
                </a:solidFill>
              </a:rPr>
              <a:t>DeployGuard</a:t>
            </a:r>
            <a:endParaRPr lang="en-US" sz="1400" dirty="0"/>
          </a:p>
        </p:txBody>
      </p:sp>
      <p:sp>
        <p:nvSpPr>
          <p:cNvPr id="14" name="Text 12"/>
          <p:cNvSpPr/>
          <p:nvPr/>
        </p:nvSpPr>
        <p:spPr>
          <a:xfrm>
            <a:off x="8549640" y="4023360"/>
            <a:ext cx="1508760" cy="411480"/>
          </a:xfrm>
          <a:prstGeom prst="rect">
            <a:avLst/>
          </a:prstGeom>
          <a:noFill/>
          <a:ln/>
        </p:spPr>
        <p:txBody>
          <a:bodyPr wrap="square" lIns="0" tIns="0" rIns="0" bIns="0" rtlCol="0" anchor="ctr">
            <a:normAutofit/>
          </a:bodyPr>
          <a:lstStyle/>
          <a:p>
            <a:pPr algn="ctr" indent="0" marL="0">
              <a:buNone/>
            </a:pPr>
            <a:r>
              <a:rPr lang="en-US" sz="940" dirty="0">
                <a:solidFill>
                  <a:srgbClr val="D9E5EF"/>
                </a:solidFill>
              </a:rPr>
              <a:t>Admission</a:t>
            </a:r>
            <a:endParaRPr lang="en-US" sz="940" dirty="0"/>
          </a:p>
          <a:p>
            <a:pPr algn="ctr" indent="0" marL="0">
              <a:buNone/>
            </a:pPr>
            <a:r>
              <a:rPr lang="en-US" sz="940" dirty="0">
                <a:solidFill>
                  <a:srgbClr val="D9E5EF"/>
                </a:solidFill>
              </a:rPr>
              <a:t>verify + promote</a:t>
            </a:r>
            <a:endParaRPr lang="en-US" sz="940" dirty="0"/>
          </a:p>
        </p:txBody>
      </p:sp>
      <p:sp>
        <p:nvSpPr>
          <p:cNvPr id="15" name="Shape 13"/>
          <p:cNvSpPr/>
          <p:nvPr/>
        </p:nvSpPr>
        <p:spPr>
          <a:xfrm>
            <a:off x="9802368" y="1810512"/>
            <a:ext cx="1874520" cy="1874520"/>
          </a:xfrm>
          <a:prstGeom prst="ellipse">
            <a:avLst/>
          </a:prstGeom>
          <a:solidFill>
            <a:srgbClr val="54D6A3">
              <a:alpha val="17000"/>
            </a:srgbClr>
          </a:solidFill>
          <a:ln w="25400">
            <a:solidFill>
              <a:srgbClr val="54D6A3"/>
            </a:solidFill>
            <a:prstDash val="solid"/>
          </a:ln>
        </p:spPr>
      </p:sp>
      <p:sp>
        <p:nvSpPr>
          <p:cNvPr id="16" name="Text 14"/>
          <p:cNvSpPr/>
          <p:nvPr/>
        </p:nvSpPr>
        <p:spPr>
          <a:xfrm>
            <a:off x="9985248" y="2313432"/>
            <a:ext cx="1508760" cy="228600"/>
          </a:xfrm>
          <a:prstGeom prst="rect">
            <a:avLst/>
          </a:prstGeom>
          <a:noFill/>
          <a:ln/>
        </p:spPr>
        <p:txBody>
          <a:bodyPr wrap="square" lIns="0" tIns="0" rIns="0" bIns="0" rtlCol="0" anchor="ctr"/>
          <a:lstStyle/>
          <a:p>
            <a:pPr algn="ctr" indent="0" marL="0">
              <a:buNone/>
            </a:pPr>
            <a:r>
              <a:rPr lang="en-US" sz="1400" b="1" dirty="0">
                <a:solidFill>
                  <a:srgbClr val="F7FAFC"/>
                </a:solidFill>
              </a:rPr>
              <a:t>ECS</a:t>
            </a:r>
            <a:endParaRPr lang="en-US" sz="1400" dirty="0"/>
          </a:p>
        </p:txBody>
      </p:sp>
      <p:sp>
        <p:nvSpPr>
          <p:cNvPr id="17" name="Text 15"/>
          <p:cNvSpPr/>
          <p:nvPr/>
        </p:nvSpPr>
        <p:spPr>
          <a:xfrm>
            <a:off x="9985248" y="2770632"/>
            <a:ext cx="1508760" cy="411480"/>
          </a:xfrm>
          <a:prstGeom prst="rect">
            <a:avLst/>
          </a:prstGeom>
          <a:noFill/>
          <a:ln/>
        </p:spPr>
        <p:txBody>
          <a:bodyPr wrap="square" lIns="0" tIns="0" rIns="0" bIns="0" rtlCol="0" anchor="ctr">
            <a:normAutofit/>
          </a:bodyPr>
          <a:lstStyle/>
          <a:p>
            <a:pPr algn="ctr" indent="0" marL="0">
              <a:buNone/>
            </a:pPr>
            <a:r>
              <a:rPr lang="en-US" sz="940" dirty="0">
                <a:solidFill>
                  <a:srgbClr val="D9E5EF"/>
                </a:solidFill>
              </a:rPr>
              <a:t>Runtime placement</a:t>
            </a:r>
            <a:endParaRPr lang="en-US" sz="940" dirty="0"/>
          </a:p>
          <a:p>
            <a:pPr algn="ctr" indent="0" marL="0">
              <a:buNone/>
            </a:pPr>
            <a:r>
              <a:rPr lang="en-US" sz="940" dirty="0">
                <a:solidFill>
                  <a:srgbClr val="D9E5EF"/>
                </a:solidFill>
              </a:rPr>
              <a:t>rolling stability</a:t>
            </a:r>
            <a:endParaRPr lang="en-US" sz="940" dirty="0"/>
          </a:p>
        </p:txBody>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47472"/>
            <a:ext cx="9098280" cy="475488"/>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AWS Runtime Topology and Network Isolation</a:t>
            </a:r>
            <a:endParaRPr lang="en-US" sz="2400" dirty="0"/>
          </a:p>
        </p:txBody>
      </p:sp>
      <p:sp>
        <p:nvSpPr>
          <p:cNvPr id="3" name="Shape 1"/>
          <p:cNvSpPr/>
          <p:nvPr/>
        </p:nvSpPr>
        <p:spPr>
          <a:xfrm>
            <a:off x="9829800" y="338328"/>
            <a:ext cx="1783080" cy="329184"/>
          </a:xfrm>
          <a:prstGeom prst="roundRect">
            <a:avLst>
              <a:gd name="adj" fmla="val 22222"/>
            </a:avLst>
          </a:prstGeom>
          <a:solidFill>
            <a:srgbClr val="4FA3FF">
              <a:alpha val="92000"/>
            </a:srgbClr>
          </a:solidFill>
          <a:ln w="12700">
            <a:solidFill>
              <a:srgbClr val="4FA3FF">
                <a:alpha val="0"/>
              </a:srgbClr>
            </a:solidFill>
            <a:prstDash val="solid"/>
          </a:ln>
        </p:spPr>
      </p:sp>
      <p:sp>
        <p:nvSpPr>
          <p:cNvPr id="4" name="Text 2"/>
          <p:cNvSpPr/>
          <p:nvPr/>
        </p:nvSpPr>
        <p:spPr>
          <a:xfrm>
            <a:off x="9912096" y="416052"/>
            <a:ext cx="1609344" cy="118872"/>
          </a:xfrm>
          <a:prstGeom prst="rect">
            <a:avLst/>
          </a:prstGeom>
          <a:noFill/>
          <a:ln/>
        </p:spPr>
        <p:txBody>
          <a:bodyPr wrap="square" lIns="0" tIns="0" rIns="0" bIns="0" rtlCol="0" anchor="ctr">
            <a:normAutofit/>
          </a:bodyPr>
          <a:lstStyle/>
          <a:p>
            <a:pPr algn="ctr" indent="0" marL="0">
              <a:buNone/>
            </a:pPr>
            <a:r>
              <a:rPr lang="en-US" sz="1000" b="1" dirty="0">
                <a:solidFill>
                  <a:srgbClr val="07111F"/>
                </a:solidFill>
              </a:rPr>
              <a:t>Hassan Sajjad</a:t>
            </a:r>
            <a:endParaRPr lang="en-US" sz="1000" dirty="0"/>
          </a:p>
          <a:p>
            <a:pPr algn="ctr" indent="0" marL="0">
              <a:buNone/>
            </a:pPr>
            <a:endParaRPr lang="en-US" sz="1000" dirty="0"/>
          </a:p>
          <a:p>
            <a:pPr algn="ctr" indent="0" marL="0">
              <a:buNone/>
            </a:pPr>
            <a:r>
              <a:rPr lang="en-US" sz="1000" b="1" dirty="0">
                <a:solidFill>
                  <a:srgbClr val="07111F"/>
                </a:solidFill>
              </a:rPr>
              <a:t>Purpose: Show the concrete cloud architecture of a deployed project.</a:t>
            </a:r>
            <a:endParaRPr lang="en-US" sz="1000" dirty="0"/>
          </a:p>
          <a:p>
            <a:pPr algn="ctr" indent="0" marL="0">
              <a:buNone/>
            </a:pPr>
            <a:endParaRPr lang="en-US" sz="1000" dirty="0"/>
          </a:p>
          <a:p>
            <a:pPr algn="ctr" indent="0" marL="0">
              <a:buNone/>
            </a:pPr>
            <a:r>
              <a:rPr lang="en-US" sz="1000" b="1" dirty="0">
                <a:solidFill>
                  <a:srgbClr val="07111F"/>
                </a:solidFill>
              </a:rPr>
              <a:t>Presentation Content:</a:t>
            </a:r>
            <a:endParaRPr lang="en-US" sz="1000" dirty="0"/>
          </a:p>
          <a:p>
            <a:pPr algn="ctr" indent="0" marL="0">
              <a:buNone/>
            </a:pPr>
            <a:endParaRPr lang="en-US" sz="1000" dirty="0"/>
          </a:p>
          <a:p>
            <a:pPr algn="ctr" indent="0" marL="0">
              <a:buNone/>
            </a:pPr>
            <a:r>
              <a:rPr lang="en-US" sz="1000" b="1" dirty="0">
                <a:solidFill>
                  <a:srgbClr val="07111F"/>
                </a:solidFill>
              </a:rPr>
              <a:t>- Each project receives an ECS cluster and each application service receives its own task definition, service, log group, target group, listener, and load balancer path.</a:t>
            </a:r>
            <a:endParaRPr lang="en-US" sz="1000" dirty="0"/>
          </a:p>
          <a:p>
            <a:pPr algn="ctr" indent="0" marL="0">
              <a:buNone/>
            </a:pPr>
            <a:endParaRPr lang="en-US" sz="1000" dirty="0"/>
          </a:p>
          <a:p>
            <a:pPr algn="ctr" indent="0" marL="0">
              <a:buNone/>
            </a:pPr>
            <a:r>
              <a:rPr lang="en-US" sz="1000" b="1" dirty="0">
                <a:solidFill>
                  <a:srgbClr val="07111F"/>
                </a:solidFill>
              </a:rPr>
              <a:t>- Application tasks run on Fargate and are reached through an Application Load Balancer health-checked target group.</a:t>
            </a:r>
            <a:endParaRPr lang="en-US" sz="1000" dirty="0"/>
          </a:p>
          <a:p>
            <a:pPr algn="ctr" indent="0" marL="0">
              <a:buNone/>
            </a:pPr>
            <a:endParaRPr lang="en-US" sz="1000" dirty="0"/>
          </a:p>
          <a:p>
            <a:pPr algn="ctr" indent="0" marL="0">
              <a:buNone/>
            </a:pPr>
            <a:r>
              <a:rPr lang="en-US" sz="1000" b="1" dirty="0">
                <a:solidFill>
                  <a:srgbClr val="07111F"/>
                </a:solidFill>
              </a:rPr>
              <a:t>- The application security group accepts only the declared service and probe ports from the load-balancer security group.</a:t>
            </a:r>
            <a:endParaRPr lang="en-US" sz="1000" dirty="0"/>
          </a:p>
          <a:p>
            <a:pPr algn="ctr" indent="0" marL="0">
              <a:buNone/>
            </a:pPr>
            <a:endParaRPr lang="en-US" sz="1000" dirty="0"/>
          </a:p>
          <a:p>
            <a:pPr algn="ctr" indent="0" marL="0">
              <a:buNone/>
            </a:pPr>
            <a:r>
              <a:rPr lang="en-US" sz="1000" b="1" dirty="0">
                <a:solidFill>
                  <a:srgbClr val="07111F"/>
                </a:solidFill>
              </a:rPr>
              <a:t>- A managed database is discovered through private service discovery and accepts its engine port only from its attached application security group.</a:t>
            </a:r>
            <a:endParaRPr lang="en-US" sz="1000" dirty="0"/>
          </a:p>
          <a:p>
            <a:pPr algn="ctr" indent="0" marL="0">
              <a:buNone/>
            </a:pPr>
            <a:endParaRPr lang="en-US" sz="1000" dirty="0"/>
          </a:p>
          <a:p>
            <a:pPr algn="ctr" indent="0" marL="0">
              <a:buNone/>
            </a:pPr>
            <a:r>
              <a:rPr lang="en-US" sz="1000" b="1" dirty="0">
                <a:solidFill>
                  <a:srgbClr val="07111F"/>
                </a:solidFill>
              </a:rPr>
              <a:t>- Encrypted EFS provides persistent database storage with transit encryption and a restricted access point.</a:t>
            </a:r>
            <a:endParaRPr lang="en-US" sz="1000" dirty="0"/>
          </a:p>
          <a:p>
            <a:pPr algn="ctr" indent="0" marL="0">
              <a:buNone/>
            </a:pPr>
            <a:endParaRPr lang="en-US" sz="1000" dirty="0"/>
          </a:p>
          <a:p>
            <a:pPr algn="ctr" indent="0" marL="0">
              <a:buNone/>
            </a:pPr>
            <a:r>
              <a:rPr lang="en-US" sz="1000" b="1" dirty="0">
                <a:solidFill>
                  <a:srgbClr val="07111F"/>
                </a:solidFill>
              </a:rPr>
              <a:t>- CloudWatch captures task logs and operational metrics; Secrets Manager supplies platform-owned database credentials.</a:t>
            </a:r>
            <a:endParaRPr lang="en-US" sz="1000" dirty="0"/>
          </a:p>
          <a:p>
            <a:pPr algn="ctr" indent="0" marL="0">
              <a:buNone/>
            </a:pPr>
            <a:endParaRPr lang="en-US" sz="1000" dirty="0"/>
          </a:p>
          <a:p>
            <a:pPr algn="ctr" indent="0" marL="0">
              <a:buNone/>
            </a:pPr>
            <a:r>
              <a:rPr lang="en-US" sz="1000" b="1" dirty="0">
                <a:solidFill>
                  <a:srgbClr val="07111F"/>
                </a:solidFill>
              </a:rPr>
              <a:t>Visual Recommendation: AWS topology diagram: Internet → ALB → app task; app task → database task → EFS; both → CloudWatch; secrets → tasks.</a:t>
            </a:r>
            <a:endParaRPr lang="en-US" sz="1000" dirty="0"/>
          </a:p>
          <a:p>
            <a:pPr algn="ctr" indent="0" marL="0">
              <a:buNone/>
            </a:pPr>
            <a:endParaRPr lang="en-US" sz="1000" dirty="0"/>
          </a:p>
          <a:p>
            <a:pPr algn="ctr" indent="0" marL="0">
              <a:buNone/>
            </a:pPr>
            <a:r>
              <a:rPr lang="en-US" sz="1000" b="1" dirty="0">
                <a:solidFill>
                  <a:srgbClr val="07111F"/>
                </a:solidFill>
              </a:rPr>
              <a:t>Defense Notes: Use “network-isolated with private service discovery,” not “private-subnet database.” Security-group relationships are the implemented inbound boundary.</a:t>
            </a:r>
            <a:endParaRPr lang="en-US" sz="1000" dirty="0"/>
          </a:p>
        </p:txBody>
      </p:sp>
      <p:sp>
        <p:nvSpPr>
          <p:cNvPr id="5" name="Shape 3"/>
          <p:cNvSpPr/>
          <p:nvPr/>
        </p:nvSpPr>
        <p:spPr>
          <a:xfrm>
            <a:off x="502920" y="932688"/>
            <a:ext cx="11109960" cy="0"/>
          </a:xfrm>
          <a:prstGeom prst="line">
            <a:avLst/>
          </a:prstGeom>
          <a:noFill/>
          <a:ln w="17780">
            <a:solidFill>
              <a:srgbClr val="4FA3FF">
                <a:alpha val="75000"/>
              </a:srgbClr>
            </a:solidFill>
            <a:prstDash val="solid"/>
          </a:ln>
        </p:spPr>
      </p:sp>
      <p:sp>
        <p:nvSpPr>
          <p:cNvPr id="6" name="Text 4"/>
          <p:cNvSpPr/>
          <p:nvPr/>
        </p:nvSpPr>
        <p:spPr>
          <a:xfrm>
            <a:off x="502920" y="996696"/>
            <a:ext cx="5212080" cy="164592"/>
          </a:xfrm>
          <a:prstGeom prst="rect">
            <a:avLst/>
          </a:prstGeom>
          <a:noFill/>
          <a:ln/>
        </p:spPr>
        <p:txBody>
          <a:bodyPr wrap="square" lIns="0" tIns="0" rIns="0" bIns="0" rtlCol="0" anchor="ctr"/>
          <a:lstStyle/>
          <a:p>
            <a:pPr indent="0" marL="0">
              <a:buNone/>
            </a:pPr>
            <a:r>
              <a:rPr lang="en-US" sz="850" b="1" spc="110" kern="0" dirty="0">
                <a:solidFill>
                  <a:srgbClr val="4FA3FF"/>
                </a:solidFill>
              </a:rPr>
              <a:t>HASSAN — CLOUD &amp; DEVOPS</a:t>
            </a:r>
            <a:endParaRPr lang="en-US" sz="850" dirty="0"/>
          </a:p>
        </p:txBody>
      </p:sp>
      <p:sp>
        <p:nvSpPr>
          <p:cNvPr id="7" name="Text 5"/>
          <p:cNvSpPr/>
          <p:nvPr/>
        </p:nvSpPr>
        <p:spPr>
          <a:xfrm>
            <a:off x="594360" y="1325880"/>
            <a:ext cx="5349240" cy="4937760"/>
          </a:xfrm>
          <a:prstGeom prst="rect">
            <a:avLst/>
          </a:prstGeom>
          <a:noFill/>
          <a:ln/>
        </p:spPr>
        <p:txBody>
          <a:bodyPr wrap="square" lIns="254" tIns="254" rIns="254" bIns="254" rtlCol="0" anchor="ctr">
            <a:normAutofit/>
          </a:bodyPr>
          <a:lstStyle/>
          <a:p>
            <a:pPr marL="190500" indent="-190500">
              <a:buSzPct val="100000"/>
              <a:buChar char="•"/>
            </a:pPr>
            <a:r>
              <a:rPr lang="en-US" sz="1580" dirty="0">
                <a:solidFill>
                  <a:srgbClr val="D9E5EF"/>
                </a:solidFill>
                <a:latin typeface="Aptos" pitchFamily="34" charset="0"/>
                <a:ea typeface="Aptos" pitchFamily="34" charset="-122"/>
                <a:cs typeface="Aptos" pitchFamily="34" charset="-120"/>
              </a:rPr>
              <a:t>Each project receives an ECS cluster and each application service receives its own task definition, service, log group, target group, listener, and load balancer path.</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Application tasks run on Fargate and are reached through an Application Load Balancer health-checked target group.</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The application security group accepts only the declared service and probe ports from the load-balancer security group.</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A managed database is discovered through private service discovery and accepts its engine port only from its attached application security group.</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Encrypted EFS provides persistent database storage with transit encryption and a restricted access point.</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CloudWatch captures task logs and operational metrics; Secrets Manager supplies platform-owned database credentials.</a:t>
            </a:r>
            <a:endParaRPr lang="en-US" sz="1580" dirty="0"/>
          </a:p>
        </p:txBody>
      </p:sp>
      <p:sp>
        <p:nvSpPr>
          <p:cNvPr id="8" name="Shape 6"/>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9" name="Shape 7"/>
          <p:cNvSpPr/>
          <p:nvPr/>
        </p:nvSpPr>
        <p:spPr>
          <a:xfrm>
            <a:off x="6537960" y="2788920"/>
            <a:ext cx="1188720" cy="658368"/>
          </a:xfrm>
          <a:prstGeom prst="roundRect">
            <a:avLst>
              <a:gd name="adj" fmla="val 6944"/>
            </a:avLst>
          </a:prstGeom>
          <a:solidFill>
            <a:srgbClr val="12263A"/>
          </a:solidFill>
          <a:ln w="17780">
            <a:solidFill>
              <a:srgbClr val="35C2D8"/>
            </a:solidFill>
            <a:prstDash val="solid"/>
          </a:ln>
        </p:spPr>
      </p:sp>
      <p:sp>
        <p:nvSpPr>
          <p:cNvPr id="10" name="Text 8"/>
          <p:cNvSpPr/>
          <p:nvPr/>
        </p:nvSpPr>
        <p:spPr>
          <a:xfrm>
            <a:off x="6629400" y="2916936"/>
            <a:ext cx="100584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Internet</a:t>
            </a:r>
            <a:endParaRPr lang="en-US" sz="1200" dirty="0"/>
          </a:p>
        </p:txBody>
      </p:sp>
      <p:sp>
        <p:nvSpPr>
          <p:cNvPr id="11" name="Shape 9"/>
          <p:cNvSpPr/>
          <p:nvPr/>
        </p:nvSpPr>
        <p:spPr>
          <a:xfrm>
            <a:off x="8046720" y="2788920"/>
            <a:ext cx="1234440" cy="658368"/>
          </a:xfrm>
          <a:prstGeom prst="roundRect">
            <a:avLst>
              <a:gd name="adj" fmla="val 6944"/>
            </a:avLst>
          </a:prstGeom>
          <a:solidFill>
            <a:srgbClr val="12263A"/>
          </a:solidFill>
          <a:ln w="17780">
            <a:solidFill>
              <a:srgbClr val="4FA3FF"/>
            </a:solidFill>
            <a:prstDash val="solid"/>
          </a:ln>
        </p:spPr>
      </p:sp>
      <p:sp>
        <p:nvSpPr>
          <p:cNvPr id="12" name="Text 10"/>
          <p:cNvSpPr/>
          <p:nvPr/>
        </p:nvSpPr>
        <p:spPr>
          <a:xfrm>
            <a:off x="8138160" y="2916936"/>
            <a:ext cx="105156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ALB</a:t>
            </a:r>
            <a:endParaRPr lang="en-US" sz="1200" dirty="0"/>
          </a:p>
        </p:txBody>
      </p:sp>
      <p:sp>
        <p:nvSpPr>
          <p:cNvPr id="13" name="Shape 11"/>
          <p:cNvSpPr/>
          <p:nvPr/>
        </p:nvSpPr>
        <p:spPr>
          <a:xfrm>
            <a:off x="9601200" y="1993392"/>
            <a:ext cx="1600200" cy="768096"/>
          </a:xfrm>
          <a:prstGeom prst="roundRect">
            <a:avLst>
              <a:gd name="adj" fmla="val 5952"/>
            </a:avLst>
          </a:prstGeom>
          <a:solidFill>
            <a:srgbClr val="12263A"/>
          </a:solidFill>
          <a:ln w="17780">
            <a:solidFill>
              <a:srgbClr val="54D6A3"/>
            </a:solidFill>
            <a:prstDash val="solid"/>
          </a:ln>
        </p:spPr>
      </p:sp>
      <p:sp>
        <p:nvSpPr>
          <p:cNvPr id="14" name="Text 12"/>
          <p:cNvSpPr/>
          <p:nvPr/>
        </p:nvSpPr>
        <p:spPr>
          <a:xfrm>
            <a:off x="9692640" y="2121408"/>
            <a:ext cx="141732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App Task</a:t>
            </a:r>
            <a:endParaRPr lang="en-US" sz="1200" dirty="0"/>
          </a:p>
        </p:txBody>
      </p:sp>
      <p:sp>
        <p:nvSpPr>
          <p:cNvPr id="15" name="Text 13"/>
          <p:cNvSpPr/>
          <p:nvPr/>
        </p:nvSpPr>
        <p:spPr>
          <a:xfrm>
            <a:off x="9692640" y="2441448"/>
            <a:ext cx="1417320" cy="237744"/>
          </a:xfrm>
          <a:prstGeom prst="rect">
            <a:avLst/>
          </a:prstGeom>
          <a:noFill/>
          <a:ln/>
        </p:spPr>
        <p:txBody>
          <a:bodyPr wrap="square" lIns="0" tIns="0" rIns="0" bIns="0" rtlCol="0" anchor="ctr">
            <a:normAutofit/>
          </a:bodyPr>
          <a:lstStyle/>
          <a:p>
            <a:pPr algn="ctr" indent="0" marL="0">
              <a:buNone/>
            </a:pPr>
            <a:r>
              <a:rPr lang="en-US" sz="880" dirty="0">
                <a:solidFill>
                  <a:srgbClr val="8FA6B9"/>
                </a:solidFill>
              </a:rPr>
              <a:t>ECS Fargate</a:t>
            </a:r>
            <a:endParaRPr lang="en-US" sz="880" dirty="0"/>
          </a:p>
        </p:txBody>
      </p:sp>
      <p:sp>
        <p:nvSpPr>
          <p:cNvPr id="16" name="Shape 14"/>
          <p:cNvSpPr/>
          <p:nvPr/>
        </p:nvSpPr>
        <p:spPr>
          <a:xfrm>
            <a:off x="9601200" y="3703320"/>
            <a:ext cx="1600200" cy="768096"/>
          </a:xfrm>
          <a:prstGeom prst="roundRect">
            <a:avLst>
              <a:gd name="adj" fmla="val 5952"/>
            </a:avLst>
          </a:prstGeom>
          <a:solidFill>
            <a:srgbClr val="12263A"/>
          </a:solidFill>
          <a:ln w="17780">
            <a:solidFill>
              <a:srgbClr val="F5B041"/>
            </a:solidFill>
            <a:prstDash val="solid"/>
          </a:ln>
        </p:spPr>
      </p:sp>
      <p:sp>
        <p:nvSpPr>
          <p:cNvPr id="17" name="Text 15"/>
          <p:cNvSpPr/>
          <p:nvPr/>
        </p:nvSpPr>
        <p:spPr>
          <a:xfrm>
            <a:off x="9692640" y="3831336"/>
            <a:ext cx="141732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DB Task</a:t>
            </a:r>
            <a:endParaRPr lang="en-US" sz="1200" dirty="0"/>
          </a:p>
        </p:txBody>
      </p:sp>
      <p:sp>
        <p:nvSpPr>
          <p:cNvPr id="18" name="Text 16"/>
          <p:cNvSpPr/>
          <p:nvPr/>
        </p:nvSpPr>
        <p:spPr>
          <a:xfrm>
            <a:off x="9692640" y="4151376"/>
            <a:ext cx="1417320" cy="237744"/>
          </a:xfrm>
          <a:prstGeom prst="rect">
            <a:avLst/>
          </a:prstGeom>
          <a:noFill/>
          <a:ln/>
        </p:spPr>
        <p:txBody>
          <a:bodyPr wrap="square" lIns="0" tIns="0" rIns="0" bIns="0" rtlCol="0" anchor="ctr">
            <a:normAutofit/>
          </a:bodyPr>
          <a:lstStyle/>
          <a:p>
            <a:pPr algn="ctr" indent="0" marL="0">
              <a:buNone/>
            </a:pPr>
            <a:r>
              <a:rPr lang="en-US" sz="880" dirty="0">
                <a:solidFill>
                  <a:srgbClr val="8FA6B9"/>
                </a:solidFill>
              </a:rPr>
              <a:t>Private discovery</a:t>
            </a:r>
            <a:endParaRPr lang="en-US" sz="880" dirty="0"/>
          </a:p>
        </p:txBody>
      </p:sp>
      <p:sp>
        <p:nvSpPr>
          <p:cNvPr id="19" name="Shape 17"/>
          <p:cNvSpPr/>
          <p:nvPr/>
        </p:nvSpPr>
        <p:spPr>
          <a:xfrm>
            <a:off x="7726680" y="3118104"/>
            <a:ext cx="320040" cy="0"/>
          </a:xfrm>
          <a:prstGeom prst="line">
            <a:avLst/>
          </a:prstGeom>
          <a:noFill/>
          <a:ln w="25400">
            <a:solidFill>
              <a:srgbClr val="35C2D8"/>
            </a:solidFill>
            <a:prstDash val="solid"/>
            <a:tailEnd type="triangle"/>
          </a:ln>
        </p:spPr>
      </p:sp>
      <p:sp>
        <p:nvSpPr>
          <p:cNvPr id="20" name="Shape 18"/>
          <p:cNvSpPr/>
          <p:nvPr/>
        </p:nvSpPr>
        <p:spPr>
          <a:xfrm>
            <a:off x="9281160" y="3118104"/>
            <a:ext cx="320040" cy="-740664"/>
          </a:xfrm>
          <a:prstGeom prst="line">
            <a:avLst/>
          </a:prstGeom>
          <a:noFill/>
          <a:ln w="25400">
            <a:solidFill>
              <a:srgbClr val="4FA3FF"/>
            </a:solidFill>
            <a:prstDash val="solid"/>
            <a:tailEnd type="triangle"/>
          </a:ln>
        </p:spPr>
      </p:sp>
      <p:sp>
        <p:nvSpPr>
          <p:cNvPr id="21" name="Shape 19"/>
          <p:cNvSpPr/>
          <p:nvPr/>
        </p:nvSpPr>
        <p:spPr>
          <a:xfrm>
            <a:off x="10405872" y="2761488"/>
            <a:ext cx="0" cy="941832"/>
          </a:xfrm>
          <a:prstGeom prst="line">
            <a:avLst/>
          </a:prstGeom>
          <a:noFill/>
          <a:ln w="25400">
            <a:solidFill>
              <a:srgbClr val="54D6A3"/>
            </a:solidFill>
            <a:prstDash val="solid"/>
            <a:tailEnd type="triangle"/>
          </a:ln>
        </p:spPr>
      </p:sp>
      <p:sp>
        <p:nvSpPr>
          <p:cNvPr id="22" name="Shape 20"/>
          <p:cNvSpPr/>
          <p:nvPr/>
        </p:nvSpPr>
        <p:spPr>
          <a:xfrm>
            <a:off x="6812280" y="4709160"/>
            <a:ext cx="1600200" cy="713232"/>
          </a:xfrm>
          <a:prstGeom prst="roundRect">
            <a:avLst>
              <a:gd name="adj" fmla="val 6410"/>
            </a:avLst>
          </a:prstGeom>
          <a:solidFill>
            <a:srgbClr val="12263A"/>
          </a:solidFill>
          <a:ln w="17780">
            <a:solidFill>
              <a:srgbClr val="B276FF"/>
            </a:solidFill>
            <a:prstDash val="solid"/>
          </a:ln>
        </p:spPr>
      </p:sp>
      <p:sp>
        <p:nvSpPr>
          <p:cNvPr id="23" name="Text 21"/>
          <p:cNvSpPr/>
          <p:nvPr/>
        </p:nvSpPr>
        <p:spPr>
          <a:xfrm>
            <a:off x="6903720" y="4837176"/>
            <a:ext cx="141732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CloudWatch</a:t>
            </a:r>
            <a:endParaRPr lang="en-US" sz="1200" dirty="0"/>
          </a:p>
        </p:txBody>
      </p:sp>
      <p:sp>
        <p:nvSpPr>
          <p:cNvPr id="24" name="Shape 22"/>
          <p:cNvSpPr/>
          <p:nvPr/>
        </p:nvSpPr>
        <p:spPr>
          <a:xfrm>
            <a:off x="8732520" y="4709160"/>
            <a:ext cx="1554480" cy="713232"/>
          </a:xfrm>
          <a:prstGeom prst="roundRect">
            <a:avLst>
              <a:gd name="adj" fmla="val 6410"/>
            </a:avLst>
          </a:prstGeom>
          <a:solidFill>
            <a:srgbClr val="12263A"/>
          </a:solidFill>
          <a:ln w="17780">
            <a:solidFill>
              <a:srgbClr val="FF6B6B"/>
            </a:solidFill>
            <a:prstDash val="solid"/>
          </a:ln>
        </p:spPr>
      </p:sp>
      <p:sp>
        <p:nvSpPr>
          <p:cNvPr id="25" name="Text 23"/>
          <p:cNvSpPr/>
          <p:nvPr/>
        </p:nvSpPr>
        <p:spPr>
          <a:xfrm>
            <a:off x="8823960" y="4837176"/>
            <a:ext cx="137160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Secrets</a:t>
            </a:r>
            <a:endParaRPr lang="en-US" sz="1200" dirty="0"/>
          </a:p>
        </p:txBody>
      </p:sp>
      <p:sp>
        <p:nvSpPr>
          <p:cNvPr id="26" name="Shape 24"/>
          <p:cNvSpPr/>
          <p:nvPr/>
        </p:nvSpPr>
        <p:spPr>
          <a:xfrm>
            <a:off x="10469880" y="4709160"/>
            <a:ext cx="1051560" cy="713232"/>
          </a:xfrm>
          <a:prstGeom prst="roundRect">
            <a:avLst>
              <a:gd name="adj" fmla="val 6410"/>
            </a:avLst>
          </a:prstGeom>
          <a:solidFill>
            <a:srgbClr val="12263A"/>
          </a:solidFill>
          <a:ln w="17780">
            <a:solidFill>
              <a:srgbClr val="F5B041"/>
            </a:solidFill>
            <a:prstDash val="solid"/>
          </a:ln>
        </p:spPr>
      </p:sp>
      <p:sp>
        <p:nvSpPr>
          <p:cNvPr id="27" name="Text 25"/>
          <p:cNvSpPr/>
          <p:nvPr/>
        </p:nvSpPr>
        <p:spPr>
          <a:xfrm>
            <a:off x="10561320" y="4837176"/>
            <a:ext cx="86868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EFS</a:t>
            </a:r>
            <a:endParaRPr lang="en-US" sz="1200" dirty="0"/>
          </a:p>
        </p:txBody>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47472"/>
            <a:ext cx="9098280" cy="475488"/>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Infrastructure as Code and State Safety</a:t>
            </a:r>
            <a:endParaRPr lang="en-US" sz="2400" dirty="0"/>
          </a:p>
        </p:txBody>
      </p:sp>
      <p:sp>
        <p:nvSpPr>
          <p:cNvPr id="3" name="Shape 1"/>
          <p:cNvSpPr/>
          <p:nvPr/>
        </p:nvSpPr>
        <p:spPr>
          <a:xfrm>
            <a:off x="9829800" y="338328"/>
            <a:ext cx="1783080" cy="329184"/>
          </a:xfrm>
          <a:prstGeom prst="roundRect">
            <a:avLst>
              <a:gd name="adj" fmla="val 22222"/>
            </a:avLst>
          </a:prstGeom>
          <a:solidFill>
            <a:srgbClr val="4FA3FF">
              <a:alpha val="92000"/>
            </a:srgbClr>
          </a:solidFill>
          <a:ln w="12700">
            <a:solidFill>
              <a:srgbClr val="4FA3FF">
                <a:alpha val="0"/>
              </a:srgbClr>
            </a:solidFill>
            <a:prstDash val="solid"/>
          </a:ln>
        </p:spPr>
      </p:sp>
      <p:sp>
        <p:nvSpPr>
          <p:cNvPr id="4" name="Text 2"/>
          <p:cNvSpPr/>
          <p:nvPr/>
        </p:nvSpPr>
        <p:spPr>
          <a:xfrm>
            <a:off x="9912096" y="416052"/>
            <a:ext cx="1609344" cy="118872"/>
          </a:xfrm>
          <a:prstGeom prst="rect">
            <a:avLst/>
          </a:prstGeom>
          <a:noFill/>
          <a:ln/>
        </p:spPr>
        <p:txBody>
          <a:bodyPr wrap="square" lIns="0" tIns="0" rIns="0" bIns="0" rtlCol="0" anchor="ctr">
            <a:normAutofit/>
          </a:bodyPr>
          <a:lstStyle/>
          <a:p>
            <a:pPr algn="ctr" indent="0" marL="0">
              <a:buNone/>
            </a:pPr>
            <a:r>
              <a:rPr lang="en-US" sz="1000" b="1" dirty="0">
                <a:solidFill>
                  <a:srgbClr val="07111F"/>
                </a:solidFill>
              </a:rPr>
              <a:t>Hassan Sajjad</a:t>
            </a:r>
            <a:endParaRPr lang="en-US" sz="1000" dirty="0"/>
          </a:p>
          <a:p>
            <a:pPr algn="ctr" indent="0" marL="0">
              <a:buNone/>
            </a:pPr>
            <a:endParaRPr lang="en-US" sz="1000" dirty="0"/>
          </a:p>
          <a:p>
            <a:pPr algn="ctr" indent="0" marL="0">
              <a:buNone/>
            </a:pPr>
            <a:r>
              <a:rPr lang="en-US" sz="1000" b="1" dirty="0">
                <a:solidFill>
                  <a:srgbClr val="07111F"/>
                </a:solidFill>
              </a:rPr>
              <a:t>Purpose: Explain repeatability, concurrency protection, and recoverability.</a:t>
            </a:r>
            <a:endParaRPr lang="en-US" sz="1000" dirty="0"/>
          </a:p>
          <a:p>
            <a:pPr algn="ctr" indent="0" marL="0">
              <a:buNone/>
            </a:pPr>
            <a:endParaRPr lang="en-US" sz="1000" dirty="0"/>
          </a:p>
          <a:p>
            <a:pPr algn="ctr" indent="0" marL="0">
              <a:buNone/>
            </a:pPr>
            <a:r>
              <a:rPr lang="en-US" sz="1000" b="1" dirty="0">
                <a:solidFill>
                  <a:srgbClr val="07111F"/>
                </a:solidFill>
              </a:rPr>
              <a:t>Presentation Content:</a:t>
            </a:r>
            <a:endParaRPr lang="en-US" sz="1000" dirty="0"/>
          </a:p>
          <a:p>
            <a:pPr algn="ctr" indent="0" marL="0">
              <a:buNone/>
            </a:pPr>
            <a:endParaRPr lang="en-US" sz="1000" dirty="0"/>
          </a:p>
          <a:p>
            <a:pPr algn="ctr" indent="0" marL="0">
              <a:buNone/>
            </a:pPr>
            <a:r>
              <a:rPr lang="en-US" sz="1000" b="1" dirty="0">
                <a:solidFill>
                  <a:srgbClr val="07111F"/>
                </a:solidFill>
              </a:rPr>
              <a:t>- Terraform modules materialize project-specific runtime inputs into deterministic infrastructure plans.</a:t>
            </a:r>
            <a:endParaRPr lang="en-US" sz="1000" dirty="0"/>
          </a:p>
          <a:p>
            <a:pPr algn="ctr" indent="0" marL="0">
              <a:buNone/>
            </a:pPr>
            <a:endParaRPr lang="en-US" sz="1000" dirty="0"/>
          </a:p>
          <a:p>
            <a:pPr algn="ctr" indent="0" marL="0">
              <a:buNone/>
            </a:pPr>
            <a:r>
              <a:rPr lang="en-US" sz="1000" b="1" dirty="0">
                <a:solidFill>
                  <a:srgbClr val="07111F"/>
                </a:solidFill>
              </a:rPr>
              <a:t>- Remote state uses an encrypted, versioned S3 bucket with public access blocked and native lockfile coordination.</a:t>
            </a:r>
            <a:endParaRPr lang="en-US" sz="1000" dirty="0"/>
          </a:p>
          <a:p>
            <a:pPr algn="ctr" indent="0" marL="0">
              <a:buNone/>
            </a:pPr>
            <a:endParaRPr lang="en-US" sz="1000" dirty="0"/>
          </a:p>
          <a:p>
            <a:pPr algn="ctr" indent="0" marL="0">
              <a:buNone/>
            </a:pPr>
            <a:r>
              <a:rPr lang="en-US" sz="1000" b="1" dirty="0">
                <a:solidFill>
                  <a:srgbClr val="07111F"/>
                </a:solidFill>
              </a:rPr>
              <a:t>- State admission validates backend ownership and safety before cloud mutation begins.</a:t>
            </a:r>
            <a:endParaRPr lang="en-US" sz="1000" dirty="0"/>
          </a:p>
          <a:p>
            <a:pPr algn="ctr" indent="0" marL="0">
              <a:buNone/>
            </a:pPr>
            <a:endParaRPr lang="en-US" sz="1000" dirty="0"/>
          </a:p>
          <a:p>
            <a:pPr algn="ctr" indent="0" marL="0">
              <a:buNone/>
            </a:pPr>
            <a:r>
              <a:rPr lang="en-US" sz="1000" b="1" dirty="0">
                <a:solidFill>
                  <a:srgbClr val="07111F"/>
                </a:solidFill>
              </a:rPr>
              <a:t>- Planning and applying are separate stages; planning failure is recorded with its own deterministic code and stage.</a:t>
            </a:r>
            <a:endParaRPr lang="en-US" sz="1000" dirty="0"/>
          </a:p>
          <a:p>
            <a:pPr algn="ctr" indent="0" marL="0">
              <a:buNone/>
            </a:pPr>
            <a:endParaRPr lang="en-US" sz="1000" dirty="0"/>
          </a:p>
          <a:p>
            <a:pPr algn="ctr" indent="0" marL="0">
              <a:buNone/>
            </a:pPr>
            <a:r>
              <a:rPr lang="en-US" sz="1000" b="1" dirty="0">
                <a:solidFill>
                  <a:srgbClr val="07111F"/>
                </a:solidFill>
              </a:rPr>
              <a:t>- Safety snapshots, lock and heartbeat records, workflow evidence, and cloud observation support recovery from interrupted operations.</a:t>
            </a:r>
            <a:endParaRPr lang="en-US" sz="1000" dirty="0"/>
          </a:p>
          <a:p>
            <a:pPr algn="ctr" indent="0" marL="0">
              <a:buNone/>
            </a:pPr>
            <a:endParaRPr lang="en-US" sz="1000" dirty="0"/>
          </a:p>
          <a:p>
            <a:pPr algn="ctr" indent="0" marL="0">
              <a:buNone/>
            </a:pPr>
            <a:r>
              <a:rPr lang="en-US" sz="1000" b="1" dirty="0">
                <a:solidFill>
                  <a:srgbClr val="07111F"/>
                </a:solidFill>
              </a:rPr>
              <a:t>- Lifecycle rules permit ECS-managed desired count and active release revision while retaining Terraform’s authority to delete resources.</a:t>
            </a:r>
            <a:endParaRPr lang="en-US" sz="1000" dirty="0"/>
          </a:p>
          <a:p>
            <a:pPr algn="ctr" indent="0" marL="0">
              <a:buNone/>
            </a:pPr>
            <a:endParaRPr lang="en-US" sz="1000" dirty="0"/>
          </a:p>
          <a:p>
            <a:pPr algn="ctr" indent="0" marL="0">
              <a:buNone/>
            </a:pPr>
            <a:r>
              <a:rPr lang="en-US" sz="1000" b="1" dirty="0">
                <a:solidFill>
                  <a:srgbClr val="07111F"/>
                </a:solidFill>
              </a:rPr>
              <a:t>Visual Recommendation: State-safety sequence: Validate Backend → Acquire Lock → Plan → Apply → Persist Evidence → Release Lock.</a:t>
            </a:r>
            <a:endParaRPr lang="en-US" sz="1000" dirty="0"/>
          </a:p>
          <a:p>
            <a:pPr algn="ctr" indent="0" marL="0">
              <a:buNone/>
            </a:pPr>
            <a:endParaRPr lang="en-US" sz="1000" dirty="0"/>
          </a:p>
          <a:p>
            <a:pPr algn="ctr" indent="0" marL="0">
              <a:buNone/>
            </a:pPr>
            <a:r>
              <a:rPr lang="en-US" sz="1000" b="1" dirty="0">
                <a:solidFill>
                  <a:srgbClr val="07111F"/>
                </a:solidFill>
              </a:rPr>
              <a:t>Defense Notes: If older documentation mentions a separate lock database, clarify that the implemented system uses S3’s native lockfile mechanism. The source implementation is authoritative for the final architecture.</a:t>
            </a:r>
            <a:endParaRPr lang="en-US" sz="1000" dirty="0"/>
          </a:p>
        </p:txBody>
      </p:sp>
      <p:sp>
        <p:nvSpPr>
          <p:cNvPr id="5" name="Shape 3"/>
          <p:cNvSpPr/>
          <p:nvPr/>
        </p:nvSpPr>
        <p:spPr>
          <a:xfrm>
            <a:off x="502920" y="932688"/>
            <a:ext cx="11109960" cy="0"/>
          </a:xfrm>
          <a:prstGeom prst="line">
            <a:avLst/>
          </a:prstGeom>
          <a:noFill/>
          <a:ln w="17780">
            <a:solidFill>
              <a:srgbClr val="4FA3FF">
                <a:alpha val="75000"/>
              </a:srgbClr>
            </a:solidFill>
            <a:prstDash val="solid"/>
          </a:ln>
        </p:spPr>
      </p:sp>
      <p:sp>
        <p:nvSpPr>
          <p:cNvPr id="6" name="Text 4"/>
          <p:cNvSpPr/>
          <p:nvPr/>
        </p:nvSpPr>
        <p:spPr>
          <a:xfrm>
            <a:off x="502920" y="996696"/>
            <a:ext cx="5212080" cy="164592"/>
          </a:xfrm>
          <a:prstGeom prst="rect">
            <a:avLst/>
          </a:prstGeom>
          <a:noFill/>
          <a:ln/>
        </p:spPr>
        <p:txBody>
          <a:bodyPr wrap="square" lIns="0" tIns="0" rIns="0" bIns="0" rtlCol="0" anchor="ctr"/>
          <a:lstStyle/>
          <a:p>
            <a:pPr indent="0" marL="0">
              <a:buNone/>
            </a:pPr>
            <a:r>
              <a:rPr lang="en-US" sz="850" b="1" spc="110" kern="0" dirty="0">
                <a:solidFill>
                  <a:srgbClr val="4FA3FF"/>
                </a:solidFill>
              </a:rPr>
              <a:t>HASSAN — CLOUD &amp; DEVOPS</a:t>
            </a:r>
            <a:endParaRPr lang="en-US" sz="850" dirty="0"/>
          </a:p>
        </p:txBody>
      </p:sp>
      <p:sp>
        <p:nvSpPr>
          <p:cNvPr id="7" name="Text 5"/>
          <p:cNvSpPr/>
          <p:nvPr/>
        </p:nvSpPr>
        <p:spPr>
          <a:xfrm>
            <a:off x="594360" y="1325880"/>
            <a:ext cx="5349240" cy="4937760"/>
          </a:xfrm>
          <a:prstGeom prst="rect">
            <a:avLst/>
          </a:prstGeom>
          <a:noFill/>
          <a:ln/>
        </p:spPr>
        <p:txBody>
          <a:bodyPr wrap="square" lIns="254" tIns="254" rIns="254" bIns="254" rtlCol="0" anchor="ctr">
            <a:normAutofit/>
          </a:bodyPr>
          <a:lstStyle/>
          <a:p>
            <a:pPr marL="190500" indent="-190500">
              <a:buSzPct val="100000"/>
              <a:buChar char="•"/>
            </a:pPr>
            <a:r>
              <a:rPr lang="en-US" sz="1580" dirty="0">
                <a:solidFill>
                  <a:srgbClr val="D9E5EF"/>
                </a:solidFill>
                <a:latin typeface="Aptos" pitchFamily="34" charset="0"/>
                <a:ea typeface="Aptos" pitchFamily="34" charset="-122"/>
                <a:cs typeface="Aptos" pitchFamily="34" charset="-120"/>
              </a:rPr>
              <a:t>Terraform modules materialize project-specific runtime inputs into deterministic infrastructure plans.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Remote state uses an encrypted, versioned S3 bucket with public access blocked and native lockfile coordination.</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State admission validates backend ownership and safety before cloud mutation begins.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Planning and applying are separate stages; planning failure is recorded with its own deterministic code and stage.</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Safety snapshots, lock and heartbeat records, workflow evidence, and cloud observation support recovery from interrupted operations.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Lifecycle rules permit ECS-managed desired count and active release revision while retaining Terraform’s authority to delete resources.</a:t>
            </a:r>
            <a:endParaRPr lang="en-US" sz="1580" dirty="0"/>
          </a:p>
        </p:txBody>
      </p:sp>
      <p:sp>
        <p:nvSpPr>
          <p:cNvPr id="8" name="Shape 6"/>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9" name="Shape 7"/>
          <p:cNvSpPr/>
          <p:nvPr/>
        </p:nvSpPr>
        <p:spPr>
          <a:xfrm>
            <a:off x="6446520" y="1417320"/>
            <a:ext cx="2240280" cy="749808"/>
          </a:xfrm>
          <a:prstGeom prst="roundRect">
            <a:avLst>
              <a:gd name="adj" fmla="val 6098"/>
            </a:avLst>
          </a:prstGeom>
          <a:solidFill>
            <a:srgbClr val="12263A"/>
          </a:solidFill>
          <a:ln w="17780">
            <a:solidFill>
              <a:srgbClr val="35C2D8"/>
            </a:solidFill>
            <a:prstDash val="solid"/>
          </a:ln>
        </p:spPr>
      </p:sp>
      <p:sp>
        <p:nvSpPr>
          <p:cNvPr id="10" name="Text 8"/>
          <p:cNvSpPr/>
          <p:nvPr/>
        </p:nvSpPr>
        <p:spPr>
          <a:xfrm>
            <a:off x="6537960" y="1545336"/>
            <a:ext cx="205740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Validate backend</a:t>
            </a:r>
            <a:endParaRPr lang="en-US" sz="1200" dirty="0"/>
          </a:p>
        </p:txBody>
      </p:sp>
      <p:sp>
        <p:nvSpPr>
          <p:cNvPr id="11" name="Shape 9"/>
          <p:cNvSpPr/>
          <p:nvPr/>
        </p:nvSpPr>
        <p:spPr>
          <a:xfrm>
            <a:off x="9006840" y="1417320"/>
            <a:ext cx="2240280" cy="749808"/>
          </a:xfrm>
          <a:prstGeom prst="roundRect">
            <a:avLst>
              <a:gd name="adj" fmla="val 6098"/>
            </a:avLst>
          </a:prstGeom>
          <a:solidFill>
            <a:srgbClr val="12263A"/>
          </a:solidFill>
          <a:ln w="17780">
            <a:solidFill>
              <a:srgbClr val="F5B041"/>
            </a:solidFill>
            <a:prstDash val="solid"/>
          </a:ln>
        </p:spPr>
      </p:sp>
      <p:sp>
        <p:nvSpPr>
          <p:cNvPr id="12" name="Text 10"/>
          <p:cNvSpPr/>
          <p:nvPr/>
        </p:nvSpPr>
        <p:spPr>
          <a:xfrm>
            <a:off x="9098280" y="1545336"/>
            <a:ext cx="205740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Acquire lock</a:t>
            </a:r>
            <a:endParaRPr lang="en-US" sz="1200" dirty="0"/>
          </a:p>
        </p:txBody>
      </p:sp>
      <p:sp>
        <p:nvSpPr>
          <p:cNvPr id="13" name="Shape 11"/>
          <p:cNvSpPr/>
          <p:nvPr/>
        </p:nvSpPr>
        <p:spPr>
          <a:xfrm>
            <a:off x="6446520" y="2743200"/>
            <a:ext cx="2240280" cy="749808"/>
          </a:xfrm>
          <a:prstGeom prst="roundRect">
            <a:avLst>
              <a:gd name="adj" fmla="val 6098"/>
            </a:avLst>
          </a:prstGeom>
          <a:solidFill>
            <a:srgbClr val="12263A"/>
          </a:solidFill>
          <a:ln w="17780">
            <a:solidFill>
              <a:srgbClr val="4FA3FF"/>
            </a:solidFill>
            <a:prstDash val="solid"/>
          </a:ln>
        </p:spPr>
      </p:sp>
      <p:sp>
        <p:nvSpPr>
          <p:cNvPr id="14" name="Text 12"/>
          <p:cNvSpPr/>
          <p:nvPr/>
        </p:nvSpPr>
        <p:spPr>
          <a:xfrm>
            <a:off x="6537960" y="2871216"/>
            <a:ext cx="205740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Plan</a:t>
            </a:r>
            <a:endParaRPr lang="en-US" sz="1200" dirty="0"/>
          </a:p>
        </p:txBody>
      </p:sp>
      <p:sp>
        <p:nvSpPr>
          <p:cNvPr id="15" name="Shape 13"/>
          <p:cNvSpPr/>
          <p:nvPr/>
        </p:nvSpPr>
        <p:spPr>
          <a:xfrm>
            <a:off x="9006840" y="2743200"/>
            <a:ext cx="2240280" cy="749808"/>
          </a:xfrm>
          <a:prstGeom prst="roundRect">
            <a:avLst>
              <a:gd name="adj" fmla="val 6098"/>
            </a:avLst>
          </a:prstGeom>
          <a:solidFill>
            <a:srgbClr val="12263A"/>
          </a:solidFill>
          <a:ln w="17780">
            <a:solidFill>
              <a:srgbClr val="54D6A3"/>
            </a:solidFill>
            <a:prstDash val="solid"/>
          </a:ln>
        </p:spPr>
      </p:sp>
      <p:sp>
        <p:nvSpPr>
          <p:cNvPr id="16" name="Text 14"/>
          <p:cNvSpPr/>
          <p:nvPr/>
        </p:nvSpPr>
        <p:spPr>
          <a:xfrm>
            <a:off x="9098280" y="2871216"/>
            <a:ext cx="205740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Apply</a:t>
            </a:r>
            <a:endParaRPr lang="en-US" sz="1200" dirty="0"/>
          </a:p>
        </p:txBody>
      </p:sp>
      <p:sp>
        <p:nvSpPr>
          <p:cNvPr id="17" name="Shape 15"/>
          <p:cNvSpPr/>
          <p:nvPr/>
        </p:nvSpPr>
        <p:spPr>
          <a:xfrm>
            <a:off x="6446520" y="4069080"/>
            <a:ext cx="2240280" cy="749808"/>
          </a:xfrm>
          <a:prstGeom prst="roundRect">
            <a:avLst>
              <a:gd name="adj" fmla="val 6098"/>
            </a:avLst>
          </a:prstGeom>
          <a:solidFill>
            <a:srgbClr val="12263A"/>
          </a:solidFill>
          <a:ln w="17780">
            <a:solidFill>
              <a:srgbClr val="B276FF"/>
            </a:solidFill>
            <a:prstDash val="solid"/>
          </a:ln>
        </p:spPr>
      </p:sp>
      <p:sp>
        <p:nvSpPr>
          <p:cNvPr id="18" name="Text 16"/>
          <p:cNvSpPr/>
          <p:nvPr/>
        </p:nvSpPr>
        <p:spPr>
          <a:xfrm>
            <a:off x="6537960" y="4197096"/>
            <a:ext cx="205740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Persist evidence</a:t>
            </a:r>
            <a:endParaRPr lang="en-US" sz="1200" dirty="0"/>
          </a:p>
        </p:txBody>
      </p:sp>
      <p:sp>
        <p:nvSpPr>
          <p:cNvPr id="19" name="Shape 17"/>
          <p:cNvSpPr/>
          <p:nvPr/>
        </p:nvSpPr>
        <p:spPr>
          <a:xfrm>
            <a:off x="9006840" y="4069080"/>
            <a:ext cx="2240280" cy="749808"/>
          </a:xfrm>
          <a:prstGeom prst="roundRect">
            <a:avLst>
              <a:gd name="adj" fmla="val 6098"/>
            </a:avLst>
          </a:prstGeom>
          <a:solidFill>
            <a:srgbClr val="12263A"/>
          </a:solidFill>
          <a:ln w="17780">
            <a:solidFill>
              <a:srgbClr val="35C2D8"/>
            </a:solidFill>
            <a:prstDash val="solid"/>
          </a:ln>
        </p:spPr>
      </p:sp>
      <p:sp>
        <p:nvSpPr>
          <p:cNvPr id="20" name="Text 18"/>
          <p:cNvSpPr/>
          <p:nvPr/>
        </p:nvSpPr>
        <p:spPr>
          <a:xfrm>
            <a:off x="9098280" y="4197096"/>
            <a:ext cx="205740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Release lock</a:t>
            </a:r>
            <a:endParaRPr lang="en-US" sz="1200" dirty="0"/>
          </a:p>
        </p:txBody>
      </p:sp>
      <p:sp>
        <p:nvSpPr>
          <p:cNvPr id="21" name="Text 19"/>
          <p:cNvSpPr/>
          <p:nvPr/>
        </p:nvSpPr>
        <p:spPr>
          <a:xfrm>
            <a:off x="6446520" y="5486400"/>
            <a:ext cx="4937760" cy="237744"/>
          </a:xfrm>
          <a:prstGeom prst="rect">
            <a:avLst/>
          </a:prstGeom>
          <a:noFill/>
          <a:ln/>
        </p:spPr>
        <p:txBody>
          <a:bodyPr wrap="square" lIns="0" tIns="0" rIns="0" bIns="0" rtlCol="0" anchor="ctr"/>
          <a:lstStyle/>
          <a:p>
            <a:pPr algn="ctr" indent="0" marL="0">
              <a:buNone/>
            </a:pPr>
            <a:r>
              <a:rPr lang="en-US" sz="1050" b="1" dirty="0">
                <a:solidFill>
                  <a:srgbClr val="8FA6B9"/>
                </a:solidFill>
              </a:rPr>
              <a:t>Encrypted • versioned • S3 remote state</a:t>
            </a:r>
            <a:endParaRPr lang="en-US" sz="1050" dirty="0"/>
          </a:p>
        </p:txBody>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347472"/>
            <a:ext cx="9098280" cy="475488"/>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Immutable Build, Scan, and Delivery Pipeline</a:t>
            </a:r>
            <a:endParaRPr lang="en-US" sz="2400" dirty="0"/>
          </a:p>
        </p:txBody>
      </p:sp>
      <p:sp>
        <p:nvSpPr>
          <p:cNvPr id="3" name="Shape 1"/>
          <p:cNvSpPr/>
          <p:nvPr/>
        </p:nvSpPr>
        <p:spPr>
          <a:xfrm>
            <a:off x="9829800" y="338328"/>
            <a:ext cx="1783080" cy="329184"/>
          </a:xfrm>
          <a:prstGeom prst="roundRect">
            <a:avLst>
              <a:gd name="adj" fmla="val 22222"/>
            </a:avLst>
          </a:prstGeom>
          <a:solidFill>
            <a:srgbClr val="4FA3FF">
              <a:alpha val="92000"/>
            </a:srgbClr>
          </a:solidFill>
          <a:ln w="12700">
            <a:solidFill>
              <a:srgbClr val="4FA3FF">
                <a:alpha val="0"/>
              </a:srgbClr>
            </a:solidFill>
            <a:prstDash val="solid"/>
          </a:ln>
        </p:spPr>
      </p:sp>
      <p:sp>
        <p:nvSpPr>
          <p:cNvPr id="4" name="Text 2"/>
          <p:cNvSpPr/>
          <p:nvPr/>
        </p:nvSpPr>
        <p:spPr>
          <a:xfrm>
            <a:off x="9912096" y="416052"/>
            <a:ext cx="1609344" cy="118872"/>
          </a:xfrm>
          <a:prstGeom prst="rect">
            <a:avLst/>
          </a:prstGeom>
          <a:noFill/>
          <a:ln/>
        </p:spPr>
        <p:txBody>
          <a:bodyPr wrap="square" lIns="0" tIns="0" rIns="0" bIns="0" rtlCol="0" anchor="ctr">
            <a:normAutofit/>
          </a:bodyPr>
          <a:lstStyle/>
          <a:p>
            <a:pPr algn="ctr" indent="0" marL="0">
              <a:buNone/>
            </a:pPr>
            <a:r>
              <a:rPr lang="en-US" sz="1000" b="1" dirty="0">
                <a:solidFill>
                  <a:srgbClr val="07111F"/>
                </a:solidFill>
              </a:rPr>
              <a:t>Hassan Sajjad</a:t>
            </a:r>
            <a:endParaRPr lang="en-US" sz="1000" dirty="0"/>
          </a:p>
          <a:p>
            <a:pPr algn="ctr" indent="0" marL="0">
              <a:buNone/>
            </a:pPr>
            <a:endParaRPr lang="en-US" sz="1000" dirty="0"/>
          </a:p>
          <a:p>
            <a:pPr algn="ctr" indent="0" marL="0">
              <a:buNone/>
            </a:pPr>
            <a:r>
              <a:rPr lang="en-US" sz="1000" b="1" dirty="0">
                <a:solidFill>
                  <a:srgbClr val="07111F"/>
                </a:solidFill>
              </a:rPr>
              <a:t>Purpose: Demonstrate how source becomes a verifiable runtime artifact.</a:t>
            </a:r>
            <a:endParaRPr lang="en-US" sz="1000" dirty="0"/>
          </a:p>
          <a:p>
            <a:pPr algn="ctr" indent="0" marL="0">
              <a:buNone/>
            </a:pPr>
            <a:endParaRPr lang="en-US" sz="1000" dirty="0"/>
          </a:p>
          <a:p>
            <a:pPr algn="ctr" indent="0" marL="0">
              <a:buNone/>
            </a:pPr>
            <a:r>
              <a:rPr lang="en-US" sz="1000" b="1" dirty="0">
                <a:solidFill>
                  <a:srgbClr val="07111F"/>
                </a:solidFill>
              </a:rPr>
              <a:t>Presentation Content:</a:t>
            </a:r>
            <a:endParaRPr lang="en-US" sz="1000" dirty="0"/>
          </a:p>
          <a:p>
            <a:pPr algn="ctr" indent="0" marL="0">
              <a:buNone/>
            </a:pPr>
            <a:endParaRPr lang="en-US" sz="1000" dirty="0"/>
          </a:p>
          <a:p>
            <a:pPr algn="ctr" indent="0" marL="0">
              <a:buNone/>
            </a:pPr>
            <a:r>
              <a:rPr lang="en-US" sz="1000" b="1" dirty="0">
                <a:solidFill>
                  <a:srgbClr val="07111F"/>
                </a:solidFill>
              </a:rPr>
              <a:t>- The workflow checks out the exact selected source revision rather than an ambiguous moving reference.</a:t>
            </a:r>
            <a:endParaRPr lang="en-US" sz="1000" dirty="0"/>
          </a:p>
          <a:p>
            <a:pPr algn="ctr" indent="0" marL="0">
              <a:buNone/>
            </a:pPr>
            <a:endParaRPr lang="en-US" sz="1000" dirty="0"/>
          </a:p>
          <a:p>
            <a:pPr algn="ctr" indent="0" marL="0">
              <a:buNone/>
            </a:pPr>
            <a:r>
              <a:rPr lang="en-US" sz="1000" b="1" dirty="0">
                <a:solidFill>
                  <a:srgbClr val="07111F"/>
                </a:solidFill>
              </a:rPr>
              <a:t>- Repository analysis resolves service root, build contract, start command, health route, and one canonical runtime port.</a:t>
            </a:r>
            <a:endParaRPr lang="en-US" sz="1000" dirty="0"/>
          </a:p>
          <a:p>
            <a:pPr algn="ctr" indent="0" marL="0">
              <a:buNone/>
            </a:pPr>
            <a:endParaRPr lang="en-US" sz="1000" dirty="0"/>
          </a:p>
          <a:p>
            <a:pPr algn="ctr" indent="0" marL="0">
              <a:buNone/>
            </a:pPr>
            <a:r>
              <a:rPr lang="en-US" sz="1000" b="1" dirty="0">
                <a:solidFill>
                  <a:srgbClr val="07111F"/>
                </a:solidFill>
              </a:rPr>
              <a:t>- Images are built and locally validated before publication to immutable ECR repositories.</a:t>
            </a:r>
            <a:endParaRPr lang="en-US" sz="1000" dirty="0"/>
          </a:p>
          <a:p>
            <a:pPr algn="ctr" indent="0" marL="0">
              <a:buNone/>
            </a:pPr>
            <a:endParaRPr lang="en-US" sz="1000" dirty="0"/>
          </a:p>
          <a:p>
            <a:pPr algn="ctr" indent="0" marL="0">
              <a:buNone/>
            </a:pPr>
            <a:r>
              <a:rPr lang="en-US" sz="1000" b="1" dirty="0">
                <a:solidFill>
                  <a:srgbClr val="07111F"/>
                </a:solidFill>
              </a:rPr>
              <a:t>- Trivy produces vulnerability evidence and can enforce configured severity policy before deployment proceeds.</a:t>
            </a:r>
            <a:endParaRPr lang="en-US" sz="1000" dirty="0"/>
          </a:p>
          <a:p>
            <a:pPr algn="ctr" indent="0" marL="0">
              <a:buNone/>
            </a:pPr>
            <a:endParaRPr lang="en-US" sz="1000" dirty="0"/>
          </a:p>
          <a:p>
            <a:pPr algn="ctr" indent="0" marL="0">
              <a:buNone/>
            </a:pPr>
            <a:r>
              <a:rPr lang="en-US" sz="1000" b="1" dirty="0">
                <a:solidFill>
                  <a:srgbClr val="07111F"/>
                </a:solidFill>
              </a:rPr>
              <a:t>- The workflow validates immutable inputs, performs Terraform init, validate, plan, and apply for infrastructure, then verifies ECS and the public endpoint.</a:t>
            </a:r>
            <a:endParaRPr lang="en-US" sz="1000" dirty="0"/>
          </a:p>
          <a:p>
            <a:pPr algn="ctr" indent="0" marL="0">
              <a:buNone/>
            </a:pPr>
            <a:endParaRPr lang="en-US" sz="1000" dirty="0"/>
          </a:p>
          <a:p>
            <a:pPr algn="ctr" indent="0" marL="0">
              <a:buNone/>
            </a:pPr>
            <a:r>
              <a:rPr lang="en-US" sz="1000" b="1" dirty="0">
                <a:solidFill>
                  <a:srgbClr val="07111F"/>
                </a:solidFill>
              </a:rPr>
              <a:t>- Final evidence binds source identity, image digest, runtime configuration, infrastructure action, and release result.</a:t>
            </a:r>
            <a:endParaRPr lang="en-US" sz="1000" dirty="0"/>
          </a:p>
          <a:p>
            <a:pPr algn="ctr" indent="0" marL="0">
              <a:buNone/>
            </a:pPr>
            <a:endParaRPr lang="en-US" sz="1000" dirty="0"/>
          </a:p>
          <a:p>
            <a:pPr algn="ctr" indent="0" marL="0">
              <a:buNone/>
            </a:pPr>
            <a:r>
              <a:rPr lang="en-US" sz="1000" b="1" dirty="0">
                <a:solidFill>
                  <a:srgbClr val="07111F"/>
                </a:solidFill>
              </a:rPr>
              <a:t>Visual Recommendation: Horizontal delivery pipeline with red stop-gates at Input Validation, Local Runtime, Security Scan, Infrastructure, and Public Verification.</a:t>
            </a:r>
            <a:endParaRPr lang="en-US" sz="1000" dirty="0"/>
          </a:p>
          <a:p>
            <a:pPr algn="ctr" indent="0" marL="0">
              <a:buNone/>
            </a:pPr>
            <a:endParaRPr lang="en-US" sz="1000" dirty="0"/>
          </a:p>
          <a:p>
            <a:pPr algn="ctr" indent="0" marL="0">
              <a:buNone/>
            </a:pPr>
            <a:r>
              <a:rPr lang="en-US" sz="1000" b="1" dirty="0">
                <a:solidFill>
                  <a:srgbClr val="07111F"/>
                </a:solidFill>
              </a:rPr>
              <a:t>Defense Notes: Build-system internals are deliberately hidden behind a canonical build contract. What matters at the control-plane boundary is reproducibility, local validation, immutable publication, and recorded evidence.</a:t>
            </a:r>
            <a:endParaRPr lang="en-US" sz="1000" dirty="0"/>
          </a:p>
        </p:txBody>
      </p:sp>
      <p:sp>
        <p:nvSpPr>
          <p:cNvPr id="5" name="Shape 3"/>
          <p:cNvSpPr/>
          <p:nvPr/>
        </p:nvSpPr>
        <p:spPr>
          <a:xfrm>
            <a:off x="502920" y="932688"/>
            <a:ext cx="11109960" cy="0"/>
          </a:xfrm>
          <a:prstGeom prst="line">
            <a:avLst/>
          </a:prstGeom>
          <a:noFill/>
          <a:ln w="17780">
            <a:solidFill>
              <a:srgbClr val="4FA3FF">
                <a:alpha val="75000"/>
              </a:srgbClr>
            </a:solidFill>
            <a:prstDash val="solid"/>
          </a:ln>
        </p:spPr>
      </p:sp>
      <p:sp>
        <p:nvSpPr>
          <p:cNvPr id="6" name="Text 4"/>
          <p:cNvSpPr/>
          <p:nvPr/>
        </p:nvSpPr>
        <p:spPr>
          <a:xfrm>
            <a:off x="502920" y="996696"/>
            <a:ext cx="5212080" cy="164592"/>
          </a:xfrm>
          <a:prstGeom prst="rect">
            <a:avLst/>
          </a:prstGeom>
          <a:noFill/>
          <a:ln/>
        </p:spPr>
        <p:txBody>
          <a:bodyPr wrap="square" lIns="0" tIns="0" rIns="0" bIns="0" rtlCol="0" anchor="ctr"/>
          <a:lstStyle/>
          <a:p>
            <a:pPr indent="0" marL="0">
              <a:buNone/>
            </a:pPr>
            <a:r>
              <a:rPr lang="en-US" sz="850" b="1" spc="110" kern="0" dirty="0">
                <a:solidFill>
                  <a:srgbClr val="4FA3FF"/>
                </a:solidFill>
              </a:rPr>
              <a:t>HASSAN — CLOUD &amp; DEVOPS</a:t>
            </a:r>
            <a:endParaRPr lang="en-US" sz="850" dirty="0"/>
          </a:p>
        </p:txBody>
      </p:sp>
      <p:sp>
        <p:nvSpPr>
          <p:cNvPr id="7" name="Text 5"/>
          <p:cNvSpPr/>
          <p:nvPr/>
        </p:nvSpPr>
        <p:spPr>
          <a:xfrm>
            <a:off x="594360" y="1325880"/>
            <a:ext cx="5349240" cy="4937760"/>
          </a:xfrm>
          <a:prstGeom prst="rect">
            <a:avLst/>
          </a:prstGeom>
          <a:noFill/>
          <a:ln/>
        </p:spPr>
        <p:txBody>
          <a:bodyPr wrap="square" lIns="254" tIns="254" rIns="254" bIns="254" rtlCol="0" anchor="ctr">
            <a:normAutofit/>
          </a:bodyPr>
          <a:lstStyle/>
          <a:p>
            <a:pPr marL="190500" indent="-190500">
              <a:buSzPct val="100000"/>
              <a:buChar char="•"/>
            </a:pPr>
            <a:r>
              <a:rPr lang="en-US" sz="1580" dirty="0">
                <a:solidFill>
                  <a:srgbClr val="D9E5EF"/>
                </a:solidFill>
                <a:latin typeface="Aptos" pitchFamily="34" charset="0"/>
                <a:ea typeface="Aptos" pitchFamily="34" charset="-122"/>
                <a:cs typeface="Aptos" pitchFamily="34" charset="-120"/>
              </a:rPr>
              <a:t>The workflow checks out the exact selected source revision rather than an ambiguous moving reference.</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Repository analysis resolves service root, build contract, start command, health route, and one canonical runtime port.</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Images are built and locally validated before publication to immutable ECR repositories.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Trivy produces vulnerability evidence and can enforce configured severity policy before deployment proceeds.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The workflow validates immutable inputs, performs Terraform init, validate, plan, and apply for infrastructure, then verifies ECS and the public endpoint.</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Final evidence binds source identity, image digest, runtime configuration, infrastructure action, and release result.</a:t>
            </a:r>
            <a:endParaRPr lang="en-US" sz="1580" dirty="0"/>
          </a:p>
        </p:txBody>
      </p:sp>
      <p:sp>
        <p:nvSpPr>
          <p:cNvPr id="8" name="Shape 6"/>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9" name="Shape 7"/>
          <p:cNvSpPr/>
          <p:nvPr/>
        </p:nvSpPr>
        <p:spPr>
          <a:xfrm>
            <a:off x="6419088" y="1508760"/>
            <a:ext cx="1417320" cy="868680"/>
          </a:xfrm>
          <a:prstGeom prst="roundRect">
            <a:avLst>
              <a:gd name="adj" fmla="val 5263"/>
            </a:avLst>
          </a:prstGeom>
          <a:solidFill>
            <a:srgbClr val="12263A"/>
          </a:solidFill>
          <a:ln w="17780">
            <a:solidFill>
              <a:srgbClr val="B276FF"/>
            </a:solidFill>
            <a:prstDash val="solid"/>
          </a:ln>
        </p:spPr>
      </p:sp>
      <p:sp>
        <p:nvSpPr>
          <p:cNvPr id="10" name="Text 8"/>
          <p:cNvSpPr/>
          <p:nvPr/>
        </p:nvSpPr>
        <p:spPr>
          <a:xfrm>
            <a:off x="6510528" y="1636776"/>
            <a:ext cx="123444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Exact source</a:t>
            </a:r>
            <a:endParaRPr lang="en-US" sz="1200" dirty="0"/>
          </a:p>
        </p:txBody>
      </p:sp>
      <p:sp>
        <p:nvSpPr>
          <p:cNvPr id="11" name="Shape 9"/>
          <p:cNvSpPr/>
          <p:nvPr/>
        </p:nvSpPr>
        <p:spPr>
          <a:xfrm>
            <a:off x="7836408" y="1938528"/>
            <a:ext cx="173736" cy="0"/>
          </a:xfrm>
          <a:prstGeom prst="line">
            <a:avLst/>
          </a:prstGeom>
          <a:noFill/>
          <a:ln w="15240">
            <a:solidFill>
              <a:srgbClr val="4FA3FF"/>
            </a:solidFill>
            <a:prstDash val="solid"/>
            <a:tailEnd type="triangle"/>
          </a:ln>
        </p:spPr>
      </p:sp>
      <p:sp>
        <p:nvSpPr>
          <p:cNvPr id="12" name="Shape 10"/>
          <p:cNvSpPr/>
          <p:nvPr/>
        </p:nvSpPr>
        <p:spPr>
          <a:xfrm>
            <a:off x="8046720" y="1508760"/>
            <a:ext cx="1417320" cy="868680"/>
          </a:xfrm>
          <a:prstGeom prst="roundRect">
            <a:avLst>
              <a:gd name="adj" fmla="val 5263"/>
            </a:avLst>
          </a:prstGeom>
          <a:solidFill>
            <a:srgbClr val="12263A"/>
          </a:solidFill>
          <a:ln w="17780">
            <a:solidFill>
              <a:srgbClr val="35C2D8"/>
            </a:solidFill>
            <a:prstDash val="solid"/>
          </a:ln>
        </p:spPr>
      </p:sp>
      <p:sp>
        <p:nvSpPr>
          <p:cNvPr id="13" name="Text 11"/>
          <p:cNvSpPr/>
          <p:nvPr/>
        </p:nvSpPr>
        <p:spPr>
          <a:xfrm>
            <a:off x="8138160" y="1636776"/>
            <a:ext cx="123444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Build + local validate</a:t>
            </a:r>
            <a:endParaRPr lang="en-US" sz="1200" dirty="0"/>
          </a:p>
        </p:txBody>
      </p:sp>
      <p:sp>
        <p:nvSpPr>
          <p:cNvPr id="14" name="Shape 12"/>
          <p:cNvSpPr/>
          <p:nvPr/>
        </p:nvSpPr>
        <p:spPr>
          <a:xfrm>
            <a:off x="9464040" y="1938528"/>
            <a:ext cx="173736" cy="0"/>
          </a:xfrm>
          <a:prstGeom prst="line">
            <a:avLst/>
          </a:prstGeom>
          <a:noFill/>
          <a:ln w="15240">
            <a:solidFill>
              <a:srgbClr val="4FA3FF"/>
            </a:solidFill>
            <a:prstDash val="solid"/>
            <a:tailEnd type="triangle"/>
          </a:ln>
        </p:spPr>
      </p:sp>
      <p:sp>
        <p:nvSpPr>
          <p:cNvPr id="15" name="Shape 13"/>
          <p:cNvSpPr/>
          <p:nvPr/>
        </p:nvSpPr>
        <p:spPr>
          <a:xfrm>
            <a:off x="9674352" y="1508760"/>
            <a:ext cx="1417320" cy="868680"/>
          </a:xfrm>
          <a:prstGeom prst="roundRect">
            <a:avLst>
              <a:gd name="adj" fmla="val 5263"/>
            </a:avLst>
          </a:prstGeom>
          <a:solidFill>
            <a:srgbClr val="12263A"/>
          </a:solidFill>
          <a:ln w="17780">
            <a:solidFill>
              <a:srgbClr val="FF6B6B"/>
            </a:solidFill>
            <a:prstDash val="solid"/>
          </a:ln>
        </p:spPr>
      </p:sp>
      <p:sp>
        <p:nvSpPr>
          <p:cNvPr id="16" name="Text 14"/>
          <p:cNvSpPr/>
          <p:nvPr/>
        </p:nvSpPr>
        <p:spPr>
          <a:xfrm>
            <a:off x="9765792" y="1636776"/>
            <a:ext cx="123444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Security scan</a:t>
            </a:r>
            <a:endParaRPr lang="en-US" sz="1200" dirty="0"/>
          </a:p>
        </p:txBody>
      </p:sp>
      <p:sp>
        <p:nvSpPr>
          <p:cNvPr id="17" name="Shape 15"/>
          <p:cNvSpPr/>
          <p:nvPr/>
        </p:nvSpPr>
        <p:spPr>
          <a:xfrm>
            <a:off x="6419088" y="3337560"/>
            <a:ext cx="1417320" cy="868680"/>
          </a:xfrm>
          <a:prstGeom prst="roundRect">
            <a:avLst>
              <a:gd name="adj" fmla="val 5263"/>
            </a:avLst>
          </a:prstGeom>
          <a:solidFill>
            <a:srgbClr val="12263A"/>
          </a:solidFill>
          <a:ln w="17780">
            <a:solidFill>
              <a:srgbClr val="F5B041"/>
            </a:solidFill>
            <a:prstDash val="solid"/>
          </a:ln>
        </p:spPr>
      </p:sp>
      <p:sp>
        <p:nvSpPr>
          <p:cNvPr id="18" name="Text 16"/>
          <p:cNvSpPr/>
          <p:nvPr/>
        </p:nvSpPr>
        <p:spPr>
          <a:xfrm>
            <a:off x="6510528" y="3465576"/>
            <a:ext cx="123444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Publish image</a:t>
            </a:r>
            <a:endParaRPr lang="en-US" sz="1200" dirty="0"/>
          </a:p>
        </p:txBody>
      </p:sp>
      <p:sp>
        <p:nvSpPr>
          <p:cNvPr id="19" name="Shape 17"/>
          <p:cNvSpPr/>
          <p:nvPr/>
        </p:nvSpPr>
        <p:spPr>
          <a:xfrm>
            <a:off x="7836408" y="3767328"/>
            <a:ext cx="173736" cy="0"/>
          </a:xfrm>
          <a:prstGeom prst="line">
            <a:avLst/>
          </a:prstGeom>
          <a:noFill/>
          <a:ln w="15240">
            <a:solidFill>
              <a:srgbClr val="4FA3FF"/>
            </a:solidFill>
            <a:prstDash val="solid"/>
            <a:tailEnd type="triangle"/>
          </a:ln>
        </p:spPr>
      </p:sp>
      <p:sp>
        <p:nvSpPr>
          <p:cNvPr id="20" name="Shape 18"/>
          <p:cNvSpPr/>
          <p:nvPr/>
        </p:nvSpPr>
        <p:spPr>
          <a:xfrm>
            <a:off x="8046720" y="3337560"/>
            <a:ext cx="1417320" cy="868680"/>
          </a:xfrm>
          <a:prstGeom prst="roundRect">
            <a:avLst>
              <a:gd name="adj" fmla="val 5263"/>
            </a:avLst>
          </a:prstGeom>
          <a:solidFill>
            <a:srgbClr val="12263A"/>
          </a:solidFill>
          <a:ln w="17780">
            <a:solidFill>
              <a:srgbClr val="4FA3FF"/>
            </a:solidFill>
            <a:prstDash val="solid"/>
          </a:ln>
        </p:spPr>
      </p:sp>
      <p:sp>
        <p:nvSpPr>
          <p:cNvPr id="21" name="Text 19"/>
          <p:cNvSpPr/>
          <p:nvPr/>
        </p:nvSpPr>
        <p:spPr>
          <a:xfrm>
            <a:off x="8138160" y="3465576"/>
            <a:ext cx="123444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Terraform</a:t>
            </a:r>
            <a:endParaRPr lang="en-US" sz="1200" dirty="0"/>
          </a:p>
        </p:txBody>
      </p:sp>
      <p:sp>
        <p:nvSpPr>
          <p:cNvPr id="22" name="Shape 20"/>
          <p:cNvSpPr/>
          <p:nvPr/>
        </p:nvSpPr>
        <p:spPr>
          <a:xfrm>
            <a:off x="9464040" y="3767328"/>
            <a:ext cx="173736" cy="0"/>
          </a:xfrm>
          <a:prstGeom prst="line">
            <a:avLst/>
          </a:prstGeom>
          <a:noFill/>
          <a:ln w="15240">
            <a:solidFill>
              <a:srgbClr val="4FA3FF"/>
            </a:solidFill>
            <a:prstDash val="solid"/>
            <a:tailEnd type="triangle"/>
          </a:ln>
        </p:spPr>
      </p:sp>
      <p:sp>
        <p:nvSpPr>
          <p:cNvPr id="23" name="Shape 21"/>
          <p:cNvSpPr/>
          <p:nvPr/>
        </p:nvSpPr>
        <p:spPr>
          <a:xfrm>
            <a:off x="9674352" y="3337560"/>
            <a:ext cx="1417320" cy="868680"/>
          </a:xfrm>
          <a:prstGeom prst="roundRect">
            <a:avLst>
              <a:gd name="adj" fmla="val 5263"/>
            </a:avLst>
          </a:prstGeom>
          <a:solidFill>
            <a:srgbClr val="12263A"/>
          </a:solidFill>
          <a:ln w="17780">
            <a:solidFill>
              <a:srgbClr val="54D6A3"/>
            </a:solidFill>
            <a:prstDash val="solid"/>
          </a:ln>
        </p:spPr>
      </p:sp>
      <p:sp>
        <p:nvSpPr>
          <p:cNvPr id="24" name="Text 22"/>
          <p:cNvSpPr/>
          <p:nvPr/>
        </p:nvSpPr>
        <p:spPr>
          <a:xfrm>
            <a:off x="9765792" y="3465576"/>
            <a:ext cx="123444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Runtime verify</a:t>
            </a:r>
            <a:endParaRPr lang="en-US" sz="1200" dirty="0"/>
          </a:p>
        </p:txBody>
      </p:sp>
      <p:sp>
        <p:nvSpPr>
          <p:cNvPr id="25" name="Shape 23"/>
          <p:cNvSpPr/>
          <p:nvPr/>
        </p:nvSpPr>
        <p:spPr>
          <a:xfrm>
            <a:off x="6995160" y="5230368"/>
            <a:ext cx="3749040" cy="347472"/>
          </a:xfrm>
          <a:prstGeom prst="roundRect">
            <a:avLst>
              <a:gd name="adj" fmla="val 47368"/>
            </a:avLst>
          </a:prstGeom>
          <a:solidFill>
            <a:srgbClr val="FF6B6B">
              <a:alpha val="88000"/>
            </a:srgbClr>
          </a:solidFill>
          <a:ln w="12700">
            <a:solidFill>
              <a:srgbClr val="FF6B6B">
                <a:alpha val="0"/>
              </a:srgbClr>
            </a:solidFill>
            <a:prstDash val="solid"/>
          </a:ln>
        </p:spPr>
      </p:sp>
      <p:sp>
        <p:nvSpPr>
          <p:cNvPr id="26" name="Text 24"/>
          <p:cNvSpPr/>
          <p:nvPr/>
        </p:nvSpPr>
        <p:spPr>
          <a:xfrm>
            <a:off x="7068312" y="5312664"/>
            <a:ext cx="3602736" cy="118872"/>
          </a:xfrm>
          <a:prstGeom prst="rect">
            <a:avLst/>
          </a:prstGeom>
          <a:noFill/>
          <a:ln/>
        </p:spPr>
        <p:txBody>
          <a:bodyPr wrap="square" lIns="0" tIns="0" rIns="0" bIns="0" rtlCol="0" anchor="ctr">
            <a:normAutofit/>
          </a:bodyPr>
          <a:lstStyle/>
          <a:p>
            <a:pPr algn="ctr" indent="0" marL="0">
              <a:buNone/>
            </a:pPr>
            <a:r>
              <a:rPr lang="en-US" sz="950" b="1" dirty="0">
                <a:solidFill>
                  <a:srgbClr val="07111F"/>
                </a:solidFill>
              </a:rPr>
              <a:t>FAIL-CLOSED GATES AT EACH STAGE</a:t>
            </a:r>
            <a:endParaRPr lang="en-US" sz="950" dirty="0"/>
          </a:p>
        </p:txBody>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347472"/>
            <a:ext cx="9098280" cy="475488"/>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Security Architecture and Least Privilege</a:t>
            </a:r>
            <a:endParaRPr lang="en-US" sz="2400" dirty="0"/>
          </a:p>
        </p:txBody>
      </p:sp>
      <p:sp>
        <p:nvSpPr>
          <p:cNvPr id="3" name="Shape 1"/>
          <p:cNvSpPr/>
          <p:nvPr/>
        </p:nvSpPr>
        <p:spPr>
          <a:xfrm>
            <a:off x="9829800" y="338328"/>
            <a:ext cx="1783080" cy="329184"/>
          </a:xfrm>
          <a:prstGeom prst="roundRect">
            <a:avLst>
              <a:gd name="adj" fmla="val 22222"/>
            </a:avLst>
          </a:prstGeom>
          <a:solidFill>
            <a:srgbClr val="4FA3FF">
              <a:alpha val="92000"/>
            </a:srgbClr>
          </a:solidFill>
          <a:ln w="12700">
            <a:solidFill>
              <a:srgbClr val="4FA3FF">
                <a:alpha val="0"/>
              </a:srgbClr>
            </a:solidFill>
            <a:prstDash val="solid"/>
          </a:ln>
        </p:spPr>
      </p:sp>
      <p:sp>
        <p:nvSpPr>
          <p:cNvPr id="4" name="Text 2"/>
          <p:cNvSpPr/>
          <p:nvPr/>
        </p:nvSpPr>
        <p:spPr>
          <a:xfrm>
            <a:off x="9912096" y="416052"/>
            <a:ext cx="1609344" cy="118872"/>
          </a:xfrm>
          <a:prstGeom prst="rect">
            <a:avLst/>
          </a:prstGeom>
          <a:noFill/>
          <a:ln/>
        </p:spPr>
        <p:txBody>
          <a:bodyPr wrap="square" lIns="0" tIns="0" rIns="0" bIns="0" rtlCol="0" anchor="ctr">
            <a:normAutofit/>
          </a:bodyPr>
          <a:lstStyle/>
          <a:p>
            <a:pPr algn="ctr" indent="0" marL="0">
              <a:buNone/>
            </a:pPr>
            <a:r>
              <a:rPr lang="en-US" sz="1000" b="1" dirty="0">
                <a:solidFill>
                  <a:srgbClr val="07111F"/>
                </a:solidFill>
              </a:rPr>
              <a:t>Hassan Sajjad</a:t>
            </a:r>
            <a:endParaRPr lang="en-US" sz="1000" dirty="0"/>
          </a:p>
          <a:p>
            <a:pPr algn="ctr" indent="0" marL="0">
              <a:buNone/>
            </a:pPr>
            <a:endParaRPr lang="en-US" sz="1000" dirty="0"/>
          </a:p>
          <a:p>
            <a:pPr algn="ctr" indent="0" marL="0">
              <a:buNone/>
            </a:pPr>
            <a:r>
              <a:rPr lang="en-US" sz="1000" b="1" dirty="0">
                <a:solidFill>
                  <a:srgbClr val="07111F"/>
                </a:solidFill>
              </a:rPr>
              <a:t>Purpose: Show that security is enforced throughout the lifecycle.</a:t>
            </a:r>
            <a:endParaRPr lang="en-US" sz="1000" dirty="0"/>
          </a:p>
          <a:p>
            <a:pPr algn="ctr" indent="0" marL="0">
              <a:buNone/>
            </a:pPr>
            <a:endParaRPr lang="en-US" sz="1000" dirty="0"/>
          </a:p>
          <a:p>
            <a:pPr algn="ctr" indent="0" marL="0">
              <a:buNone/>
            </a:pPr>
            <a:r>
              <a:rPr lang="en-US" sz="1000" b="1" dirty="0">
                <a:solidFill>
                  <a:srgbClr val="07111F"/>
                </a:solidFill>
              </a:rPr>
              <a:t>Presentation Content:</a:t>
            </a:r>
            <a:endParaRPr lang="en-US" sz="1000" dirty="0"/>
          </a:p>
          <a:p>
            <a:pPr algn="ctr" indent="0" marL="0">
              <a:buNone/>
            </a:pPr>
            <a:endParaRPr lang="en-US" sz="1000" dirty="0"/>
          </a:p>
          <a:p>
            <a:pPr algn="ctr" indent="0" marL="0">
              <a:buNone/>
            </a:pPr>
            <a:r>
              <a:rPr lang="en-US" sz="1000" b="1" dirty="0">
                <a:solidFill>
                  <a:srgbClr val="07111F"/>
                </a:solidFill>
              </a:rPr>
              <a:t>- GitHub Actions obtains short-lived AWS credentials through OpenID Connect; long-lived cloud access keys are not the normal execution model.</a:t>
            </a:r>
            <a:endParaRPr lang="en-US" sz="1000" dirty="0"/>
          </a:p>
          <a:p>
            <a:pPr algn="ctr" indent="0" marL="0">
              <a:buNone/>
            </a:pPr>
            <a:endParaRPr lang="en-US" sz="1000" dirty="0"/>
          </a:p>
          <a:p>
            <a:pPr algn="ctr" indent="0" marL="0">
              <a:buNone/>
            </a:pPr>
            <a:r>
              <a:rPr lang="en-US" sz="1000" b="1" dirty="0">
                <a:solidFill>
                  <a:srgbClr val="07111F"/>
                </a:solidFill>
              </a:rPr>
              <a:t>- Capability admission verifies that the configured role can perform the exact AWS operations required by the selected action.</a:t>
            </a:r>
            <a:endParaRPr lang="en-US" sz="1000" dirty="0"/>
          </a:p>
          <a:p>
            <a:pPr algn="ctr" indent="0" marL="0">
              <a:buNone/>
            </a:pPr>
            <a:endParaRPr lang="en-US" sz="1000" dirty="0"/>
          </a:p>
          <a:p>
            <a:pPr algn="ctr" indent="0" marL="0">
              <a:buNone/>
            </a:pPr>
            <a:r>
              <a:rPr lang="en-US" sz="1000" b="1" dirty="0">
                <a:solidFill>
                  <a:srgbClr val="07111F"/>
                </a:solidFill>
              </a:rPr>
              <a:t>- Third-party workflow actions are pinned immutably, and container images are referenced by digest after publication.</a:t>
            </a:r>
            <a:endParaRPr lang="en-US" sz="1000" dirty="0"/>
          </a:p>
          <a:p>
            <a:pPr algn="ctr" indent="0" marL="0">
              <a:buNone/>
            </a:pPr>
            <a:endParaRPr lang="en-US" sz="1000" dirty="0"/>
          </a:p>
          <a:p>
            <a:pPr algn="ctr" indent="0" marL="0">
              <a:buNone/>
            </a:pPr>
            <a:r>
              <a:rPr lang="en-US" sz="1000" b="1" dirty="0">
                <a:solidFill>
                  <a:srgbClr val="07111F"/>
                </a:solidFill>
              </a:rPr>
              <a:t>- Secrets are encrypted at rest in the control plane, injected only into the correct service, and redacted from logs and AI evidence.</a:t>
            </a:r>
            <a:endParaRPr lang="en-US" sz="1000" dirty="0"/>
          </a:p>
          <a:p>
            <a:pPr algn="ctr" indent="0" marL="0">
              <a:buNone/>
            </a:pPr>
            <a:endParaRPr lang="en-US" sz="1000" dirty="0"/>
          </a:p>
          <a:p>
            <a:pPr algn="ctr" indent="0" marL="0">
              <a:buNone/>
            </a:pPr>
            <a:r>
              <a:rPr lang="en-US" sz="1000" b="1" dirty="0">
                <a:solidFill>
                  <a:srgbClr val="07111F"/>
                </a:solidFill>
              </a:rPr>
              <a:t>- HTTP protections include Helmet, restricted CORS, validated request DTOs, signed secure session cookies, OAuth state validation, and role separation.</a:t>
            </a:r>
            <a:endParaRPr lang="en-US" sz="1000" dirty="0"/>
          </a:p>
          <a:p>
            <a:pPr algn="ctr" indent="0" marL="0">
              <a:buNone/>
            </a:pPr>
            <a:endParaRPr lang="en-US" sz="1000" dirty="0"/>
          </a:p>
          <a:p>
            <a:pPr algn="ctr" indent="0" marL="0">
              <a:buNone/>
            </a:pPr>
            <a:r>
              <a:rPr lang="en-US" sz="1000" b="1" dirty="0">
                <a:solidFill>
                  <a:srgbClr val="07111F"/>
                </a:solidFill>
              </a:rPr>
              <a:t>- Audit records capture actor, action, resource, result, network context, and sanitized metadata.</a:t>
            </a:r>
            <a:endParaRPr lang="en-US" sz="1000" dirty="0"/>
          </a:p>
          <a:p>
            <a:pPr algn="ctr" indent="0" marL="0">
              <a:buNone/>
            </a:pPr>
            <a:endParaRPr lang="en-US" sz="1000" dirty="0"/>
          </a:p>
          <a:p>
            <a:pPr algn="ctr" indent="0" marL="0">
              <a:buNone/>
            </a:pPr>
            <a:r>
              <a:rPr lang="en-US" sz="1000" b="1" dirty="0">
                <a:solidFill>
                  <a:srgbClr val="07111F"/>
                </a:solidFill>
              </a:rPr>
              <a:t>Visual Recommendation: Defense-in-depth shield with Identity, Input, Artifact, Secret, Runtime, and Audit layers.</a:t>
            </a:r>
            <a:endParaRPr lang="en-US" sz="1000" dirty="0"/>
          </a:p>
          <a:p>
            <a:pPr algn="ctr" indent="0" marL="0">
              <a:buNone/>
            </a:pPr>
            <a:endParaRPr lang="en-US" sz="1000" dirty="0"/>
          </a:p>
          <a:p>
            <a:pPr algn="ctr" indent="0" marL="0">
              <a:buNone/>
            </a:pPr>
            <a:r>
              <a:rPr lang="en-US" sz="1000" b="1" dirty="0">
                <a:solidFill>
                  <a:srgbClr val="07111F"/>
                </a:solidFill>
              </a:rPr>
              <a:t>Defense Notes: Trivy is one control, not the whole security story. Stress temporary federation, explicit capability checks, service-scoped secrets, immutable references, and auditability.</a:t>
            </a:r>
            <a:endParaRPr lang="en-US" sz="1000" dirty="0"/>
          </a:p>
        </p:txBody>
      </p:sp>
      <p:sp>
        <p:nvSpPr>
          <p:cNvPr id="5" name="Shape 3"/>
          <p:cNvSpPr/>
          <p:nvPr/>
        </p:nvSpPr>
        <p:spPr>
          <a:xfrm>
            <a:off x="502920" y="932688"/>
            <a:ext cx="11109960" cy="0"/>
          </a:xfrm>
          <a:prstGeom prst="line">
            <a:avLst/>
          </a:prstGeom>
          <a:noFill/>
          <a:ln w="17780">
            <a:solidFill>
              <a:srgbClr val="4FA3FF">
                <a:alpha val="75000"/>
              </a:srgbClr>
            </a:solidFill>
            <a:prstDash val="solid"/>
          </a:ln>
        </p:spPr>
      </p:sp>
      <p:sp>
        <p:nvSpPr>
          <p:cNvPr id="6" name="Text 4"/>
          <p:cNvSpPr/>
          <p:nvPr/>
        </p:nvSpPr>
        <p:spPr>
          <a:xfrm>
            <a:off x="502920" y="996696"/>
            <a:ext cx="5212080" cy="164592"/>
          </a:xfrm>
          <a:prstGeom prst="rect">
            <a:avLst/>
          </a:prstGeom>
          <a:noFill/>
          <a:ln/>
        </p:spPr>
        <p:txBody>
          <a:bodyPr wrap="square" lIns="0" tIns="0" rIns="0" bIns="0" rtlCol="0" anchor="ctr"/>
          <a:lstStyle/>
          <a:p>
            <a:pPr indent="0" marL="0">
              <a:buNone/>
            </a:pPr>
            <a:r>
              <a:rPr lang="en-US" sz="850" b="1" spc="110" kern="0" dirty="0">
                <a:solidFill>
                  <a:srgbClr val="4FA3FF"/>
                </a:solidFill>
              </a:rPr>
              <a:t>HASSAN — CLOUD &amp; DEVOPS</a:t>
            </a:r>
            <a:endParaRPr lang="en-US" sz="850" dirty="0"/>
          </a:p>
        </p:txBody>
      </p:sp>
      <p:sp>
        <p:nvSpPr>
          <p:cNvPr id="7" name="Text 5"/>
          <p:cNvSpPr/>
          <p:nvPr/>
        </p:nvSpPr>
        <p:spPr>
          <a:xfrm>
            <a:off x="594360" y="1325880"/>
            <a:ext cx="5349240" cy="4937760"/>
          </a:xfrm>
          <a:prstGeom prst="rect">
            <a:avLst/>
          </a:prstGeom>
          <a:noFill/>
          <a:ln/>
        </p:spPr>
        <p:txBody>
          <a:bodyPr wrap="square" lIns="254" tIns="254" rIns="254" bIns="254" rtlCol="0" anchor="ctr">
            <a:normAutofit/>
          </a:bodyPr>
          <a:lstStyle/>
          <a:p>
            <a:pPr marL="190500" indent="-190500">
              <a:buSzPct val="100000"/>
              <a:buChar char="•"/>
            </a:pPr>
            <a:r>
              <a:rPr lang="en-US" sz="1580" dirty="0">
                <a:solidFill>
                  <a:srgbClr val="D9E5EF"/>
                </a:solidFill>
                <a:latin typeface="Aptos" pitchFamily="34" charset="0"/>
                <a:ea typeface="Aptos" pitchFamily="34" charset="-122"/>
                <a:cs typeface="Aptos" pitchFamily="34" charset="-120"/>
              </a:rPr>
              <a:t>GitHub Actions obtains short-lived AWS credentials through OpenID Connect; long-lived cloud access keys are not the normal execution model.</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Capability admission verifies that the configured role can perform the exact AWS operations required by the selected action.</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Third-party workflow actions are pinned immutably, and container images are referenced by digest after publication.</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Secrets are encrypted at rest in the control plane, injected only into the correct service, and redacted from logs and AI evidence.</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HTTP protections include Helmet, restricted CORS, validated request DTOs, signed secure session cookies, OAuth state validation, and role separation.</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Audit records capture actor, action, resource, result, network context, and sanitized metadata.</a:t>
            </a:r>
            <a:endParaRPr lang="en-US" sz="1580" dirty="0"/>
          </a:p>
        </p:txBody>
      </p:sp>
      <p:sp>
        <p:nvSpPr>
          <p:cNvPr id="8" name="Shape 6"/>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9" name="Shape 7"/>
          <p:cNvSpPr/>
          <p:nvPr/>
        </p:nvSpPr>
        <p:spPr>
          <a:xfrm>
            <a:off x="6583680" y="1389888"/>
            <a:ext cx="4572000" cy="566928"/>
          </a:xfrm>
          <a:prstGeom prst="roundRect">
            <a:avLst>
              <a:gd name="adj" fmla="val 9677"/>
            </a:avLst>
          </a:prstGeom>
          <a:solidFill>
            <a:srgbClr val="0F1D2D"/>
          </a:solidFill>
          <a:ln w="12700">
            <a:solidFill>
              <a:srgbClr val="29445C"/>
            </a:solidFill>
            <a:prstDash val="solid"/>
          </a:ln>
        </p:spPr>
      </p:sp>
      <p:sp>
        <p:nvSpPr>
          <p:cNvPr id="10" name="Shape 8"/>
          <p:cNvSpPr/>
          <p:nvPr/>
        </p:nvSpPr>
        <p:spPr>
          <a:xfrm>
            <a:off x="6583680" y="1389888"/>
            <a:ext cx="54864" cy="566928"/>
          </a:xfrm>
          <a:prstGeom prst="rect">
            <a:avLst/>
          </a:prstGeom>
          <a:solidFill>
            <a:srgbClr val="4FA3FF"/>
          </a:solidFill>
          <a:ln w="12700">
            <a:solidFill>
              <a:srgbClr val="4FA3FF"/>
            </a:solidFill>
            <a:prstDash val="solid"/>
          </a:ln>
        </p:spPr>
      </p:sp>
      <p:sp>
        <p:nvSpPr>
          <p:cNvPr id="11" name="Text 9"/>
          <p:cNvSpPr/>
          <p:nvPr/>
        </p:nvSpPr>
        <p:spPr>
          <a:xfrm>
            <a:off x="6784848" y="1545336"/>
            <a:ext cx="4261104"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Identity</a:t>
            </a:r>
            <a:endParaRPr lang="en-US" sz="1150" dirty="0"/>
          </a:p>
        </p:txBody>
      </p:sp>
      <p:sp>
        <p:nvSpPr>
          <p:cNvPr id="12" name="Text 10"/>
          <p:cNvSpPr/>
          <p:nvPr/>
        </p:nvSpPr>
        <p:spPr>
          <a:xfrm>
            <a:off x="6784848" y="1901952"/>
            <a:ext cx="4261104" cy="-91440"/>
          </a:xfrm>
          <a:prstGeom prst="rect">
            <a:avLst/>
          </a:prstGeom>
          <a:noFill/>
          <a:ln/>
        </p:spPr>
        <p:txBody>
          <a:bodyPr wrap="square" lIns="0" tIns="0" rIns="0" bIns="0" rtlCol="0" anchor="ctr">
            <a:normAutofit/>
          </a:bodyPr>
          <a:lstStyle/>
          <a:p>
            <a:pPr indent="0" marL="0">
              <a:buNone/>
            </a:pPr>
            <a:r>
              <a:rPr lang="en-US" sz="950" dirty="0">
                <a:solidFill>
                  <a:srgbClr val="8FA6B9"/>
                </a:solidFill>
              </a:rPr>
              <a:t>OIDC • sessions</a:t>
            </a:r>
            <a:endParaRPr lang="en-US" sz="950" dirty="0"/>
          </a:p>
        </p:txBody>
      </p:sp>
      <p:sp>
        <p:nvSpPr>
          <p:cNvPr id="13" name="Shape 11"/>
          <p:cNvSpPr/>
          <p:nvPr/>
        </p:nvSpPr>
        <p:spPr>
          <a:xfrm>
            <a:off x="6583680" y="2103120"/>
            <a:ext cx="4572000" cy="566928"/>
          </a:xfrm>
          <a:prstGeom prst="roundRect">
            <a:avLst>
              <a:gd name="adj" fmla="val 9677"/>
            </a:avLst>
          </a:prstGeom>
          <a:solidFill>
            <a:srgbClr val="0F1D2D"/>
          </a:solidFill>
          <a:ln w="12700">
            <a:solidFill>
              <a:srgbClr val="29445C"/>
            </a:solidFill>
            <a:prstDash val="solid"/>
          </a:ln>
        </p:spPr>
      </p:sp>
      <p:sp>
        <p:nvSpPr>
          <p:cNvPr id="14" name="Shape 12"/>
          <p:cNvSpPr/>
          <p:nvPr/>
        </p:nvSpPr>
        <p:spPr>
          <a:xfrm>
            <a:off x="6583680" y="2103120"/>
            <a:ext cx="54864" cy="566928"/>
          </a:xfrm>
          <a:prstGeom prst="rect">
            <a:avLst/>
          </a:prstGeom>
          <a:solidFill>
            <a:srgbClr val="35C2D8"/>
          </a:solidFill>
          <a:ln w="12700">
            <a:solidFill>
              <a:srgbClr val="35C2D8"/>
            </a:solidFill>
            <a:prstDash val="solid"/>
          </a:ln>
        </p:spPr>
      </p:sp>
      <p:sp>
        <p:nvSpPr>
          <p:cNvPr id="15" name="Text 13"/>
          <p:cNvSpPr/>
          <p:nvPr/>
        </p:nvSpPr>
        <p:spPr>
          <a:xfrm>
            <a:off x="6784848" y="2258568"/>
            <a:ext cx="4261104"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Input</a:t>
            </a:r>
            <a:endParaRPr lang="en-US" sz="1150" dirty="0"/>
          </a:p>
        </p:txBody>
      </p:sp>
      <p:sp>
        <p:nvSpPr>
          <p:cNvPr id="16" name="Text 14"/>
          <p:cNvSpPr/>
          <p:nvPr/>
        </p:nvSpPr>
        <p:spPr>
          <a:xfrm>
            <a:off x="6784848" y="2615184"/>
            <a:ext cx="4261104" cy="-91440"/>
          </a:xfrm>
          <a:prstGeom prst="rect">
            <a:avLst/>
          </a:prstGeom>
          <a:noFill/>
          <a:ln/>
        </p:spPr>
        <p:txBody>
          <a:bodyPr wrap="square" lIns="0" tIns="0" rIns="0" bIns="0" rtlCol="0" anchor="ctr">
            <a:normAutofit/>
          </a:bodyPr>
          <a:lstStyle/>
          <a:p>
            <a:pPr indent="0" marL="0">
              <a:buNone/>
            </a:pPr>
            <a:r>
              <a:rPr lang="en-US" sz="950" dirty="0">
                <a:solidFill>
                  <a:srgbClr val="8FA6B9"/>
                </a:solidFill>
              </a:rPr>
              <a:t>DTO validation • CORS</a:t>
            </a:r>
            <a:endParaRPr lang="en-US" sz="950" dirty="0"/>
          </a:p>
        </p:txBody>
      </p:sp>
      <p:sp>
        <p:nvSpPr>
          <p:cNvPr id="17" name="Shape 15"/>
          <p:cNvSpPr/>
          <p:nvPr/>
        </p:nvSpPr>
        <p:spPr>
          <a:xfrm>
            <a:off x="6583680" y="2816352"/>
            <a:ext cx="4572000" cy="566928"/>
          </a:xfrm>
          <a:prstGeom prst="roundRect">
            <a:avLst>
              <a:gd name="adj" fmla="val 9677"/>
            </a:avLst>
          </a:prstGeom>
          <a:solidFill>
            <a:srgbClr val="0F1D2D"/>
          </a:solidFill>
          <a:ln w="12700">
            <a:solidFill>
              <a:srgbClr val="29445C"/>
            </a:solidFill>
            <a:prstDash val="solid"/>
          </a:ln>
        </p:spPr>
      </p:sp>
      <p:sp>
        <p:nvSpPr>
          <p:cNvPr id="18" name="Shape 16"/>
          <p:cNvSpPr/>
          <p:nvPr/>
        </p:nvSpPr>
        <p:spPr>
          <a:xfrm>
            <a:off x="6583680" y="2816352"/>
            <a:ext cx="54864" cy="566928"/>
          </a:xfrm>
          <a:prstGeom prst="rect">
            <a:avLst/>
          </a:prstGeom>
          <a:solidFill>
            <a:srgbClr val="B276FF"/>
          </a:solidFill>
          <a:ln w="12700">
            <a:solidFill>
              <a:srgbClr val="B276FF"/>
            </a:solidFill>
            <a:prstDash val="solid"/>
          </a:ln>
        </p:spPr>
      </p:sp>
      <p:sp>
        <p:nvSpPr>
          <p:cNvPr id="19" name="Text 17"/>
          <p:cNvSpPr/>
          <p:nvPr/>
        </p:nvSpPr>
        <p:spPr>
          <a:xfrm>
            <a:off x="6784848" y="2971800"/>
            <a:ext cx="4261104"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Artifact</a:t>
            </a:r>
            <a:endParaRPr lang="en-US" sz="1150" dirty="0"/>
          </a:p>
        </p:txBody>
      </p:sp>
      <p:sp>
        <p:nvSpPr>
          <p:cNvPr id="20" name="Text 18"/>
          <p:cNvSpPr/>
          <p:nvPr/>
        </p:nvSpPr>
        <p:spPr>
          <a:xfrm>
            <a:off x="6784848" y="3328416"/>
            <a:ext cx="4261104" cy="-91440"/>
          </a:xfrm>
          <a:prstGeom prst="rect">
            <a:avLst/>
          </a:prstGeom>
          <a:noFill/>
          <a:ln/>
        </p:spPr>
        <p:txBody>
          <a:bodyPr wrap="square" lIns="0" tIns="0" rIns="0" bIns="0" rtlCol="0" anchor="ctr">
            <a:normAutofit/>
          </a:bodyPr>
          <a:lstStyle/>
          <a:p>
            <a:pPr indent="0" marL="0">
              <a:buNone/>
            </a:pPr>
            <a:r>
              <a:rPr lang="en-US" sz="950" dirty="0">
                <a:solidFill>
                  <a:srgbClr val="8FA6B9"/>
                </a:solidFill>
              </a:rPr>
              <a:t>Pinned refs • digests</a:t>
            </a:r>
            <a:endParaRPr lang="en-US" sz="950" dirty="0"/>
          </a:p>
        </p:txBody>
      </p:sp>
      <p:sp>
        <p:nvSpPr>
          <p:cNvPr id="21" name="Shape 19"/>
          <p:cNvSpPr/>
          <p:nvPr/>
        </p:nvSpPr>
        <p:spPr>
          <a:xfrm>
            <a:off x="6583680" y="3529584"/>
            <a:ext cx="4572000" cy="566928"/>
          </a:xfrm>
          <a:prstGeom prst="roundRect">
            <a:avLst>
              <a:gd name="adj" fmla="val 9677"/>
            </a:avLst>
          </a:prstGeom>
          <a:solidFill>
            <a:srgbClr val="0F1D2D"/>
          </a:solidFill>
          <a:ln w="12700">
            <a:solidFill>
              <a:srgbClr val="29445C"/>
            </a:solidFill>
            <a:prstDash val="solid"/>
          </a:ln>
        </p:spPr>
      </p:sp>
      <p:sp>
        <p:nvSpPr>
          <p:cNvPr id="22" name="Shape 20"/>
          <p:cNvSpPr/>
          <p:nvPr/>
        </p:nvSpPr>
        <p:spPr>
          <a:xfrm>
            <a:off x="6583680" y="3529584"/>
            <a:ext cx="54864" cy="566928"/>
          </a:xfrm>
          <a:prstGeom prst="rect">
            <a:avLst/>
          </a:prstGeom>
          <a:solidFill>
            <a:srgbClr val="FF6B6B"/>
          </a:solidFill>
          <a:ln w="12700">
            <a:solidFill>
              <a:srgbClr val="FF6B6B"/>
            </a:solidFill>
            <a:prstDash val="solid"/>
          </a:ln>
        </p:spPr>
      </p:sp>
      <p:sp>
        <p:nvSpPr>
          <p:cNvPr id="23" name="Text 21"/>
          <p:cNvSpPr/>
          <p:nvPr/>
        </p:nvSpPr>
        <p:spPr>
          <a:xfrm>
            <a:off x="6784848" y="3685032"/>
            <a:ext cx="4261104"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Secret</a:t>
            </a:r>
            <a:endParaRPr lang="en-US" sz="1150" dirty="0"/>
          </a:p>
        </p:txBody>
      </p:sp>
      <p:sp>
        <p:nvSpPr>
          <p:cNvPr id="24" name="Text 22"/>
          <p:cNvSpPr/>
          <p:nvPr/>
        </p:nvSpPr>
        <p:spPr>
          <a:xfrm>
            <a:off x="6784848" y="4041648"/>
            <a:ext cx="4261104" cy="-91440"/>
          </a:xfrm>
          <a:prstGeom prst="rect">
            <a:avLst/>
          </a:prstGeom>
          <a:noFill/>
          <a:ln/>
        </p:spPr>
        <p:txBody>
          <a:bodyPr wrap="square" lIns="0" tIns="0" rIns="0" bIns="0" rtlCol="0" anchor="ctr">
            <a:normAutofit/>
          </a:bodyPr>
          <a:lstStyle/>
          <a:p>
            <a:pPr indent="0" marL="0">
              <a:buNone/>
            </a:pPr>
            <a:r>
              <a:rPr lang="en-US" sz="950" dirty="0">
                <a:solidFill>
                  <a:srgbClr val="8FA6B9"/>
                </a:solidFill>
              </a:rPr>
              <a:t>Encryption • scoped injection</a:t>
            </a:r>
            <a:endParaRPr lang="en-US" sz="950" dirty="0"/>
          </a:p>
        </p:txBody>
      </p:sp>
      <p:sp>
        <p:nvSpPr>
          <p:cNvPr id="25" name="Shape 23"/>
          <p:cNvSpPr/>
          <p:nvPr/>
        </p:nvSpPr>
        <p:spPr>
          <a:xfrm>
            <a:off x="6583680" y="4242816"/>
            <a:ext cx="4572000" cy="566928"/>
          </a:xfrm>
          <a:prstGeom prst="roundRect">
            <a:avLst>
              <a:gd name="adj" fmla="val 9677"/>
            </a:avLst>
          </a:prstGeom>
          <a:solidFill>
            <a:srgbClr val="0F1D2D"/>
          </a:solidFill>
          <a:ln w="12700">
            <a:solidFill>
              <a:srgbClr val="29445C"/>
            </a:solidFill>
            <a:prstDash val="solid"/>
          </a:ln>
        </p:spPr>
      </p:sp>
      <p:sp>
        <p:nvSpPr>
          <p:cNvPr id="26" name="Shape 24"/>
          <p:cNvSpPr/>
          <p:nvPr/>
        </p:nvSpPr>
        <p:spPr>
          <a:xfrm>
            <a:off x="6583680" y="4242816"/>
            <a:ext cx="54864" cy="566928"/>
          </a:xfrm>
          <a:prstGeom prst="rect">
            <a:avLst/>
          </a:prstGeom>
          <a:solidFill>
            <a:srgbClr val="54D6A3"/>
          </a:solidFill>
          <a:ln w="12700">
            <a:solidFill>
              <a:srgbClr val="54D6A3"/>
            </a:solidFill>
            <a:prstDash val="solid"/>
          </a:ln>
        </p:spPr>
      </p:sp>
      <p:sp>
        <p:nvSpPr>
          <p:cNvPr id="27" name="Text 25"/>
          <p:cNvSpPr/>
          <p:nvPr/>
        </p:nvSpPr>
        <p:spPr>
          <a:xfrm>
            <a:off x="6784848" y="4398264"/>
            <a:ext cx="4261104"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Runtime</a:t>
            </a:r>
            <a:endParaRPr lang="en-US" sz="1150" dirty="0"/>
          </a:p>
        </p:txBody>
      </p:sp>
      <p:sp>
        <p:nvSpPr>
          <p:cNvPr id="28" name="Text 26"/>
          <p:cNvSpPr/>
          <p:nvPr/>
        </p:nvSpPr>
        <p:spPr>
          <a:xfrm>
            <a:off x="6784848" y="4754880"/>
            <a:ext cx="4261104" cy="-91440"/>
          </a:xfrm>
          <a:prstGeom prst="rect">
            <a:avLst/>
          </a:prstGeom>
          <a:noFill/>
          <a:ln/>
        </p:spPr>
        <p:txBody>
          <a:bodyPr wrap="square" lIns="0" tIns="0" rIns="0" bIns="0" rtlCol="0" anchor="ctr">
            <a:normAutofit/>
          </a:bodyPr>
          <a:lstStyle/>
          <a:p>
            <a:pPr indent="0" marL="0">
              <a:buNone/>
            </a:pPr>
            <a:r>
              <a:rPr lang="en-US" sz="950" dirty="0">
                <a:solidFill>
                  <a:srgbClr val="8FA6B9"/>
                </a:solidFill>
              </a:rPr>
              <a:t>Capability checks • health</a:t>
            </a:r>
            <a:endParaRPr lang="en-US" sz="950" dirty="0"/>
          </a:p>
        </p:txBody>
      </p:sp>
      <p:sp>
        <p:nvSpPr>
          <p:cNvPr id="29" name="Shape 27"/>
          <p:cNvSpPr/>
          <p:nvPr/>
        </p:nvSpPr>
        <p:spPr>
          <a:xfrm>
            <a:off x="6583680" y="4956048"/>
            <a:ext cx="4572000" cy="566928"/>
          </a:xfrm>
          <a:prstGeom prst="roundRect">
            <a:avLst>
              <a:gd name="adj" fmla="val 9677"/>
            </a:avLst>
          </a:prstGeom>
          <a:solidFill>
            <a:srgbClr val="0F1D2D"/>
          </a:solidFill>
          <a:ln w="12700">
            <a:solidFill>
              <a:srgbClr val="29445C"/>
            </a:solidFill>
            <a:prstDash val="solid"/>
          </a:ln>
        </p:spPr>
      </p:sp>
      <p:sp>
        <p:nvSpPr>
          <p:cNvPr id="30" name="Shape 28"/>
          <p:cNvSpPr/>
          <p:nvPr/>
        </p:nvSpPr>
        <p:spPr>
          <a:xfrm>
            <a:off x="6583680" y="4956048"/>
            <a:ext cx="54864" cy="566928"/>
          </a:xfrm>
          <a:prstGeom prst="rect">
            <a:avLst/>
          </a:prstGeom>
          <a:solidFill>
            <a:srgbClr val="F5B041"/>
          </a:solidFill>
          <a:ln w="12700">
            <a:solidFill>
              <a:srgbClr val="F5B041"/>
            </a:solidFill>
            <a:prstDash val="solid"/>
          </a:ln>
        </p:spPr>
      </p:sp>
      <p:sp>
        <p:nvSpPr>
          <p:cNvPr id="31" name="Text 29"/>
          <p:cNvSpPr/>
          <p:nvPr/>
        </p:nvSpPr>
        <p:spPr>
          <a:xfrm>
            <a:off x="6784848" y="5111496"/>
            <a:ext cx="4261104"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Audit</a:t>
            </a:r>
            <a:endParaRPr lang="en-US" sz="1150" dirty="0"/>
          </a:p>
        </p:txBody>
      </p:sp>
      <p:sp>
        <p:nvSpPr>
          <p:cNvPr id="32" name="Text 30"/>
          <p:cNvSpPr/>
          <p:nvPr/>
        </p:nvSpPr>
        <p:spPr>
          <a:xfrm>
            <a:off x="6784848" y="5468112"/>
            <a:ext cx="4261104" cy="-91440"/>
          </a:xfrm>
          <a:prstGeom prst="rect">
            <a:avLst/>
          </a:prstGeom>
          <a:noFill/>
          <a:ln/>
        </p:spPr>
        <p:txBody>
          <a:bodyPr wrap="square" lIns="0" tIns="0" rIns="0" bIns="0" rtlCol="0" anchor="ctr">
            <a:normAutofit/>
          </a:bodyPr>
          <a:lstStyle/>
          <a:p>
            <a:pPr indent="0" marL="0">
              <a:buNone/>
            </a:pPr>
            <a:r>
              <a:rPr lang="en-US" sz="950" dirty="0">
                <a:solidFill>
                  <a:srgbClr val="8FA6B9"/>
                </a:solidFill>
              </a:rPr>
              <a:t>Actor • action • result</a:t>
            </a:r>
            <a:endParaRPr lang="en-US" sz="950" dirty="0"/>
          </a:p>
        </p:txBody>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347472"/>
            <a:ext cx="9098280" cy="475488"/>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FinOps and Billing-Aware Admission</a:t>
            </a:r>
            <a:endParaRPr lang="en-US" sz="2400" dirty="0"/>
          </a:p>
        </p:txBody>
      </p:sp>
      <p:sp>
        <p:nvSpPr>
          <p:cNvPr id="3" name="Shape 1"/>
          <p:cNvSpPr/>
          <p:nvPr/>
        </p:nvSpPr>
        <p:spPr>
          <a:xfrm>
            <a:off x="9829800" y="338328"/>
            <a:ext cx="1783080" cy="329184"/>
          </a:xfrm>
          <a:prstGeom prst="roundRect">
            <a:avLst>
              <a:gd name="adj" fmla="val 22222"/>
            </a:avLst>
          </a:prstGeom>
          <a:solidFill>
            <a:srgbClr val="4FA3FF">
              <a:alpha val="92000"/>
            </a:srgbClr>
          </a:solidFill>
          <a:ln w="12700">
            <a:solidFill>
              <a:srgbClr val="4FA3FF">
                <a:alpha val="0"/>
              </a:srgbClr>
            </a:solidFill>
            <a:prstDash val="solid"/>
          </a:ln>
        </p:spPr>
      </p:sp>
      <p:sp>
        <p:nvSpPr>
          <p:cNvPr id="4" name="Text 2"/>
          <p:cNvSpPr/>
          <p:nvPr/>
        </p:nvSpPr>
        <p:spPr>
          <a:xfrm>
            <a:off x="9912096" y="416052"/>
            <a:ext cx="1609344" cy="118872"/>
          </a:xfrm>
          <a:prstGeom prst="rect">
            <a:avLst/>
          </a:prstGeom>
          <a:noFill/>
          <a:ln/>
        </p:spPr>
        <p:txBody>
          <a:bodyPr wrap="square" lIns="0" tIns="0" rIns="0" bIns="0" rtlCol="0" anchor="ctr">
            <a:normAutofit/>
          </a:bodyPr>
          <a:lstStyle/>
          <a:p>
            <a:pPr algn="ctr" indent="0" marL="0">
              <a:buNone/>
            </a:pPr>
            <a:r>
              <a:rPr lang="en-US" sz="1000" b="1" dirty="0">
                <a:solidFill>
                  <a:srgbClr val="07111F"/>
                </a:solidFill>
              </a:rPr>
              <a:t>Hassan Sajjad</a:t>
            </a:r>
            <a:endParaRPr lang="en-US" sz="1000" dirty="0"/>
          </a:p>
          <a:p>
            <a:pPr algn="ctr" indent="0" marL="0">
              <a:buNone/>
            </a:pPr>
            <a:endParaRPr lang="en-US" sz="1000" dirty="0"/>
          </a:p>
          <a:p>
            <a:pPr algn="ctr" indent="0" marL="0">
              <a:buNone/>
            </a:pPr>
            <a:r>
              <a:rPr lang="en-US" sz="1000" b="1" dirty="0">
                <a:solidFill>
                  <a:srgbClr val="07111F"/>
                </a:solidFill>
              </a:rPr>
              <a:t>Purpose: Present cost as a deployment decision rather than a later surprise.</a:t>
            </a:r>
            <a:endParaRPr lang="en-US" sz="1000" dirty="0"/>
          </a:p>
          <a:p>
            <a:pPr algn="ctr" indent="0" marL="0">
              <a:buNone/>
            </a:pPr>
            <a:endParaRPr lang="en-US" sz="1000" dirty="0"/>
          </a:p>
          <a:p>
            <a:pPr algn="ctr" indent="0" marL="0">
              <a:buNone/>
            </a:pPr>
            <a:r>
              <a:rPr lang="en-US" sz="1000" b="1" dirty="0">
                <a:solidFill>
                  <a:srgbClr val="07111F"/>
                </a:solidFill>
              </a:rPr>
              <a:t>Presentation Content:</a:t>
            </a:r>
            <a:endParaRPr lang="en-US" sz="1000" dirty="0"/>
          </a:p>
          <a:p>
            <a:pPr algn="ctr" indent="0" marL="0">
              <a:buNone/>
            </a:pPr>
            <a:endParaRPr lang="en-US" sz="1000" dirty="0"/>
          </a:p>
          <a:p>
            <a:pPr algn="ctr" indent="0" marL="0">
              <a:buNone/>
            </a:pPr>
            <a:r>
              <a:rPr lang="en-US" sz="1000" b="1" dirty="0">
                <a:solidFill>
                  <a:srgbClr val="07111F"/>
                </a:solidFill>
              </a:rPr>
              <a:t>- DeployGuard computes a structured infrastructure estimate with service-level and resource-level breakdowns.</a:t>
            </a:r>
            <a:endParaRPr lang="en-US" sz="1000" dirty="0"/>
          </a:p>
          <a:p>
            <a:pPr algn="ctr" indent="0" marL="0">
              <a:buNone/>
            </a:pPr>
            <a:endParaRPr lang="en-US" sz="1000" dirty="0"/>
          </a:p>
          <a:p>
            <a:pPr algn="ctr" indent="0" marL="0">
              <a:buNone/>
            </a:pPr>
            <a:r>
              <a:rPr lang="en-US" sz="1000" b="1" dirty="0">
                <a:solidFill>
                  <a:srgbClr val="07111F"/>
                </a:solidFill>
              </a:rPr>
              <a:t>- Cost evidence is associated with the deployment context so a reviewer can see what is expected to create spend.</a:t>
            </a:r>
            <a:endParaRPr lang="en-US" sz="1000" dirty="0"/>
          </a:p>
          <a:p>
            <a:pPr algn="ctr" indent="0" marL="0">
              <a:buNone/>
            </a:pPr>
            <a:endParaRPr lang="en-US" sz="1000" dirty="0"/>
          </a:p>
          <a:p>
            <a:pPr algn="ctr" indent="0" marL="0">
              <a:buNone/>
            </a:pPr>
            <a:r>
              <a:rPr lang="en-US" sz="1000" b="1" dirty="0">
                <a:solidFill>
                  <a:srgbClr val="07111F"/>
                </a:solidFill>
              </a:rPr>
              <a:t>- Configurable thresholds and approval states can prevent a deployment from proceeding without acknowledgement.</a:t>
            </a:r>
            <a:endParaRPr lang="en-US" sz="1000" dirty="0"/>
          </a:p>
          <a:p>
            <a:pPr algn="ctr" indent="0" marL="0">
              <a:buNone/>
            </a:pPr>
            <a:endParaRPr lang="en-US" sz="1000" dirty="0"/>
          </a:p>
          <a:p>
            <a:pPr algn="ctr" indent="0" marL="0">
              <a:buNone/>
            </a:pPr>
            <a:r>
              <a:rPr lang="en-US" sz="1000" b="1" dirty="0">
                <a:solidFill>
                  <a:srgbClr val="07111F"/>
                </a:solidFill>
              </a:rPr>
              <a:t>- Billing entitlements and usage are evaluated by the control plane rather than trusted from the browser.</a:t>
            </a:r>
            <a:endParaRPr lang="en-US" sz="1000" dirty="0"/>
          </a:p>
          <a:p>
            <a:pPr algn="ctr" indent="0" marL="0">
              <a:buNone/>
            </a:pPr>
            <a:endParaRPr lang="en-US" sz="1000" dirty="0"/>
          </a:p>
          <a:p>
            <a:pPr algn="ctr" indent="0" marL="0">
              <a:buNone/>
            </a:pPr>
            <a:r>
              <a:rPr lang="en-US" sz="1000" b="1" dirty="0">
                <a:solidFill>
                  <a:srgbClr val="07111F"/>
                </a:solidFill>
              </a:rPr>
              <a:t>- Stripe integration supports test-mode plans, checkout, customer state, invoices, and signed webhook processing when configured.</a:t>
            </a:r>
            <a:endParaRPr lang="en-US" sz="1000" dirty="0"/>
          </a:p>
          <a:p>
            <a:pPr algn="ctr" indent="0" marL="0">
              <a:buNone/>
            </a:pPr>
            <a:endParaRPr lang="en-US" sz="1000" dirty="0"/>
          </a:p>
          <a:p>
            <a:pPr algn="ctr" indent="0" marL="0">
              <a:buNone/>
            </a:pPr>
            <a:r>
              <a:rPr lang="en-US" sz="1000" b="1" dirty="0">
                <a:solidFill>
                  <a:srgbClr val="07111F"/>
                </a:solidFill>
              </a:rPr>
              <a:t>- Cloud cost estimates and product subscription billing are separate concerns: one predicts AWS usage; the other governs DeployGuard access.</a:t>
            </a:r>
            <a:endParaRPr lang="en-US" sz="1000" dirty="0"/>
          </a:p>
          <a:p>
            <a:pPr algn="ctr" indent="0" marL="0">
              <a:buNone/>
            </a:pPr>
            <a:endParaRPr lang="en-US" sz="1000" dirty="0"/>
          </a:p>
          <a:p>
            <a:pPr algn="ctr" indent="0" marL="0">
              <a:buNone/>
            </a:pPr>
            <a:r>
              <a:rPr lang="en-US" sz="1000" b="1" dirty="0">
                <a:solidFill>
                  <a:srgbClr val="07111F"/>
                </a:solidFill>
              </a:rPr>
              <a:t>Visual Recommendation: Split panel: Estimated AWS Resources and DeployGuard Plan/Entitlement, joined at the admission gate.</a:t>
            </a:r>
            <a:endParaRPr lang="en-US" sz="1000" dirty="0"/>
          </a:p>
          <a:p>
            <a:pPr algn="ctr" indent="0" marL="0">
              <a:buNone/>
            </a:pPr>
            <a:endParaRPr lang="en-US" sz="1000" dirty="0"/>
          </a:p>
          <a:p>
            <a:pPr algn="ctr" indent="0" marL="0">
              <a:buNone/>
            </a:pPr>
            <a:r>
              <a:rPr lang="en-US" sz="1000" b="1" dirty="0">
                <a:solidFill>
                  <a:srgbClr val="07111F"/>
                </a:solidFill>
              </a:rPr>
              <a:t>Defense Notes: Do not claim exact future AWS bills. Estimates are decision support. Also state clearly that the preserved billing demonstration is test-mode integration, not evidence of live commercial charging.</a:t>
            </a:r>
            <a:endParaRPr lang="en-US" sz="1000" dirty="0"/>
          </a:p>
        </p:txBody>
      </p:sp>
      <p:sp>
        <p:nvSpPr>
          <p:cNvPr id="5" name="Shape 3"/>
          <p:cNvSpPr/>
          <p:nvPr/>
        </p:nvSpPr>
        <p:spPr>
          <a:xfrm>
            <a:off x="502920" y="932688"/>
            <a:ext cx="11109960" cy="0"/>
          </a:xfrm>
          <a:prstGeom prst="line">
            <a:avLst/>
          </a:prstGeom>
          <a:noFill/>
          <a:ln w="17780">
            <a:solidFill>
              <a:srgbClr val="4FA3FF">
                <a:alpha val="75000"/>
              </a:srgbClr>
            </a:solidFill>
            <a:prstDash val="solid"/>
          </a:ln>
        </p:spPr>
      </p:sp>
      <p:sp>
        <p:nvSpPr>
          <p:cNvPr id="6" name="Text 4"/>
          <p:cNvSpPr/>
          <p:nvPr/>
        </p:nvSpPr>
        <p:spPr>
          <a:xfrm>
            <a:off x="502920" y="996696"/>
            <a:ext cx="5212080" cy="164592"/>
          </a:xfrm>
          <a:prstGeom prst="rect">
            <a:avLst/>
          </a:prstGeom>
          <a:noFill/>
          <a:ln/>
        </p:spPr>
        <p:txBody>
          <a:bodyPr wrap="square" lIns="0" tIns="0" rIns="0" bIns="0" rtlCol="0" anchor="ctr"/>
          <a:lstStyle/>
          <a:p>
            <a:pPr indent="0" marL="0">
              <a:buNone/>
            </a:pPr>
            <a:r>
              <a:rPr lang="en-US" sz="850" b="1" spc="110" kern="0" dirty="0">
                <a:solidFill>
                  <a:srgbClr val="4FA3FF"/>
                </a:solidFill>
              </a:rPr>
              <a:t>HASSAN — CLOUD &amp; DEVOPS</a:t>
            </a:r>
            <a:endParaRPr lang="en-US" sz="850" dirty="0"/>
          </a:p>
        </p:txBody>
      </p:sp>
      <p:sp>
        <p:nvSpPr>
          <p:cNvPr id="7" name="Text 5"/>
          <p:cNvSpPr/>
          <p:nvPr/>
        </p:nvSpPr>
        <p:spPr>
          <a:xfrm>
            <a:off x="594360" y="1325880"/>
            <a:ext cx="5349240" cy="4937760"/>
          </a:xfrm>
          <a:prstGeom prst="rect">
            <a:avLst/>
          </a:prstGeom>
          <a:noFill/>
          <a:ln/>
        </p:spPr>
        <p:txBody>
          <a:bodyPr wrap="square" lIns="254" tIns="254" rIns="254" bIns="254" rtlCol="0" anchor="ctr">
            <a:normAutofit/>
          </a:bodyPr>
          <a:lstStyle/>
          <a:p>
            <a:pPr marL="190500" indent="-190500">
              <a:buSzPct val="100000"/>
              <a:buChar char="•"/>
            </a:pPr>
            <a:r>
              <a:rPr lang="en-US" sz="1580" dirty="0">
                <a:solidFill>
                  <a:srgbClr val="D9E5EF"/>
                </a:solidFill>
                <a:latin typeface="Aptos" pitchFamily="34" charset="0"/>
                <a:ea typeface="Aptos" pitchFamily="34" charset="-122"/>
                <a:cs typeface="Aptos" pitchFamily="34" charset="-120"/>
              </a:rPr>
              <a:t>DeployGuard computes a structured infrastructure estimate with service-level and resource-level breakdowns.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Cost evidence is associated with the deployment context so a reviewer can see what is expected to create spend.</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Configurable thresholds and approval states can prevent a deployment from proceeding without acknowledgement.</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Billing entitlements and usage are evaluated by the control plane rather than trusted from the browser.</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Stripe integration supports test-mode plans, checkout, customer state, invoices, and signed webhook processing when configured.</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Cloud cost estimates and product subscription billing are separate concerns: one predicts AWS usage; the other governs DeployGuard access.</a:t>
            </a:r>
            <a:endParaRPr lang="en-US" sz="1580" dirty="0"/>
          </a:p>
        </p:txBody>
      </p:sp>
      <p:sp>
        <p:nvSpPr>
          <p:cNvPr id="8" name="Shape 6"/>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9" name="Shape 7"/>
          <p:cNvSpPr/>
          <p:nvPr/>
        </p:nvSpPr>
        <p:spPr>
          <a:xfrm>
            <a:off x="6446520" y="1554480"/>
            <a:ext cx="2240280" cy="3337560"/>
          </a:xfrm>
          <a:prstGeom prst="roundRect">
            <a:avLst>
              <a:gd name="adj" fmla="val 2449"/>
            </a:avLst>
          </a:prstGeom>
          <a:solidFill>
            <a:srgbClr val="0F1D2D"/>
          </a:solidFill>
          <a:ln w="12700">
            <a:solidFill>
              <a:srgbClr val="29445C"/>
            </a:solidFill>
            <a:prstDash val="solid"/>
          </a:ln>
        </p:spPr>
      </p:sp>
      <p:sp>
        <p:nvSpPr>
          <p:cNvPr id="10" name="Shape 8"/>
          <p:cNvSpPr/>
          <p:nvPr/>
        </p:nvSpPr>
        <p:spPr>
          <a:xfrm>
            <a:off x="6446520" y="1554480"/>
            <a:ext cx="54864" cy="3337560"/>
          </a:xfrm>
          <a:prstGeom prst="rect">
            <a:avLst/>
          </a:prstGeom>
          <a:solidFill>
            <a:srgbClr val="F5B041"/>
          </a:solidFill>
          <a:ln w="12700">
            <a:solidFill>
              <a:srgbClr val="F5B041"/>
            </a:solidFill>
            <a:prstDash val="solid"/>
          </a:ln>
        </p:spPr>
      </p:sp>
      <p:sp>
        <p:nvSpPr>
          <p:cNvPr id="11" name="Text 9"/>
          <p:cNvSpPr/>
          <p:nvPr/>
        </p:nvSpPr>
        <p:spPr>
          <a:xfrm>
            <a:off x="6647688" y="1709928"/>
            <a:ext cx="1929384" cy="256032"/>
          </a:xfrm>
          <a:prstGeom prst="rect">
            <a:avLst/>
          </a:prstGeom>
          <a:noFill/>
          <a:ln/>
        </p:spPr>
        <p:txBody>
          <a:bodyPr wrap="square" lIns="0" tIns="0" rIns="0" bIns="0" rtlCol="0" anchor="ctr">
            <a:normAutofit/>
          </a:bodyPr>
          <a:lstStyle/>
          <a:p>
            <a:pPr indent="0" marL="0">
              <a:buNone/>
            </a:pPr>
            <a:r>
              <a:rPr lang="en-US" sz="1400" b="1" dirty="0">
                <a:solidFill>
                  <a:srgbClr val="F7FAFC"/>
                </a:solidFill>
              </a:rPr>
              <a:t>AWS COST</a:t>
            </a:r>
            <a:endParaRPr lang="en-US" sz="1400" dirty="0"/>
          </a:p>
        </p:txBody>
      </p:sp>
      <p:sp>
        <p:nvSpPr>
          <p:cNvPr id="12" name="Text 10"/>
          <p:cNvSpPr/>
          <p:nvPr/>
        </p:nvSpPr>
        <p:spPr>
          <a:xfrm>
            <a:off x="6647688" y="2066544"/>
            <a:ext cx="1929384" cy="2679192"/>
          </a:xfrm>
          <a:prstGeom prst="rect">
            <a:avLst/>
          </a:prstGeom>
          <a:noFill/>
          <a:ln/>
        </p:spPr>
        <p:txBody>
          <a:bodyPr wrap="square" lIns="0" tIns="0" rIns="0" bIns="0" rtlCol="0" anchor="ctr">
            <a:normAutofit/>
          </a:bodyPr>
          <a:lstStyle/>
          <a:p>
            <a:pPr indent="0" marL="0">
              <a:buNone/>
            </a:pPr>
            <a:r>
              <a:rPr lang="en-US" sz="1300" dirty="0">
                <a:solidFill>
                  <a:srgbClr val="8FA6B9"/>
                </a:solidFill>
              </a:rPr>
              <a:t>Infrastructure estimate</a:t>
            </a:r>
            <a:endParaRPr lang="en-US" sz="1300" dirty="0"/>
          </a:p>
          <a:p>
            <a:pPr indent="0" marL="0">
              <a:buNone/>
            </a:pPr>
            <a:r>
              <a:rPr lang="en-US" sz="1300" dirty="0">
                <a:solidFill>
                  <a:srgbClr val="8FA6B9"/>
                </a:solidFill>
              </a:rPr>
              <a:t>Resource breakdown</a:t>
            </a:r>
            <a:endParaRPr lang="en-US" sz="1300" dirty="0"/>
          </a:p>
          <a:p>
            <a:pPr indent="0" marL="0">
              <a:buNone/>
            </a:pPr>
            <a:r>
              <a:rPr lang="en-US" sz="1300" dirty="0">
                <a:solidFill>
                  <a:srgbClr val="8FA6B9"/>
                </a:solidFill>
              </a:rPr>
              <a:t>Thresholds / approvals</a:t>
            </a:r>
            <a:endParaRPr lang="en-US" sz="1300" dirty="0"/>
          </a:p>
        </p:txBody>
      </p:sp>
      <p:sp>
        <p:nvSpPr>
          <p:cNvPr id="13" name="Shape 11"/>
          <p:cNvSpPr/>
          <p:nvPr/>
        </p:nvSpPr>
        <p:spPr>
          <a:xfrm>
            <a:off x="9006840" y="1554480"/>
            <a:ext cx="2240280" cy="3337560"/>
          </a:xfrm>
          <a:prstGeom prst="roundRect">
            <a:avLst>
              <a:gd name="adj" fmla="val 2449"/>
            </a:avLst>
          </a:prstGeom>
          <a:solidFill>
            <a:srgbClr val="0F1D2D"/>
          </a:solidFill>
          <a:ln w="12700">
            <a:solidFill>
              <a:srgbClr val="29445C"/>
            </a:solidFill>
            <a:prstDash val="solid"/>
          </a:ln>
        </p:spPr>
      </p:sp>
      <p:sp>
        <p:nvSpPr>
          <p:cNvPr id="14" name="Shape 12"/>
          <p:cNvSpPr/>
          <p:nvPr/>
        </p:nvSpPr>
        <p:spPr>
          <a:xfrm>
            <a:off x="9006840" y="1554480"/>
            <a:ext cx="54864" cy="3337560"/>
          </a:xfrm>
          <a:prstGeom prst="rect">
            <a:avLst/>
          </a:prstGeom>
          <a:solidFill>
            <a:srgbClr val="54D6A3"/>
          </a:solidFill>
          <a:ln w="12700">
            <a:solidFill>
              <a:srgbClr val="54D6A3"/>
            </a:solidFill>
            <a:prstDash val="solid"/>
          </a:ln>
        </p:spPr>
      </p:sp>
      <p:sp>
        <p:nvSpPr>
          <p:cNvPr id="15" name="Text 13"/>
          <p:cNvSpPr/>
          <p:nvPr/>
        </p:nvSpPr>
        <p:spPr>
          <a:xfrm>
            <a:off x="9208008" y="1709928"/>
            <a:ext cx="1929384" cy="256032"/>
          </a:xfrm>
          <a:prstGeom prst="rect">
            <a:avLst/>
          </a:prstGeom>
          <a:noFill/>
          <a:ln/>
        </p:spPr>
        <p:txBody>
          <a:bodyPr wrap="square" lIns="0" tIns="0" rIns="0" bIns="0" rtlCol="0" anchor="ctr">
            <a:normAutofit/>
          </a:bodyPr>
          <a:lstStyle/>
          <a:p>
            <a:pPr indent="0" marL="0">
              <a:buNone/>
            </a:pPr>
            <a:r>
              <a:rPr lang="en-US" sz="1400" b="1" dirty="0">
                <a:solidFill>
                  <a:srgbClr val="F7FAFC"/>
                </a:solidFill>
              </a:rPr>
              <a:t>PRODUCT PLAN</a:t>
            </a:r>
            <a:endParaRPr lang="en-US" sz="1400" dirty="0"/>
          </a:p>
        </p:txBody>
      </p:sp>
      <p:sp>
        <p:nvSpPr>
          <p:cNvPr id="16" name="Text 14"/>
          <p:cNvSpPr/>
          <p:nvPr/>
        </p:nvSpPr>
        <p:spPr>
          <a:xfrm>
            <a:off x="9208008" y="2066544"/>
            <a:ext cx="1929384" cy="2679192"/>
          </a:xfrm>
          <a:prstGeom prst="rect">
            <a:avLst/>
          </a:prstGeom>
          <a:noFill/>
          <a:ln/>
        </p:spPr>
        <p:txBody>
          <a:bodyPr wrap="square" lIns="0" tIns="0" rIns="0" bIns="0" rtlCol="0" anchor="ctr">
            <a:normAutofit/>
          </a:bodyPr>
          <a:lstStyle/>
          <a:p>
            <a:pPr indent="0" marL="0">
              <a:buNone/>
            </a:pPr>
            <a:r>
              <a:rPr lang="en-US" sz="1300" dirty="0">
                <a:solidFill>
                  <a:srgbClr val="8FA6B9"/>
                </a:solidFill>
              </a:rPr>
              <a:t>Entitlements</a:t>
            </a:r>
            <a:endParaRPr lang="en-US" sz="1300" dirty="0"/>
          </a:p>
          <a:p>
            <a:pPr indent="0" marL="0">
              <a:buNone/>
            </a:pPr>
            <a:r>
              <a:rPr lang="en-US" sz="1300" dirty="0">
                <a:solidFill>
                  <a:srgbClr val="8FA6B9"/>
                </a:solidFill>
              </a:rPr>
              <a:t>Usage</a:t>
            </a:r>
            <a:endParaRPr lang="en-US" sz="1300" dirty="0"/>
          </a:p>
          <a:p>
            <a:pPr indent="0" marL="0">
              <a:buNone/>
            </a:pPr>
            <a:r>
              <a:rPr lang="en-US" sz="1300" dirty="0">
                <a:solidFill>
                  <a:srgbClr val="8FA6B9"/>
                </a:solidFill>
              </a:rPr>
              <a:t>Stripe test-mode</a:t>
            </a:r>
            <a:endParaRPr lang="en-US" sz="1300" dirty="0"/>
          </a:p>
        </p:txBody>
      </p:sp>
      <p:sp>
        <p:nvSpPr>
          <p:cNvPr id="17" name="Shape 15"/>
          <p:cNvSpPr/>
          <p:nvPr/>
        </p:nvSpPr>
        <p:spPr>
          <a:xfrm>
            <a:off x="7086600" y="5193792"/>
            <a:ext cx="3520440" cy="347472"/>
          </a:xfrm>
          <a:prstGeom prst="roundRect">
            <a:avLst>
              <a:gd name="adj" fmla="val 47368"/>
            </a:avLst>
          </a:prstGeom>
          <a:solidFill>
            <a:srgbClr val="35C2D8">
              <a:alpha val="88000"/>
            </a:srgbClr>
          </a:solidFill>
          <a:ln w="12700">
            <a:solidFill>
              <a:srgbClr val="35C2D8">
                <a:alpha val="0"/>
              </a:srgbClr>
            </a:solidFill>
            <a:prstDash val="solid"/>
          </a:ln>
        </p:spPr>
      </p:sp>
      <p:sp>
        <p:nvSpPr>
          <p:cNvPr id="18" name="Text 16"/>
          <p:cNvSpPr/>
          <p:nvPr/>
        </p:nvSpPr>
        <p:spPr>
          <a:xfrm>
            <a:off x="7159752" y="5276088"/>
            <a:ext cx="3374136" cy="118872"/>
          </a:xfrm>
          <a:prstGeom prst="rect">
            <a:avLst/>
          </a:prstGeom>
          <a:noFill/>
          <a:ln/>
        </p:spPr>
        <p:txBody>
          <a:bodyPr wrap="square" lIns="0" tIns="0" rIns="0" bIns="0" rtlCol="0" anchor="ctr">
            <a:normAutofit/>
          </a:bodyPr>
          <a:lstStyle/>
          <a:p>
            <a:pPr algn="ctr" indent="0" marL="0">
              <a:buNone/>
            </a:pPr>
            <a:r>
              <a:rPr lang="en-US" sz="950" b="1" dirty="0">
                <a:solidFill>
                  <a:srgbClr val="07111F"/>
                </a:solidFill>
              </a:rPr>
              <a:t>SEPARATE CONCERNS — ONE ADMISSION PATH</a:t>
            </a:r>
            <a:endParaRPr lang="en-US" sz="950" dirty="0"/>
          </a:p>
        </p:txBody>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347472"/>
            <a:ext cx="9098280" cy="475488"/>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Managed Databases and Service-Specific Readiness</a:t>
            </a:r>
            <a:endParaRPr lang="en-US" sz="2400" dirty="0"/>
          </a:p>
        </p:txBody>
      </p:sp>
      <p:sp>
        <p:nvSpPr>
          <p:cNvPr id="3" name="Shape 1"/>
          <p:cNvSpPr/>
          <p:nvPr/>
        </p:nvSpPr>
        <p:spPr>
          <a:xfrm>
            <a:off x="9829800" y="338328"/>
            <a:ext cx="1783080" cy="329184"/>
          </a:xfrm>
          <a:prstGeom prst="roundRect">
            <a:avLst>
              <a:gd name="adj" fmla="val 22222"/>
            </a:avLst>
          </a:prstGeom>
          <a:solidFill>
            <a:srgbClr val="4FA3FF">
              <a:alpha val="92000"/>
            </a:srgbClr>
          </a:solidFill>
          <a:ln w="12700">
            <a:solidFill>
              <a:srgbClr val="4FA3FF">
                <a:alpha val="0"/>
              </a:srgbClr>
            </a:solidFill>
            <a:prstDash val="solid"/>
          </a:ln>
        </p:spPr>
      </p:sp>
      <p:sp>
        <p:nvSpPr>
          <p:cNvPr id="4" name="Text 2"/>
          <p:cNvSpPr/>
          <p:nvPr/>
        </p:nvSpPr>
        <p:spPr>
          <a:xfrm>
            <a:off x="9912096" y="416052"/>
            <a:ext cx="1609344" cy="118872"/>
          </a:xfrm>
          <a:prstGeom prst="rect">
            <a:avLst/>
          </a:prstGeom>
          <a:noFill/>
          <a:ln/>
        </p:spPr>
        <p:txBody>
          <a:bodyPr wrap="square" lIns="0" tIns="0" rIns="0" bIns="0" rtlCol="0" anchor="ctr">
            <a:normAutofit/>
          </a:bodyPr>
          <a:lstStyle/>
          <a:p>
            <a:pPr algn="ctr" indent="0" marL="0">
              <a:buNone/>
            </a:pPr>
            <a:r>
              <a:rPr lang="en-US" sz="1000" b="1" dirty="0">
                <a:solidFill>
                  <a:srgbClr val="07111F"/>
                </a:solidFill>
              </a:rPr>
              <a:t>Hassan Sajjad</a:t>
            </a:r>
            <a:endParaRPr lang="en-US" sz="1000" dirty="0"/>
          </a:p>
          <a:p>
            <a:pPr algn="ctr" indent="0" marL="0">
              <a:buNone/>
            </a:pPr>
            <a:endParaRPr lang="en-US" sz="1000" dirty="0"/>
          </a:p>
          <a:p>
            <a:pPr algn="ctr" indent="0" marL="0">
              <a:buNone/>
            </a:pPr>
            <a:r>
              <a:rPr lang="en-US" sz="1000" b="1" dirty="0">
                <a:solidFill>
                  <a:srgbClr val="07111F"/>
                </a:solidFill>
              </a:rPr>
              <a:t>Purpose: Explain database persistence without creating a global deployment bottleneck.</a:t>
            </a:r>
            <a:endParaRPr lang="en-US" sz="1000" dirty="0"/>
          </a:p>
          <a:p>
            <a:pPr algn="ctr" indent="0" marL="0">
              <a:buNone/>
            </a:pPr>
            <a:endParaRPr lang="en-US" sz="1000" dirty="0"/>
          </a:p>
          <a:p>
            <a:pPr algn="ctr" indent="0" marL="0">
              <a:buNone/>
            </a:pPr>
            <a:r>
              <a:rPr lang="en-US" sz="1000" b="1" dirty="0">
                <a:solidFill>
                  <a:srgbClr val="07111F"/>
                </a:solidFill>
              </a:rPr>
              <a:t>Presentation Content:</a:t>
            </a:r>
            <a:endParaRPr lang="en-US" sz="1000" dirty="0"/>
          </a:p>
          <a:p>
            <a:pPr algn="ctr" indent="0" marL="0">
              <a:buNone/>
            </a:pPr>
            <a:endParaRPr lang="en-US" sz="1000" dirty="0"/>
          </a:p>
          <a:p>
            <a:pPr algn="ctr" indent="0" marL="0">
              <a:buNone/>
            </a:pPr>
            <a:r>
              <a:rPr lang="en-US" sz="1000" b="1" dirty="0">
                <a:solidFill>
                  <a:srgbClr val="07111F"/>
                </a:solidFill>
              </a:rPr>
              <a:t>- Supported engine contracts cover PostgreSQL, MySQL, and MongoDB with engine-specific health behavior.</a:t>
            </a:r>
            <a:endParaRPr lang="en-US" sz="1000" dirty="0"/>
          </a:p>
          <a:p>
            <a:pPr algn="ctr" indent="0" marL="0">
              <a:buNone/>
            </a:pPr>
            <a:endParaRPr lang="en-US" sz="1000" dirty="0"/>
          </a:p>
          <a:p>
            <a:pPr algn="ctr" indent="0" marL="0">
              <a:buNone/>
            </a:pPr>
            <a:r>
              <a:rPr lang="en-US" sz="1000" b="1" dirty="0">
                <a:solidFill>
                  <a:srgbClr val="07111F"/>
                </a:solidFill>
              </a:rPr>
              <a:t>- Credentials are generated and stored through Secrets Manager; data is persisted on encrypted EFS.</a:t>
            </a:r>
            <a:endParaRPr lang="en-US" sz="1000" dirty="0"/>
          </a:p>
          <a:p>
            <a:pPr algn="ctr" indent="0" marL="0">
              <a:buNone/>
            </a:pPr>
            <a:endParaRPr lang="en-US" sz="1000" dirty="0"/>
          </a:p>
          <a:p>
            <a:pPr algn="ctr" indent="0" marL="0">
              <a:buNone/>
            </a:pPr>
            <a:r>
              <a:rPr lang="en-US" sz="1000" b="1" dirty="0">
                <a:solidFill>
                  <a:srgbClr val="07111F"/>
                </a:solidFill>
              </a:rPr>
              <a:t>- Database state is reconciled before deployment into HEALTHY, RECOVERABLE, DATA_LOST_RESET_REQUIRED, STALE_METADATA, or IDENTITY_MIGRATION_REQUIRED.</a:t>
            </a:r>
            <a:endParaRPr lang="en-US" sz="1000" dirty="0"/>
          </a:p>
          <a:p>
            <a:pPr algn="ctr" indent="0" marL="0">
              <a:buNone/>
            </a:pPr>
            <a:endParaRPr lang="en-US" sz="1000" dirty="0"/>
          </a:p>
          <a:p>
            <a:pPr algn="ctr" indent="0" marL="0">
              <a:buNone/>
            </a:pPr>
            <a:r>
              <a:rPr lang="en-US" sz="1000" b="1" dirty="0">
                <a:solidFill>
                  <a:srgbClr val="07111F"/>
                </a:solidFill>
              </a:rPr>
              <a:t>- Deployment proceeds only when the authoritative reconciliation result explicitly allows it.</a:t>
            </a:r>
            <a:endParaRPr lang="en-US" sz="1000" dirty="0"/>
          </a:p>
          <a:p>
            <a:pPr algn="ctr" indent="0" marL="0">
              <a:buNone/>
            </a:pPr>
            <a:endParaRPr lang="en-US" sz="1000" dirty="0"/>
          </a:p>
          <a:p>
            <a:pPr algn="ctr" indent="0" marL="0">
              <a:buNone/>
            </a:pPr>
            <a:r>
              <a:rPr lang="en-US" sz="1000" b="1" dirty="0">
                <a:solidFill>
                  <a:srgbClr val="07111F"/>
                </a:solidFill>
              </a:rPr>
              <a:t>- PostgreSQL and MongoDB require container readiness; MySQL additionally requires successful application-user grant reconciliation.</a:t>
            </a:r>
            <a:endParaRPr lang="en-US" sz="1000" dirty="0"/>
          </a:p>
          <a:p>
            <a:pPr algn="ctr" indent="0" marL="0">
              <a:buNone/>
            </a:pPr>
            <a:endParaRPr lang="en-US" sz="1000" dirty="0"/>
          </a:p>
          <a:p>
            <a:pPr algn="ctr" indent="0" marL="0">
              <a:buNone/>
            </a:pPr>
            <a:r>
              <a:rPr lang="en-US" sz="1000" b="1" dirty="0">
                <a:solidFill>
                  <a:srgbClr val="07111F"/>
                </a:solidFill>
              </a:rPr>
              <a:t>- Only the attached application waits for its database; independent services continue through their own lifecycle.</a:t>
            </a:r>
            <a:endParaRPr lang="en-US" sz="1000" dirty="0"/>
          </a:p>
          <a:p>
            <a:pPr algn="ctr" indent="0" marL="0">
              <a:buNone/>
            </a:pPr>
            <a:endParaRPr lang="en-US" sz="1000" dirty="0"/>
          </a:p>
          <a:p>
            <a:pPr algn="ctr" indent="0" marL="0">
              <a:buNone/>
            </a:pPr>
            <a:r>
              <a:rPr lang="en-US" sz="1000" b="1" dirty="0">
                <a:solidFill>
                  <a:srgbClr val="07111F"/>
                </a:solidFill>
              </a:rPr>
              <a:t>- A fresh deployment never silently deletes healthy persistent data.</a:t>
            </a:r>
            <a:endParaRPr lang="en-US" sz="1000" dirty="0"/>
          </a:p>
          <a:p>
            <a:pPr algn="ctr" indent="0" marL="0">
              <a:buNone/>
            </a:pPr>
            <a:endParaRPr lang="en-US" sz="1000" dirty="0"/>
          </a:p>
          <a:p>
            <a:pPr algn="ctr" indent="0" marL="0">
              <a:buNone/>
            </a:pPr>
            <a:r>
              <a:rPr lang="en-US" sz="1000" b="1" dirty="0">
                <a:solidFill>
                  <a:srgbClr val="07111F"/>
                </a:solidFill>
              </a:rPr>
              <a:t>Visual Recommendation: Three engine cards feeding a per-service readiness gate, with unrelated services bypassing that gate.</a:t>
            </a:r>
            <a:endParaRPr lang="en-US" sz="1000" dirty="0"/>
          </a:p>
          <a:p>
            <a:pPr algn="ctr" indent="0" marL="0">
              <a:buNone/>
            </a:pPr>
            <a:endParaRPr lang="en-US" sz="1000" dirty="0"/>
          </a:p>
          <a:p>
            <a:pPr algn="ctr" indent="0" marL="0">
              <a:buNone/>
            </a:pPr>
            <a:r>
              <a:rPr lang="en-US" sz="1000" b="1" dirty="0">
                <a:solidFill>
                  <a:srgbClr val="07111F"/>
                </a:solidFill>
              </a:rPr>
              <a:t>Defense Notes: Distinguish structural support from live certification. The current source contains the engine-specific contracts, while some engine and dynamic-network cases remain listed for fresh AWS proof.</a:t>
            </a:r>
            <a:endParaRPr lang="en-US" sz="1000" dirty="0"/>
          </a:p>
        </p:txBody>
      </p:sp>
      <p:sp>
        <p:nvSpPr>
          <p:cNvPr id="5" name="Shape 3"/>
          <p:cNvSpPr/>
          <p:nvPr/>
        </p:nvSpPr>
        <p:spPr>
          <a:xfrm>
            <a:off x="502920" y="932688"/>
            <a:ext cx="11109960" cy="0"/>
          </a:xfrm>
          <a:prstGeom prst="line">
            <a:avLst/>
          </a:prstGeom>
          <a:noFill/>
          <a:ln w="17780">
            <a:solidFill>
              <a:srgbClr val="4FA3FF">
                <a:alpha val="75000"/>
              </a:srgbClr>
            </a:solidFill>
            <a:prstDash val="solid"/>
          </a:ln>
        </p:spPr>
      </p:sp>
      <p:sp>
        <p:nvSpPr>
          <p:cNvPr id="6" name="Text 4"/>
          <p:cNvSpPr/>
          <p:nvPr/>
        </p:nvSpPr>
        <p:spPr>
          <a:xfrm>
            <a:off x="502920" y="996696"/>
            <a:ext cx="5212080" cy="164592"/>
          </a:xfrm>
          <a:prstGeom prst="rect">
            <a:avLst/>
          </a:prstGeom>
          <a:noFill/>
          <a:ln/>
        </p:spPr>
        <p:txBody>
          <a:bodyPr wrap="square" lIns="0" tIns="0" rIns="0" bIns="0" rtlCol="0" anchor="ctr"/>
          <a:lstStyle/>
          <a:p>
            <a:pPr indent="0" marL="0">
              <a:buNone/>
            </a:pPr>
            <a:r>
              <a:rPr lang="en-US" sz="850" b="1" spc="110" kern="0" dirty="0">
                <a:solidFill>
                  <a:srgbClr val="4FA3FF"/>
                </a:solidFill>
              </a:rPr>
              <a:t>HASSAN — CLOUD &amp; DEVOPS</a:t>
            </a:r>
            <a:endParaRPr lang="en-US" sz="850" dirty="0"/>
          </a:p>
        </p:txBody>
      </p:sp>
      <p:sp>
        <p:nvSpPr>
          <p:cNvPr id="7" name="Text 5"/>
          <p:cNvSpPr/>
          <p:nvPr/>
        </p:nvSpPr>
        <p:spPr>
          <a:xfrm>
            <a:off x="594360" y="1325880"/>
            <a:ext cx="5349240" cy="4937760"/>
          </a:xfrm>
          <a:prstGeom prst="rect">
            <a:avLst/>
          </a:prstGeom>
          <a:noFill/>
          <a:ln/>
        </p:spPr>
        <p:txBody>
          <a:bodyPr wrap="square" lIns="254" tIns="254" rIns="254" bIns="254" rtlCol="0" anchor="ctr">
            <a:normAutofit/>
          </a:bodyPr>
          <a:lstStyle/>
          <a:p>
            <a:pPr marL="190500" indent="-190500">
              <a:buSzPct val="100000"/>
              <a:buChar char="•"/>
            </a:pPr>
            <a:r>
              <a:rPr lang="en-US" sz="1580" dirty="0">
                <a:solidFill>
                  <a:srgbClr val="D9E5EF"/>
                </a:solidFill>
                <a:latin typeface="Aptos" pitchFamily="34" charset="0"/>
                <a:ea typeface="Aptos" pitchFamily="34" charset="-122"/>
                <a:cs typeface="Aptos" pitchFamily="34" charset="-120"/>
              </a:rPr>
              <a:t>Supported engine contracts cover PostgreSQL, MySQL, and MongoDB with engine-specific health behavior.</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Credentials are generated and stored through Secrets Manager; data is persisted on encrypted EFS.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Database state is reconciled before deployment into HEALTHY, RECOVERABLE, DATA_LOST_RESET_REQUIRED, STALE_METADATA, or IDENTITY_MIGRATION_REQUIRED.</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Deployment proceeds only when the authoritative reconciliation result explicitly allows it.</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PostgreSQL and MongoDB require container readiness; MySQL additionally requires successful application-user grant reconciliation.</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Only the attached application waits for its database; independent services continue through their own lifecycle.</a:t>
            </a:r>
            <a:endParaRPr lang="en-US" sz="1580" dirty="0"/>
          </a:p>
        </p:txBody>
      </p:sp>
      <p:sp>
        <p:nvSpPr>
          <p:cNvPr id="8" name="Shape 6"/>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9" name="Shape 7"/>
          <p:cNvSpPr/>
          <p:nvPr/>
        </p:nvSpPr>
        <p:spPr>
          <a:xfrm>
            <a:off x="6400800" y="1572768"/>
            <a:ext cx="1481328" cy="2057400"/>
          </a:xfrm>
          <a:prstGeom prst="roundRect">
            <a:avLst>
              <a:gd name="adj" fmla="val 3704"/>
            </a:avLst>
          </a:prstGeom>
          <a:solidFill>
            <a:srgbClr val="0F1D2D"/>
          </a:solidFill>
          <a:ln w="12700">
            <a:solidFill>
              <a:srgbClr val="29445C"/>
            </a:solidFill>
            <a:prstDash val="solid"/>
          </a:ln>
        </p:spPr>
      </p:sp>
      <p:sp>
        <p:nvSpPr>
          <p:cNvPr id="10" name="Shape 8"/>
          <p:cNvSpPr/>
          <p:nvPr/>
        </p:nvSpPr>
        <p:spPr>
          <a:xfrm>
            <a:off x="6400800" y="1572768"/>
            <a:ext cx="54864" cy="2057400"/>
          </a:xfrm>
          <a:prstGeom prst="rect">
            <a:avLst/>
          </a:prstGeom>
          <a:solidFill>
            <a:srgbClr val="4FA3FF"/>
          </a:solidFill>
          <a:ln w="12700">
            <a:solidFill>
              <a:srgbClr val="4FA3FF"/>
            </a:solidFill>
            <a:prstDash val="solid"/>
          </a:ln>
        </p:spPr>
      </p:sp>
      <p:sp>
        <p:nvSpPr>
          <p:cNvPr id="11" name="Text 9"/>
          <p:cNvSpPr/>
          <p:nvPr/>
        </p:nvSpPr>
        <p:spPr>
          <a:xfrm>
            <a:off x="6601968" y="1728216"/>
            <a:ext cx="1170432"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PostgreSQL</a:t>
            </a:r>
            <a:endParaRPr lang="en-US" sz="1150" dirty="0"/>
          </a:p>
        </p:txBody>
      </p:sp>
      <p:sp>
        <p:nvSpPr>
          <p:cNvPr id="12" name="Text 10"/>
          <p:cNvSpPr/>
          <p:nvPr/>
        </p:nvSpPr>
        <p:spPr>
          <a:xfrm>
            <a:off x="6601968" y="2084832"/>
            <a:ext cx="1170432" cy="1399032"/>
          </a:xfrm>
          <a:prstGeom prst="rect">
            <a:avLst/>
          </a:prstGeom>
          <a:noFill/>
          <a:ln/>
        </p:spPr>
        <p:txBody>
          <a:bodyPr wrap="square" lIns="0" tIns="0" rIns="0" bIns="0" rtlCol="0" anchor="ctr">
            <a:normAutofit/>
          </a:bodyPr>
          <a:lstStyle/>
          <a:p>
            <a:pPr indent="0" marL="0">
              <a:buNone/>
            </a:pPr>
            <a:r>
              <a:rPr lang="en-US" sz="1020" dirty="0">
                <a:solidFill>
                  <a:srgbClr val="8FA6B9"/>
                </a:solidFill>
              </a:rPr>
              <a:t>readiness + persistence</a:t>
            </a:r>
            <a:endParaRPr lang="en-US" sz="1020" dirty="0"/>
          </a:p>
        </p:txBody>
      </p:sp>
      <p:sp>
        <p:nvSpPr>
          <p:cNvPr id="13" name="Shape 11"/>
          <p:cNvSpPr/>
          <p:nvPr/>
        </p:nvSpPr>
        <p:spPr>
          <a:xfrm>
            <a:off x="8092440" y="1572768"/>
            <a:ext cx="1481328" cy="2057400"/>
          </a:xfrm>
          <a:prstGeom prst="roundRect">
            <a:avLst>
              <a:gd name="adj" fmla="val 3704"/>
            </a:avLst>
          </a:prstGeom>
          <a:solidFill>
            <a:srgbClr val="0F1D2D"/>
          </a:solidFill>
          <a:ln w="12700">
            <a:solidFill>
              <a:srgbClr val="29445C"/>
            </a:solidFill>
            <a:prstDash val="solid"/>
          </a:ln>
        </p:spPr>
      </p:sp>
      <p:sp>
        <p:nvSpPr>
          <p:cNvPr id="14" name="Shape 12"/>
          <p:cNvSpPr/>
          <p:nvPr/>
        </p:nvSpPr>
        <p:spPr>
          <a:xfrm>
            <a:off x="8092440" y="1572768"/>
            <a:ext cx="54864" cy="2057400"/>
          </a:xfrm>
          <a:prstGeom prst="rect">
            <a:avLst/>
          </a:prstGeom>
          <a:solidFill>
            <a:srgbClr val="F5B041"/>
          </a:solidFill>
          <a:ln w="12700">
            <a:solidFill>
              <a:srgbClr val="F5B041"/>
            </a:solidFill>
            <a:prstDash val="solid"/>
          </a:ln>
        </p:spPr>
      </p:sp>
      <p:sp>
        <p:nvSpPr>
          <p:cNvPr id="15" name="Text 13"/>
          <p:cNvSpPr/>
          <p:nvPr/>
        </p:nvSpPr>
        <p:spPr>
          <a:xfrm>
            <a:off x="8293608" y="1728216"/>
            <a:ext cx="1170432"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MySQL</a:t>
            </a:r>
            <a:endParaRPr lang="en-US" sz="1150" dirty="0"/>
          </a:p>
        </p:txBody>
      </p:sp>
      <p:sp>
        <p:nvSpPr>
          <p:cNvPr id="16" name="Text 14"/>
          <p:cNvSpPr/>
          <p:nvPr/>
        </p:nvSpPr>
        <p:spPr>
          <a:xfrm>
            <a:off x="8293608" y="2084832"/>
            <a:ext cx="1170432" cy="1399032"/>
          </a:xfrm>
          <a:prstGeom prst="rect">
            <a:avLst/>
          </a:prstGeom>
          <a:noFill/>
          <a:ln/>
        </p:spPr>
        <p:txBody>
          <a:bodyPr wrap="square" lIns="0" tIns="0" rIns="0" bIns="0" rtlCol="0" anchor="ctr">
            <a:normAutofit/>
          </a:bodyPr>
          <a:lstStyle/>
          <a:p>
            <a:pPr indent="0" marL="0">
              <a:buNone/>
            </a:pPr>
            <a:r>
              <a:rPr lang="en-US" sz="1020" dirty="0">
                <a:solidFill>
                  <a:srgbClr val="8FA6B9"/>
                </a:solidFill>
              </a:rPr>
              <a:t>readiness + grant reconcile</a:t>
            </a:r>
            <a:endParaRPr lang="en-US" sz="1020" dirty="0"/>
          </a:p>
        </p:txBody>
      </p:sp>
      <p:sp>
        <p:nvSpPr>
          <p:cNvPr id="17" name="Shape 15"/>
          <p:cNvSpPr/>
          <p:nvPr/>
        </p:nvSpPr>
        <p:spPr>
          <a:xfrm>
            <a:off x="9784080" y="1572768"/>
            <a:ext cx="1481328" cy="2057400"/>
          </a:xfrm>
          <a:prstGeom prst="roundRect">
            <a:avLst>
              <a:gd name="adj" fmla="val 3704"/>
            </a:avLst>
          </a:prstGeom>
          <a:solidFill>
            <a:srgbClr val="0F1D2D"/>
          </a:solidFill>
          <a:ln w="12700">
            <a:solidFill>
              <a:srgbClr val="29445C"/>
            </a:solidFill>
            <a:prstDash val="solid"/>
          </a:ln>
        </p:spPr>
      </p:sp>
      <p:sp>
        <p:nvSpPr>
          <p:cNvPr id="18" name="Shape 16"/>
          <p:cNvSpPr/>
          <p:nvPr/>
        </p:nvSpPr>
        <p:spPr>
          <a:xfrm>
            <a:off x="9784080" y="1572768"/>
            <a:ext cx="54864" cy="2057400"/>
          </a:xfrm>
          <a:prstGeom prst="rect">
            <a:avLst/>
          </a:prstGeom>
          <a:solidFill>
            <a:srgbClr val="54D6A3"/>
          </a:solidFill>
          <a:ln w="12700">
            <a:solidFill>
              <a:srgbClr val="54D6A3"/>
            </a:solidFill>
            <a:prstDash val="solid"/>
          </a:ln>
        </p:spPr>
      </p:sp>
      <p:sp>
        <p:nvSpPr>
          <p:cNvPr id="19" name="Text 17"/>
          <p:cNvSpPr/>
          <p:nvPr/>
        </p:nvSpPr>
        <p:spPr>
          <a:xfrm>
            <a:off x="9985248" y="1728216"/>
            <a:ext cx="1170432" cy="256032"/>
          </a:xfrm>
          <a:prstGeom prst="rect">
            <a:avLst/>
          </a:prstGeom>
          <a:noFill/>
          <a:ln/>
        </p:spPr>
        <p:txBody>
          <a:bodyPr wrap="square" lIns="0" tIns="0" rIns="0" bIns="0" rtlCol="0" anchor="ctr">
            <a:normAutofit/>
          </a:bodyPr>
          <a:lstStyle/>
          <a:p>
            <a:pPr indent="0" marL="0">
              <a:buNone/>
            </a:pPr>
            <a:r>
              <a:rPr lang="en-US" sz="1150" b="1" dirty="0">
                <a:solidFill>
                  <a:srgbClr val="F7FAFC"/>
                </a:solidFill>
              </a:rPr>
              <a:t>MongoDB</a:t>
            </a:r>
            <a:endParaRPr lang="en-US" sz="1150" dirty="0"/>
          </a:p>
        </p:txBody>
      </p:sp>
      <p:sp>
        <p:nvSpPr>
          <p:cNvPr id="20" name="Text 18"/>
          <p:cNvSpPr/>
          <p:nvPr/>
        </p:nvSpPr>
        <p:spPr>
          <a:xfrm>
            <a:off x="9985248" y="2084832"/>
            <a:ext cx="1170432" cy="1399032"/>
          </a:xfrm>
          <a:prstGeom prst="rect">
            <a:avLst/>
          </a:prstGeom>
          <a:noFill/>
          <a:ln/>
        </p:spPr>
        <p:txBody>
          <a:bodyPr wrap="square" lIns="0" tIns="0" rIns="0" bIns="0" rtlCol="0" anchor="ctr">
            <a:normAutofit/>
          </a:bodyPr>
          <a:lstStyle/>
          <a:p>
            <a:pPr indent="0" marL="0">
              <a:buNone/>
            </a:pPr>
            <a:r>
              <a:rPr lang="en-US" sz="1020" dirty="0">
                <a:solidFill>
                  <a:srgbClr val="8FA6B9"/>
                </a:solidFill>
              </a:rPr>
              <a:t>readiness + persistence</a:t>
            </a:r>
            <a:endParaRPr lang="en-US" sz="1020" dirty="0"/>
          </a:p>
        </p:txBody>
      </p:sp>
      <p:sp>
        <p:nvSpPr>
          <p:cNvPr id="21" name="Shape 19"/>
          <p:cNvSpPr/>
          <p:nvPr/>
        </p:nvSpPr>
        <p:spPr>
          <a:xfrm>
            <a:off x="7406640" y="4160520"/>
            <a:ext cx="3611880" cy="822960"/>
          </a:xfrm>
          <a:prstGeom prst="roundRect">
            <a:avLst>
              <a:gd name="adj" fmla="val 5556"/>
            </a:avLst>
          </a:prstGeom>
          <a:solidFill>
            <a:srgbClr val="12263A"/>
          </a:solidFill>
          <a:ln w="17780">
            <a:solidFill>
              <a:srgbClr val="35C2D8"/>
            </a:solidFill>
            <a:prstDash val="solid"/>
          </a:ln>
        </p:spPr>
      </p:sp>
      <p:sp>
        <p:nvSpPr>
          <p:cNvPr id="22" name="Text 20"/>
          <p:cNvSpPr/>
          <p:nvPr/>
        </p:nvSpPr>
        <p:spPr>
          <a:xfrm>
            <a:off x="7498080" y="4288536"/>
            <a:ext cx="342900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Per-service readiness gate</a:t>
            </a:r>
            <a:endParaRPr lang="en-US" sz="1200" dirty="0"/>
          </a:p>
        </p:txBody>
      </p:sp>
      <p:sp>
        <p:nvSpPr>
          <p:cNvPr id="23" name="Text 21"/>
          <p:cNvSpPr/>
          <p:nvPr/>
        </p:nvSpPr>
        <p:spPr>
          <a:xfrm>
            <a:off x="7498080" y="4608576"/>
            <a:ext cx="3429000" cy="292608"/>
          </a:xfrm>
          <a:prstGeom prst="rect">
            <a:avLst/>
          </a:prstGeom>
          <a:noFill/>
          <a:ln/>
        </p:spPr>
        <p:txBody>
          <a:bodyPr wrap="square" lIns="0" tIns="0" rIns="0" bIns="0" rtlCol="0" anchor="ctr">
            <a:normAutofit/>
          </a:bodyPr>
          <a:lstStyle/>
          <a:p>
            <a:pPr algn="ctr" indent="0" marL="0">
              <a:buNone/>
            </a:pPr>
            <a:r>
              <a:rPr lang="en-US" sz="880" dirty="0">
                <a:solidFill>
                  <a:srgbClr val="8FA6B9"/>
                </a:solidFill>
              </a:rPr>
              <a:t>Only attached applications wait</a:t>
            </a:r>
            <a:endParaRPr lang="en-US" sz="880" dirty="0"/>
          </a:p>
        </p:txBody>
      </p:sp>
      <p:sp>
        <p:nvSpPr>
          <p:cNvPr id="24" name="Shape 22"/>
          <p:cNvSpPr/>
          <p:nvPr/>
        </p:nvSpPr>
        <p:spPr>
          <a:xfrm>
            <a:off x="6537960" y="5330952"/>
            <a:ext cx="1417320" cy="347472"/>
          </a:xfrm>
          <a:prstGeom prst="roundRect">
            <a:avLst>
              <a:gd name="adj" fmla="val 47368"/>
            </a:avLst>
          </a:prstGeom>
          <a:solidFill>
            <a:srgbClr val="54D6A3">
              <a:alpha val="88000"/>
            </a:srgbClr>
          </a:solidFill>
          <a:ln w="12700">
            <a:solidFill>
              <a:srgbClr val="54D6A3">
                <a:alpha val="0"/>
              </a:srgbClr>
            </a:solidFill>
            <a:prstDash val="solid"/>
          </a:ln>
        </p:spPr>
      </p:sp>
      <p:sp>
        <p:nvSpPr>
          <p:cNvPr id="25" name="Text 23"/>
          <p:cNvSpPr/>
          <p:nvPr/>
        </p:nvSpPr>
        <p:spPr>
          <a:xfrm>
            <a:off x="6611112" y="5413248"/>
            <a:ext cx="1271016" cy="118872"/>
          </a:xfrm>
          <a:prstGeom prst="rect">
            <a:avLst/>
          </a:prstGeom>
          <a:noFill/>
          <a:ln/>
        </p:spPr>
        <p:txBody>
          <a:bodyPr wrap="square" lIns="0" tIns="0" rIns="0" bIns="0" rtlCol="0" anchor="ctr">
            <a:normAutofit/>
          </a:bodyPr>
          <a:lstStyle/>
          <a:p>
            <a:pPr algn="ctr" indent="0" marL="0">
              <a:buNone/>
            </a:pPr>
            <a:r>
              <a:rPr lang="en-US" sz="950" b="1" dirty="0">
                <a:solidFill>
                  <a:srgbClr val="07111F"/>
                </a:solidFill>
              </a:rPr>
              <a:t>HEALTHY</a:t>
            </a:r>
            <a:endParaRPr lang="en-US" sz="950" dirty="0"/>
          </a:p>
        </p:txBody>
      </p:sp>
      <p:sp>
        <p:nvSpPr>
          <p:cNvPr id="26" name="Shape 24"/>
          <p:cNvSpPr/>
          <p:nvPr/>
        </p:nvSpPr>
        <p:spPr>
          <a:xfrm>
            <a:off x="8138160" y="5330952"/>
            <a:ext cx="1417320" cy="347472"/>
          </a:xfrm>
          <a:prstGeom prst="roundRect">
            <a:avLst>
              <a:gd name="adj" fmla="val 47368"/>
            </a:avLst>
          </a:prstGeom>
          <a:solidFill>
            <a:srgbClr val="F5B041">
              <a:alpha val="88000"/>
            </a:srgbClr>
          </a:solidFill>
          <a:ln w="12700">
            <a:solidFill>
              <a:srgbClr val="F5B041">
                <a:alpha val="0"/>
              </a:srgbClr>
            </a:solidFill>
            <a:prstDash val="solid"/>
          </a:ln>
        </p:spPr>
      </p:sp>
      <p:sp>
        <p:nvSpPr>
          <p:cNvPr id="27" name="Text 25"/>
          <p:cNvSpPr/>
          <p:nvPr/>
        </p:nvSpPr>
        <p:spPr>
          <a:xfrm>
            <a:off x="8211312" y="5413248"/>
            <a:ext cx="1271016" cy="118872"/>
          </a:xfrm>
          <a:prstGeom prst="rect">
            <a:avLst/>
          </a:prstGeom>
          <a:noFill/>
          <a:ln/>
        </p:spPr>
        <p:txBody>
          <a:bodyPr wrap="square" lIns="0" tIns="0" rIns="0" bIns="0" rtlCol="0" anchor="ctr">
            <a:normAutofit/>
          </a:bodyPr>
          <a:lstStyle/>
          <a:p>
            <a:pPr algn="ctr" indent="0" marL="0">
              <a:buNone/>
            </a:pPr>
            <a:r>
              <a:rPr lang="en-US" sz="950" b="1" dirty="0">
                <a:solidFill>
                  <a:srgbClr val="07111F"/>
                </a:solidFill>
              </a:rPr>
              <a:t>RECOVERABLE</a:t>
            </a:r>
            <a:endParaRPr lang="en-US" sz="950" dirty="0"/>
          </a:p>
        </p:txBody>
      </p:sp>
      <p:sp>
        <p:nvSpPr>
          <p:cNvPr id="28" name="Shape 26"/>
          <p:cNvSpPr/>
          <p:nvPr/>
        </p:nvSpPr>
        <p:spPr>
          <a:xfrm>
            <a:off x="9738360" y="5330952"/>
            <a:ext cx="1417320" cy="347472"/>
          </a:xfrm>
          <a:prstGeom prst="roundRect">
            <a:avLst>
              <a:gd name="adj" fmla="val 47368"/>
            </a:avLst>
          </a:prstGeom>
          <a:solidFill>
            <a:srgbClr val="FF6B6B">
              <a:alpha val="88000"/>
            </a:srgbClr>
          </a:solidFill>
          <a:ln w="12700">
            <a:solidFill>
              <a:srgbClr val="FF6B6B">
                <a:alpha val="0"/>
              </a:srgbClr>
            </a:solidFill>
            <a:prstDash val="solid"/>
          </a:ln>
        </p:spPr>
      </p:sp>
      <p:sp>
        <p:nvSpPr>
          <p:cNvPr id="29" name="Text 27"/>
          <p:cNvSpPr/>
          <p:nvPr/>
        </p:nvSpPr>
        <p:spPr>
          <a:xfrm>
            <a:off x="9811512" y="5413248"/>
            <a:ext cx="1271016" cy="118872"/>
          </a:xfrm>
          <a:prstGeom prst="rect">
            <a:avLst/>
          </a:prstGeom>
          <a:noFill/>
          <a:ln/>
        </p:spPr>
        <p:txBody>
          <a:bodyPr wrap="square" lIns="0" tIns="0" rIns="0" bIns="0" rtlCol="0" anchor="ctr">
            <a:normAutofit/>
          </a:bodyPr>
          <a:lstStyle/>
          <a:p>
            <a:pPr algn="ctr" indent="0" marL="0">
              <a:buNone/>
            </a:pPr>
            <a:r>
              <a:rPr lang="en-US" sz="950" b="1" dirty="0">
                <a:solidFill>
                  <a:srgbClr val="07111F"/>
                </a:solidFill>
              </a:rPr>
              <a:t>RESET REQUIRED</a:t>
            </a:r>
            <a:endParaRPr lang="en-US" sz="950" dirty="0"/>
          </a:p>
        </p:txBody>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347472"/>
            <a:ext cx="9098280" cy="475488"/>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Release Reliability, Recovery, and Verified Cleanup</a:t>
            </a:r>
            <a:endParaRPr lang="en-US" sz="2400" dirty="0"/>
          </a:p>
        </p:txBody>
      </p:sp>
      <p:sp>
        <p:nvSpPr>
          <p:cNvPr id="3" name="Shape 1"/>
          <p:cNvSpPr/>
          <p:nvPr/>
        </p:nvSpPr>
        <p:spPr>
          <a:xfrm>
            <a:off x="9829800" y="338328"/>
            <a:ext cx="1783080" cy="329184"/>
          </a:xfrm>
          <a:prstGeom prst="roundRect">
            <a:avLst>
              <a:gd name="adj" fmla="val 22222"/>
            </a:avLst>
          </a:prstGeom>
          <a:solidFill>
            <a:srgbClr val="4FA3FF">
              <a:alpha val="92000"/>
            </a:srgbClr>
          </a:solidFill>
          <a:ln w="12700">
            <a:solidFill>
              <a:srgbClr val="4FA3FF">
                <a:alpha val="0"/>
              </a:srgbClr>
            </a:solidFill>
            <a:prstDash val="solid"/>
          </a:ln>
        </p:spPr>
      </p:sp>
      <p:sp>
        <p:nvSpPr>
          <p:cNvPr id="4" name="Text 2"/>
          <p:cNvSpPr/>
          <p:nvPr/>
        </p:nvSpPr>
        <p:spPr>
          <a:xfrm>
            <a:off x="9912096" y="416052"/>
            <a:ext cx="1609344" cy="118872"/>
          </a:xfrm>
          <a:prstGeom prst="rect">
            <a:avLst/>
          </a:prstGeom>
          <a:noFill/>
          <a:ln/>
        </p:spPr>
        <p:txBody>
          <a:bodyPr wrap="square" lIns="0" tIns="0" rIns="0" bIns="0" rtlCol="0" anchor="ctr">
            <a:normAutofit/>
          </a:bodyPr>
          <a:lstStyle/>
          <a:p>
            <a:pPr algn="ctr" indent="0" marL="0">
              <a:buNone/>
            </a:pPr>
            <a:r>
              <a:rPr lang="en-US" sz="1000" b="1" dirty="0">
                <a:solidFill>
                  <a:srgbClr val="07111F"/>
                </a:solidFill>
              </a:rPr>
              <a:t>Hassan Sajjad</a:t>
            </a:r>
            <a:endParaRPr lang="en-US" sz="1000" dirty="0"/>
          </a:p>
          <a:p>
            <a:pPr algn="ctr" indent="0" marL="0">
              <a:buNone/>
            </a:pPr>
            <a:endParaRPr lang="en-US" sz="1000" dirty="0"/>
          </a:p>
          <a:p>
            <a:pPr algn="ctr" indent="0" marL="0">
              <a:buNone/>
            </a:pPr>
            <a:r>
              <a:rPr lang="en-US" sz="1000" b="1" dirty="0">
                <a:solidFill>
                  <a:srgbClr val="07111F"/>
                </a:solidFill>
              </a:rPr>
              <a:t>Purpose: Close the cloud section with lifecycle guarantees and honest evidence.</a:t>
            </a:r>
            <a:endParaRPr lang="en-US" sz="1000" dirty="0"/>
          </a:p>
          <a:p>
            <a:pPr algn="ctr" indent="0" marL="0">
              <a:buNone/>
            </a:pPr>
            <a:endParaRPr lang="en-US" sz="1000" dirty="0"/>
          </a:p>
          <a:p>
            <a:pPr algn="ctr" indent="0" marL="0">
              <a:buNone/>
            </a:pPr>
            <a:r>
              <a:rPr lang="en-US" sz="1000" b="1" dirty="0">
                <a:solidFill>
                  <a:srgbClr val="07111F"/>
                </a:solidFill>
              </a:rPr>
              <a:t>Presentation Content:</a:t>
            </a:r>
            <a:endParaRPr lang="en-US" sz="1000" dirty="0"/>
          </a:p>
          <a:p>
            <a:pPr algn="ctr" indent="0" marL="0">
              <a:buNone/>
            </a:pPr>
            <a:endParaRPr lang="en-US" sz="1000" dirty="0"/>
          </a:p>
          <a:p>
            <a:pPr algn="ctr" indent="0" marL="0">
              <a:buNone/>
            </a:pPr>
            <a:r>
              <a:rPr lang="en-US" sz="1000" b="1" dirty="0">
                <a:solidFill>
                  <a:srgbClr val="07111F"/>
                </a:solidFill>
              </a:rPr>
              <a:t>- First deployment provisions topology, starts prerequisites, stabilizes ECS, verifies the public route, and only then promotes a stable release.</a:t>
            </a:r>
            <a:endParaRPr lang="en-US" sz="1000" dirty="0"/>
          </a:p>
          <a:p>
            <a:pPr algn="ctr" indent="0" marL="0">
              <a:buNone/>
            </a:pPr>
            <a:endParaRPr lang="en-US" sz="1000" dirty="0"/>
          </a:p>
          <a:p>
            <a:pPr algn="ctr" indent="0" marL="0">
              <a:buNone/>
            </a:pPr>
            <a:r>
              <a:rPr lang="en-US" sz="1000" b="1" dirty="0">
                <a:solidFill>
                  <a:srgbClr val="07111F"/>
                </a:solidFill>
              </a:rPr>
              <a:t>- Release-only redeployment builds a new immutable artifact and updates ECS directly without a full infrastructure apply.</a:t>
            </a:r>
            <a:endParaRPr lang="en-US" sz="1000" dirty="0"/>
          </a:p>
          <a:p>
            <a:pPr algn="ctr" indent="0" marL="0">
              <a:buNone/>
            </a:pPr>
            <a:endParaRPr lang="en-US" sz="1000" dirty="0"/>
          </a:p>
          <a:p>
            <a:pPr algn="ctr" indent="0" marL="0">
              <a:buNone/>
            </a:pPr>
            <a:r>
              <a:rPr lang="en-US" sz="1000" b="1" dirty="0">
                <a:solidFill>
                  <a:srgbClr val="07111F"/>
                </a:solidFill>
              </a:rPr>
              <a:t>- Manual rollback selects an exact previous stable task revision; it does not rebuild source or guess historical configuration.</a:t>
            </a:r>
            <a:endParaRPr lang="en-US" sz="1000" dirty="0"/>
          </a:p>
          <a:p>
            <a:pPr algn="ctr" indent="0" marL="0">
              <a:buNone/>
            </a:pPr>
            <a:endParaRPr lang="en-US" sz="1000" dirty="0"/>
          </a:p>
          <a:p>
            <a:pPr algn="ctr" indent="0" marL="0">
              <a:buNone/>
            </a:pPr>
            <a:r>
              <a:rPr lang="en-US" sz="1000" b="1" dirty="0">
                <a:solidFill>
                  <a:srgbClr val="07111F"/>
                </a:solidFill>
              </a:rPr>
              <a:t>- Reset and Deploy Fresh performs reconciliation first, creates a new generation, and preserves healthy persistent data.</a:t>
            </a:r>
            <a:endParaRPr lang="en-US" sz="1000" dirty="0"/>
          </a:p>
          <a:p>
            <a:pPr algn="ctr" indent="0" marL="0">
              <a:buNone/>
            </a:pPr>
            <a:endParaRPr lang="en-US" sz="1000" dirty="0"/>
          </a:p>
          <a:p>
            <a:pPr algn="ctr" indent="0" marL="0">
              <a:buNone/>
            </a:pPr>
            <a:r>
              <a:rPr lang="en-US" sz="1000" b="1" dirty="0">
                <a:solidFill>
                  <a:srgbClr val="07111F"/>
                </a:solidFill>
              </a:rPr>
              <a:t>- Destroy requires explicit admission, executes Terraform destruction, inventories cloud resources, verifies deletion, and finalizes control-plane state.</a:t>
            </a:r>
            <a:endParaRPr lang="en-US" sz="1000" dirty="0"/>
          </a:p>
          <a:p>
            <a:pPr algn="ctr" indent="0" marL="0">
              <a:buNone/>
            </a:pPr>
            <a:endParaRPr lang="en-US" sz="1000" dirty="0"/>
          </a:p>
          <a:p>
            <a:pPr algn="ctr" indent="0" marL="0">
              <a:buNone/>
            </a:pPr>
            <a:r>
              <a:rPr lang="en-US" sz="1000" b="1" dirty="0">
                <a:solidFill>
                  <a:srgbClr val="07111F"/>
                </a:solidFill>
              </a:rPr>
              <a:t>- Failures are attributed to platform, repository application, external provider, or unverified, with stage-specific evidence.</a:t>
            </a:r>
            <a:endParaRPr lang="en-US" sz="1000" dirty="0"/>
          </a:p>
          <a:p>
            <a:pPr algn="ctr" indent="0" marL="0">
              <a:buNone/>
            </a:pPr>
            <a:endParaRPr lang="en-US" sz="1000" dirty="0"/>
          </a:p>
          <a:p>
            <a:pPr algn="ctr" indent="0" marL="0">
              <a:buNone/>
            </a:pPr>
            <a:r>
              <a:rPr lang="en-US" sz="1000" b="1" dirty="0">
                <a:solidFill>
                  <a:srgbClr val="07111F"/>
                </a:solidFill>
              </a:rPr>
              <a:t>- Preserved certification demonstrates clean deploys and a deploy–redeploy–rollback–destroy lifecycle; additional database isolation, topology-reapply, and repeat-destroy scenarios remain candidates for fresh cloud proof.</a:t>
            </a:r>
            <a:endParaRPr lang="en-US" sz="1000" dirty="0"/>
          </a:p>
          <a:p>
            <a:pPr algn="ctr" indent="0" marL="0">
              <a:buNone/>
            </a:pPr>
            <a:endParaRPr lang="en-US" sz="1000" dirty="0"/>
          </a:p>
          <a:p>
            <a:pPr algn="ctr" indent="0" marL="0">
              <a:buNone/>
            </a:pPr>
            <a:r>
              <a:rPr lang="en-US" sz="1000" b="1" dirty="0">
                <a:solidFill>
                  <a:srgbClr val="07111F"/>
                </a:solidFill>
              </a:rPr>
              <a:t>Visual Recommendation: Lifecycle loop with Deploy, Verify, Promote, Redeploy, Rollback, and Destroy; add green “preserved evidence” and amber “fresh proof pending” labels.</a:t>
            </a:r>
            <a:endParaRPr lang="en-US" sz="1000" dirty="0"/>
          </a:p>
          <a:p>
            <a:pPr algn="ctr" indent="0" marL="0">
              <a:buNone/>
            </a:pPr>
            <a:endParaRPr lang="en-US" sz="1000" dirty="0"/>
          </a:p>
          <a:p>
            <a:pPr algn="ctr" indent="0" marL="0">
              <a:buNone/>
            </a:pPr>
            <a:r>
              <a:rPr lang="en-US" sz="1000" b="1" dirty="0">
                <a:solidFill>
                  <a:srgbClr val="07111F"/>
                </a:solidFill>
              </a:rPr>
              <a:t>Defense Notes: Never present structural tests as live-cloud proof. The strongest defense is traceability: every transition has an immutable identity, terminal state, and evidence record.</a:t>
            </a:r>
            <a:endParaRPr lang="en-US" sz="1000" dirty="0"/>
          </a:p>
          <a:p>
            <a:pPr algn="ctr" indent="0" marL="0">
              <a:buNone/>
            </a:pPr>
            <a:endParaRPr lang="en-US" sz="1000" dirty="0"/>
          </a:p>
          <a:p>
            <a:pPr algn="ctr" indent="0" marL="0">
              <a:buNone/>
            </a:pPr>
            <a:r>
              <a:rPr lang="en-US" sz="1000" b="1" dirty="0">
                <a:solidFill>
                  <a:srgbClr val="07111F"/>
                </a:solidFill>
              </a:rPr>
              <a:t># SECTION 3 — TANIA KHAWAR: FRONTEND, MONITORING EXPERIENCE, AND AI ASSISTANCE</a:t>
            </a:r>
            <a:endParaRPr lang="en-US" sz="1000" dirty="0"/>
          </a:p>
        </p:txBody>
      </p:sp>
      <p:sp>
        <p:nvSpPr>
          <p:cNvPr id="5" name="Shape 3"/>
          <p:cNvSpPr/>
          <p:nvPr/>
        </p:nvSpPr>
        <p:spPr>
          <a:xfrm>
            <a:off x="502920" y="932688"/>
            <a:ext cx="11109960" cy="0"/>
          </a:xfrm>
          <a:prstGeom prst="line">
            <a:avLst/>
          </a:prstGeom>
          <a:noFill/>
          <a:ln w="17780">
            <a:solidFill>
              <a:srgbClr val="4FA3FF">
                <a:alpha val="75000"/>
              </a:srgbClr>
            </a:solidFill>
            <a:prstDash val="solid"/>
          </a:ln>
        </p:spPr>
      </p:sp>
      <p:sp>
        <p:nvSpPr>
          <p:cNvPr id="6" name="Text 4"/>
          <p:cNvSpPr/>
          <p:nvPr/>
        </p:nvSpPr>
        <p:spPr>
          <a:xfrm>
            <a:off x="502920" y="996696"/>
            <a:ext cx="5212080" cy="164592"/>
          </a:xfrm>
          <a:prstGeom prst="rect">
            <a:avLst/>
          </a:prstGeom>
          <a:noFill/>
          <a:ln/>
        </p:spPr>
        <p:txBody>
          <a:bodyPr wrap="square" lIns="0" tIns="0" rIns="0" bIns="0" rtlCol="0" anchor="ctr"/>
          <a:lstStyle/>
          <a:p>
            <a:pPr indent="0" marL="0">
              <a:buNone/>
            </a:pPr>
            <a:r>
              <a:rPr lang="en-US" sz="850" b="1" spc="110" kern="0" dirty="0">
                <a:solidFill>
                  <a:srgbClr val="4FA3FF"/>
                </a:solidFill>
              </a:rPr>
              <a:t>HASSAN — CLOUD &amp; DEVOPS</a:t>
            </a:r>
            <a:endParaRPr lang="en-US" sz="850" dirty="0"/>
          </a:p>
        </p:txBody>
      </p:sp>
      <p:sp>
        <p:nvSpPr>
          <p:cNvPr id="7" name="Text 5"/>
          <p:cNvSpPr/>
          <p:nvPr/>
        </p:nvSpPr>
        <p:spPr>
          <a:xfrm>
            <a:off x="594360" y="1325880"/>
            <a:ext cx="5349240" cy="4937760"/>
          </a:xfrm>
          <a:prstGeom prst="rect">
            <a:avLst/>
          </a:prstGeom>
          <a:noFill/>
          <a:ln/>
        </p:spPr>
        <p:txBody>
          <a:bodyPr wrap="square" lIns="254" tIns="254" rIns="254" bIns="254" rtlCol="0" anchor="ctr">
            <a:normAutofit/>
          </a:bodyPr>
          <a:lstStyle/>
          <a:p>
            <a:pPr marL="190500" indent="-190500">
              <a:buSzPct val="100000"/>
              <a:buChar char="•"/>
            </a:pPr>
            <a:r>
              <a:rPr lang="en-US" sz="1580" dirty="0">
                <a:solidFill>
                  <a:srgbClr val="D9E5EF"/>
                </a:solidFill>
                <a:latin typeface="Aptos" pitchFamily="34" charset="0"/>
                <a:ea typeface="Aptos" pitchFamily="34" charset="-122"/>
                <a:cs typeface="Aptos" pitchFamily="34" charset="-120"/>
              </a:rPr>
              <a:t>First deployment provisions topology, starts prerequisites, stabilizes ECS, verifies the public route, and only then promotes a stable release.</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Release-only redeployment builds a new immutable artifact and updates ECS directly without a full infrastructure apply.</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Manual rollback selects an exact previous stable task revision; it does not rebuild source or guess historical configuration.</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Reset and Deploy Fresh performs reconciliation first, creates a new generation, and preserves healthy persistent data.</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Destroy requires explicit admission, executes Terraform destruction, inventories cloud resources, verifies deletion, and finalizes control-plane state.</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Failures are attributed to platform, repository application, external provider, or unverified, with stage-specific evidence.</a:t>
            </a:r>
            <a:endParaRPr lang="en-US" sz="1580" dirty="0"/>
          </a:p>
        </p:txBody>
      </p:sp>
      <p:sp>
        <p:nvSpPr>
          <p:cNvPr id="8" name="Shape 6"/>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9" name="Shape 7"/>
          <p:cNvSpPr/>
          <p:nvPr/>
        </p:nvSpPr>
        <p:spPr>
          <a:xfrm>
            <a:off x="7955280" y="1417320"/>
            <a:ext cx="1417320" cy="685800"/>
          </a:xfrm>
          <a:prstGeom prst="roundRect">
            <a:avLst>
              <a:gd name="adj" fmla="val 6667"/>
            </a:avLst>
          </a:prstGeom>
          <a:solidFill>
            <a:srgbClr val="12263A"/>
          </a:solidFill>
          <a:ln w="17780">
            <a:solidFill>
              <a:srgbClr val="4FA3FF"/>
            </a:solidFill>
            <a:prstDash val="solid"/>
          </a:ln>
        </p:spPr>
      </p:sp>
      <p:sp>
        <p:nvSpPr>
          <p:cNvPr id="10" name="Text 8"/>
          <p:cNvSpPr/>
          <p:nvPr/>
        </p:nvSpPr>
        <p:spPr>
          <a:xfrm>
            <a:off x="8046720" y="1545336"/>
            <a:ext cx="123444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Deploy</a:t>
            </a:r>
            <a:endParaRPr lang="en-US" sz="1200" dirty="0"/>
          </a:p>
        </p:txBody>
      </p:sp>
      <p:sp>
        <p:nvSpPr>
          <p:cNvPr id="11" name="Shape 9"/>
          <p:cNvSpPr/>
          <p:nvPr/>
        </p:nvSpPr>
        <p:spPr>
          <a:xfrm>
            <a:off x="8668512" y="2103120"/>
            <a:ext cx="1783080" cy="45720"/>
          </a:xfrm>
          <a:prstGeom prst="line">
            <a:avLst/>
          </a:prstGeom>
          <a:noFill/>
          <a:ln w="12700">
            <a:solidFill>
              <a:srgbClr val="4FA3FF"/>
            </a:solidFill>
            <a:prstDash val="solid"/>
            <a:tailEnd type="triangle"/>
          </a:ln>
        </p:spPr>
      </p:sp>
      <p:sp>
        <p:nvSpPr>
          <p:cNvPr id="12" name="Shape 10"/>
          <p:cNvSpPr/>
          <p:nvPr/>
        </p:nvSpPr>
        <p:spPr>
          <a:xfrm>
            <a:off x="9738360" y="2148840"/>
            <a:ext cx="1417320" cy="685800"/>
          </a:xfrm>
          <a:prstGeom prst="roundRect">
            <a:avLst>
              <a:gd name="adj" fmla="val 6667"/>
            </a:avLst>
          </a:prstGeom>
          <a:solidFill>
            <a:srgbClr val="12263A"/>
          </a:solidFill>
          <a:ln w="17780">
            <a:solidFill>
              <a:srgbClr val="35C2D8"/>
            </a:solidFill>
            <a:prstDash val="solid"/>
          </a:ln>
        </p:spPr>
      </p:sp>
      <p:sp>
        <p:nvSpPr>
          <p:cNvPr id="13" name="Text 11"/>
          <p:cNvSpPr/>
          <p:nvPr/>
        </p:nvSpPr>
        <p:spPr>
          <a:xfrm>
            <a:off x="9829800" y="2276856"/>
            <a:ext cx="123444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Verify</a:t>
            </a:r>
            <a:endParaRPr lang="en-US" sz="1200" dirty="0"/>
          </a:p>
        </p:txBody>
      </p:sp>
      <p:sp>
        <p:nvSpPr>
          <p:cNvPr id="14" name="Shape 12"/>
          <p:cNvSpPr/>
          <p:nvPr/>
        </p:nvSpPr>
        <p:spPr>
          <a:xfrm>
            <a:off x="10451592" y="2834640"/>
            <a:ext cx="-91440" cy="1234440"/>
          </a:xfrm>
          <a:prstGeom prst="line">
            <a:avLst/>
          </a:prstGeom>
          <a:noFill/>
          <a:ln w="12700">
            <a:solidFill>
              <a:srgbClr val="35C2D8"/>
            </a:solidFill>
            <a:prstDash val="solid"/>
            <a:tailEnd type="triangle"/>
          </a:ln>
        </p:spPr>
      </p:sp>
      <p:sp>
        <p:nvSpPr>
          <p:cNvPr id="15" name="Shape 13"/>
          <p:cNvSpPr/>
          <p:nvPr/>
        </p:nvSpPr>
        <p:spPr>
          <a:xfrm>
            <a:off x="9646920" y="4069080"/>
            <a:ext cx="1417320" cy="685800"/>
          </a:xfrm>
          <a:prstGeom prst="roundRect">
            <a:avLst>
              <a:gd name="adj" fmla="val 6667"/>
            </a:avLst>
          </a:prstGeom>
          <a:solidFill>
            <a:srgbClr val="12263A"/>
          </a:solidFill>
          <a:ln w="17780">
            <a:solidFill>
              <a:srgbClr val="54D6A3"/>
            </a:solidFill>
            <a:prstDash val="solid"/>
          </a:ln>
        </p:spPr>
      </p:sp>
      <p:sp>
        <p:nvSpPr>
          <p:cNvPr id="16" name="Text 14"/>
          <p:cNvSpPr/>
          <p:nvPr/>
        </p:nvSpPr>
        <p:spPr>
          <a:xfrm>
            <a:off x="9738360" y="4197096"/>
            <a:ext cx="123444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Promote</a:t>
            </a:r>
            <a:endParaRPr lang="en-US" sz="1200" dirty="0"/>
          </a:p>
        </p:txBody>
      </p:sp>
      <p:sp>
        <p:nvSpPr>
          <p:cNvPr id="17" name="Shape 15"/>
          <p:cNvSpPr/>
          <p:nvPr/>
        </p:nvSpPr>
        <p:spPr>
          <a:xfrm>
            <a:off x="10360152" y="4754880"/>
            <a:ext cx="-1965960" cy="-91440"/>
          </a:xfrm>
          <a:prstGeom prst="line">
            <a:avLst/>
          </a:prstGeom>
          <a:noFill/>
          <a:ln w="12700">
            <a:solidFill>
              <a:srgbClr val="54D6A3"/>
            </a:solidFill>
            <a:prstDash val="solid"/>
            <a:tailEnd type="triangle"/>
          </a:ln>
        </p:spPr>
      </p:sp>
      <p:sp>
        <p:nvSpPr>
          <p:cNvPr id="18" name="Shape 16"/>
          <p:cNvSpPr/>
          <p:nvPr/>
        </p:nvSpPr>
        <p:spPr>
          <a:xfrm>
            <a:off x="7680960" y="4663440"/>
            <a:ext cx="1417320" cy="685800"/>
          </a:xfrm>
          <a:prstGeom prst="roundRect">
            <a:avLst>
              <a:gd name="adj" fmla="val 6667"/>
            </a:avLst>
          </a:prstGeom>
          <a:solidFill>
            <a:srgbClr val="12263A"/>
          </a:solidFill>
          <a:ln w="17780">
            <a:solidFill>
              <a:srgbClr val="B276FF"/>
            </a:solidFill>
            <a:prstDash val="solid"/>
          </a:ln>
        </p:spPr>
      </p:sp>
      <p:sp>
        <p:nvSpPr>
          <p:cNvPr id="19" name="Text 17"/>
          <p:cNvSpPr/>
          <p:nvPr/>
        </p:nvSpPr>
        <p:spPr>
          <a:xfrm>
            <a:off x="7772400" y="4791456"/>
            <a:ext cx="123444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Redeploy</a:t>
            </a:r>
            <a:endParaRPr lang="en-US" sz="1200" dirty="0"/>
          </a:p>
        </p:txBody>
      </p:sp>
      <p:sp>
        <p:nvSpPr>
          <p:cNvPr id="20" name="Shape 18"/>
          <p:cNvSpPr/>
          <p:nvPr/>
        </p:nvSpPr>
        <p:spPr>
          <a:xfrm>
            <a:off x="8394192" y="5349240"/>
            <a:ext cx="-1325880" cy="-1691640"/>
          </a:xfrm>
          <a:prstGeom prst="line">
            <a:avLst/>
          </a:prstGeom>
          <a:noFill/>
          <a:ln w="12700">
            <a:solidFill>
              <a:srgbClr val="B276FF"/>
            </a:solidFill>
            <a:prstDash val="solid"/>
            <a:tailEnd type="triangle"/>
          </a:ln>
        </p:spPr>
      </p:sp>
      <p:sp>
        <p:nvSpPr>
          <p:cNvPr id="21" name="Shape 19"/>
          <p:cNvSpPr/>
          <p:nvPr/>
        </p:nvSpPr>
        <p:spPr>
          <a:xfrm>
            <a:off x="6355080" y="3657600"/>
            <a:ext cx="1417320" cy="685800"/>
          </a:xfrm>
          <a:prstGeom prst="roundRect">
            <a:avLst>
              <a:gd name="adj" fmla="val 6667"/>
            </a:avLst>
          </a:prstGeom>
          <a:solidFill>
            <a:srgbClr val="12263A"/>
          </a:solidFill>
          <a:ln w="17780">
            <a:solidFill>
              <a:srgbClr val="F5B041"/>
            </a:solidFill>
            <a:prstDash val="solid"/>
          </a:ln>
        </p:spPr>
      </p:sp>
      <p:sp>
        <p:nvSpPr>
          <p:cNvPr id="22" name="Text 20"/>
          <p:cNvSpPr/>
          <p:nvPr/>
        </p:nvSpPr>
        <p:spPr>
          <a:xfrm>
            <a:off x="6446520" y="3785616"/>
            <a:ext cx="123444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Rollback</a:t>
            </a:r>
            <a:endParaRPr lang="en-US" sz="1200" dirty="0"/>
          </a:p>
        </p:txBody>
      </p:sp>
      <p:sp>
        <p:nvSpPr>
          <p:cNvPr id="23" name="Shape 21"/>
          <p:cNvSpPr/>
          <p:nvPr/>
        </p:nvSpPr>
        <p:spPr>
          <a:xfrm>
            <a:off x="7068312" y="4343400"/>
            <a:ext cx="45720" cy="-2331720"/>
          </a:xfrm>
          <a:prstGeom prst="line">
            <a:avLst/>
          </a:prstGeom>
          <a:noFill/>
          <a:ln w="12700">
            <a:solidFill>
              <a:srgbClr val="F5B041"/>
            </a:solidFill>
            <a:prstDash val="solid"/>
            <a:tailEnd type="triangle"/>
          </a:ln>
        </p:spPr>
      </p:sp>
      <p:sp>
        <p:nvSpPr>
          <p:cNvPr id="24" name="Shape 22"/>
          <p:cNvSpPr/>
          <p:nvPr/>
        </p:nvSpPr>
        <p:spPr>
          <a:xfrm>
            <a:off x="6400800" y="2011680"/>
            <a:ext cx="1417320" cy="685800"/>
          </a:xfrm>
          <a:prstGeom prst="roundRect">
            <a:avLst>
              <a:gd name="adj" fmla="val 6667"/>
            </a:avLst>
          </a:prstGeom>
          <a:solidFill>
            <a:srgbClr val="12263A"/>
          </a:solidFill>
          <a:ln w="17780">
            <a:solidFill>
              <a:srgbClr val="FF6B6B"/>
            </a:solidFill>
            <a:prstDash val="solid"/>
          </a:ln>
        </p:spPr>
      </p:sp>
      <p:sp>
        <p:nvSpPr>
          <p:cNvPr id="25" name="Text 23"/>
          <p:cNvSpPr/>
          <p:nvPr/>
        </p:nvSpPr>
        <p:spPr>
          <a:xfrm>
            <a:off x="6492240" y="2139696"/>
            <a:ext cx="123444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Destroy</a:t>
            </a:r>
            <a:endParaRPr lang="en-US" sz="1200" dirty="0"/>
          </a:p>
        </p:txBody>
      </p:sp>
      <p:sp>
        <p:nvSpPr>
          <p:cNvPr id="26" name="Shape 24"/>
          <p:cNvSpPr/>
          <p:nvPr/>
        </p:nvSpPr>
        <p:spPr>
          <a:xfrm>
            <a:off x="7114032" y="2697480"/>
            <a:ext cx="1554480" cy="-1280160"/>
          </a:xfrm>
          <a:prstGeom prst="line">
            <a:avLst/>
          </a:prstGeom>
          <a:noFill/>
          <a:ln w="12700">
            <a:solidFill>
              <a:srgbClr val="FF6B6B"/>
            </a:solidFill>
            <a:prstDash val="solid"/>
            <a:tailEnd type="triangle"/>
          </a:ln>
        </p:spPr>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347472"/>
            <a:ext cx="9098280" cy="475488"/>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Frontend Information Architecture</a:t>
            </a:r>
            <a:endParaRPr lang="en-US" sz="2400" dirty="0"/>
          </a:p>
        </p:txBody>
      </p:sp>
      <p:sp>
        <p:nvSpPr>
          <p:cNvPr id="3" name="Shape 1"/>
          <p:cNvSpPr/>
          <p:nvPr/>
        </p:nvSpPr>
        <p:spPr>
          <a:xfrm>
            <a:off x="9829800" y="338328"/>
            <a:ext cx="1783080" cy="329184"/>
          </a:xfrm>
          <a:prstGeom prst="roundRect">
            <a:avLst>
              <a:gd name="adj" fmla="val 22222"/>
            </a:avLst>
          </a:prstGeom>
          <a:solidFill>
            <a:srgbClr val="B276FF">
              <a:alpha val="92000"/>
            </a:srgbClr>
          </a:solidFill>
          <a:ln w="12700">
            <a:solidFill>
              <a:srgbClr val="B276FF">
                <a:alpha val="0"/>
              </a:srgbClr>
            </a:solidFill>
            <a:prstDash val="solid"/>
          </a:ln>
        </p:spPr>
      </p:sp>
      <p:sp>
        <p:nvSpPr>
          <p:cNvPr id="4" name="Text 2"/>
          <p:cNvSpPr/>
          <p:nvPr/>
        </p:nvSpPr>
        <p:spPr>
          <a:xfrm>
            <a:off x="9912096" y="416052"/>
            <a:ext cx="1609344" cy="118872"/>
          </a:xfrm>
          <a:prstGeom prst="rect">
            <a:avLst/>
          </a:prstGeom>
          <a:noFill/>
          <a:ln/>
        </p:spPr>
        <p:txBody>
          <a:bodyPr wrap="square" lIns="0" tIns="0" rIns="0" bIns="0" rtlCol="0" anchor="ctr">
            <a:normAutofit/>
          </a:bodyPr>
          <a:lstStyle/>
          <a:p>
            <a:pPr algn="ctr" indent="0" marL="0">
              <a:buNone/>
            </a:pPr>
            <a:r>
              <a:rPr lang="en-US" sz="1000" b="1" dirty="0">
                <a:solidFill>
                  <a:srgbClr val="07111F"/>
                </a:solidFill>
              </a:rPr>
              <a:t>Tania Khawar</a:t>
            </a:r>
            <a:endParaRPr lang="en-US" sz="1000" dirty="0"/>
          </a:p>
          <a:p>
            <a:pPr algn="ctr" indent="0" marL="0">
              <a:buNone/>
            </a:pPr>
            <a:endParaRPr lang="en-US" sz="1000" dirty="0"/>
          </a:p>
          <a:p>
            <a:pPr algn="ctr" indent="0" marL="0">
              <a:buNone/>
            </a:pPr>
            <a:r>
              <a:rPr lang="en-US" sz="1000" b="1" dirty="0">
                <a:solidFill>
                  <a:srgbClr val="07111F"/>
                </a:solidFill>
              </a:rPr>
              <a:t>Purpose: Show how the interface turns a complex platform into understandable tasks.</a:t>
            </a:r>
            <a:endParaRPr lang="en-US" sz="1000" dirty="0"/>
          </a:p>
          <a:p>
            <a:pPr algn="ctr" indent="0" marL="0">
              <a:buNone/>
            </a:pPr>
            <a:endParaRPr lang="en-US" sz="1000" dirty="0"/>
          </a:p>
          <a:p>
            <a:pPr algn="ctr" indent="0" marL="0">
              <a:buNone/>
            </a:pPr>
            <a:r>
              <a:rPr lang="en-US" sz="1000" b="1" dirty="0">
                <a:solidFill>
                  <a:srgbClr val="07111F"/>
                </a:solidFill>
              </a:rPr>
              <a:t>Presentation Content:</a:t>
            </a:r>
            <a:endParaRPr lang="en-US" sz="1000" dirty="0"/>
          </a:p>
          <a:p>
            <a:pPr algn="ctr" indent="0" marL="0">
              <a:buNone/>
            </a:pPr>
            <a:endParaRPr lang="en-US" sz="1000" dirty="0"/>
          </a:p>
          <a:p>
            <a:pPr algn="ctr" indent="0" marL="0">
              <a:buNone/>
            </a:pPr>
            <a:r>
              <a:rPr lang="en-US" sz="1000" b="1" dirty="0">
                <a:solidFill>
                  <a:srgbClr val="07111F"/>
                </a:solidFill>
              </a:rPr>
              <a:t>- The React single-page application separates public entry, authentication, developer workspaces, and administration.</a:t>
            </a:r>
            <a:endParaRPr lang="en-US" sz="1000" dirty="0"/>
          </a:p>
          <a:p>
            <a:pPr algn="ctr" indent="0" marL="0">
              <a:buNone/>
            </a:pPr>
            <a:endParaRPr lang="en-US" sz="1000" dirty="0"/>
          </a:p>
          <a:p>
            <a:pPr algn="ctr" indent="0" marL="0">
              <a:buNone/>
            </a:pPr>
            <a:r>
              <a:rPr lang="en-US" sz="1000" b="1" dirty="0">
                <a:solidFill>
                  <a:srgbClr val="07111F"/>
                </a:solidFill>
              </a:rPr>
              <a:t>- Developer routes include Dashboard, Projects, New Project, Project Overview, Pipeline, Infrastructure, Monitoring, Settings, Troubleshooting, and Billing.</a:t>
            </a:r>
            <a:endParaRPr lang="en-US" sz="1000" dirty="0"/>
          </a:p>
          <a:p>
            <a:pPr algn="ctr" indent="0" marL="0">
              <a:buNone/>
            </a:pPr>
            <a:endParaRPr lang="en-US" sz="1000" dirty="0"/>
          </a:p>
          <a:p>
            <a:pPr algn="ctr" indent="0" marL="0">
              <a:buNone/>
            </a:pPr>
            <a:r>
              <a:rPr lang="en-US" sz="1000" b="1" dirty="0">
                <a:solidFill>
                  <a:srgbClr val="07111F"/>
                </a:solidFill>
              </a:rPr>
              <a:t>- Route protection prevents unauthenticated access, while role checks separate developer and administrator experiences.</a:t>
            </a:r>
            <a:endParaRPr lang="en-US" sz="1000" dirty="0"/>
          </a:p>
          <a:p>
            <a:pPr algn="ctr" indent="0" marL="0">
              <a:buNone/>
            </a:pPr>
            <a:endParaRPr lang="en-US" sz="1000" dirty="0"/>
          </a:p>
          <a:p>
            <a:pPr algn="ctr" indent="0" marL="0">
              <a:buNone/>
            </a:pPr>
            <a:r>
              <a:rPr lang="en-US" sz="1000" b="1" dirty="0">
                <a:solidFill>
                  <a:srgbClr val="07111F"/>
                </a:solidFill>
              </a:rPr>
              <a:t>- Project pages share a stable navigation context so users do not lose the selected project while moving between lifecycle views.</a:t>
            </a:r>
            <a:endParaRPr lang="en-US" sz="1000" dirty="0"/>
          </a:p>
          <a:p>
            <a:pPr algn="ctr" indent="0" marL="0">
              <a:buNone/>
            </a:pPr>
            <a:endParaRPr lang="en-US" sz="1000" dirty="0"/>
          </a:p>
          <a:p>
            <a:pPr algn="ctr" indent="0" marL="0">
              <a:buNone/>
            </a:pPr>
            <a:r>
              <a:rPr lang="en-US" sz="1000" b="1" dirty="0">
                <a:solidFill>
                  <a:srgbClr val="07111F"/>
                </a:solidFill>
              </a:rPr>
              <a:t>- Polling and server-sent events keep long-running cloud operations visible without requiring manual refresh.</a:t>
            </a:r>
            <a:endParaRPr lang="en-US" sz="1000" dirty="0"/>
          </a:p>
          <a:p>
            <a:pPr algn="ctr" indent="0" marL="0">
              <a:buNone/>
            </a:pPr>
            <a:endParaRPr lang="en-US" sz="1000" dirty="0"/>
          </a:p>
          <a:p>
            <a:pPr algn="ctr" indent="0" marL="0">
              <a:buNone/>
            </a:pPr>
            <a:r>
              <a:rPr lang="en-US" sz="1000" b="1" dirty="0">
                <a:solidFill>
                  <a:srgbClr val="07111F"/>
                </a:solidFill>
              </a:rPr>
              <a:t>- UI copy translates provider concepts into product states while retaining detailed evidence for technical users.</a:t>
            </a:r>
            <a:endParaRPr lang="en-US" sz="1000" dirty="0"/>
          </a:p>
          <a:p>
            <a:pPr algn="ctr" indent="0" marL="0">
              <a:buNone/>
            </a:pPr>
            <a:endParaRPr lang="en-US" sz="1000" dirty="0"/>
          </a:p>
          <a:p>
            <a:pPr algn="ctr" indent="0" marL="0">
              <a:buNone/>
            </a:pPr>
            <a:r>
              <a:rPr lang="en-US" sz="1000" b="1" dirty="0">
                <a:solidFill>
                  <a:srgbClr val="07111F"/>
                </a:solidFill>
              </a:rPr>
              <a:t>Visual Recommendation: Annotated sitemap with public, developer, project-detail, billing, and admin route groups.</a:t>
            </a:r>
            <a:endParaRPr lang="en-US" sz="1000" dirty="0"/>
          </a:p>
          <a:p>
            <a:pPr algn="ctr" indent="0" marL="0">
              <a:buNone/>
            </a:pPr>
            <a:endParaRPr lang="en-US" sz="1000" dirty="0"/>
          </a:p>
          <a:p>
            <a:pPr algn="ctr" indent="0" marL="0">
              <a:buNone/>
            </a:pPr>
            <a:r>
              <a:rPr lang="en-US" sz="1000" b="1" dirty="0">
                <a:solidFill>
                  <a:srgbClr val="07111F"/>
                </a:solidFill>
              </a:rPr>
              <a:t>Defense Notes: Explain the distinction between simplifying and hiding. Summary cards support quick decisions, while infrastructure, pipeline, logs, and diagnostics preserve technical detail.</a:t>
            </a:r>
            <a:endParaRPr lang="en-US" sz="1000" dirty="0"/>
          </a:p>
        </p:txBody>
      </p:sp>
      <p:sp>
        <p:nvSpPr>
          <p:cNvPr id="5" name="Shape 3"/>
          <p:cNvSpPr/>
          <p:nvPr/>
        </p:nvSpPr>
        <p:spPr>
          <a:xfrm>
            <a:off x="502920" y="932688"/>
            <a:ext cx="11109960" cy="0"/>
          </a:xfrm>
          <a:prstGeom prst="line">
            <a:avLst/>
          </a:prstGeom>
          <a:noFill/>
          <a:ln w="17780">
            <a:solidFill>
              <a:srgbClr val="B276FF">
                <a:alpha val="75000"/>
              </a:srgbClr>
            </a:solidFill>
            <a:prstDash val="solid"/>
          </a:ln>
        </p:spPr>
      </p:sp>
      <p:sp>
        <p:nvSpPr>
          <p:cNvPr id="6" name="Text 4"/>
          <p:cNvSpPr/>
          <p:nvPr/>
        </p:nvSpPr>
        <p:spPr>
          <a:xfrm>
            <a:off x="502920" y="996696"/>
            <a:ext cx="5212080" cy="164592"/>
          </a:xfrm>
          <a:prstGeom prst="rect">
            <a:avLst/>
          </a:prstGeom>
          <a:noFill/>
          <a:ln/>
        </p:spPr>
        <p:txBody>
          <a:bodyPr wrap="square" lIns="0" tIns="0" rIns="0" bIns="0" rtlCol="0" anchor="ctr"/>
          <a:lstStyle/>
          <a:p>
            <a:pPr indent="0" marL="0">
              <a:buNone/>
            </a:pPr>
            <a:r>
              <a:rPr lang="en-US" sz="850" b="1" spc="110" kern="0" dirty="0">
                <a:solidFill>
                  <a:srgbClr val="B276FF"/>
                </a:solidFill>
              </a:rPr>
              <a:t>TANIA — FRONTEND &amp; AI</a:t>
            </a:r>
            <a:endParaRPr lang="en-US" sz="850" dirty="0"/>
          </a:p>
        </p:txBody>
      </p:sp>
      <p:sp>
        <p:nvSpPr>
          <p:cNvPr id="7" name="Text 5"/>
          <p:cNvSpPr/>
          <p:nvPr/>
        </p:nvSpPr>
        <p:spPr>
          <a:xfrm>
            <a:off x="594360" y="1325880"/>
            <a:ext cx="5349240" cy="4937760"/>
          </a:xfrm>
          <a:prstGeom prst="rect">
            <a:avLst/>
          </a:prstGeom>
          <a:noFill/>
          <a:ln/>
        </p:spPr>
        <p:txBody>
          <a:bodyPr wrap="square" lIns="254" tIns="254" rIns="254" bIns="254" rtlCol="0" anchor="ctr">
            <a:normAutofit/>
          </a:bodyPr>
          <a:lstStyle/>
          <a:p>
            <a:pPr marL="190500" indent="-190500">
              <a:buSzPct val="100000"/>
              <a:buChar char="•"/>
            </a:pPr>
            <a:r>
              <a:rPr lang="en-US" sz="1580" dirty="0">
                <a:solidFill>
                  <a:srgbClr val="D9E5EF"/>
                </a:solidFill>
                <a:latin typeface="Aptos" pitchFamily="34" charset="0"/>
                <a:ea typeface="Aptos" pitchFamily="34" charset="-122"/>
                <a:cs typeface="Aptos" pitchFamily="34" charset="-120"/>
              </a:rPr>
              <a:t>The React single-page application separates public entry, authentication, developer workspaces, and administration.</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Developer routes include Dashboard, Projects, New Project, Project Overview, Pipeline, Infrastructure, Monitoring, Settings, Troubleshooting, and Billing.</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Route protection prevents unauthenticated access, while role checks separate developer and administrator experiences.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Project pages share a stable navigation context so users do not lose the selected project while moving between lifecycle views.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Polling and server-sent events keep long-running cloud operations visible without requiring manual refresh.</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UI copy translates provider concepts into product states while retaining detailed evidence for technical users.</a:t>
            </a:r>
            <a:endParaRPr lang="en-US" sz="1580" dirty="0"/>
          </a:p>
        </p:txBody>
      </p:sp>
      <p:sp>
        <p:nvSpPr>
          <p:cNvPr id="8" name="Shape 6"/>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9" name="Shape 7"/>
          <p:cNvSpPr/>
          <p:nvPr/>
        </p:nvSpPr>
        <p:spPr>
          <a:xfrm>
            <a:off x="6446520" y="1481328"/>
            <a:ext cx="4800600" cy="868680"/>
          </a:xfrm>
          <a:prstGeom prst="roundRect">
            <a:avLst>
              <a:gd name="adj" fmla="val 6316"/>
            </a:avLst>
          </a:prstGeom>
          <a:solidFill>
            <a:srgbClr val="0F1D2D"/>
          </a:solidFill>
          <a:ln w="12700">
            <a:solidFill>
              <a:srgbClr val="29445C"/>
            </a:solidFill>
            <a:prstDash val="solid"/>
          </a:ln>
        </p:spPr>
      </p:sp>
      <p:sp>
        <p:nvSpPr>
          <p:cNvPr id="10" name="Shape 8"/>
          <p:cNvSpPr/>
          <p:nvPr/>
        </p:nvSpPr>
        <p:spPr>
          <a:xfrm>
            <a:off x="6446520" y="1481328"/>
            <a:ext cx="54864" cy="868680"/>
          </a:xfrm>
          <a:prstGeom prst="rect">
            <a:avLst/>
          </a:prstGeom>
          <a:solidFill>
            <a:srgbClr val="35C2D8"/>
          </a:solidFill>
          <a:ln w="12700">
            <a:solidFill>
              <a:srgbClr val="35C2D8"/>
            </a:solidFill>
            <a:prstDash val="solid"/>
          </a:ln>
        </p:spPr>
      </p:sp>
      <p:sp>
        <p:nvSpPr>
          <p:cNvPr id="11" name="Text 9"/>
          <p:cNvSpPr/>
          <p:nvPr/>
        </p:nvSpPr>
        <p:spPr>
          <a:xfrm>
            <a:off x="6647688" y="1636776"/>
            <a:ext cx="4489704" cy="256032"/>
          </a:xfrm>
          <a:prstGeom prst="rect">
            <a:avLst/>
          </a:prstGeom>
          <a:noFill/>
          <a:ln/>
        </p:spPr>
        <p:txBody>
          <a:bodyPr wrap="square" lIns="0" tIns="0" rIns="0" bIns="0" rtlCol="0" anchor="ctr">
            <a:normAutofit/>
          </a:bodyPr>
          <a:lstStyle/>
          <a:p>
            <a:pPr indent="0" marL="0">
              <a:buNone/>
            </a:pPr>
            <a:r>
              <a:rPr lang="en-US" sz="1250" b="1" dirty="0">
                <a:solidFill>
                  <a:srgbClr val="F7FAFC"/>
                </a:solidFill>
              </a:rPr>
              <a:t>Public</a:t>
            </a:r>
            <a:endParaRPr lang="en-US" sz="1250" dirty="0"/>
          </a:p>
        </p:txBody>
      </p:sp>
      <p:sp>
        <p:nvSpPr>
          <p:cNvPr id="12" name="Text 10"/>
          <p:cNvSpPr/>
          <p:nvPr/>
        </p:nvSpPr>
        <p:spPr>
          <a:xfrm>
            <a:off x="6647688" y="1993392"/>
            <a:ext cx="4489704" cy="210312"/>
          </a:xfrm>
          <a:prstGeom prst="rect">
            <a:avLst/>
          </a:prstGeom>
          <a:noFill/>
          <a:ln/>
        </p:spPr>
        <p:txBody>
          <a:bodyPr wrap="square" lIns="0" tIns="0" rIns="0" bIns="0" rtlCol="0" anchor="ctr">
            <a:normAutofit/>
          </a:bodyPr>
          <a:lstStyle/>
          <a:p>
            <a:pPr indent="0" marL="0">
              <a:buNone/>
            </a:pPr>
            <a:r>
              <a:rPr lang="en-US" sz="1050" dirty="0">
                <a:solidFill>
                  <a:srgbClr val="8FA6B9"/>
                </a:solidFill>
              </a:rPr>
              <a:t>Landing • Login</a:t>
            </a:r>
            <a:endParaRPr lang="en-US" sz="1050" dirty="0"/>
          </a:p>
        </p:txBody>
      </p:sp>
      <p:sp>
        <p:nvSpPr>
          <p:cNvPr id="13" name="Shape 11"/>
          <p:cNvSpPr/>
          <p:nvPr/>
        </p:nvSpPr>
        <p:spPr>
          <a:xfrm>
            <a:off x="6446520" y="2560320"/>
            <a:ext cx="4800600" cy="868680"/>
          </a:xfrm>
          <a:prstGeom prst="roundRect">
            <a:avLst>
              <a:gd name="adj" fmla="val 6316"/>
            </a:avLst>
          </a:prstGeom>
          <a:solidFill>
            <a:srgbClr val="0F1D2D"/>
          </a:solidFill>
          <a:ln w="12700">
            <a:solidFill>
              <a:srgbClr val="29445C"/>
            </a:solidFill>
            <a:prstDash val="solid"/>
          </a:ln>
        </p:spPr>
      </p:sp>
      <p:sp>
        <p:nvSpPr>
          <p:cNvPr id="14" name="Shape 12"/>
          <p:cNvSpPr/>
          <p:nvPr/>
        </p:nvSpPr>
        <p:spPr>
          <a:xfrm>
            <a:off x="6446520" y="2560320"/>
            <a:ext cx="54864" cy="868680"/>
          </a:xfrm>
          <a:prstGeom prst="rect">
            <a:avLst/>
          </a:prstGeom>
          <a:solidFill>
            <a:srgbClr val="4FA3FF"/>
          </a:solidFill>
          <a:ln w="12700">
            <a:solidFill>
              <a:srgbClr val="4FA3FF"/>
            </a:solidFill>
            <a:prstDash val="solid"/>
          </a:ln>
        </p:spPr>
      </p:sp>
      <p:sp>
        <p:nvSpPr>
          <p:cNvPr id="15" name="Text 13"/>
          <p:cNvSpPr/>
          <p:nvPr/>
        </p:nvSpPr>
        <p:spPr>
          <a:xfrm>
            <a:off x="6647688" y="2715768"/>
            <a:ext cx="4489704" cy="256032"/>
          </a:xfrm>
          <a:prstGeom prst="rect">
            <a:avLst/>
          </a:prstGeom>
          <a:noFill/>
          <a:ln/>
        </p:spPr>
        <p:txBody>
          <a:bodyPr wrap="square" lIns="0" tIns="0" rIns="0" bIns="0" rtlCol="0" anchor="ctr">
            <a:normAutofit/>
          </a:bodyPr>
          <a:lstStyle/>
          <a:p>
            <a:pPr indent="0" marL="0">
              <a:buNone/>
            </a:pPr>
            <a:r>
              <a:rPr lang="en-US" sz="1250" b="1" dirty="0">
                <a:solidFill>
                  <a:srgbClr val="F7FAFC"/>
                </a:solidFill>
              </a:rPr>
              <a:t>Developer</a:t>
            </a:r>
            <a:endParaRPr lang="en-US" sz="1250" dirty="0"/>
          </a:p>
        </p:txBody>
      </p:sp>
      <p:sp>
        <p:nvSpPr>
          <p:cNvPr id="16" name="Text 14"/>
          <p:cNvSpPr/>
          <p:nvPr/>
        </p:nvSpPr>
        <p:spPr>
          <a:xfrm>
            <a:off x="6647688" y="3072384"/>
            <a:ext cx="4489704" cy="210312"/>
          </a:xfrm>
          <a:prstGeom prst="rect">
            <a:avLst/>
          </a:prstGeom>
          <a:noFill/>
          <a:ln/>
        </p:spPr>
        <p:txBody>
          <a:bodyPr wrap="square" lIns="0" tIns="0" rIns="0" bIns="0" rtlCol="0" anchor="ctr">
            <a:normAutofit/>
          </a:bodyPr>
          <a:lstStyle/>
          <a:p>
            <a:pPr indent="0" marL="0">
              <a:buNone/>
            </a:pPr>
            <a:r>
              <a:rPr lang="en-US" sz="1050" dirty="0">
                <a:solidFill>
                  <a:srgbClr val="8FA6B9"/>
                </a:solidFill>
              </a:rPr>
              <a:t>Dashboard • Projects</a:t>
            </a:r>
            <a:endParaRPr lang="en-US" sz="1050" dirty="0"/>
          </a:p>
        </p:txBody>
      </p:sp>
      <p:sp>
        <p:nvSpPr>
          <p:cNvPr id="17" name="Shape 15"/>
          <p:cNvSpPr/>
          <p:nvPr/>
        </p:nvSpPr>
        <p:spPr>
          <a:xfrm>
            <a:off x="6446520" y="3639312"/>
            <a:ext cx="4800600" cy="868680"/>
          </a:xfrm>
          <a:prstGeom prst="roundRect">
            <a:avLst>
              <a:gd name="adj" fmla="val 6316"/>
            </a:avLst>
          </a:prstGeom>
          <a:solidFill>
            <a:srgbClr val="0F1D2D"/>
          </a:solidFill>
          <a:ln w="12700">
            <a:solidFill>
              <a:srgbClr val="29445C"/>
            </a:solidFill>
            <a:prstDash val="solid"/>
          </a:ln>
        </p:spPr>
      </p:sp>
      <p:sp>
        <p:nvSpPr>
          <p:cNvPr id="18" name="Shape 16"/>
          <p:cNvSpPr/>
          <p:nvPr/>
        </p:nvSpPr>
        <p:spPr>
          <a:xfrm>
            <a:off x="6446520" y="3639312"/>
            <a:ext cx="54864" cy="868680"/>
          </a:xfrm>
          <a:prstGeom prst="rect">
            <a:avLst/>
          </a:prstGeom>
          <a:solidFill>
            <a:srgbClr val="B276FF"/>
          </a:solidFill>
          <a:ln w="12700">
            <a:solidFill>
              <a:srgbClr val="B276FF"/>
            </a:solidFill>
            <a:prstDash val="solid"/>
          </a:ln>
        </p:spPr>
      </p:sp>
      <p:sp>
        <p:nvSpPr>
          <p:cNvPr id="19" name="Text 17"/>
          <p:cNvSpPr/>
          <p:nvPr/>
        </p:nvSpPr>
        <p:spPr>
          <a:xfrm>
            <a:off x="6647688" y="3794760"/>
            <a:ext cx="4489704" cy="256032"/>
          </a:xfrm>
          <a:prstGeom prst="rect">
            <a:avLst/>
          </a:prstGeom>
          <a:noFill/>
          <a:ln/>
        </p:spPr>
        <p:txBody>
          <a:bodyPr wrap="square" lIns="0" tIns="0" rIns="0" bIns="0" rtlCol="0" anchor="ctr">
            <a:normAutofit/>
          </a:bodyPr>
          <a:lstStyle/>
          <a:p>
            <a:pPr indent="0" marL="0">
              <a:buNone/>
            </a:pPr>
            <a:r>
              <a:rPr lang="en-US" sz="1250" b="1" dirty="0">
                <a:solidFill>
                  <a:srgbClr val="F7FAFC"/>
                </a:solidFill>
              </a:rPr>
              <a:t>Project</a:t>
            </a:r>
            <a:endParaRPr lang="en-US" sz="1250" dirty="0"/>
          </a:p>
        </p:txBody>
      </p:sp>
      <p:sp>
        <p:nvSpPr>
          <p:cNvPr id="20" name="Text 18"/>
          <p:cNvSpPr/>
          <p:nvPr/>
        </p:nvSpPr>
        <p:spPr>
          <a:xfrm>
            <a:off x="6647688" y="4151376"/>
            <a:ext cx="4489704" cy="210312"/>
          </a:xfrm>
          <a:prstGeom prst="rect">
            <a:avLst/>
          </a:prstGeom>
          <a:noFill/>
          <a:ln/>
        </p:spPr>
        <p:txBody>
          <a:bodyPr wrap="square" lIns="0" tIns="0" rIns="0" bIns="0" rtlCol="0" anchor="ctr">
            <a:normAutofit/>
          </a:bodyPr>
          <a:lstStyle/>
          <a:p>
            <a:pPr indent="0" marL="0">
              <a:buNone/>
            </a:pPr>
            <a:r>
              <a:rPr lang="en-US" sz="1050" dirty="0">
                <a:solidFill>
                  <a:srgbClr val="8FA6B9"/>
                </a:solidFill>
              </a:rPr>
              <a:t>Overview • Pipeline • Infrastructure • Monitoring</a:t>
            </a:r>
            <a:endParaRPr lang="en-US" sz="1050" dirty="0"/>
          </a:p>
        </p:txBody>
      </p:sp>
      <p:sp>
        <p:nvSpPr>
          <p:cNvPr id="21" name="Shape 19"/>
          <p:cNvSpPr/>
          <p:nvPr/>
        </p:nvSpPr>
        <p:spPr>
          <a:xfrm>
            <a:off x="6446520" y="4718304"/>
            <a:ext cx="4800600" cy="868680"/>
          </a:xfrm>
          <a:prstGeom prst="roundRect">
            <a:avLst>
              <a:gd name="adj" fmla="val 6316"/>
            </a:avLst>
          </a:prstGeom>
          <a:solidFill>
            <a:srgbClr val="0F1D2D"/>
          </a:solidFill>
          <a:ln w="12700">
            <a:solidFill>
              <a:srgbClr val="29445C"/>
            </a:solidFill>
            <a:prstDash val="solid"/>
          </a:ln>
        </p:spPr>
      </p:sp>
      <p:sp>
        <p:nvSpPr>
          <p:cNvPr id="22" name="Shape 20"/>
          <p:cNvSpPr/>
          <p:nvPr/>
        </p:nvSpPr>
        <p:spPr>
          <a:xfrm>
            <a:off x="6446520" y="4718304"/>
            <a:ext cx="54864" cy="868680"/>
          </a:xfrm>
          <a:prstGeom prst="rect">
            <a:avLst/>
          </a:prstGeom>
          <a:solidFill>
            <a:srgbClr val="54D6A3"/>
          </a:solidFill>
          <a:ln w="12700">
            <a:solidFill>
              <a:srgbClr val="54D6A3"/>
            </a:solidFill>
            <a:prstDash val="solid"/>
          </a:ln>
        </p:spPr>
      </p:sp>
      <p:sp>
        <p:nvSpPr>
          <p:cNvPr id="23" name="Text 21"/>
          <p:cNvSpPr/>
          <p:nvPr/>
        </p:nvSpPr>
        <p:spPr>
          <a:xfrm>
            <a:off x="6647688" y="4873752"/>
            <a:ext cx="4489704" cy="256032"/>
          </a:xfrm>
          <a:prstGeom prst="rect">
            <a:avLst/>
          </a:prstGeom>
          <a:noFill/>
          <a:ln/>
        </p:spPr>
        <p:txBody>
          <a:bodyPr wrap="square" lIns="0" tIns="0" rIns="0" bIns="0" rtlCol="0" anchor="ctr">
            <a:normAutofit/>
          </a:bodyPr>
          <a:lstStyle/>
          <a:p>
            <a:pPr indent="0" marL="0">
              <a:buNone/>
            </a:pPr>
            <a:r>
              <a:rPr lang="en-US" sz="1250" b="1" dirty="0">
                <a:solidFill>
                  <a:srgbClr val="F7FAFC"/>
                </a:solidFill>
              </a:rPr>
              <a:t>Governance</a:t>
            </a:r>
            <a:endParaRPr lang="en-US" sz="1250" dirty="0"/>
          </a:p>
        </p:txBody>
      </p:sp>
      <p:sp>
        <p:nvSpPr>
          <p:cNvPr id="24" name="Text 22"/>
          <p:cNvSpPr/>
          <p:nvPr/>
        </p:nvSpPr>
        <p:spPr>
          <a:xfrm>
            <a:off x="6647688" y="5230368"/>
            <a:ext cx="4489704" cy="210312"/>
          </a:xfrm>
          <a:prstGeom prst="rect">
            <a:avLst/>
          </a:prstGeom>
          <a:noFill/>
          <a:ln/>
        </p:spPr>
        <p:txBody>
          <a:bodyPr wrap="square" lIns="0" tIns="0" rIns="0" bIns="0" rtlCol="0" anchor="ctr">
            <a:normAutofit/>
          </a:bodyPr>
          <a:lstStyle/>
          <a:p>
            <a:pPr indent="0" marL="0">
              <a:buNone/>
            </a:pPr>
            <a:r>
              <a:rPr lang="en-US" sz="1050" dirty="0">
                <a:solidFill>
                  <a:srgbClr val="8FA6B9"/>
                </a:solidFill>
              </a:rPr>
              <a:t>Billing • Admin</a:t>
            </a:r>
            <a:endParaRPr lang="en-US" sz="1050" dirty="0"/>
          </a:p>
        </p:txBody>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347472"/>
            <a:ext cx="9098280" cy="475488"/>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Repository Onboarding and Deployment Configuration UX</a:t>
            </a:r>
            <a:endParaRPr lang="en-US" sz="2400" dirty="0"/>
          </a:p>
        </p:txBody>
      </p:sp>
      <p:sp>
        <p:nvSpPr>
          <p:cNvPr id="3" name="Shape 1"/>
          <p:cNvSpPr/>
          <p:nvPr/>
        </p:nvSpPr>
        <p:spPr>
          <a:xfrm>
            <a:off x="9829800" y="338328"/>
            <a:ext cx="1783080" cy="329184"/>
          </a:xfrm>
          <a:prstGeom prst="roundRect">
            <a:avLst>
              <a:gd name="adj" fmla="val 22222"/>
            </a:avLst>
          </a:prstGeom>
          <a:solidFill>
            <a:srgbClr val="B276FF">
              <a:alpha val="92000"/>
            </a:srgbClr>
          </a:solidFill>
          <a:ln w="12700">
            <a:solidFill>
              <a:srgbClr val="B276FF">
                <a:alpha val="0"/>
              </a:srgbClr>
            </a:solidFill>
            <a:prstDash val="solid"/>
          </a:ln>
        </p:spPr>
      </p:sp>
      <p:sp>
        <p:nvSpPr>
          <p:cNvPr id="4" name="Text 2"/>
          <p:cNvSpPr/>
          <p:nvPr/>
        </p:nvSpPr>
        <p:spPr>
          <a:xfrm>
            <a:off x="9912096" y="416052"/>
            <a:ext cx="1609344" cy="118872"/>
          </a:xfrm>
          <a:prstGeom prst="rect">
            <a:avLst/>
          </a:prstGeom>
          <a:noFill/>
          <a:ln/>
        </p:spPr>
        <p:txBody>
          <a:bodyPr wrap="square" lIns="0" tIns="0" rIns="0" bIns="0" rtlCol="0" anchor="ctr">
            <a:normAutofit/>
          </a:bodyPr>
          <a:lstStyle/>
          <a:p>
            <a:pPr algn="ctr" indent="0" marL="0">
              <a:buNone/>
            </a:pPr>
            <a:r>
              <a:rPr lang="en-US" sz="1000" b="1" dirty="0">
                <a:solidFill>
                  <a:srgbClr val="07111F"/>
                </a:solidFill>
              </a:rPr>
              <a:t>Tania Khawar</a:t>
            </a:r>
            <a:endParaRPr lang="en-US" sz="1000" dirty="0"/>
          </a:p>
          <a:p>
            <a:pPr algn="ctr" indent="0" marL="0">
              <a:buNone/>
            </a:pPr>
            <a:endParaRPr lang="en-US" sz="1000" dirty="0"/>
          </a:p>
          <a:p>
            <a:pPr algn="ctr" indent="0" marL="0">
              <a:buNone/>
            </a:pPr>
            <a:r>
              <a:rPr lang="en-US" sz="1000" b="1" dirty="0">
                <a:solidFill>
                  <a:srgbClr val="07111F"/>
                </a:solidFill>
              </a:rPr>
              <a:t>Purpose: Demonstrate the guided path from GitHub connection to deployment readiness.</a:t>
            </a:r>
            <a:endParaRPr lang="en-US" sz="1000" dirty="0"/>
          </a:p>
          <a:p>
            <a:pPr algn="ctr" indent="0" marL="0">
              <a:buNone/>
            </a:pPr>
            <a:endParaRPr lang="en-US" sz="1000" dirty="0"/>
          </a:p>
          <a:p>
            <a:pPr algn="ctr" indent="0" marL="0">
              <a:buNone/>
            </a:pPr>
            <a:r>
              <a:rPr lang="en-US" sz="1000" b="1" dirty="0">
                <a:solidFill>
                  <a:srgbClr val="07111F"/>
                </a:solidFill>
              </a:rPr>
              <a:t>Presentation Content:</a:t>
            </a:r>
            <a:endParaRPr lang="en-US" sz="1000" dirty="0"/>
          </a:p>
          <a:p>
            <a:pPr algn="ctr" indent="0" marL="0">
              <a:buNone/>
            </a:pPr>
            <a:endParaRPr lang="en-US" sz="1000" dirty="0"/>
          </a:p>
          <a:p>
            <a:pPr algn="ctr" indent="0" marL="0">
              <a:buNone/>
            </a:pPr>
            <a:r>
              <a:rPr lang="en-US" sz="1000" b="1" dirty="0">
                <a:solidFill>
                  <a:srgbClr val="07111F"/>
                </a:solidFill>
              </a:rPr>
              <a:t>- The New Project flow first verifies the user’s GitHub App connection and available installation repositories.</a:t>
            </a:r>
            <a:endParaRPr lang="en-US" sz="1000" dirty="0"/>
          </a:p>
          <a:p>
            <a:pPr algn="ctr" indent="0" marL="0">
              <a:buNone/>
            </a:pPr>
            <a:endParaRPr lang="en-US" sz="1000" dirty="0"/>
          </a:p>
          <a:p>
            <a:pPr algn="ctr" indent="0" marL="0">
              <a:buNone/>
            </a:pPr>
            <a:r>
              <a:rPr lang="en-US" sz="1000" b="1" dirty="0">
                <a:solidFill>
                  <a:srgbClr val="07111F"/>
                </a:solidFill>
              </a:rPr>
              <a:t>- Users select a repository and source branch, then choose one or more service directories for deployment.</a:t>
            </a:r>
            <a:endParaRPr lang="en-US" sz="1000" dirty="0"/>
          </a:p>
          <a:p>
            <a:pPr algn="ctr" indent="0" marL="0">
              <a:buNone/>
            </a:pPr>
            <a:endParaRPr lang="en-US" sz="1000" dirty="0"/>
          </a:p>
          <a:p>
            <a:pPr algn="ctr" indent="0" marL="0">
              <a:buNone/>
            </a:pPr>
            <a:r>
              <a:rPr lang="en-US" sz="1000" b="1" dirty="0">
                <a:solidFill>
                  <a:srgbClr val="07111F"/>
                </a:solidFill>
              </a:rPr>
              <a:t>- Each service receives its own environment configuration, detected port contract, and optional managed-database attachment.</a:t>
            </a:r>
            <a:endParaRPr lang="en-US" sz="1000" dirty="0"/>
          </a:p>
          <a:p>
            <a:pPr algn="ctr" indent="0" marL="0">
              <a:buNone/>
            </a:pPr>
            <a:endParaRPr lang="en-US" sz="1000" dirty="0"/>
          </a:p>
          <a:p>
            <a:pPr algn="ctr" indent="0" marL="0">
              <a:buNone/>
            </a:pPr>
            <a:r>
              <a:rPr lang="en-US" sz="1000" b="1" dirty="0">
                <a:solidFill>
                  <a:srgbClr val="07111F"/>
                </a:solidFill>
              </a:rPr>
              <a:t>- The interface supports bulk environment-variable paste while keeping service ownership visible.</a:t>
            </a:r>
            <a:endParaRPr lang="en-US" sz="1000" dirty="0"/>
          </a:p>
          <a:p>
            <a:pPr algn="ctr" indent="0" marL="0">
              <a:buNone/>
            </a:pPr>
            <a:endParaRPr lang="en-US" sz="1000" dirty="0"/>
          </a:p>
          <a:p>
            <a:pPr algn="ctr" indent="0" marL="0">
              <a:buNone/>
            </a:pPr>
            <a:r>
              <a:rPr lang="en-US" sz="1000" b="1" dirty="0">
                <a:solidFill>
                  <a:srgbClr val="07111F"/>
                </a:solidFill>
              </a:rPr>
              <a:t>- Readiness feedback blocks incomplete or contradictory configurations before a workflow is dispatched.</a:t>
            </a:r>
            <a:endParaRPr lang="en-US" sz="1000" dirty="0"/>
          </a:p>
          <a:p>
            <a:pPr algn="ctr" indent="0" marL="0">
              <a:buNone/>
            </a:pPr>
            <a:endParaRPr lang="en-US" sz="1000" dirty="0"/>
          </a:p>
          <a:p>
            <a:pPr algn="ctr" indent="0" marL="0">
              <a:buNone/>
            </a:pPr>
            <a:r>
              <a:rPr lang="en-US" sz="1000" b="1" dirty="0">
                <a:solidFill>
                  <a:srgbClr val="07111F"/>
                </a:solidFill>
              </a:rPr>
              <a:t>- The final review summarizes repository, services, runtime settings, database choices, and expected action.</a:t>
            </a:r>
            <a:endParaRPr lang="en-US" sz="1000" dirty="0"/>
          </a:p>
          <a:p>
            <a:pPr algn="ctr" indent="0" marL="0">
              <a:buNone/>
            </a:pPr>
            <a:endParaRPr lang="en-US" sz="1000" dirty="0"/>
          </a:p>
          <a:p>
            <a:pPr algn="ctr" indent="0" marL="0">
              <a:buNone/>
            </a:pPr>
            <a:r>
              <a:rPr lang="en-US" sz="1000" b="1" dirty="0">
                <a:solidFill>
                  <a:srgbClr val="07111F"/>
                </a:solidFill>
              </a:rPr>
              <a:t>Visual Recommendation: A five-step wizard storyboard using actual screenshots: Connect, Select, Configure Services, Attach Database, Review.</a:t>
            </a:r>
            <a:endParaRPr lang="en-US" sz="1000" dirty="0"/>
          </a:p>
          <a:p>
            <a:pPr algn="ctr" indent="0" marL="0">
              <a:buNone/>
            </a:pPr>
            <a:endParaRPr lang="en-US" sz="1000" dirty="0"/>
          </a:p>
          <a:p>
            <a:pPr algn="ctr" indent="0" marL="0">
              <a:buNone/>
            </a:pPr>
            <a:r>
              <a:rPr lang="en-US" sz="1000" b="1" dirty="0">
                <a:solidFill>
                  <a:srgbClr val="07111F"/>
                </a:solidFill>
              </a:rPr>
              <a:t>Defense Notes: For the presentation screenshot, crop any internal builder implementation label. Discuss the user-facing contract as automated container build and validation.</a:t>
            </a:r>
            <a:endParaRPr lang="en-US" sz="1000" dirty="0"/>
          </a:p>
        </p:txBody>
      </p:sp>
      <p:sp>
        <p:nvSpPr>
          <p:cNvPr id="5" name="Shape 3"/>
          <p:cNvSpPr/>
          <p:nvPr/>
        </p:nvSpPr>
        <p:spPr>
          <a:xfrm>
            <a:off x="502920" y="932688"/>
            <a:ext cx="11109960" cy="0"/>
          </a:xfrm>
          <a:prstGeom prst="line">
            <a:avLst/>
          </a:prstGeom>
          <a:noFill/>
          <a:ln w="17780">
            <a:solidFill>
              <a:srgbClr val="B276FF">
                <a:alpha val="75000"/>
              </a:srgbClr>
            </a:solidFill>
            <a:prstDash val="solid"/>
          </a:ln>
        </p:spPr>
      </p:sp>
      <p:sp>
        <p:nvSpPr>
          <p:cNvPr id="6" name="Text 4"/>
          <p:cNvSpPr/>
          <p:nvPr/>
        </p:nvSpPr>
        <p:spPr>
          <a:xfrm>
            <a:off x="502920" y="996696"/>
            <a:ext cx="5212080" cy="164592"/>
          </a:xfrm>
          <a:prstGeom prst="rect">
            <a:avLst/>
          </a:prstGeom>
          <a:noFill/>
          <a:ln/>
        </p:spPr>
        <p:txBody>
          <a:bodyPr wrap="square" lIns="0" tIns="0" rIns="0" bIns="0" rtlCol="0" anchor="ctr"/>
          <a:lstStyle/>
          <a:p>
            <a:pPr indent="0" marL="0">
              <a:buNone/>
            </a:pPr>
            <a:r>
              <a:rPr lang="en-US" sz="850" b="1" spc="110" kern="0" dirty="0">
                <a:solidFill>
                  <a:srgbClr val="B276FF"/>
                </a:solidFill>
              </a:rPr>
              <a:t>TANIA — FRONTEND &amp; AI</a:t>
            </a:r>
            <a:endParaRPr lang="en-US" sz="850" dirty="0"/>
          </a:p>
        </p:txBody>
      </p:sp>
      <p:sp>
        <p:nvSpPr>
          <p:cNvPr id="7" name="Text 5"/>
          <p:cNvSpPr/>
          <p:nvPr/>
        </p:nvSpPr>
        <p:spPr>
          <a:xfrm>
            <a:off x="594360" y="1325880"/>
            <a:ext cx="5349240" cy="4937760"/>
          </a:xfrm>
          <a:prstGeom prst="rect">
            <a:avLst/>
          </a:prstGeom>
          <a:noFill/>
          <a:ln/>
        </p:spPr>
        <p:txBody>
          <a:bodyPr wrap="square" lIns="254" tIns="254" rIns="254" bIns="254" rtlCol="0" anchor="ctr">
            <a:normAutofit/>
          </a:bodyPr>
          <a:lstStyle/>
          <a:p>
            <a:pPr marL="190500" indent="-190500">
              <a:buSzPct val="100000"/>
              <a:buChar char="•"/>
            </a:pPr>
            <a:r>
              <a:rPr lang="en-US" sz="1580" dirty="0">
                <a:solidFill>
                  <a:srgbClr val="D9E5EF"/>
                </a:solidFill>
                <a:latin typeface="Aptos" pitchFamily="34" charset="0"/>
                <a:ea typeface="Aptos" pitchFamily="34" charset="-122"/>
                <a:cs typeface="Aptos" pitchFamily="34" charset="-120"/>
              </a:rPr>
              <a:t>The New Project flow first verifies the user’s GitHub App connection and available installation repositories.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Users select a repository and source branch, then choose one or more service directories for deployment.</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Each service receives its own environment configuration, detected port contract, and optional managed-database attachment.</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The interface supports bulk environment-variable paste while keeping service ownership visible.</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Readiness feedback blocks incomplete or contradictory configurations before a workflow is dispatched.</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The final review summarizes repository, services, runtime settings, database choices, and expected action.</a:t>
            </a:r>
            <a:endParaRPr lang="en-US" sz="1580" dirty="0"/>
          </a:p>
        </p:txBody>
      </p:sp>
      <p:sp>
        <p:nvSpPr>
          <p:cNvPr id="8" name="Shape 6"/>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9" name="Shape 7"/>
          <p:cNvSpPr/>
          <p:nvPr/>
        </p:nvSpPr>
        <p:spPr>
          <a:xfrm>
            <a:off x="6400800" y="1828800"/>
            <a:ext cx="868680" cy="1097280"/>
          </a:xfrm>
          <a:prstGeom prst="roundRect">
            <a:avLst>
              <a:gd name="adj" fmla="val 5263"/>
            </a:avLst>
          </a:prstGeom>
          <a:solidFill>
            <a:srgbClr val="12263A"/>
          </a:solidFill>
          <a:ln w="17780">
            <a:solidFill>
              <a:srgbClr val="B276FF"/>
            </a:solidFill>
            <a:prstDash val="solid"/>
          </a:ln>
        </p:spPr>
      </p:sp>
      <p:sp>
        <p:nvSpPr>
          <p:cNvPr id="10" name="Text 8"/>
          <p:cNvSpPr/>
          <p:nvPr/>
        </p:nvSpPr>
        <p:spPr>
          <a:xfrm>
            <a:off x="6492240" y="1956816"/>
            <a:ext cx="68580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1</a:t>
            </a:r>
            <a:endParaRPr lang="en-US" sz="1200" dirty="0"/>
          </a:p>
        </p:txBody>
      </p:sp>
      <p:sp>
        <p:nvSpPr>
          <p:cNvPr id="11" name="Text 9"/>
          <p:cNvSpPr/>
          <p:nvPr/>
        </p:nvSpPr>
        <p:spPr>
          <a:xfrm>
            <a:off x="6492240" y="2276856"/>
            <a:ext cx="685800" cy="566928"/>
          </a:xfrm>
          <a:prstGeom prst="rect">
            <a:avLst/>
          </a:prstGeom>
          <a:noFill/>
          <a:ln/>
        </p:spPr>
        <p:txBody>
          <a:bodyPr wrap="square" lIns="0" tIns="0" rIns="0" bIns="0" rtlCol="0" anchor="ctr">
            <a:normAutofit/>
          </a:bodyPr>
          <a:lstStyle/>
          <a:p>
            <a:pPr algn="ctr" indent="0" marL="0">
              <a:buNone/>
            </a:pPr>
            <a:r>
              <a:rPr lang="en-US" sz="880" dirty="0">
                <a:solidFill>
                  <a:srgbClr val="8FA6B9"/>
                </a:solidFill>
              </a:rPr>
              <a:t>Connect</a:t>
            </a:r>
            <a:endParaRPr lang="en-US" sz="880" dirty="0"/>
          </a:p>
        </p:txBody>
      </p:sp>
      <p:sp>
        <p:nvSpPr>
          <p:cNvPr id="12" name="Shape 10"/>
          <p:cNvSpPr/>
          <p:nvPr/>
        </p:nvSpPr>
        <p:spPr>
          <a:xfrm>
            <a:off x="7269480" y="2377440"/>
            <a:ext cx="109728" cy="0"/>
          </a:xfrm>
          <a:prstGeom prst="line">
            <a:avLst/>
          </a:prstGeom>
          <a:noFill/>
          <a:ln w="12700">
            <a:solidFill>
              <a:srgbClr val="B276FF"/>
            </a:solidFill>
            <a:prstDash val="solid"/>
            <a:tailEnd type="triangle"/>
          </a:ln>
        </p:spPr>
      </p:sp>
      <p:sp>
        <p:nvSpPr>
          <p:cNvPr id="13" name="Shape 11"/>
          <p:cNvSpPr/>
          <p:nvPr/>
        </p:nvSpPr>
        <p:spPr>
          <a:xfrm>
            <a:off x="7397496" y="2331720"/>
            <a:ext cx="868680" cy="1097280"/>
          </a:xfrm>
          <a:prstGeom prst="roundRect">
            <a:avLst>
              <a:gd name="adj" fmla="val 5263"/>
            </a:avLst>
          </a:prstGeom>
          <a:solidFill>
            <a:srgbClr val="12263A"/>
          </a:solidFill>
          <a:ln w="17780">
            <a:solidFill>
              <a:srgbClr val="35C2D8"/>
            </a:solidFill>
            <a:prstDash val="solid"/>
          </a:ln>
        </p:spPr>
      </p:sp>
      <p:sp>
        <p:nvSpPr>
          <p:cNvPr id="14" name="Text 12"/>
          <p:cNvSpPr/>
          <p:nvPr/>
        </p:nvSpPr>
        <p:spPr>
          <a:xfrm>
            <a:off x="7488936" y="2459736"/>
            <a:ext cx="68580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2</a:t>
            </a:r>
            <a:endParaRPr lang="en-US" sz="1200" dirty="0"/>
          </a:p>
        </p:txBody>
      </p:sp>
      <p:sp>
        <p:nvSpPr>
          <p:cNvPr id="15" name="Text 13"/>
          <p:cNvSpPr/>
          <p:nvPr/>
        </p:nvSpPr>
        <p:spPr>
          <a:xfrm>
            <a:off x="7488936" y="2779776"/>
            <a:ext cx="685800" cy="566928"/>
          </a:xfrm>
          <a:prstGeom prst="rect">
            <a:avLst/>
          </a:prstGeom>
          <a:noFill/>
          <a:ln/>
        </p:spPr>
        <p:txBody>
          <a:bodyPr wrap="square" lIns="0" tIns="0" rIns="0" bIns="0" rtlCol="0" anchor="ctr">
            <a:normAutofit/>
          </a:bodyPr>
          <a:lstStyle/>
          <a:p>
            <a:pPr algn="ctr" indent="0" marL="0">
              <a:buNone/>
            </a:pPr>
            <a:r>
              <a:rPr lang="en-US" sz="880" dirty="0">
                <a:solidFill>
                  <a:srgbClr val="8FA6B9"/>
                </a:solidFill>
              </a:rPr>
              <a:t>Select repo</a:t>
            </a:r>
            <a:endParaRPr lang="en-US" sz="880" dirty="0"/>
          </a:p>
        </p:txBody>
      </p:sp>
      <p:sp>
        <p:nvSpPr>
          <p:cNvPr id="16" name="Shape 14"/>
          <p:cNvSpPr/>
          <p:nvPr/>
        </p:nvSpPr>
        <p:spPr>
          <a:xfrm>
            <a:off x="8266176" y="2880360"/>
            <a:ext cx="109728" cy="0"/>
          </a:xfrm>
          <a:prstGeom prst="line">
            <a:avLst/>
          </a:prstGeom>
          <a:noFill/>
          <a:ln w="12700">
            <a:solidFill>
              <a:srgbClr val="B276FF"/>
            </a:solidFill>
            <a:prstDash val="solid"/>
            <a:tailEnd type="triangle"/>
          </a:ln>
        </p:spPr>
      </p:sp>
      <p:sp>
        <p:nvSpPr>
          <p:cNvPr id="17" name="Shape 15"/>
          <p:cNvSpPr/>
          <p:nvPr/>
        </p:nvSpPr>
        <p:spPr>
          <a:xfrm>
            <a:off x="8394192" y="1828800"/>
            <a:ext cx="868680" cy="1097280"/>
          </a:xfrm>
          <a:prstGeom prst="roundRect">
            <a:avLst>
              <a:gd name="adj" fmla="val 5263"/>
            </a:avLst>
          </a:prstGeom>
          <a:solidFill>
            <a:srgbClr val="12263A"/>
          </a:solidFill>
          <a:ln w="17780">
            <a:solidFill>
              <a:srgbClr val="4FA3FF"/>
            </a:solidFill>
            <a:prstDash val="solid"/>
          </a:ln>
        </p:spPr>
      </p:sp>
      <p:sp>
        <p:nvSpPr>
          <p:cNvPr id="18" name="Text 16"/>
          <p:cNvSpPr/>
          <p:nvPr/>
        </p:nvSpPr>
        <p:spPr>
          <a:xfrm>
            <a:off x="8485632" y="1956816"/>
            <a:ext cx="68580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3</a:t>
            </a:r>
            <a:endParaRPr lang="en-US" sz="1200" dirty="0"/>
          </a:p>
        </p:txBody>
      </p:sp>
      <p:sp>
        <p:nvSpPr>
          <p:cNvPr id="19" name="Text 17"/>
          <p:cNvSpPr/>
          <p:nvPr/>
        </p:nvSpPr>
        <p:spPr>
          <a:xfrm>
            <a:off x="8485632" y="2276856"/>
            <a:ext cx="685800" cy="566928"/>
          </a:xfrm>
          <a:prstGeom prst="rect">
            <a:avLst/>
          </a:prstGeom>
          <a:noFill/>
          <a:ln/>
        </p:spPr>
        <p:txBody>
          <a:bodyPr wrap="square" lIns="0" tIns="0" rIns="0" bIns="0" rtlCol="0" anchor="ctr">
            <a:normAutofit/>
          </a:bodyPr>
          <a:lstStyle/>
          <a:p>
            <a:pPr algn="ctr" indent="0" marL="0">
              <a:buNone/>
            </a:pPr>
            <a:r>
              <a:rPr lang="en-US" sz="880" dirty="0">
                <a:solidFill>
                  <a:srgbClr val="8FA6B9"/>
                </a:solidFill>
              </a:rPr>
              <a:t>Services</a:t>
            </a:r>
            <a:endParaRPr lang="en-US" sz="880" dirty="0"/>
          </a:p>
        </p:txBody>
      </p:sp>
      <p:sp>
        <p:nvSpPr>
          <p:cNvPr id="20" name="Shape 18"/>
          <p:cNvSpPr/>
          <p:nvPr/>
        </p:nvSpPr>
        <p:spPr>
          <a:xfrm>
            <a:off x="9262872" y="2377440"/>
            <a:ext cx="109728" cy="0"/>
          </a:xfrm>
          <a:prstGeom prst="line">
            <a:avLst/>
          </a:prstGeom>
          <a:noFill/>
          <a:ln w="12700">
            <a:solidFill>
              <a:srgbClr val="B276FF"/>
            </a:solidFill>
            <a:prstDash val="solid"/>
            <a:tailEnd type="triangle"/>
          </a:ln>
        </p:spPr>
      </p:sp>
      <p:sp>
        <p:nvSpPr>
          <p:cNvPr id="21" name="Shape 19"/>
          <p:cNvSpPr/>
          <p:nvPr/>
        </p:nvSpPr>
        <p:spPr>
          <a:xfrm>
            <a:off x="9390888" y="2331720"/>
            <a:ext cx="868680" cy="1097280"/>
          </a:xfrm>
          <a:prstGeom prst="roundRect">
            <a:avLst>
              <a:gd name="adj" fmla="val 5263"/>
            </a:avLst>
          </a:prstGeom>
          <a:solidFill>
            <a:srgbClr val="12263A"/>
          </a:solidFill>
          <a:ln w="17780">
            <a:solidFill>
              <a:srgbClr val="54D6A3"/>
            </a:solidFill>
            <a:prstDash val="solid"/>
          </a:ln>
        </p:spPr>
      </p:sp>
      <p:sp>
        <p:nvSpPr>
          <p:cNvPr id="22" name="Text 20"/>
          <p:cNvSpPr/>
          <p:nvPr/>
        </p:nvSpPr>
        <p:spPr>
          <a:xfrm>
            <a:off x="9482328" y="2459736"/>
            <a:ext cx="68580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4</a:t>
            </a:r>
            <a:endParaRPr lang="en-US" sz="1200" dirty="0"/>
          </a:p>
        </p:txBody>
      </p:sp>
      <p:sp>
        <p:nvSpPr>
          <p:cNvPr id="23" name="Text 21"/>
          <p:cNvSpPr/>
          <p:nvPr/>
        </p:nvSpPr>
        <p:spPr>
          <a:xfrm>
            <a:off x="9482328" y="2779776"/>
            <a:ext cx="685800" cy="566928"/>
          </a:xfrm>
          <a:prstGeom prst="rect">
            <a:avLst/>
          </a:prstGeom>
          <a:noFill/>
          <a:ln/>
        </p:spPr>
        <p:txBody>
          <a:bodyPr wrap="square" lIns="0" tIns="0" rIns="0" bIns="0" rtlCol="0" anchor="ctr">
            <a:normAutofit/>
          </a:bodyPr>
          <a:lstStyle/>
          <a:p>
            <a:pPr algn="ctr" indent="0" marL="0">
              <a:buNone/>
            </a:pPr>
            <a:r>
              <a:rPr lang="en-US" sz="880" dirty="0">
                <a:solidFill>
                  <a:srgbClr val="8FA6B9"/>
                </a:solidFill>
              </a:rPr>
              <a:t>Database</a:t>
            </a:r>
            <a:endParaRPr lang="en-US" sz="880" dirty="0"/>
          </a:p>
        </p:txBody>
      </p:sp>
      <p:sp>
        <p:nvSpPr>
          <p:cNvPr id="24" name="Shape 22"/>
          <p:cNvSpPr/>
          <p:nvPr/>
        </p:nvSpPr>
        <p:spPr>
          <a:xfrm>
            <a:off x="10259568" y="2880360"/>
            <a:ext cx="109728" cy="0"/>
          </a:xfrm>
          <a:prstGeom prst="line">
            <a:avLst/>
          </a:prstGeom>
          <a:noFill/>
          <a:ln w="12700">
            <a:solidFill>
              <a:srgbClr val="B276FF"/>
            </a:solidFill>
            <a:prstDash val="solid"/>
            <a:tailEnd type="triangle"/>
          </a:ln>
        </p:spPr>
      </p:sp>
      <p:sp>
        <p:nvSpPr>
          <p:cNvPr id="25" name="Shape 23"/>
          <p:cNvSpPr/>
          <p:nvPr/>
        </p:nvSpPr>
        <p:spPr>
          <a:xfrm>
            <a:off x="10387584" y="1828800"/>
            <a:ext cx="868680" cy="1097280"/>
          </a:xfrm>
          <a:prstGeom prst="roundRect">
            <a:avLst>
              <a:gd name="adj" fmla="val 5263"/>
            </a:avLst>
          </a:prstGeom>
          <a:solidFill>
            <a:srgbClr val="12263A"/>
          </a:solidFill>
          <a:ln w="17780">
            <a:solidFill>
              <a:srgbClr val="F5B041"/>
            </a:solidFill>
            <a:prstDash val="solid"/>
          </a:ln>
        </p:spPr>
      </p:sp>
      <p:sp>
        <p:nvSpPr>
          <p:cNvPr id="26" name="Text 24"/>
          <p:cNvSpPr/>
          <p:nvPr/>
        </p:nvSpPr>
        <p:spPr>
          <a:xfrm>
            <a:off x="10479024" y="1956816"/>
            <a:ext cx="68580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5</a:t>
            </a:r>
            <a:endParaRPr lang="en-US" sz="1200" dirty="0"/>
          </a:p>
        </p:txBody>
      </p:sp>
      <p:sp>
        <p:nvSpPr>
          <p:cNvPr id="27" name="Text 25"/>
          <p:cNvSpPr/>
          <p:nvPr/>
        </p:nvSpPr>
        <p:spPr>
          <a:xfrm>
            <a:off x="10479024" y="2276856"/>
            <a:ext cx="685800" cy="566928"/>
          </a:xfrm>
          <a:prstGeom prst="rect">
            <a:avLst/>
          </a:prstGeom>
          <a:noFill/>
          <a:ln/>
        </p:spPr>
        <p:txBody>
          <a:bodyPr wrap="square" lIns="0" tIns="0" rIns="0" bIns="0" rtlCol="0" anchor="ctr">
            <a:normAutofit/>
          </a:bodyPr>
          <a:lstStyle/>
          <a:p>
            <a:pPr algn="ctr" indent="0" marL="0">
              <a:buNone/>
            </a:pPr>
            <a:r>
              <a:rPr lang="en-US" sz="880" dirty="0">
                <a:solidFill>
                  <a:srgbClr val="8FA6B9"/>
                </a:solidFill>
              </a:rPr>
              <a:t>Review</a:t>
            </a:r>
            <a:endParaRPr lang="en-US" sz="880" dirty="0"/>
          </a:p>
        </p:txBody>
      </p:sp>
      <p:sp>
        <p:nvSpPr>
          <p:cNvPr id="28" name="Shape 26"/>
          <p:cNvSpPr/>
          <p:nvPr/>
        </p:nvSpPr>
        <p:spPr>
          <a:xfrm>
            <a:off x="6995160" y="5074920"/>
            <a:ext cx="3749040" cy="347472"/>
          </a:xfrm>
          <a:prstGeom prst="roundRect">
            <a:avLst>
              <a:gd name="adj" fmla="val 47368"/>
            </a:avLst>
          </a:prstGeom>
          <a:solidFill>
            <a:srgbClr val="FF6B6B">
              <a:alpha val="88000"/>
            </a:srgbClr>
          </a:solidFill>
          <a:ln w="12700">
            <a:solidFill>
              <a:srgbClr val="FF6B6B">
                <a:alpha val="0"/>
              </a:srgbClr>
            </a:solidFill>
            <a:prstDash val="solid"/>
          </a:ln>
        </p:spPr>
      </p:sp>
      <p:sp>
        <p:nvSpPr>
          <p:cNvPr id="29" name="Text 27"/>
          <p:cNvSpPr/>
          <p:nvPr/>
        </p:nvSpPr>
        <p:spPr>
          <a:xfrm>
            <a:off x="7068312" y="5157216"/>
            <a:ext cx="3602736" cy="118872"/>
          </a:xfrm>
          <a:prstGeom prst="rect">
            <a:avLst/>
          </a:prstGeom>
          <a:noFill/>
          <a:ln/>
        </p:spPr>
        <p:txBody>
          <a:bodyPr wrap="square" lIns="0" tIns="0" rIns="0" bIns="0" rtlCol="0" anchor="ctr">
            <a:normAutofit/>
          </a:bodyPr>
          <a:lstStyle/>
          <a:p>
            <a:pPr algn="ctr" indent="0" marL="0">
              <a:buNone/>
            </a:pPr>
            <a:r>
              <a:rPr lang="en-US" sz="950" b="1" dirty="0">
                <a:solidFill>
                  <a:srgbClr val="07111F"/>
                </a:solidFill>
              </a:rPr>
              <a:t>READINESS BLOCKS CONTRADICTORY CONFIGURATION</a:t>
            </a:r>
            <a:endParaRPr lang="en-US" sz="950" dirty="0"/>
          </a:p>
        </p:txBody>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347472"/>
            <a:ext cx="9098280" cy="475488"/>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Deployment Pipeline and Current-State Visualization</a:t>
            </a:r>
            <a:endParaRPr lang="en-US" sz="2400" dirty="0"/>
          </a:p>
        </p:txBody>
      </p:sp>
      <p:sp>
        <p:nvSpPr>
          <p:cNvPr id="3" name="Shape 1"/>
          <p:cNvSpPr/>
          <p:nvPr/>
        </p:nvSpPr>
        <p:spPr>
          <a:xfrm>
            <a:off x="9829800" y="338328"/>
            <a:ext cx="1783080" cy="329184"/>
          </a:xfrm>
          <a:prstGeom prst="roundRect">
            <a:avLst>
              <a:gd name="adj" fmla="val 22222"/>
            </a:avLst>
          </a:prstGeom>
          <a:solidFill>
            <a:srgbClr val="B276FF">
              <a:alpha val="92000"/>
            </a:srgbClr>
          </a:solidFill>
          <a:ln w="12700">
            <a:solidFill>
              <a:srgbClr val="B276FF">
                <a:alpha val="0"/>
              </a:srgbClr>
            </a:solidFill>
            <a:prstDash val="solid"/>
          </a:ln>
        </p:spPr>
      </p:sp>
      <p:sp>
        <p:nvSpPr>
          <p:cNvPr id="4" name="Text 2"/>
          <p:cNvSpPr/>
          <p:nvPr/>
        </p:nvSpPr>
        <p:spPr>
          <a:xfrm>
            <a:off x="9912096" y="416052"/>
            <a:ext cx="1609344" cy="118872"/>
          </a:xfrm>
          <a:prstGeom prst="rect">
            <a:avLst/>
          </a:prstGeom>
          <a:noFill/>
          <a:ln/>
        </p:spPr>
        <p:txBody>
          <a:bodyPr wrap="square" lIns="0" tIns="0" rIns="0" bIns="0" rtlCol="0" anchor="ctr">
            <a:normAutofit/>
          </a:bodyPr>
          <a:lstStyle/>
          <a:p>
            <a:pPr algn="ctr" indent="0" marL="0">
              <a:buNone/>
            </a:pPr>
            <a:r>
              <a:rPr lang="en-US" sz="1000" b="1" dirty="0">
                <a:solidFill>
                  <a:srgbClr val="07111F"/>
                </a:solidFill>
              </a:rPr>
              <a:t>Tania Khawar</a:t>
            </a:r>
            <a:endParaRPr lang="en-US" sz="1000" dirty="0"/>
          </a:p>
          <a:p>
            <a:pPr algn="ctr" indent="0" marL="0">
              <a:buNone/>
            </a:pPr>
            <a:endParaRPr lang="en-US" sz="1000" dirty="0"/>
          </a:p>
          <a:p>
            <a:pPr algn="ctr" indent="0" marL="0">
              <a:buNone/>
            </a:pPr>
            <a:r>
              <a:rPr lang="en-US" sz="1000" b="1" dirty="0">
                <a:solidFill>
                  <a:srgbClr val="07111F"/>
                </a:solidFill>
              </a:rPr>
              <a:t>Purpose: Explain how the UI communicates asynchronous deployment truth.</a:t>
            </a:r>
            <a:endParaRPr lang="en-US" sz="1000" dirty="0"/>
          </a:p>
          <a:p>
            <a:pPr algn="ctr" indent="0" marL="0">
              <a:buNone/>
            </a:pPr>
            <a:endParaRPr lang="en-US" sz="1000" dirty="0"/>
          </a:p>
          <a:p>
            <a:pPr algn="ctr" indent="0" marL="0">
              <a:buNone/>
            </a:pPr>
            <a:r>
              <a:rPr lang="en-US" sz="1000" b="1" dirty="0">
                <a:solidFill>
                  <a:srgbClr val="07111F"/>
                </a:solidFill>
              </a:rPr>
              <a:t>Presentation Content:</a:t>
            </a:r>
            <a:endParaRPr lang="en-US" sz="1000" dirty="0"/>
          </a:p>
          <a:p>
            <a:pPr algn="ctr" indent="0" marL="0">
              <a:buNone/>
            </a:pPr>
            <a:endParaRPr lang="en-US" sz="1000" dirty="0"/>
          </a:p>
          <a:p>
            <a:pPr algn="ctr" indent="0" marL="0">
              <a:buNone/>
            </a:pPr>
            <a:r>
              <a:rPr lang="en-US" sz="1000" b="1" dirty="0">
                <a:solidFill>
                  <a:srgbClr val="07111F"/>
                </a:solidFill>
              </a:rPr>
              <a:t>- The dashboard highlights active deployments, progress, projects requiring attention, and recently used projects.</a:t>
            </a:r>
            <a:endParaRPr lang="en-US" sz="1000" dirty="0"/>
          </a:p>
          <a:p>
            <a:pPr algn="ctr" indent="0" marL="0">
              <a:buNone/>
            </a:pPr>
            <a:endParaRPr lang="en-US" sz="1000" dirty="0"/>
          </a:p>
          <a:p>
            <a:pPr algn="ctr" indent="0" marL="0">
              <a:buNone/>
            </a:pPr>
            <a:r>
              <a:rPr lang="en-US" sz="1000" b="1" dirty="0">
                <a:solidFill>
                  <a:srgbClr val="07111F"/>
                </a:solidFill>
              </a:rPr>
              <a:t>- Project Overview reconciles stored project information with active operation and cloud-derived current state.</a:t>
            </a:r>
            <a:endParaRPr lang="en-US" sz="1000" dirty="0"/>
          </a:p>
          <a:p>
            <a:pPr algn="ctr" indent="0" marL="0">
              <a:buNone/>
            </a:pPr>
            <a:endParaRPr lang="en-US" sz="1000" dirty="0"/>
          </a:p>
          <a:p>
            <a:pPr algn="ctr" indent="0" marL="0">
              <a:buNone/>
            </a:pPr>
            <a:r>
              <a:rPr lang="en-US" sz="1000" b="1" dirty="0">
                <a:solidFill>
                  <a:srgbClr val="07111F"/>
                </a:solidFill>
              </a:rPr>
              <a:t>- Pipeline presents deployment generations, stage progression, terminal status, failure evidence, and recovery actions.</a:t>
            </a:r>
            <a:endParaRPr lang="en-US" sz="1000" dirty="0"/>
          </a:p>
          <a:p>
            <a:pPr algn="ctr" indent="0" marL="0">
              <a:buNone/>
            </a:pPr>
            <a:endParaRPr lang="en-US" sz="1000" dirty="0"/>
          </a:p>
          <a:p>
            <a:pPr algn="ctr" indent="0" marL="0">
              <a:buNone/>
            </a:pPr>
            <a:r>
              <a:rPr lang="en-US" sz="1000" b="1" dirty="0">
                <a:solidFill>
                  <a:srgbClr val="07111F"/>
                </a:solidFill>
              </a:rPr>
              <a:t>- Long-running actions are represented as operations with explicit states rather than optimistic browser-only changes.</a:t>
            </a:r>
            <a:endParaRPr lang="en-US" sz="1000" dirty="0"/>
          </a:p>
          <a:p>
            <a:pPr algn="ctr" indent="0" marL="0">
              <a:buNone/>
            </a:pPr>
            <a:endParaRPr lang="en-US" sz="1000" dirty="0"/>
          </a:p>
          <a:p>
            <a:pPr algn="ctr" indent="0" marL="0">
              <a:buNone/>
            </a:pPr>
            <a:r>
              <a:rPr lang="en-US" sz="1000" b="1" dirty="0">
                <a:solidFill>
                  <a:srgbClr val="07111F"/>
                </a:solidFill>
              </a:rPr>
              <a:t>- Stable release and current generation are shown separately so the user can distinguish “attempted” from “verified and promoted.”</a:t>
            </a:r>
            <a:endParaRPr lang="en-US" sz="1000" dirty="0"/>
          </a:p>
          <a:p>
            <a:pPr algn="ctr" indent="0" marL="0">
              <a:buNone/>
            </a:pPr>
            <a:endParaRPr lang="en-US" sz="1000" dirty="0"/>
          </a:p>
          <a:p>
            <a:pPr algn="ctr" indent="0" marL="0">
              <a:buNone/>
            </a:pPr>
            <a:r>
              <a:rPr lang="en-US" sz="1000" b="1" dirty="0">
                <a:solidFill>
                  <a:srgbClr val="07111F"/>
                </a:solidFill>
              </a:rPr>
              <a:t>- Retry, reset, redeploy, rollback, and destroy controls are exposed only when their lifecycle conditions permit them.</a:t>
            </a:r>
            <a:endParaRPr lang="en-US" sz="1000" dirty="0"/>
          </a:p>
          <a:p>
            <a:pPr algn="ctr" indent="0" marL="0">
              <a:buNone/>
            </a:pPr>
            <a:endParaRPr lang="en-US" sz="1000" dirty="0"/>
          </a:p>
          <a:p>
            <a:pPr algn="ctr" indent="0" marL="0">
              <a:buNone/>
            </a:pPr>
            <a:r>
              <a:rPr lang="en-US" sz="1000" b="1" dirty="0">
                <a:solidFill>
                  <a:srgbClr val="07111F"/>
                </a:solidFill>
              </a:rPr>
              <a:t>Visual Recommendation: One real Pipeline screenshot annotated with Generation, Stage, Stable Release, Evidence, and Allowed Actions.</a:t>
            </a:r>
            <a:endParaRPr lang="en-US" sz="1000" dirty="0"/>
          </a:p>
          <a:p>
            <a:pPr algn="ctr" indent="0" marL="0">
              <a:buNone/>
            </a:pPr>
            <a:endParaRPr lang="en-US" sz="1000" dirty="0"/>
          </a:p>
          <a:p>
            <a:pPr algn="ctr" indent="0" marL="0">
              <a:buNone/>
            </a:pPr>
            <a:r>
              <a:rPr lang="en-US" sz="1000" b="1" dirty="0">
                <a:solidFill>
                  <a:srgbClr val="07111F"/>
                </a:solidFill>
              </a:rPr>
              <a:t>Defense Notes: The interface does not decide success. It renders authoritative backend and cloud evidence. This separation prevents a refreshed browser or interrupted connection from changing deployment truth.</a:t>
            </a:r>
            <a:endParaRPr lang="en-US" sz="1000" dirty="0"/>
          </a:p>
        </p:txBody>
      </p:sp>
      <p:sp>
        <p:nvSpPr>
          <p:cNvPr id="5" name="Shape 3"/>
          <p:cNvSpPr/>
          <p:nvPr/>
        </p:nvSpPr>
        <p:spPr>
          <a:xfrm>
            <a:off x="502920" y="932688"/>
            <a:ext cx="11109960" cy="0"/>
          </a:xfrm>
          <a:prstGeom prst="line">
            <a:avLst/>
          </a:prstGeom>
          <a:noFill/>
          <a:ln w="17780">
            <a:solidFill>
              <a:srgbClr val="B276FF">
                <a:alpha val="75000"/>
              </a:srgbClr>
            </a:solidFill>
            <a:prstDash val="solid"/>
          </a:ln>
        </p:spPr>
      </p:sp>
      <p:sp>
        <p:nvSpPr>
          <p:cNvPr id="6" name="Text 4"/>
          <p:cNvSpPr/>
          <p:nvPr/>
        </p:nvSpPr>
        <p:spPr>
          <a:xfrm>
            <a:off x="502920" y="996696"/>
            <a:ext cx="5212080" cy="164592"/>
          </a:xfrm>
          <a:prstGeom prst="rect">
            <a:avLst/>
          </a:prstGeom>
          <a:noFill/>
          <a:ln/>
        </p:spPr>
        <p:txBody>
          <a:bodyPr wrap="square" lIns="0" tIns="0" rIns="0" bIns="0" rtlCol="0" anchor="ctr"/>
          <a:lstStyle/>
          <a:p>
            <a:pPr indent="0" marL="0">
              <a:buNone/>
            </a:pPr>
            <a:r>
              <a:rPr lang="en-US" sz="850" b="1" spc="110" kern="0" dirty="0">
                <a:solidFill>
                  <a:srgbClr val="B276FF"/>
                </a:solidFill>
              </a:rPr>
              <a:t>TANIA — FRONTEND &amp; AI</a:t>
            </a:r>
            <a:endParaRPr lang="en-US" sz="850" dirty="0"/>
          </a:p>
        </p:txBody>
      </p:sp>
      <p:sp>
        <p:nvSpPr>
          <p:cNvPr id="7" name="Text 5"/>
          <p:cNvSpPr/>
          <p:nvPr/>
        </p:nvSpPr>
        <p:spPr>
          <a:xfrm>
            <a:off x="594360" y="1325880"/>
            <a:ext cx="5349240" cy="4937760"/>
          </a:xfrm>
          <a:prstGeom prst="rect">
            <a:avLst/>
          </a:prstGeom>
          <a:noFill/>
          <a:ln/>
        </p:spPr>
        <p:txBody>
          <a:bodyPr wrap="square" lIns="254" tIns="254" rIns="254" bIns="254" rtlCol="0" anchor="ctr">
            <a:normAutofit/>
          </a:bodyPr>
          <a:lstStyle/>
          <a:p>
            <a:pPr marL="190500" indent="-190500">
              <a:buSzPct val="100000"/>
              <a:buChar char="•"/>
            </a:pPr>
            <a:r>
              <a:rPr lang="en-US" sz="1580" dirty="0">
                <a:solidFill>
                  <a:srgbClr val="D9E5EF"/>
                </a:solidFill>
                <a:latin typeface="Aptos" pitchFamily="34" charset="0"/>
                <a:ea typeface="Aptos" pitchFamily="34" charset="-122"/>
                <a:cs typeface="Aptos" pitchFamily="34" charset="-120"/>
              </a:rPr>
              <a:t>The dashboard highlights active deployments, progress, projects requiring attention, and recently used projects.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Project Overview reconciles stored project information with active operation and cloud-derived current state.</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Pipeline presents deployment generations, stage progression, terminal status, failure evidence, and recovery actions.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Long-running actions are represented as operations with explicit states rather than optimistic browser-only changes.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Stable release and current generation are shown separately so the user can distinguish “attempted” from “verified and promoted.”</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Retry, reset, redeploy, rollback, and destroy controls are exposed only when their lifecycle conditions permit them.</a:t>
            </a:r>
            <a:endParaRPr lang="en-US" sz="1580" dirty="0"/>
          </a:p>
        </p:txBody>
      </p:sp>
      <p:sp>
        <p:nvSpPr>
          <p:cNvPr id="8" name="Shape 6"/>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9" name="Shape 7"/>
          <p:cNvSpPr/>
          <p:nvPr/>
        </p:nvSpPr>
        <p:spPr>
          <a:xfrm>
            <a:off x="6492240" y="1417320"/>
            <a:ext cx="4709160" cy="822960"/>
          </a:xfrm>
          <a:prstGeom prst="roundRect">
            <a:avLst>
              <a:gd name="adj" fmla="val 6667"/>
            </a:avLst>
          </a:prstGeom>
          <a:solidFill>
            <a:srgbClr val="0F1D2D"/>
          </a:solidFill>
          <a:ln w="12700">
            <a:solidFill>
              <a:srgbClr val="29445C"/>
            </a:solidFill>
            <a:prstDash val="solid"/>
          </a:ln>
        </p:spPr>
      </p:sp>
      <p:sp>
        <p:nvSpPr>
          <p:cNvPr id="10" name="Shape 8"/>
          <p:cNvSpPr/>
          <p:nvPr/>
        </p:nvSpPr>
        <p:spPr>
          <a:xfrm>
            <a:off x="6492240" y="1417320"/>
            <a:ext cx="54864" cy="822960"/>
          </a:xfrm>
          <a:prstGeom prst="rect">
            <a:avLst/>
          </a:prstGeom>
          <a:solidFill>
            <a:srgbClr val="4FA3FF"/>
          </a:solidFill>
          <a:ln w="12700">
            <a:solidFill>
              <a:srgbClr val="4FA3FF"/>
            </a:solidFill>
            <a:prstDash val="solid"/>
          </a:ln>
        </p:spPr>
      </p:sp>
      <p:sp>
        <p:nvSpPr>
          <p:cNvPr id="11" name="Text 9"/>
          <p:cNvSpPr/>
          <p:nvPr/>
        </p:nvSpPr>
        <p:spPr>
          <a:xfrm>
            <a:off x="6693408" y="1572768"/>
            <a:ext cx="4398264" cy="256032"/>
          </a:xfrm>
          <a:prstGeom prst="rect">
            <a:avLst/>
          </a:prstGeom>
          <a:noFill/>
          <a:ln/>
        </p:spPr>
        <p:txBody>
          <a:bodyPr wrap="square" lIns="0" tIns="0" rIns="0" bIns="0" rtlCol="0" anchor="ctr">
            <a:normAutofit/>
          </a:bodyPr>
          <a:lstStyle/>
          <a:p>
            <a:pPr indent="0" marL="0">
              <a:buNone/>
            </a:pPr>
            <a:r>
              <a:rPr lang="en-US" sz="1200" b="1" dirty="0">
                <a:solidFill>
                  <a:srgbClr val="F7FAFC"/>
                </a:solidFill>
              </a:rPr>
              <a:t>Generation</a:t>
            </a:r>
            <a:endParaRPr lang="en-US" sz="1200" dirty="0"/>
          </a:p>
        </p:txBody>
      </p:sp>
      <p:sp>
        <p:nvSpPr>
          <p:cNvPr id="12" name="Text 10"/>
          <p:cNvSpPr/>
          <p:nvPr/>
        </p:nvSpPr>
        <p:spPr>
          <a:xfrm>
            <a:off x="6693408" y="1929384"/>
            <a:ext cx="4398264" cy="164592"/>
          </a:xfrm>
          <a:prstGeom prst="rect">
            <a:avLst/>
          </a:prstGeom>
          <a:noFill/>
          <a:ln/>
        </p:spPr>
        <p:txBody>
          <a:bodyPr wrap="square" lIns="0" tIns="0" rIns="0" bIns="0" rtlCol="0" anchor="ctr">
            <a:normAutofit/>
          </a:bodyPr>
          <a:lstStyle/>
          <a:p>
            <a:pPr indent="0" marL="0">
              <a:buNone/>
            </a:pPr>
            <a:r>
              <a:rPr lang="en-US" sz="1020" dirty="0">
                <a:solidFill>
                  <a:srgbClr val="8FA6B9"/>
                </a:solidFill>
              </a:rPr>
              <a:t>One concrete attempt</a:t>
            </a:r>
            <a:endParaRPr lang="en-US" sz="1020" dirty="0"/>
          </a:p>
        </p:txBody>
      </p:sp>
      <p:sp>
        <p:nvSpPr>
          <p:cNvPr id="13" name="Shape 11"/>
          <p:cNvSpPr/>
          <p:nvPr/>
        </p:nvSpPr>
        <p:spPr>
          <a:xfrm>
            <a:off x="6492240" y="2441448"/>
            <a:ext cx="4709160" cy="822960"/>
          </a:xfrm>
          <a:prstGeom prst="roundRect">
            <a:avLst>
              <a:gd name="adj" fmla="val 6667"/>
            </a:avLst>
          </a:prstGeom>
          <a:solidFill>
            <a:srgbClr val="0F1D2D"/>
          </a:solidFill>
          <a:ln w="12700">
            <a:solidFill>
              <a:srgbClr val="29445C"/>
            </a:solidFill>
            <a:prstDash val="solid"/>
          </a:ln>
        </p:spPr>
      </p:sp>
      <p:sp>
        <p:nvSpPr>
          <p:cNvPr id="14" name="Shape 12"/>
          <p:cNvSpPr/>
          <p:nvPr/>
        </p:nvSpPr>
        <p:spPr>
          <a:xfrm>
            <a:off x="6492240" y="2441448"/>
            <a:ext cx="54864" cy="822960"/>
          </a:xfrm>
          <a:prstGeom prst="rect">
            <a:avLst/>
          </a:prstGeom>
          <a:solidFill>
            <a:srgbClr val="35C2D8"/>
          </a:solidFill>
          <a:ln w="12700">
            <a:solidFill>
              <a:srgbClr val="35C2D8"/>
            </a:solidFill>
            <a:prstDash val="solid"/>
          </a:ln>
        </p:spPr>
      </p:sp>
      <p:sp>
        <p:nvSpPr>
          <p:cNvPr id="15" name="Text 13"/>
          <p:cNvSpPr/>
          <p:nvPr/>
        </p:nvSpPr>
        <p:spPr>
          <a:xfrm>
            <a:off x="6693408" y="2596896"/>
            <a:ext cx="4398264" cy="256032"/>
          </a:xfrm>
          <a:prstGeom prst="rect">
            <a:avLst/>
          </a:prstGeom>
          <a:noFill/>
          <a:ln/>
        </p:spPr>
        <p:txBody>
          <a:bodyPr wrap="square" lIns="0" tIns="0" rIns="0" bIns="0" rtlCol="0" anchor="ctr">
            <a:normAutofit/>
          </a:bodyPr>
          <a:lstStyle/>
          <a:p>
            <a:pPr indent="0" marL="0">
              <a:buNone/>
            </a:pPr>
            <a:r>
              <a:rPr lang="en-US" sz="1200" b="1" dirty="0">
                <a:solidFill>
                  <a:srgbClr val="F7FAFC"/>
                </a:solidFill>
              </a:rPr>
              <a:t>Stage progression</a:t>
            </a:r>
            <a:endParaRPr lang="en-US" sz="1200" dirty="0"/>
          </a:p>
        </p:txBody>
      </p:sp>
      <p:sp>
        <p:nvSpPr>
          <p:cNvPr id="16" name="Text 14"/>
          <p:cNvSpPr/>
          <p:nvPr/>
        </p:nvSpPr>
        <p:spPr>
          <a:xfrm>
            <a:off x="6693408" y="2953512"/>
            <a:ext cx="4398264" cy="164592"/>
          </a:xfrm>
          <a:prstGeom prst="rect">
            <a:avLst/>
          </a:prstGeom>
          <a:noFill/>
          <a:ln/>
        </p:spPr>
        <p:txBody>
          <a:bodyPr wrap="square" lIns="0" tIns="0" rIns="0" bIns="0" rtlCol="0" anchor="ctr">
            <a:normAutofit/>
          </a:bodyPr>
          <a:lstStyle/>
          <a:p>
            <a:pPr indent="0" marL="0">
              <a:buNone/>
            </a:pPr>
            <a:r>
              <a:rPr lang="en-US" sz="1020" dirty="0">
                <a:solidFill>
                  <a:srgbClr val="8FA6B9"/>
                </a:solidFill>
              </a:rPr>
              <a:t>Persisted operation truth</a:t>
            </a:r>
            <a:endParaRPr lang="en-US" sz="1020" dirty="0"/>
          </a:p>
        </p:txBody>
      </p:sp>
      <p:sp>
        <p:nvSpPr>
          <p:cNvPr id="17" name="Shape 15"/>
          <p:cNvSpPr/>
          <p:nvPr/>
        </p:nvSpPr>
        <p:spPr>
          <a:xfrm>
            <a:off x="6492240" y="3465576"/>
            <a:ext cx="4709160" cy="822960"/>
          </a:xfrm>
          <a:prstGeom prst="roundRect">
            <a:avLst>
              <a:gd name="adj" fmla="val 6667"/>
            </a:avLst>
          </a:prstGeom>
          <a:solidFill>
            <a:srgbClr val="0F1D2D"/>
          </a:solidFill>
          <a:ln w="12700">
            <a:solidFill>
              <a:srgbClr val="29445C"/>
            </a:solidFill>
            <a:prstDash val="solid"/>
          </a:ln>
        </p:spPr>
      </p:sp>
      <p:sp>
        <p:nvSpPr>
          <p:cNvPr id="18" name="Shape 16"/>
          <p:cNvSpPr/>
          <p:nvPr/>
        </p:nvSpPr>
        <p:spPr>
          <a:xfrm>
            <a:off x="6492240" y="3465576"/>
            <a:ext cx="54864" cy="822960"/>
          </a:xfrm>
          <a:prstGeom prst="rect">
            <a:avLst/>
          </a:prstGeom>
          <a:solidFill>
            <a:srgbClr val="F5B041"/>
          </a:solidFill>
          <a:ln w="12700">
            <a:solidFill>
              <a:srgbClr val="F5B041"/>
            </a:solidFill>
            <a:prstDash val="solid"/>
          </a:ln>
        </p:spPr>
      </p:sp>
      <p:sp>
        <p:nvSpPr>
          <p:cNvPr id="19" name="Text 17"/>
          <p:cNvSpPr/>
          <p:nvPr/>
        </p:nvSpPr>
        <p:spPr>
          <a:xfrm>
            <a:off x="6693408" y="3621024"/>
            <a:ext cx="4398264" cy="256032"/>
          </a:xfrm>
          <a:prstGeom prst="rect">
            <a:avLst/>
          </a:prstGeom>
          <a:noFill/>
          <a:ln/>
        </p:spPr>
        <p:txBody>
          <a:bodyPr wrap="square" lIns="0" tIns="0" rIns="0" bIns="0" rtlCol="0" anchor="ctr">
            <a:normAutofit/>
          </a:bodyPr>
          <a:lstStyle/>
          <a:p>
            <a:pPr indent="0" marL="0">
              <a:buNone/>
            </a:pPr>
            <a:r>
              <a:rPr lang="en-US" sz="1200" b="1" dirty="0">
                <a:solidFill>
                  <a:srgbClr val="F7FAFC"/>
                </a:solidFill>
              </a:rPr>
              <a:t>Evidence</a:t>
            </a:r>
            <a:endParaRPr lang="en-US" sz="1200" dirty="0"/>
          </a:p>
        </p:txBody>
      </p:sp>
      <p:sp>
        <p:nvSpPr>
          <p:cNvPr id="20" name="Text 18"/>
          <p:cNvSpPr/>
          <p:nvPr/>
        </p:nvSpPr>
        <p:spPr>
          <a:xfrm>
            <a:off x="6693408" y="3977640"/>
            <a:ext cx="4398264" cy="164592"/>
          </a:xfrm>
          <a:prstGeom prst="rect">
            <a:avLst/>
          </a:prstGeom>
          <a:noFill/>
          <a:ln/>
        </p:spPr>
        <p:txBody>
          <a:bodyPr wrap="square" lIns="0" tIns="0" rIns="0" bIns="0" rtlCol="0" anchor="ctr">
            <a:normAutofit/>
          </a:bodyPr>
          <a:lstStyle/>
          <a:p>
            <a:pPr indent="0" marL="0">
              <a:buNone/>
            </a:pPr>
            <a:r>
              <a:rPr lang="en-US" sz="1020" dirty="0">
                <a:solidFill>
                  <a:srgbClr val="8FA6B9"/>
                </a:solidFill>
              </a:rPr>
              <a:t>Failure / verification detail</a:t>
            </a:r>
            <a:endParaRPr lang="en-US" sz="1020" dirty="0"/>
          </a:p>
        </p:txBody>
      </p:sp>
      <p:sp>
        <p:nvSpPr>
          <p:cNvPr id="21" name="Shape 19"/>
          <p:cNvSpPr/>
          <p:nvPr/>
        </p:nvSpPr>
        <p:spPr>
          <a:xfrm>
            <a:off x="6492240" y="4489704"/>
            <a:ext cx="4709160" cy="822960"/>
          </a:xfrm>
          <a:prstGeom prst="roundRect">
            <a:avLst>
              <a:gd name="adj" fmla="val 6667"/>
            </a:avLst>
          </a:prstGeom>
          <a:solidFill>
            <a:srgbClr val="0F1D2D"/>
          </a:solidFill>
          <a:ln w="12700">
            <a:solidFill>
              <a:srgbClr val="29445C"/>
            </a:solidFill>
            <a:prstDash val="solid"/>
          </a:ln>
        </p:spPr>
      </p:sp>
      <p:sp>
        <p:nvSpPr>
          <p:cNvPr id="22" name="Shape 20"/>
          <p:cNvSpPr/>
          <p:nvPr/>
        </p:nvSpPr>
        <p:spPr>
          <a:xfrm>
            <a:off x="6492240" y="4489704"/>
            <a:ext cx="54864" cy="822960"/>
          </a:xfrm>
          <a:prstGeom prst="rect">
            <a:avLst/>
          </a:prstGeom>
          <a:solidFill>
            <a:srgbClr val="54D6A3"/>
          </a:solidFill>
          <a:ln w="12700">
            <a:solidFill>
              <a:srgbClr val="54D6A3"/>
            </a:solidFill>
            <a:prstDash val="solid"/>
          </a:ln>
        </p:spPr>
      </p:sp>
      <p:sp>
        <p:nvSpPr>
          <p:cNvPr id="23" name="Text 21"/>
          <p:cNvSpPr/>
          <p:nvPr/>
        </p:nvSpPr>
        <p:spPr>
          <a:xfrm>
            <a:off x="6693408" y="4645152"/>
            <a:ext cx="4398264" cy="256032"/>
          </a:xfrm>
          <a:prstGeom prst="rect">
            <a:avLst/>
          </a:prstGeom>
          <a:noFill/>
          <a:ln/>
        </p:spPr>
        <p:txBody>
          <a:bodyPr wrap="square" lIns="0" tIns="0" rIns="0" bIns="0" rtlCol="0" anchor="ctr">
            <a:normAutofit/>
          </a:bodyPr>
          <a:lstStyle/>
          <a:p>
            <a:pPr indent="0" marL="0">
              <a:buNone/>
            </a:pPr>
            <a:r>
              <a:rPr lang="en-US" sz="1200" b="1" dirty="0">
                <a:solidFill>
                  <a:srgbClr val="F7FAFC"/>
                </a:solidFill>
              </a:rPr>
              <a:t>Stable release</a:t>
            </a:r>
            <a:endParaRPr lang="en-US" sz="1200" dirty="0"/>
          </a:p>
        </p:txBody>
      </p:sp>
      <p:sp>
        <p:nvSpPr>
          <p:cNvPr id="24" name="Text 22"/>
          <p:cNvSpPr/>
          <p:nvPr/>
        </p:nvSpPr>
        <p:spPr>
          <a:xfrm>
            <a:off x="6693408" y="5001768"/>
            <a:ext cx="4398264" cy="164592"/>
          </a:xfrm>
          <a:prstGeom prst="rect">
            <a:avLst/>
          </a:prstGeom>
          <a:noFill/>
          <a:ln/>
        </p:spPr>
        <p:txBody>
          <a:bodyPr wrap="square" lIns="0" tIns="0" rIns="0" bIns="0" rtlCol="0" anchor="ctr">
            <a:normAutofit/>
          </a:bodyPr>
          <a:lstStyle/>
          <a:p>
            <a:pPr indent="0" marL="0">
              <a:buNone/>
            </a:pPr>
            <a:r>
              <a:rPr lang="en-US" sz="1020" dirty="0">
                <a:solidFill>
                  <a:srgbClr val="8FA6B9"/>
                </a:solidFill>
              </a:rPr>
              <a:t>Only verified generation</a:t>
            </a:r>
            <a:endParaRPr lang="en-US" sz="1020" dirty="0"/>
          </a:p>
        </p:txBody>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347472"/>
            <a:ext cx="9098280" cy="475488"/>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Monitoring, Metrics, and Live Logs</a:t>
            </a:r>
            <a:endParaRPr lang="en-US" sz="2400" dirty="0"/>
          </a:p>
        </p:txBody>
      </p:sp>
      <p:sp>
        <p:nvSpPr>
          <p:cNvPr id="3" name="Shape 1"/>
          <p:cNvSpPr/>
          <p:nvPr/>
        </p:nvSpPr>
        <p:spPr>
          <a:xfrm>
            <a:off x="9829800" y="338328"/>
            <a:ext cx="1783080" cy="329184"/>
          </a:xfrm>
          <a:prstGeom prst="roundRect">
            <a:avLst>
              <a:gd name="adj" fmla="val 22222"/>
            </a:avLst>
          </a:prstGeom>
          <a:solidFill>
            <a:srgbClr val="B276FF">
              <a:alpha val="92000"/>
            </a:srgbClr>
          </a:solidFill>
          <a:ln w="12700">
            <a:solidFill>
              <a:srgbClr val="B276FF">
                <a:alpha val="0"/>
              </a:srgbClr>
            </a:solidFill>
            <a:prstDash val="solid"/>
          </a:ln>
        </p:spPr>
      </p:sp>
      <p:sp>
        <p:nvSpPr>
          <p:cNvPr id="4" name="Text 2"/>
          <p:cNvSpPr/>
          <p:nvPr/>
        </p:nvSpPr>
        <p:spPr>
          <a:xfrm>
            <a:off x="9912096" y="416052"/>
            <a:ext cx="1609344" cy="118872"/>
          </a:xfrm>
          <a:prstGeom prst="rect">
            <a:avLst/>
          </a:prstGeom>
          <a:noFill/>
          <a:ln/>
        </p:spPr>
        <p:txBody>
          <a:bodyPr wrap="square" lIns="0" tIns="0" rIns="0" bIns="0" rtlCol="0" anchor="ctr">
            <a:normAutofit/>
          </a:bodyPr>
          <a:lstStyle/>
          <a:p>
            <a:pPr algn="ctr" indent="0" marL="0">
              <a:buNone/>
            </a:pPr>
            <a:r>
              <a:rPr lang="en-US" sz="1000" b="1" dirty="0">
                <a:solidFill>
                  <a:srgbClr val="07111F"/>
                </a:solidFill>
              </a:rPr>
              <a:t>Tania Khawar</a:t>
            </a:r>
            <a:endParaRPr lang="en-US" sz="1000" dirty="0"/>
          </a:p>
          <a:p>
            <a:pPr algn="ctr" indent="0" marL="0">
              <a:buNone/>
            </a:pPr>
            <a:endParaRPr lang="en-US" sz="1000" dirty="0"/>
          </a:p>
          <a:p>
            <a:pPr algn="ctr" indent="0" marL="0">
              <a:buNone/>
            </a:pPr>
            <a:r>
              <a:rPr lang="en-US" sz="1000" b="1" dirty="0">
                <a:solidFill>
                  <a:srgbClr val="07111F"/>
                </a:solidFill>
              </a:rPr>
              <a:t>Purpose: Show the implemented observability experience, including Prometheus and Grafana.</a:t>
            </a:r>
            <a:endParaRPr lang="en-US" sz="1000" dirty="0"/>
          </a:p>
          <a:p>
            <a:pPr algn="ctr" indent="0" marL="0">
              <a:buNone/>
            </a:pPr>
            <a:endParaRPr lang="en-US" sz="1000" dirty="0"/>
          </a:p>
          <a:p>
            <a:pPr algn="ctr" indent="0" marL="0">
              <a:buNone/>
            </a:pPr>
            <a:r>
              <a:rPr lang="en-US" sz="1000" b="1" dirty="0">
                <a:solidFill>
                  <a:srgbClr val="07111F"/>
                </a:solidFill>
              </a:rPr>
              <a:t>Presentation Content:</a:t>
            </a:r>
            <a:endParaRPr lang="en-US" sz="1000" dirty="0"/>
          </a:p>
          <a:p>
            <a:pPr algn="ctr" indent="0" marL="0">
              <a:buNone/>
            </a:pPr>
            <a:endParaRPr lang="en-US" sz="1000" dirty="0"/>
          </a:p>
          <a:p>
            <a:pPr algn="ctr" indent="0" marL="0">
              <a:buNone/>
            </a:pPr>
            <a:r>
              <a:rPr lang="en-US" sz="1000" b="1" dirty="0">
                <a:solidFill>
                  <a:srgbClr val="07111F"/>
                </a:solidFill>
              </a:rPr>
              <a:t>- Monitoring presents CPU, memory, load-balancer latency, and healthy versus unhealthy target signals derived from AWS observations.</a:t>
            </a:r>
            <a:endParaRPr lang="en-US" sz="1000" dirty="0"/>
          </a:p>
          <a:p>
            <a:pPr algn="ctr" indent="0" marL="0">
              <a:buNone/>
            </a:pPr>
            <a:endParaRPr lang="en-US" sz="1000" dirty="0"/>
          </a:p>
          <a:p>
            <a:pPr algn="ctr" indent="0" marL="0">
              <a:buNone/>
            </a:pPr>
            <a:r>
              <a:rPr lang="en-US" sz="1000" b="1" dirty="0">
                <a:solidFill>
                  <a:srgbClr val="07111F"/>
                </a:solidFill>
              </a:rPr>
              <a:t>- Live CloudWatch logs are streamed to the browser through server-sent events with reconnection and filtering behavior.</a:t>
            </a:r>
            <a:endParaRPr lang="en-US" sz="1000" dirty="0"/>
          </a:p>
          <a:p>
            <a:pPr algn="ctr" indent="0" marL="0">
              <a:buNone/>
            </a:pPr>
            <a:endParaRPr lang="en-US" sz="1000" dirty="0"/>
          </a:p>
          <a:p>
            <a:pPr algn="ctr" indent="0" marL="0">
              <a:buNone/>
            </a:pPr>
            <a:r>
              <a:rPr lang="en-US" sz="1000" b="1" dirty="0">
                <a:solidFill>
                  <a:srgbClr val="07111F"/>
                </a:solidFill>
              </a:rPr>
              <a:t>- Project infrastructure views connect service topology, public endpoint, region, runtime state, and supporting services.</a:t>
            </a:r>
            <a:endParaRPr lang="en-US" sz="1000" dirty="0"/>
          </a:p>
          <a:p>
            <a:pPr algn="ctr" indent="0" marL="0">
              <a:buNone/>
            </a:pPr>
            <a:endParaRPr lang="en-US" sz="1000" dirty="0"/>
          </a:p>
          <a:p>
            <a:pPr algn="ctr" indent="0" marL="0">
              <a:buNone/>
            </a:pPr>
            <a:r>
              <a:rPr lang="en-US" sz="1000" b="1" dirty="0">
                <a:solidFill>
                  <a:srgbClr val="07111F"/>
                </a:solidFill>
              </a:rPr>
              <a:t>- The backend exposes authenticated Prometheus metrics for control-plane and pipeline health.</a:t>
            </a:r>
            <a:endParaRPr lang="en-US" sz="1000" dirty="0"/>
          </a:p>
          <a:p>
            <a:pPr algn="ctr" indent="0" marL="0">
              <a:buNone/>
            </a:pPr>
            <a:endParaRPr lang="en-US" sz="1000" dirty="0"/>
          </a:p>
          <a:p>
            <a:pPr algn="ctr" indent="0" marL="0">
              <a:buNone/>
            </a:pPr>
            <a:r>
              <a:rPr lang="en-US" sz="1000" b="1" dirty="0">
                <a:solidFill>
                  <a:srgbClr val="07111F"/>
                </a:solidFill>
              </a:rPr>
              <a:t>- Grafana is provisioned with data sources and dashboards for an operator-level view of platform behavior.</a:t>
            </a:r>
            <a:endParaRPr lang="en-US" sz="1000" dirty="0"/>
          </a:p>
          <a:p>
            <a:pPr algn="ctr" indent="0" marL="0">
              <a:buNone/>
            </a:pPr>
            <a:endParaRPr lang="en-US" sz="1000" dirty="0"/>
          </a:p>
          <a:p>
            <a:pPr algn="ctr" indent="0" marL="0">
              <a:buNone/>
            </a:pPr>
            <a:r>
              <a:rPr lang="en-US" sz="1000" b="1" dirty="0">
                <a:solidFill>
                  <a:srgbClr val="07111F"/>
                </a:solidFill>
              </a:rPr>
              <a:t>- Developer monitoring and operator monitoring are complementary: project users see scoped evidence, while operators see system-wide service health.</a:t>
            </a:r>
            <a:endParaRPr lang="en-US" sz="1000" dirty="0"/>
          </a:p>
          <a:p>
            <a:pPr algn="ctr" indent="0" marL="0">
              <a:buNone/>
            </a:pPr>
            <a:endParaRPr lang="en-US" sz="1000" dirty="0"/>
          </a:p>
          <a:p>
            <a:pPr algn="ctr" indent="0" marL="0">
              <a:buNone/>
            </a:pPr>
            <a:r>
              <a:rPr lang="en-US" sz="1000" b="1" dirty="0">
                <a:solidFill>
                  <a:srgbClr val="07111F"/>
                </a:solidFill>
              </a:rPr>
              <a:t>Visual Recommendation: Three-panel composition: Monitoring charts, live log stream, and a Grafana dashboard screenshot.</a:t>
            </a:r>
            <a:endParaRPr lang="en-US" sz="1000" dirty="0"/>
          </a:p>
          <a:p>
            <a:pPr algn="ctr" indent="0" marL="0">
              <a:buNone/>
            </a:pPr>
            <a:endParaRPr lang="en-US" sz="1000" dirty="0"/>
          </a:p>
          <a:p>
            <a:pPr algn="ctr" indent="0" marL="0">
              <a:buNone/>
            </a:pPr>
            <a:r>
              <a:rPr lang="en-US" sz="1000" b="1" dirty="0">
                <a:solidFill>
                  <a:srgbClr val="07111F"/>
                </a:solidFill>
              </a:rPr>
              <a:t>Defense Notes: Prometheus is not presented as a replacement for CloudWatch. CloudWatch is the AWS runtime evidence source; Prometheus and Grafana provide control-plane aggregation and operational dashboards.</a:t>
            </a:r>
            <a:endParaRPr lang="en-US" sz="1000" dirty="0"/>
          </a:p>
        </p:txBody>
      </p:sp>
      <p:sp>
        <p:nvSpPr>
          <p:cNvPr id="5" name="Shape 3"/>
          <p:cNvSpPr/>
          <p:nvPr/>
        </p:nvSpPr>
        <p:spPr>
          <a:xfrm>
            <a:off x="502920" y="932688"/>
            <a:ext cx="11109960" cy="0"/>
          </a:xfrm>
          <a:prstGeom prst="line">
            <a:avLst/>
          </a:prstGeom>
          <a:noFill/>
          <a:ln w="17780">
            <a:solidFill>
              <a:srgbClr val="B276FF">
                <a:alpha val="75000"/>
              </a:srgbClr>
            </a:solidFill>
            <a:prstDash val="solid"/>
          </a:ln>
        </p:spPr>
      </p:sp>
      <p:sp>
        <p:nvSpPr>
          <p:cNvPr id="6" name="Text 4"/>
          <p:cNvSpPr/>
          <p:nvPr/>
        </p:nvSpPr>
        <p:spPr>
          <a:xfrm>
            <a:off x="502920" y="996696"/>
            <a:ext cx="5212080" cy="164592"/>
          </a:xfrm>
          <a:prstGeom prst="rect">
            <a:avLst/>
          </a:prstGeom>
          <a:noFill/>
          <a:ln/>
        </p:spPr>
        <p:txBody>
          <a:bodyPr wrap="square" lIns="0" tIns="0" rIns="0" bIns="0" rtlCol="0" anchor="ctr"/>
          <a:lstStyle/>
          <a:p>
            <a:pPr indent="0" marL="0">
              <a:buNone/>
            </a:pPr>
            <a:r>
              <a:rPr lang="en-US" sz="850" b="1" spc="110" kern="0" dirty="0">
                <a:solidFill>
                  <a:srgbClr val="B276FF"/>
                </a:solidFill>
              </a:rPr>
              <a:t>TANIA — FRONTEND &amp; AI</a:t>
            </a:r>
            <a:endParaRPr lang="en-US" sz="850" dirty="0"/>
          </a:p>
        </p:txBody>
      </p:sp>
      <p:sp>
        <p:nvSpPr>
          <p:cNvPr id="7" name="Text 5"/>
          <p:cNvSpPr/>
          <p:nvPr/>
        </p:nvSpPr>
        <p:spPr>
          <a:xfrm>
            <a:off x="594360" y="1325880"/>
            <a:ext cx="5349240" cy="4937760"/>
          </a:xfrm>
          <a:prstGeom prst="rect">
            <a:avLst/>
          </a:prstGeom>
          <a:noFill/>
          <a:ln/>
        </p:spPr>
        <p:txBody>
          <a:bodyPr wrap="square" lIns="254" tIns="254" rIns="254" bIns="254" rtlCol="0" anchor="ctr">
            <a:normAutofit/>
          </a:bodyPr>
          <a:lstStyle/>
          <a:p>
            <a:pPr marL="190500" indent="-190500">
              <a:buSzPct val="100000"/>
              <a:buChar char="•"/>
            </a:pPr>
            <a:r>
              <a:rPr lang="en-US" sz="1580" dirty="0">
                <a:solidFill>
                  <a:srgbClr val="D9E5EF"/>
                </a:solidFill>
                <a:latin typeface="Aptos" pitchFamily="34" charset="0"/>
                <a:ea typeface="Aptos" pitchFamily="34" charset="-122"/>
                <a:cs typeface="Aptos" pitchFamily="34" charset="-120"/>
              </a:rPr>
              <a:t>Monitoring presents CPU, memory, load-balancer latency, and healthy versus unhealthy target signals derived from AWS observations.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Live CloudWatch logs are streamed to the browser through server-sent events with reconnection and filtering behavior.</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Project infrastructure views connect service topology, public endpoint, region, runtime state, and supporting services.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The backend exposes authenticated Prometheus metrics for control-plane and pipeline health.</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Grafana is provisioned with data sources and dashboards for an operator-level view of platform behavior.</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Developer monitoring and operator monitoring are complementary: project users see scoped evidence, while operators see system-wide service health.</a:t>
            </a:r>
            <a:endParaRPr lang="en-US" sz="1580" dirty="0"/>
          </a:p>
        </p:txBody>
      </p:sp>
      <p:sp>
        <p:nvSpPr>
          <p:cNvPr id="8" name="Shape 6"/>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9" name="Shape 7"/>
          <p:cNvSpPr/>
          <p:nvPr/>
        </p:nvSpPr>
        <p:spPr>
          <a:xfrm>
            <a:off x="6400800" y="1417320"/>
            <a:ext cx="1554480" cy="3429000"/>
          </a:xfrm>
          <a:prstGeom prst="roundRect">
            <a:avLst>
              <a:gd name="adj" fmla="val 3529"/>
            </a:avLst>
          </a:prstGeom>
          <a:solidFill>
            <a:srgbClr val="0F1D2D"/>
          </a:solidFill>
          <a:ln w="12700">
            <a:solidFill>
              <a:srgbClr val="29445C"/>
            </a:solidFill>
            <a:prstDash val="solid"/>
          </a:ln>
        </p:spPr>
      </p:sp>
      <p:sp>
        <p:nvSpPr>
          <p:cNvPr id="10" name="Shape 8"/>
          <p:cNvSpPr/>
          <p:nvPr/>
        </p:nvSpPr>
        <p:spPr>
          <a:xfrm>
            <a:off x="6400800" y="1417320"/>
            <a:ext cx="54864" cy="3429000"/>
          </a:xfrm>
          <a:prstGeom prst="rect">
            <a:avLst/>
          </a:prstGeom>
          <a:solidFill>
            <a:srgbClr val="35C2D8"/>
          </a:solidFill>
          <a:ln w="12700">
            <a:solidFill>
              <a:srgbClr val="35C2D8"/>
            </a:solidFill>
            <a:prstDash val="solid"/>
          </a:ln>
        </p:spPr>
      </p:sp>
      <p:sp>
        <p:nvSpPr>
          <p:cNvPr id="11" name="Text 9"/>
          <p:cNvSpPr/>
          <p:nvPr/>
        </p:nvSpPr>
        <p:spPr>
          <a:xfrm>
            <a:off x="6601968" y="1572768"/>
            <a:ext cx="1243584" cy="256032"/>
          </a:xfrm>
          <a:prstGeom prst="rect">
            <a:avLst/>
          </a:prstGeom>
          <a:noFill/>
          <a:ln/>
        </p:spPr>
        <p:txBody>
          <a:bodyPr wrap="square" lIns="0" tIns="0" rIns="0" bIns="0" rtlCol="0" anchor="ctr">
            <a:normAutofit/>
          </a:bodyPr>
          <a:lstStyle/>
          <a:p>
            <a:pPr indent="0" marL="0">
              <a:buNone/>
            </a:pPr>
            <a:r>
              <a:rPr lang="en-US" sz="1300" b="1" dirty="0">
                <a:solidFill>
                  <a:srgbClr val="F7FAFC"/>
                </a:solidFill>
              </a:rPr>
              <a:t>METRICS</a:t>
            </a:r>
            <a:endParaRPr lang="en-US" sz="1300" dirty="0"/>
          </a:p>
        </p:txBody>
      </p:sp>
      <p:sp>
        <p:nvSpPr>
          <p:cNvPr id="12" name="Text 10"/>
          <p:cNvSpPr/>
          <p:nvPr/>
        </p:nvSpPr>
        <p:spPr>
          <a:xfrm>
            <a:off x="6601968" y="1929384"/>
            <a:ext cx="1243584" cy="2770632"/>
          </a:xfrm>
          <a:prstGeom prst="rect">
            <a:avLst/>
          </a:prstGeom>
          <a:noFill/>
          <a:ln/>
        </p:spPr>
        <p:txBody>
          <a:bodyPr wrap="square" lIns="0" tIns="0" rIns="0" bIns="0" rtlCol="0" anchor="ctr">
            <a:normAutofit/>
          </a:bodyPr>
          <a:lstStyle/>
          <a:p>
            <a:pPr indent="0" marL="0">
              <a:buNone/>
            </a:pPr>
            <a:r>
              <a:rPr lang="en-US" sz="1400" dirty="0">
                <a:solidFill>
                  <a:srgbClr val="8FA6B9"/>
                </a:solidFill>
              </a:rPr>
              <a:t>CPU</a:t>
            </a:r>
            <a:endParaRPr lang="en-US" sz="1400" dirty="0"/>
          </a:p>
          <a:p>
            <a:pPr indent="0" marL="0">
              <a:buNone/>
            </a:pPr>
            <a:r>
              <a:rPr lang="en-US" sz="1400" dirty="0">
                <a:solidFill>
                  <a:srgbClr val="8FA6B9"/>
                </a:solidFill>
              </a:rPr>
              <a:t>Memory</a:t>
            </a:r>
            <a:endParaRPr lang="en-US" sz="1400" dirty="0"/>
          </a:p>
          <a:p>
            <a:pPr indent="0" marL="0">
              <a:buNone/>
            </a:pPr>
            <a:r>
              <a:rPr lang="en-US" sz="1400" dirty="0">
                <a:solidFill>
                  <a:srgbClr val="8FA6B9"/>
                </a:solidFill>
              </a:rPr>
              <a:t>Latency</a:t>
            </a:r>
            <a:endParaRPr lang="en-US" sz="1400" dirty="0"/>
          </a:p>
          <a:p>
            <a:pPr indent="0" marL="0">
              <a:buNone/>
            </a:pPr>
            <a:r>
              <a:rPr lang="en-US" sz="1400" dirty="0">
                <a:solidFill>
                  <a:srgbClr val="8FA6B9"/>
                </a:solidFill>
              </a:rPr>
              <a:t>Target health</a:t>
            </a:r>
            <a:endParaRPr lang="en-US" sz="1400" dirty="0"/>
          </a:p>
        </p:txBody>
      </p:sp>
      <p:sp>
        <p:nvSpPr>
          <p:cNvPr id="13" name="Shape 11"/>
          <p:cNvSpPr/>
          <p:nvPr/>
        </p:nvSpPr>
        <p:spPr>
          <a:xfrm>
            <a:off x="8183880" y="1417320"/>
            <a:ext cx="1554480" cy="3429000"/>
          </a:xfrm>
          <a:prstGeom prst="roundRect">
            <a:avLst>
              <a:gd name="adj" fmla="val 3529"/>
            </a:avLst>
          </a:prstGeom>
          <a:solidFill>
            <a:srgbClr val="0F1D2D"/>
          </a:solidFill>
          <a:ln w="12700">
            <a:solidFill>
              <a:srgbClr val="29445C"/>
            </a:solidFill>
            <a:prstDash val="solid"/>
          </a:ln>
        </p:spPr>
      </p:sp>
      <p:sp>
        <p:nvSpPr>
          <p:cNvPr id="14" name="Shape 12"/>
          <p:cNvSpPr/>
          <p:nvPr/>
        </p:nvSpPr>
        <p:spPr>
          <a:xfrm>
            <a:off x="8183880" y="1417320"/>
            <a:ext cx="54864" cy="3429000"/>
          </a:xfrm>
          <a:prstGeom prst="rect">
            <a:avLst/>
          </a:prstGeom>
          <a:solidFill>
            <a:srgbClr val="F5B041"/>
          </a:solidFill>
          <a:ln w="12700">
            <a:solidFill>
              <a:srgbClr val="F5B041"/>
            </a:solidFill>
            <a:prstDash val="solid"/>
          </a:ln>
        </p:spPr>
      </p:sp>
      <p:sp>
        <p:nvSpPr>
          <p:cNvPr id="15" name="Text 13"/>
          <p:cNvSpPr/>
          <p:nvPr/>
        </p:nvSpPr>
        <p:spPr>
          <a:xfrm>
            <a:off x="8385048" y="1572768"/>
            <a:ext cx="1243584" cy="256032"/>
          </a:xfrm>
          <a:prstGeom prst="rect">
            <a:avLst/>
          </a:prstGeom>
          <a:noFill/>
          <a:ln/>
        </p:spPr>
        <p:txBody>
          <a:bodyPr wrap="square" lIns="0" tIns="0" rIns="0" bIns="0" rtlCol="0" anchor="ctr">
            <a:normAutofit/>
          </a:bodyPr>
          <a:lstStyle/>
          <a:p>
            <a:pPr indent="0" marL="0">
              <a:buNone/>
            </a:pPr>
            <a:r>
              <a:rPr lang="en-US" sz="1300" b="1" dirty="0">
                <a:solidFill>
                  <a:srgbClr val="F7FAFC"/>
                </a:solidFill>
              </a:rPr>
              <a:t>LIVE LOGS</a:t>
            </a:r>
            <a:endParaRPr lang="en-US" sz="1300" dirty="0"/>
          </a:p>
        </p:txBody>
      </p:sp>
      <p:sp>
        <p:nvSpPr>
          <p:cNvPr id="16" name="Text 14"/>
          <p:cNvSpPr/>
          <p:nvPr/>
        </p:nvSpPr>
        <p:spPr>
          <a:xfrm>
            <a:off x="8385048" y="1929384"/>
            <a:ext cx="1243584" cy="2770632"/>
          </a:xfrm>
          <a:prstGeom prst="rect">
            <a:avLst/>
          </a:prstGeom>
          <a:noFill/>
          <a:ln/>
        </p:spPr>
        <p:txBody>
          <a:bodyPr wrap="square" lIns="0" tIns="0" rIns="0" bIns="0" rtlCol="0" anchor="ctr">
            <a:normAutofit/>
          </a:bodyPr>
          <a:lstStyle/>
          <a:p>
            <a:pPr indent="0" marL="0">
              <a:buNone/>
            </a:pPr>
            <a:r>
              <a:rPr lang="en-US" sz="1400" dirty="0">
                <a:solidFill>
                  <a:srgbClr val="8FA6B9"/>
                </a:solidFill>
              </a:rPr>
              <a:t>CloudWatch</a:t>
            </a:r>
            <a:endParaRPr lang="en-US" sz="1400" dirty="0"/>
          </a:p>
          <a:p>
            <a:pPr indent="0" marL="0">
              <a:buNone/>
            </a:pPr>
            <a:r>
              <a:rPr lang="en-US" sz="1400" dirty="0">
                <a:solidFill>
                  <a:srgbClr val="8FA6B9"/>
                </a:solidFill>
              </a:rPr>
              <a:t>SSE stream</a:t>
            </a:r>
            <a:endParaRPr lang="en-US" sz="1400" dirty="0"/>
          </a:p>
          <a:p>
            <a:pPr indent="0" marL="0">
              <a:buNone/>
            </a:pPr>
            <a:r>
              <a:rPr lang="en-US" sz="1400" dirty="0">
                <a:solidFill>
                  <a:srgbClr val="8FA6B9"/>
                </a:solidFill>
              </a:rPr>
              <a:t>Filtering</a:t>
            </a:r>
            <a:endParaRPr lang="en-US" sz="1400" dirty="0"/>
          </a:p>
          <a:p>
            <a:pPr indent="0" marL="0">
              <a:buNone/>
            </a:pPr>
            <a:r>
              <a:rPr lang="en-US" sz="1400" dirty="0">
                <a:solidFill>
                  <a:srgbClr val="8FA6B9"/>
                </a:solidFill>
              </a:rPr>
              <a:t>Reconnect</a:t>
            </a:r>
            <a:endParaRPr lang="en-US" sz="1400" dirty="0"/>
          </a:p>
        </p:txBody>
      </p:sp>
      <p:sp>
        <p:nvSpPr>
          <p:cNvPr id="17" name="Shape 15"/>
          <p:cNvSpPr/>
          <p:nvPr/>
        </p:nvSpPr>
        <p:spPr>
          <a:xfrm>
            <a:off x="9966960" y="1417320"/>
            <a:ext cx="1554480" cy="3429000"/>
          </a:xfrm>
          <a:prstGeom prst="roundRect">
            <a:avLst>
              <a:gd name="adj" fmla="val 3529"/>
            </a:avLst>
          </a:prstGeom>
          <a:solidFill>
            <a:srgbClr val="0F1D2D"/>
          </a:solidFill>
          <a:ln w="12700">
            <a:solidFill>
              <a:srgbClr val="29445C"/>
            </a:solidFill>
            <a:prstDash val="solid"/>
          </a:ln>
        </p:spPr>
      </p:sp>
      <p:sp>
        <p:nvSpPr>
          <p:cNvPr id="18" name="Shape 16"/>
          <p:cNvSpPr/>
          <p:nvPr/>
        </p:nvSpPr>
        <p:spPr>
          <a:xfrm>
            <a:off x="9966960" y="1417320"/>
            <a:ext cx="54864" cy="3429000"/>
          </a:xfrm>
          <a:prstGeom prst="rect">
            <a:avLst/>
          </a:prstGeom>
          <a:solidFill>
            <a:srgbClr val="B276FF"/>
          </a:solidFill>
          <a:ln w="12700">
            <a:solidFill>
              <a:srgbClr val="B276FF"/>
            </a:solidFill>
            <a:prstDash val="solid"/>
          </a:ln>
        </p:spPr>
      </p:sp>
      <p:sp>
        <p:nvSpPr>
          <p:cNvPr id="19" name="Text 17"/>
          <p:cNvSpPr/>
          <p:nvPr/>
        </p:nvSpPr>
        <p:spPr>
          <a:xfrm>
            <a:off x="10168128" y="1572768"/>
            <a:ext cx="1243584" cy="256032"/>
          </a:xfrm>
          <a:prstGeom prst="rect">
            <a:avLst/>
          </a:prstGeom>
          <a:noFill/>
          <a:ln/>
        </p:spPr>
        <p:txBody>
          <a:bodyPr wrap="square" lIns="0" tIns="0" rIns="0" bIns="0" rtlCol="0" anchor="ctr">
            <a:normAutofit/>
          </a:bodyPr>
          <a:lstStyle/>
          <a:p>
            <a:pPr indent="0" marL="0">
              <a:buNone/>
            </a:pPr>
            <a:r>
              <a:rPr lang="en-US" sz="1300" b="1" dirty="0">
                <a:solidFill>
                  <a:srgbClr val="F7FAFC"/>
                </a:solidFill>
              </a:rPr>
              <a:t>OPS VIEW</a:t>
            </a:r>
            <a:endParaRPr lang="en-US" sz="1300" dirty="0"/>
          </a:p>
        </p:txBody>
      </p:sp>
      <p:sp>
        <p:nvSpPr>
          <p:cNvPr id="20" name="Text 18"/>
          <p:cNvSpPr/>
          <p:nvPr/>
        </p:nvSpPr>
        <p:spPr>
          <a:xfrm>
            <a:off x="10168128" y="1929384"/>
            <a:ext cx="1243584" cy="2770632"/>
          </a:xfrm>
          <a:prstGeom prst="rect">
            <a:avLst/>
          </a:prstGeom>
          <a:noFill/>
          <a:ln/>
        </p:spPr>
        <p:txBody>
          <a:bodyPr wrap="square" lIns="0" tIns="0" rIns="0" bIns="0" rtlCol="0" anchor="ctr">
            <a:normAutofit/>
          </a:bodyPr>
          <a:lstStyle/>
          <a:p>
            <a:pPr indent="0" marL="0">
              <a:buNone/>
            </a:pPr>
            <a:r>
              <a:rPr lang="en-US" sz="1400" dirty="0">
                <a:solidFill>
                  <a:srgbClr val="8FA6B9"/>
                </a:solidFill>
              </a:rPr>
              <a:t>Prometheus</a:t>
            </a:r>
            <a:endParaRPr lang="en-US" sz="1400" dirty="0"/>
          </a:p>
          <a:p>
            <a:pPr indent="0" marL="0">
              <a:buNone/>
            </a:pPr>
            <a:r>
              <a:rPr lang="en-US" sz="1400" dirty="0">
                <a:solidFill>
                  <a:srgbClr val="8FA6B9"/>
                </a:solidFill>
              </a:rPr>
              <a:t>Grafana</a:t>
            </a:r>
            <a:endParaRPr lang="en-US" sz="1400" dirty="0"/>
          </a:p>
          <a:p>
            <a:pPr indent="0" marL="0">
              <a:buNone/>
            </a:pPr>
            <a:r>
              <a:rPr lang="en-US" sz="1400" dirty="0">
                <a:solidFill>
                  <a:srgbClr val="8FA6B9"/>
                </a:solidFill>
              </a:rPr>
              <a:t>Platform health</a:t>
            </a:r>
            <a:endParaRPr lang="en-US" sz="1400" dirty="0"/>
          </a:p>
        </p:txBody>
      </p:sp>
      <p:sp>
        <p:nvSpPr>
          <p:cNvPr id="21" name="Shape 19"/>
          <p:cNvSpPr/>
          <p:nvPr/>
        </p:nvSpPr>
        <p:spPr>
          <a:xfrm>
            <a:off x="6903720" y="5230368"/>
            <a:ext cx="4206240" cy="347472"/>
          </a:xfrm>
          <a:prstGeom prst="roundRect">
            <a:avLst>
              <a:gd name="adj" fmla="val 47368"/>
            </a:avLst>
          </a:prstGeom>
          <a:solidFill>
            <a:srgbClr val="54D6A3">
              <a:alpha val="88000"/>
            </a:srgbClr>
          </a:solidFill>
          <a:ln w="12700">
            <a:solidFill>
              <a:srgbClr val="54D6A3">
                <a:alpha val="0"/>
              </a:srgbClr>
            </a:solidFill>
            <a:prstDash val="solid"/>
          </a:ln>
        </p:spPr>
      </p:sp>
      <p:sp>
        <p:nvSpPr>
          <p:cNvPr id="22" name="Text 20"/>
          <p:cNvSpPr/>
          <p:nvPr/>
        </p:nvSpPr>
        <p:spPr>
          <a:xfrm>
            <a:off x="6976872" y="5312664"/>
            <a:ext cx="4059936" cy="118872"/>
          </a:xfrm>
          <a:prstGeom prst="rect">
            <a:avLst/>
          </a:prstGeom>
          <a:noFill/>
          <a:ln/>
        </p:spPr>
        <p:txBody>
          <a:bodyPr wrap="square" lIns="0" tIns="0" rIns="0" bIns="0" rtlCol="0" anchor="ctr">
            <a:normAutofit/>
          </a:bodyPr>
          <a:lstStyle/>
          <a:p>
            <a:pPr algn="ctr" indent="0" marL="0">
              <a:buNone/>
            </a:pPr>
            <a:r>
              <a:rPr lang="en-US" sz="950" b="1" dirty="0">
                <a:solidFill>
                  <a:srgbClr val="07111F"/>
                </a:solidFill>
              </a:rPr>
              <a:t>PROJECT OBSERVABILITY + OPERATOR OBSERVABILITY</a:t>
            </a:r>
            <a:endParaRPr lang="en-US" sz="950" dirty="0"/>
          </a:p>
        </p:txBody>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347472"/>
            <a:ext cx="9098280" cy="475488"/>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Evidence-Grounded AI Troubleshooting</a:t>
            </a:r>
            <a:endParaRPr lang="en-US" sz="2400" dirty="0"/>
          </a:p>
        </p:txBody>
      </p:sp>
      <p:sp>
        <p:nvSpPr>
          <p:cNvPr id="3" name="Shape 1"/>
          <p:cNvSpPr/>
          <p:nvPr/>
        </p:nvSpPr>
        <p:spPr>
          <a:xfrm>
            <a:off x="9829800" y="338328"/>
            <a:ext cx="1783080" cy="329184"/>
          </a:xfrm>
          <a:prstGeom prst="roundRect">
            <a:avLst>
              <a:gd name="adj" fmla="val 22222"/>
            </a:avLst>
          </a:prstGeom>
          <a:solidFill>
            <a:srgbClr val="B276FF">
              <a:alpha val="92000"/>
            </a:srgbClr>
          </a:solidFill>
          <a:ln w="12700">
            <a:solidFill>
              <a:srgbClr val="B276FF">
                <a:alpha val="0"/>
              </a:srgbClr>
            </a:solidFill>
            <a:prstDash val="solid"/>
          </a:ln>
        </p:spPr>
      </p:sp>
      <p:sp>
        <p:nvSpPr>
          <p:cNvPr id="4" name="Text 2"/>
          <p:cNvSpPr/>
          <p:nvPr/>
        </p:nvSpPr>
        <p:spPr>
          <a:xfrm>
            <a:off x="9912096" y="416052"/>
            <a:ext cx="1609344" cy="118872"/>
          </a:xfrm>
          <a:prstGeom prst="rect">
            <a:avLst/>
          </a:prstGeom>
          <a:noFill/>
          <a:ln/>
        </p:spPr>
        <p:txBody>
          <a:bodyPr wrap="square" lIns="0" tIns="0" rIns="0" bIns="0" rtlCol="0" anchor="ctr">
            <a:normAutofit/>
          </a:bodyPr>
          <a:lstStyle/>
          <a:p>
            <a:pPr algn="ctr" indent="0" marL="0">
              <a:buNone/>
            </a:pPr>
            <a:r>
              <a:rPr lang="en-US" sz="1000" b="1" dirty="0">
                <a:solidFill>
                  <a:srgbClr val="07111F"/>
                </a:solidFill>
              </a:rPr>
              <a:t>Tania Khawar</a:t>
            </a:r>
            <a:endParaRPr lang="en-US" sz="1000" dirty="0"/>
          </a:p>
          <a:p>
            <a:pPr algn="ctr" indent="0" marL="0">
              <a:buNone/>
            </a:pPr>
            <a:endParaRPr lang="en-US" sz="1000" dirty="0"/>
          </a:p>
          <a:p>
            <a:pPr algn="ctr" indent="0" marL="0">
              <a:buNone/>
            </a:pPr>
            <a:r>
              <a:rPr lang="en-US" sz="1000" b="1" dirty="0">
                <a:solidFill>
                  <a:srgbClr val="07111F"/>
                </a:solidFill>
              </a:rPr>
              <a:t>Purpose: Defend the AI feature as bounded assistance rather than deployment authority.</a:t>
            </a:r>
            <a:endParaRPr lang="en-US" sz="1000" dirty="0"/>
          </a:p>
          <a:p>
            <a:pPr algn="ctr" indent="0" marL="0">
              <a:buNone/>
            </a:pPr>
            <a:endParaRPr lang="en-US" sz="1000" dirty="0"/>
          </a:p>
          <a:p>
            <a:pPr algn="ctr" indent="0" marL="0">
              <a:buNone/>
            </a:pPr>
            <a:r>
              <a:rPr lang="en-US" sz="1000" b="1" dirty="0">
                <a:solidFill>
                  <a:srgbClr val="07111F"/>
                </a:solidFill>
              </a:rPr>
              <a:t>Presentation Content:</a:t>
            </a:r>
            <a:endParaRPr lang="en-US" sz="1000" dirty="0"/>
          </a:p>
          <a:p>
            <a:pPr algn="ctr" indent="0" marL="0">
              <a:buNone/>
            </a:pPr>
            <a:endParaRPr lang="en-US" sz="1000" dirty="0"/>
          </a:p>
          <a:p>
            <a:pPr algn="ctr" indent="0" marL="0">
              <a:buNone/>
            </a:pPr>
            <a:r>
              <a:rPr lang="en-US" sz="1000" b="1" dirty="0">
                <a:solidFill>
                  <a:srgbClr val="07111F"/>
                </a:solidFill>
              </a:rPr>
              <a:t>- The troubleshooting flow collects persisted pipeline events, sanitized logs, structured diagnostics, and relevant runtime evidence.</a:t>
            </a:r>
            <a:endParaRPr lang="en-US" sz="1000" dirty="0"/>
          </a:p>
          <a:p>
            <a:pPr algn="ctr" indent="0" marL="0">
              <a:buNone/>
            </a:pPr>
            <a:endParaRPr lang="en-US" sz="1000" dirty="0"/>
          </a:p>
          <a:p>
            <a:pPr algn="ctr" indent="0" marL="0">
              <a:buNone/>
            </a:pPr>
            <a:r>
              <a:rPr lang="en-US" sz="1000" b="1" dirty="0">
                <a:solidFill>
                  <a:srgbClr val="07111F"/>
                </a:solidFill>
              </a:rPr>
              <a:t>- Evidence is bounded, deduplicated, and filtered before it reaches the model provider.</a:t>
            </a:r>
            <a:endParaRPr lang="en-US" sz="1000" dirty="0"/>
          </a:p>
          <a:p>
            <a:pPr algn="ctr" indent="0" marL="0">
              <a:buNone/>
            </a:pPr>
            <a:endParaRPr lang="en-US" sz="1000" dirty="0"/>
          </a:p>
          <a:p>
            <a:pPr algn="ctr" indent="0" marL="0">
              <a:buNone/>
            </a:pPr>
            <a:r>
              <a:rPr lang="en-US" sz="1000" b="1" dirty="0">
                <a:solidFill>
                  <a:srgbClr val="07111F"/>
                </a:solidFill>
              </a:rPr>
              <a:t>- Sensitive patterns such as credentials, tokens, authorization headers, private keys, and secret URLs are redacted.</a:t>
            </a:r>
            <a:endParaRPr lang="en-US" sz="1000" dirty="0"/>
          </a:p>
          <a:p>
            <a:pPr algn="ctr" indent="0" marL="0">
              <a:buNone/>
            </a:pPr>
            <a:endParaRPr lang="en-US" sz="1000" dirty="0"/>
          </a:p>
          <a:p>
            <a:pPr algn="ctr" indent="0" marL="0">
              <a:buNone/>
            </a:pPr>
            <a:r>
              <a:rPr lang="en-US" sz="1000" b="1" dirty="0">
                <a:solidFill>
                  <a:srgbClr val="07111F"/>
                </a:solidFill>
              </a:rPr>
              <a:t>- Model output must follow a structured schema and cite only evidence identifiers supplied in the request.</a:t>
            </a:r>
            <a:endParaRPr lang="en-US" sz="1000" dirty="0"/>
          </a:p>
          <a:p>
            <a:pPr algn="ctr" indent="0" marL="0">
              <a:buNone/>
            </a:pPr>
            <a:endParaRPr lang="en-US" sz="1000" dirty="0"/>
          </a:p>
          <a:p>
            <a:pPr algn="ctr" indent="0" marL="0">
              <a:buNone/>
            </a:pPr>
            <a:r>
              <a:rPr lang="en-US" sz="1000" b="1" dirty="0">
                <a:solidFill>
                  <a:srgbClr val="07111F"/>
                </a:solidFill>
              </a:rPr>
              <a:t>- Authoritative failure owner, root cause, and retry policy cannot be overwritten by generated advice.</a:t>
            </a:r>
            <a:endParaRPr lang="en-US" sz="1000" dirty="0"/>
          </a:p>
          <a:p>
            <a:pPr algn="ctr" indent="0" marL="0">
              <a:buNone/>
            </a:pPr>
            <a:endParaRPr lang="en-US" sz="1000" dirty="0"/>
          </a:p>
          <a:p>
            <a:pPr algn="ctr" indent="0" marL="0">
              <a:buNone/>
            </a:pPr>
            <a:r>
              <a:rPr lang="en-US" sz="1000" b="1" dirty="0">
                <a:solidFill>
                  <a:srgbClr val="07111F"/>
                </a:solidFill>
              </a:rPr>
              <a:t>- If the provider is unavailable or its response fails validation, DeployGuard returns a deterministic evidence-only fallback.</a:t>
            </a:r>
            <a:endParaRPr lang="en-US" sz="1000" dirty="0"/>
          </a:p>
          <a:p>
            <a:pPr algn="ctr" indent="0" marL="0">
              <a:buNone/>
            </a:pPr>
            <a:endParaRPr lang="en-US" sz="1000" dirty="0"/>
          </a:p>
          <a:p>
            <a:pPr algn="ctr" indent="0" marL="0">
              <a:buNone/>
            </a:pPr>
            <a:r>
              <a:rPr lang="en-US" sz="1000" b="1" dirty="0">
                <a:solidFill>
                  <a:srgbClr val="07111F"/>
                </a:solidFill>
              </a:rPr>
              <a:t>- AI recommendations are advisory; lifecycle decisions remain deterministic.</a:t>
            </a:r>
            <a:endParaRPr lang="en-US" sz="1000" dirty="0"/>
          </a:p>
          <a:p>
            <a:pPr algn="ctr" indent="0" marL="0">
              <a:buNone/>
            </a:pPr>
            <a:endParaRPr lang="en-US" sz="1000" dirty="0"/>
          </a:p>
          <a:p>
            <a:pPr algn="ctr" indent="0" marL="0">
              <a:buNone/>
            </a:pPr>
            <a:r>
              <a:rPr lang="en-US" sz="1000" b="1" dirty="0">
                <a:solidFill>
                  <a:srgbClr val="07111F"/>
                </a:solidFill>
              </a:rPr>
              <a:t>Visual Recommendation: Guardrailed AI flow: Sanitized Evidence → Bounded Model Request → Schema Validation → Advice, with Deterministic Fallback below.</a:t>
            </a:r>
            <a:endParaRPr lang="en-US" sz="1000" dirty="0"/>
          </a:p>
          <a:p>
            <a:pPr algn="ctr" indent="0" marL="0">
              <a:buNone/>
            </a:pPr>
            <a:endParaRPr lang="en-US" sz="1000" dirty="0"/>
          </a:p>
          <a:p>
            <a:pPr algn="ctr" indent="0" marL="0">
              <a:buNone/>
            </a:pPr>
            <a:r>
              <a:rPr lang="en-US" sz="1000" b="1" dirty="0">
                <a:solidFill>
                  <a:srgbClr val="07111F"/>
                </a:solidFill>
              </a:rPr>
              <a:t>Defense Notes: The safe answer to “Can AI trigger deployment?” is no. It explains evidence and possible remediation; it does not promote a release, change ownership, or bypass admission.</a:t>
            </a:r>
            <a:endParaRPr lang="en-US" sz="1000" dirty="0"/>
          </a:p>
        </p:txBody>
      </p:sp>
      <p:sp>
        <p:nvSpPr>
          <p:cNvPr id="5" name="Shape 3"/>
          <p:cNvSpPr/>
          <p:nvPr/>
        </p:nvSpPr>
        <p:spPr>
          <a:xfrm>
            <a:off x="502920" y="932688"/>
            <a:ext cx="11109960" cy="0"/>
          </a:xfrm>
          <a:prstGeom prst="line">
            <a:avLst/>
          </a:prstGeom>
          <a:noFill/>
          <a:ln w="17780">
            <a:solidFill>
              <a:srgbClr val="B276FF">
                <a:alpha val="75000"/>
              </a:srgbClr>
            </a:solidFill>
            <a:prstDash val="solid"/>
          </a:ln>
        </p:spPr>
      </p:sp>
      <p:sp>
        <p:nvSpPr>
          <p:cNvPr id="6" name="Text 4"/>
          <p:cNvSpPr/>
          <p:nvPr/>
        </p:nvSpPr>
        <p:spPr>
          <a:xfrm>
            <a:off x="502920" y="996696"/>
            <a:ext cx="5212080" cy="164592"/>
          </a:xfrm>
          <a:prstGeom prst="rect">
            <a:avLst/>
          </a:prstGeom>
          <a:noFill/>
          <a:ln/>
        </p:spPr>
        <p:txBody>
          <a:bodyPr wrap="square" lIns="0" tIns="0" rIns="0" bIns="0" rtlCol="0" anchor="ctr"/>
          <a:lstStyle/>
          <a:p>
            <a:pPr indent="0" marL="0">
              <a:buNone/>
            </a:pPr>
            <a:r>
              <a:rPr lang="en-US" sz="850" b="1" spc="110" kern="0" dirty="0">
                <a:solidFill>
                  <a:srgbClr val="B276FF"/>
                </a:solidFill>
              </a:rPr>
              <a:t>TANIA — FRONTEND &amp; AI</a:t>
            </a:r>
            <a:endParaRPr lang="en-US" sz="850" dirty="0"/>
          </a:p>
        </p:txBody>
      </p:sp>
      <p:sp>
        <p:nvSpPr>
          <p:cNvPr id="7" name="Text 5"/>
          <p:cNvSpPr/>
          <p:nvPr/>
        </p:nvSpPr>
        <p:spPr>
          <a:xfrm>
            <a:off x="594360" y="1325880"/>
            <a:ext cx="5349240" cy="4937760"/>
          </a:xfrm>
          <a:prstGeom prst="rect">
            <a:avLst/>
          </a:prstGeom>
          <a:noFill/>
          <a:ln/>
        </p:spPr>
        <p:txBody>
          <a:bodyPr wrap="square" lIns="254" tIns="254" rIns="254" bIns="254" rtlCol="0" anchor="ctr">
            <a:normAutofit/>
          </a:bodyPr>
          <a:lstStyle/>
          <a:p>
            <a:pPr marL="190500" indent="-190500">
              <a:buSzPct val="100000"/>
              <a:buChar char="•"/>
            </a:pPr>
            <a:r>
              <a:rPr lang="en-US" sz="1580" dirty="0">
                <a:solidFill>
                  <a:srgbClr val="D9E5EF"/>
                </a:solidFill>
                <a:latin typeface="Aptos" pitchFamily="34" charset="0"/>
                <a:ea typeface="Aptos" pitchFamily="34" charset="-122"/>
                <a:cs typeface="Aptos" pitchFamily="34" charset="-120"/>
              </a:rPr>
              <a:t>The troubleshooting flow collects persisted pipeline events, sanitized logs, structured diagnostics, and relevant runtime evidence.</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Evidence is bounded, deduplicated, and filtered before it reaches the model provider.</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Sensitive patterns such as credentials, tokens, authorization headers, private keys, and secret URLs are redacted.</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Model output must follow a structured schema and cite only evidence identifiers supplied in the request.</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Authoritative failure owner, root cause, and retry policy cannot be overwritten by generated advice.</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If the provider is unavailable or its response fails validation, DeployGuard returns a deterministic evidence-only fallback.</a:t>
            </a:r>
            <a:endParaRPr lang="en-US" sz="1580" dirty="0"/>
          </a:p>
        </p:txBody>
      </p:sp>
      <p:sp>
        <p:nvSpPr>
          <p:cNvPr id="8" name="Shape 6"/>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9" name="Shape 7"/>
          <p:cNvSpPr/>
          <p:nvPr/>
        </p:nvSpPr>
        <p:spPr>
          <a:xfrm>
            <a:off x="6492240" y="1874520"/>
            <a:ext cx="1051560" cy="1051560"/>
          </a:xfrm>
          <a:prstGeom prst="roundRect">
            <a:avLst>
              <a:gd name="adj" fmla="val 4348"/>
            </a:avLst>
          </a:prstGeom>
          <a:solidFill>
            <a:srgbClr val="12263A"/>
          </a:solidFill>
          <a:ln w="17780">
            <a:solidFill>
              <a:srgbClr val="35C2D8"/>
            </a:solidFill>
            <a:prstDash val="solid"/>
          </a:ln>
        </p:spPr>
      </p:sp>
      <p:sp>
        <p:nvSpPr>
          <p:cNvPr id="10" name="Text 8"/>
          <p:cNvSpPr/>
          <p:nvPr/>
        </p:nvSpPr>
        <p:spPr>
          <a:xfrm>
            <a:off x="6583680" y="2002536"/>
            <a:ext cx="86868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Sanitized evidence</a:t>
            </a:r>
            <a:endParaRPr lang="en-US" sz="1200" dirty="0"/>
          </a:p>
        </p:txBody>
      </p:sp>
      <p:sp>
        <p:nvSpPr>
          <p:cNvPr id="11" name="Shape 9"/>
          <p:cNvSpPr/>
          <p:nvPr/>
        </p:nvSpPr>
        <p:spPr>
          <a:xfrm>
            <a:off x="7543800" y="2395728"/>
            <a:ext cx="155448" cy="0"/>
          </a:xfrm>
          <a:prstGeom prst="line">
            <a:avLst/>
          </a:prstGeom>
          <a:noFill/>
          <a:ln w="13970">
            <a:solidFill>
              <a:srgbClr val="B276FF"/>
            </a:solidFill>
            <a:prstDash val="solid"/>
            <a:tailEnd type="triangle"/>
          </a:ln>
        </p:spPr>
      </p:sp>
      <p:sp>
        <p:nvSpPr>
          <p:cNvPr id="12" name="Shape 10"/>
          <p:cNvSpPr/>
          <p:nvPr/>
        </p:nvSpPr>
        <p:spPr>
          <a:xfrm>
            <a:off x="7726680" y="1874520"/>
            <a:ext cx="1051560" cy="1051560"/>
          </a:xfrm>
          <a:prstGeom prst="roundRect">
            <a:avLst>
              <a:gd name="adj" fmla="val 4348"/>
            </a:avLst>
          </a:prstGeom>
          <a:solidFill>
            <a:srgbClr val="12263A"/>
          </a:solidFill>
          <a:ln w="17780">
            <a:solidFill>
              <a:srgbClr val="B276FF"/>
            </a:solidFill>
            <a:prstDash val="solid"/>
          </a:ln>
        </p:spPr>
      </p:sp>
      <p:sp>
        <p:nvSpPr>
          <p:cNvPr id="13" name="Text 11"/>
          <p:cNvSpPr/>
          <p:nvPr/>
        </p:nvSpPr>
        <p:spPr>
          <a:xfrm>
            <a:off x="7818120" y="2002536"/>
            <a:ext cx="86868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Bounded model request</a:t>
            </a:r>
            <a:endParaRPr lang="en-US" sz="1200" dirty="0"/>
          </a:p>
        </p:txBody>
      </p:sp>
      <p:sp>
        <p:nvSpPr>
          <p:cNvPr id="14" name="Shape 12"/>
          <p:cNvSpPr/>
          <p:nvPr/>
        </p:nvSpPr>
        <p:spPr>
          <a:xfrm>
            <a:off x="8778240" y="2395728"/>
            <a:ext cx="155448" cy="0"/>
          </a:xfrm>
          <a:prstGeom prst="line">
            <a:avLst/>
          </a:prstGeom>
          <a:noFill/>
          <a:ln w="13970">
            <a:solidFill>
              <a:srgbClr val="B276FF"/>
            </a:solidFill>
            <a:prstDash val="solid"/>
            <a:tailEnd type="triangle"/>
          </a:ln>
        </p:spPr>
      </p:sp>
      <p:sp>
        <p:nvSpPr>
          <p:cNvPr id="15" name="Shape 13"/>
          <p:cNvSpPr/>
          <p:nvPr/>
        </p:nvSpPr>
        <p:spPr>
          <a:xfrm>
            <a:off x="8961120" y="1874520"/>
            <a:ext cx="1051560" cy="1051560"/>
          </a:xfrm>
          <a:prstGeom prst="roundRect">
            <a:avLst>
              <a:gd name="adj" fmla="val 4348"/>
            </a:avLst>
          </a:prstGeom>
          <a:solidFill>
            <a:srgbClr val="12263A"/>
          </a:solidFill>
          <a:ln w="17780">
            <a:solidFill>
              <a:srgbClr val="4FA3FF"/>
            </a:solidFill>
            <a:prstDash val="solid"/>
          </a:ln>
        </p:spPr>
      </p:sp>
      <p:sp>
        <p:nvSpPr>
          <p:cNvPr id="16" name="Text 14"/>
          <p:cNvSpPr/>
          <p:nvPr/>
        </p:nvSpPr>
        <p:spPr>
          <a:xfrm>
            <a:off x="9052560" y="2002536"/>
            <a:ext cx="86868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Schema validation</a:t>
            </a:r>
            <a:endParaRPr lang="en-US" sz="1200" dirty="0"/>
          </a:p>
        </p:txBody>
      </p:sp>
      <p:sp>
        <p:nvSpPr>
          <p:cNvPr id="17" name="Shape 15"/>
          <p:cNvSpPr/>
          <p:nvPr/>
        </p:nvSpPr>
        <p:spPr>
          <a:xfrm>
            <a:off x="10012680" y="2395728"/>
            <a:ext cx="155448" cy="0"/>
          </a:xfrm>
          <a:prstGeom prst="line">
            <a:avLst/>
          </a:prstGeom>
          <a:noFill/>
          <a:ln w="13970">
            <a:solidFill>
              <a:srgbClr val="B276FF"/>
            </a:solidFill>
            <a:prstDash val="solid"/>
            <a:tailEnd type="triangle"/>
          </a:ln>
        </p:spPr>
      </p:sp>
      <p:sp>
        <p:nvSpPr>
          <p:cNvPr id="18" name="Shape 16"/>
          <p:cNvSpPr/>
          <p:nvPr/>
        </p:nvSpPr>
        <p:spPr>
          <a:xfrm>
            <a:off x="10195560" y="1874520"/>
            <a:ext cx="1051560" cy="1051560"/>
          </a:xfrm>
          <a:prstGeom prst="roundRect">
            <a:avLst>
              <a:gd name="adj" fmla="val 4348"/>
            </a:avLst>
          </a:prstGeom>
          <a:solidFill>
            <a:srgbClr val="12263A"/>
          </a:solidFill>
          <a:ln w="17780">
            <a:solidFill>
              <a:srgbClr val="54D6A3"/>
            </a:solidFill>
            <a:prstDash val="solid"/>
          </a:ln>
        </p:spPr>
      </p:sp>
      <p:sp>
        <p:nvSpPr>
          <p:cNvPr id="19" name="Text 17"/>
          <p:cNvSpPr/>
          <p:nvPr/>
        </p:nvSpPr>
        <p:spPr>
          <a:xfrm>
            <a:off x="10287000" y="2002536"/>
            <a:ext cx="86868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Advisory answer</a:t>
            </a:r>
            <a:endParaRPr lang="en-US" sz="1200" dirty="0"/>
          </a:p>
        </p:txBody>
      </p:sp>
      <p:sp>
        <p:nvSpPr>
          <p:cNvPr id="20" name="Shape 18"/>
          <p:cNvSpPr/>
          <p:nvPr/>
        </p:nvSpPr>
        <p:spPr>
          <a:xfrm>
            <a:off x="7406640" y="4069080"/>
            <a:ext cx="3108960" cy="822960"/>
          </a:xfrm>
          <a:prstGeom prst="roundRect">
            <a:avLst>
              <a:gd name="adj" fmla="val 5556"/>
            </a:avLst>
          </a:prstGeom>
          <a:solidFill>
            <a:srgbClr val="12263A"/>
          </a:solidFill>
          <a:ln w="17780">
            <a:solidFill>
              <a:srgbClr val="F5B041"/>
            </a:solidFill>
            <a:prstDash val="solid"/>
          </a:ln>
        </p:spPr>
      </p:sp>
      <p:sp>
        <p:nvSpPr>
          <p:cNvPr id="21" name="Text 19"/>
          <p:cNvSpPr/>
          <p:nvPr/>
        </p:nvSpPr>
        <p:spPr>
          <a:xfrm>
            <a:off x="7498080" y="4197096"/>
            <a:ext cx="292608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Deterministic evidence-only fallback</a:t>
            </a:r>
            <a:endParaRPr lang="en-US" sz="1200" dirty="0"/>
          </a:p>
        </p:txBody>
      </p:sp>
      <p:sp>
        <p:nvSpPr>
          <p:cNvPr id="22" name="Text 20"/>
          <p:cNvSpPr/>
          <p:nvPr/>
        </p:nvSpPr>
        <p:spPr>
          <a:xfrm>
            <a:off x="7498080" y="4517136"/>
            <a:ext cx="2926080" cy="292608"/>
          </a:xfrm>
          <a:prstGeom prst="rect">
            <a:avLst/>
          </a:prstGeom>
          <a:noFill/>
          <a:ln/>
        </p:spPr>
        <p:txBody>
          <a:bodyPr wrap="square" lIns="0" tIns="0" rIns="0" bIns="0" rtlCol="0" anchor="ctr">
            <a:normAutofit/>
          </a:bodyPr>
          <a:lstStyle/>
          <a:p>
            <a:pPr algn="ctr" indent="0" marL="0">
              <a:buNone/>
            </a:pPr>
            <a:r>
              <a:rPr lang="en-US" sz="880" dirty="0">
                <a:solidFill>
                  <a:srgbClr val="8FA6B9"/>
                </a:solidFill>
              </a:rPr>
              <a:t>Used when provider/response is invalid</a:t>
            </a:r>
            <a:endParaRPr lang="en-US" sz="880" dirty="0"/>
          </a:p>
        </p:txBody>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347472"/>
            <a:ext cx="9098280" cy="475488"/>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Frontend Validation and Demonstration Evidence</a:t>
            </a:r>
            <a:endParaRPr lang="en-US" sz="2400" dirty="0"/>
          </a:p>
        </p:txBody>
      </p:sp>
      <p:sp>
        <p:nvSpPr>
          <p:cNvPr id="3" name="Shape 1"/>
          <p:cNvSpPr/>
          <p:nvPr/>
        </p:nvSpPr>
        <p:spPr>
          <a:xfrm>
            <a:off x="9829800" y="338328"/>
            <a:ext cx="1783080" cy="329184"/>
          </a:xfrm>
          <a:prstGeom prst="roundRect">
            <a:avLst>
              <a:gd name="adj" fmla="val 22222"/>
            </a:avLst>
          </a:prstGeom>
          <a:solidFill>
            <a:srgbClr val="B276FF">
              <a:alpha val="92000"/>
            </a:srgbClr>
          </a:solidFill>
          <a:ln w="12700">
            <a:solidFill>
              <a:srgbClr val="B276FF">
                <a:alpha val="0"/>
              </a:srgbClr>
            </a:solidFill>
            <a:prstDash val="solid"/>
          </a:ln>
        </p:spPr>
      </p:sp>
      <p:sp>
        <p:nvSpPr>
          <p:cNvPr id="4" name="Text 2"/>
          <p:cNvSpPr/>
          <p:nvPr/>
        </p:nvSpPr>
        <p:spPr>
          <a:xfrm>
            <a:off x="9912096" y="416052"/>
            <a:ext cx="1609344" cy="118872"/>
          </a:xfrm>
          <a:prstGeom prst="rect">
            <a:avLst/>
          </a:prstGeom>
          <a:noFill/>
          <a:ln/>
        </p:spPr>
        <p:txBody>
          <a:bodyPr wrap="square" lIns="0" tIns="0" rIns="0" bIns="0" rtlCol="0" anchor="ctr">
            <a:normAutofit/>
          </a:bodyPr>
          <a:lstStyle/>
          <a:p>
            <a:pPr algn="ctr" indent="0" marL="0">
              <a:buNone/>
            </a:pPr>
            <a:r>
              <a:rPr lang="en-US" sz="1000" b="1" dirty="0">
                <a:solidFill>
                  <a:srgbClr val="07111F"/>
                </a:solidFill>
              </a:rPr>
              <a:t>Tania Khawar</a:t>
            </a:r>
            <a:endParaRPr lang="en-US" sz="1000" dirty="0"/>
          </a:p>
          <a:p>
            <a:pPr algn="ctr" indent="0" marL="0">
              <a:buNone/>
            </a:pPr>
            <a:endParaRPr lang="en-US" sz="1000" dirty="0"/>
          </a:p>
          <a:p>
            <a:pPr algn="ctr" indent="0" marL="0">
              <a:buNone/>
            </a:pPr>
            <a:r>
              <a:rPr lang="en-US" sz="1000" b="1" dirty="0">
                <a:solidFill>
                  <a:srgbClr val="07111F"/>
                </a:solidFill>
              </a:rPr>
              <a:t>Purpose: Show how the user experience was tested and what the demo will prove.</a:t>
            </a:r>
            <a:endParaRPr lang="en-US" sz="1000" dirty="0"/>
          </a:p>
          <a:p>
            <a:pPr algn="ctr" indent="0" marL="0">
              <a:buNone/>
            </a:pPr>
            <a:endParaRPr lang="en-US" sz="1000" dirty="0"/>
          </a:p>
          <a:p>
            <a:pPr algn="ctr" indent="0" marL="0">
              <a:buNone/>
            </a:pPr>
            <a:r>
              <a:rPr lang="en-US" sz="1000" b="1" dirty="0">
                <a:solidFill>
                  <a:srgbClr val="07111F"/>
                </a:solidFill>
              </a:rPr>
              <a:t>Presentation Content:</a:t>
            </a:r>
            <a:endParaRPr lang="en-US" sz="1000" dirty="0"/>
          </a:p>
          <a:p>
            <a:pPr algn="ctr" indent="0" marL="0">
              <a:buNone/>
            </a:pPr>
            <a:endParaRPr lang="en-US" sz="1000" dirty="0"/>
          </a:p>
          <a:p>
            <a:pPr algn="ctr" indent="0" marL="0">
              <a:buNone/>
            </a:pPr>
            <a:r>
              <a:rPr lang="en-US" sz="1000" b="1" dirty="0">
                <a:solidFill>
                  <a:srgbClr val="07111F"/>
                </a:solidFill>
              </a:rPr>
              <a:t>- Frontend verification covers route protection, project visibility, lifecycle actions, state projection, infrastructure, monitoring, billing, and administration.</a:t>
            </a:r>
            <a:endParaRPr lang="en-US" sz="1000" dirty="0"/>
          </a:p>
          <a:p>
            <a:pPr algn="ctr" indent="0" marL="0">
              <a:buNone/>
            </a:pPr>
            <a:endParaRPr lang="en-US" sz="1000" dirty="0"/>
          </a:p>
          <a:p>
            <a:pPr algn="ctr" indent="0" marL="0">
              <a:buNone/>
            </a:pPr>
            <a:r>
              <a:rPr lang="en-US" sz="1000" b="1" dirty="0">
                <a:solidFill>
                  <a:srgbClr val="07111F"/>
                </a:solidFill>
              </a:rPr>
              <a:t>- An isolated full-stack run exercised browser mutations and cross-page surfaces against a real local API and database.</a:t>
            </a:r>
            <a:endParaRPr lang="en-US" sz="1000" dirty="0"/>
          </a:p>
          <a:p>
            <a:pPr algn="ctr" indent="0" marL="0">
              <a:buNone/>
            </a:pPr>
            <a:endParaRPr lang="en-US" sz="1000" dirty="0"/>
          </a:p>
          <a:p>
            <a:pPr algn="ctr" indent="0" marL="0">
              <a:buNone/>
            </a:pPr>
            <a:r>
              <a:rPr lang="en-US" sz="1000" b="1" dirty="0">
                <a:solidFill>
                  <a:srgbClr val="07111F"/>
                </a:solidFill>
              </a:rPr>
              <a:t>- That run reached a READY current-state result and verified that data remained consistent across core screens.</a:t>
            </a:r>
            <a:endParaRPr lang="en-US" sz="1000" dirty="0"/>
          </a:p>
          <a:p>
            <a:pPr algn="ctr" indent="0" marL="0">
              <a:buNone/>
            </a:pPr>
            <a:endParaRPr lang="en-US" sz="1000" dirty="0"/>
          </a:p>
          <a:p>
            <a:pPr algn="ctr" indent="0" marL="0">
              <a:buNone/>
            </a:pPr>
            <a:r>
              <a:rPr lang="en-US" sz="1000" b="1" dirty="0">
                <a:solidFill>
                  <a:srgbClr val="07111F"/>
                </a:solidFill>
              </a:rPr>
              <a:t>- The isolated GitHub repository-selection step remained an expected blocker because the test user had no GitHub App installation; it was not misreported as a product pass.</a:t>
            </a:r>
            <a:endParaRPr lang="en-US" sz="1000" dirty="0"/>
          </a:p>
          <a:p>
            <a:pPr algn="ctr" indent="0" marL="0">
              <a:buNone/>
            </a:pPr>
            <a:endParaRPr lang="en-US" sz="1000" dirty="0"/>
          </a:p>
          <a:p>
            <a:pPr algn="ctr" indent="0" marL="0">
              <a:buNone/>
            </a:pPr>
            <a:r>
              <a:rPr lang="en-US" sz="1000" b="1" dirty="0">
                <a:solidFill>
                  <a:srgbClr val="07111F"/>
                </a:solidFill>
              </a:rPr>
              <a:t>- The final demo should show actual page transitions and stored evidence rather than only static mockups.</a:t>
            </a:r>
            <a:endParaRPr lang="en-US" sz="1000" dirty="0"/>
          </a:p>
          <a:p>
            <a:pPr algn="ctr" indent="0" marL="0">
              <a:buNone/>
            </a:pPr>
            <a:endParaRPr lang="en-US" sz="1000" dirty="0"/>
          </a:p>
          <a:p>
            <a:pPr algn="ctr" indent="0" marL="0">
              <a:buNone/>
            </a:pPr>
            <a:r>
              <a:rPr lang="en-US" sz="1000" b="1" dirty="0">
                <a:solidFill>
                  <a:srgbClr val="07111F"/>
                </a:solidFill>
              </a:rPr>
              <a:t>- A prepared screenshot fallback protects the defense from network or cloud-session instability.</a:t>
            </a:r>
            <a:endParaRPr lang="en-US" sz="1000" dirty="0"/>
          </a:p>
          <a:p>
            <a:pPr algn="ctr" indent="0" marL="0">
              <a:buNone/>
            </a:pPr>
            <a:endParaRPr lang="en-US" sz="1000" dirty="0"/>
          </a:p>
          <a:p>
            <a:pPr algn="ctr" indent="0" marL="0">
              <a:buNone/>
            </a:pPr>
            <a:r>
              <a:rPr lang="en-US" sz="1000" b="1" dirty="0">
                <a:solidFill>
                  <a:srgbClr val="07111F"/>
                </a:solidFill>
              </a:rPr>
              <a:t>Visual Recommendation: Test-evidence collage with green checks for authenticated surfaces and one amber, clearly labeled external-integration prerequisite.</a:t>
            </a:r>
            <a:endParaRPr lang="en-US" sz="1000" dirty="0"/>
          </a:p>
          <a:p>
            <a:pPr algn="ctr" indent="0" marL="0">
              <a:buNone/>
            </a:pPr>
            <a:endParaRPr lang="en-US" sz="1000" dirty="0"/>
          </a:p>
          <a:p>
            <a:pPr algn="ctr" indent="0" marL="0">
              <a:buNone/>
            </a:pPr>
            <a:r>
              <a:rPr lang="en-US" sz="1000" b="1" dirty="0">
                <a:solidFill>
                  <a:srgbClr val="07111F"/>
                </a:solidFill>
              </a:rPr>
              <a:t>Defense Notes: Emphasize honest status semantics: PASS means executed proof, EXPECTED BLOCKER means a known missing external prerequisite, and UNVERIFIED means no sufficient executable evidence.</a:t>
            </a:r>
            <a:endParaRPr lang="en-US" sz="1000" dirty="0"/>
          </a:p>
          <a:p>
            <a:pPr algn="ctr" indent="0" marL="0">
              <a:buNone/>
            </a:pPr>
            <a:endParaRPr lang="en-US" sz="1000" dirty="0"/>
          </a:p>
          <a:p>
            <a:pPr algn="ctr" indent="0" marL="0">
              <a:buNone/>
            </a:pPr>
            <a:r>
              <a:rPr lang="en-US" sz="1000" b="1" dirty="0">
                <a:solidFill>
                  <a:srgbClr val="07111F"/>
                </a:solidFill>
              </a:rPr>
              <a:t># SECTION 4 — FARIA FATIMA: BACKEND, DATA, CONTAINERIZATION, AND PRODUCT INTEGRATION</a:t>
            </a:r>
            <a:endParaRPr lang="en-US" sz="1000" dirty="0"/>
          </a:p>
        </p:txBody>
      </p:sp>
      <p:sp>
        <p:nvSpPr>
          <p:cNvPr id="5" name="Shape 3"/>
          <p:cNvSpPr/>
          <p:nvPr/>
        </p:nvSpPr>
        <p:spPr>
          <a:xfrm>
            <a:off x="502920" y="932688"/>
            <a:ext cx="11109960" cy="0"/>
          </a:xfrm>
          <a:prstGeom prst="line">
            <a:avLst/>
          </a:prstGeom>
          <a:noFill/>
          <a:ln w="17780">
            <a:solidFill>
              <a:srgbClr val="B276FF">
                <a:alpha val="75000"/>
              </a:srgbClr>
            </a:solidFill>
            <a:prstDash val="solid"/>
          </a:ln>
        </p:spPr>
      </p:sp>
      <p:sp>
        <p:nvSpPr>
          <p:cNvPr id="6" name="Text 4"/>
          <p:cNvSpPr/>
          <p:nvPr/>
        </p:nvSpPr>
        <p:spPr>
          <a:xfrm>
            <a:off x="502920" y="996696"/>
            <a:ext cx="5212080" cy="164592"/>
          </a:xfrm>
          <a:prstGeom prst="rect">
            <a:avLst/>
          </a:prstGeom>
          <a:noFill/>
          <a:ln/>
        </p:spPr>
        <p:txBody>
          <a:bodyPr wrap="square" lIns="0" tIns="0" rIns="0" bIns="0" rtlCol="0" anchor="ctr"/>
          <a:lstStyle/>
          <a:p>
            <a:pPr indent="0" marL="0">
              <a:buNone/>
            </a:pPr>
            <a:r>
              <a:rPr lang="en-US" sz="850" b="1" spc="110" kern="0" dirty="0">
                <a:solidFill>
                  <a:srgbClr val="B276FF"/>
                </a:solidFill>
              </a:rPr>
              <a:t>TANIA — FRONTEND &amp; AI</a:t>
            </a:r>
            <a:endParaRPr lang="en-US" sz="850" dirty="0"/>
          </a:p>
        </p:txBody>
      </p:sp>
      <p:sp>
        <p:nvSpPr>
          <p:cNvPr id="7" name="Text 5"/>
          <p:cNvSpPr/>
          <p:nvPr/>
        </p:nvSpPr>
        <p:spPr>
          <a:xfrm>
            <a:off x="594360" y="1325880"/>
            <a:ext cx="5349240" cy="4937760"/>
          </a:xfrm>
          <a:prstGeom prst="rect">
            <a:avLst/>
          </a:prstGeom>
          <a:noFill/>
          <a:ln/>
        </p:spPr>
        <p:txBody>
          <a:bodyPr wrap="square" lIns="254" tIns="254" rIns="254" bIns="254" rtlCol="0" anchor="ctr">
            <a:normAutofit/>
          </a:bodyPr>
          <a:lstStyle/>
          <a:p>
            <a:pPr marL="190500" indent="-190500">
              <a:buSzPct val="100000"/>
              <a:buChar char="•"/>
            </a:pPr>
            <a:r>
              <a:rPr lang="en-US" sz="1580" dirty="0">
                <a:solidFill>
                  <a:srgbClr val="D9E5EF"/>
                </a:solidFill>
                <a:latin typeface="Aptos" pitchFamily="34" charset="0"/>
                <a:ea typeface="Aptos" pitchFamily="34" charset="-122"/>
                <a:cs typeface="Aptos" pitchFamily="34" charset="-120"/>
              </a:rPr>
              <a:t>Frontend verification covers route protection, project visibility, lifecycle actions, state projection, infrastructure, monitoring, billing, and administration.</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An isolated full-stack run exercised browser mutations and cross-page surfaces against a real local API and database.</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That run reached a READY current-state result and verified that data remained consistent across core screens.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The isolated GitHub repository-selection step remained an expected blocker because the test user had no GitHub App installation; it was not misreported as a product pass.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The final demo should show actual page transitions and stored evidence rather than only static mockups.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A prepared screenshot fallback protects the defense from network or cloud-session instability.</a:t>
            </a:r>
            <a:endParaRPr lang="en-US" sz="1580" dirty="0"/>
          </a:p>
        </p:txBody>
      </p:sp>
      <p:sp>
        <p:nvSpPr>
          <p:cNvPr id="8" name="Shape 6"/>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9" name="Shape 7"/>
          <p:cNvSpPr/>
          <p:nvPr/>
        </p:nvSpPr>
        <p:spPr>
          <a:xfrm>
            <a:off x="6492240" y="1371600"/>
            <a:ext cx="4709160" cy="676656"/>
          </a:xfrm>
          <a:prstGeom prst="roundRect">
            <a:avLst>
              <a:gd name="adj" fmla="val 8108"/>
            </a:avLst>
          </a:prstGeom>
          <a:solidFill>
            <a:srgbClr val="0F1D2D"/>
          </a:solidFill>
          <a:ln w="12700">
            <a:solidFill>
              <a:srgbClr val="29445C"/>
            </a:solidFill>
            <a:prstDash val="solid"/>
          </a:ln>
        </p:spPr>
      </p:sp>
      <p:sp>
        <p:nvSpPr>
          <p:cNvPr id="10" name="Shape 8"/>
          <p:cNvSpPr/>
          <p:nvPr/>
        </p:nvSpPr>
        <p:spPr>
          <a:xfrm>
            <a:off x="6492240" y="1371600"/>
            <a:ext cx="54864" cy="676656"/>
          </a:xfrm>
          <a:prstGeom prst="rect">
            <a:avLst/>
          </a:prstGeom>
          <a:solidFill>
            <a:srgbClr val="54D6A3"/>
          </a:solidFill>
          <a:ln w="12700">
            <a:solidFill>
              <a:srgbClr val="54D6A3"/>
            </a:solidFill>
            <a:prstDash val="solid"/>
          </a:ln>
        </p:spPr>
      </p:sp>
      <p:sp>
        <p:nvSpPr>
          <p:cNvPr id="11" name="Text 9"/>
          <p:cNvSpPr/>
          <p:nvPr/>
        </p:nvSpPr>
        <p:spPr>
          <a:xfrm>
            <a:off x="6693408" y="1527048"/>
            <a:ext cx="4398264" cy="256032"/>
          </a:xfrm>
          <a:prstGeom prst="rect">
            <a:avLst/>
          </a:prstGeom>
          <a:noFill/>
          <a:ln/>
        </p:spPr>
        <p:txBody>
          <a:bodyPr wrap="square" lIns="0" tIns="0" rIns="0" bIns="0" rtlCol="0" anchor="ctr">
            <a:normAutofit/>
          </a:bodyPr>
          <a:lstStyle/>
          <a:p>
            <a:pPr indent="0" marL="0">
              <a:buNone/>
            </a:pPr>
            <a:r>
              <a:rPr lang="en-US" sz="1170" b="1" dirty="0">
                <a:solidFill>
                  <a:srgbClr val="F7FAFC"/>
                </a:solidFill>
              </a:rPr>
              <a:t>Route protection</a:t>
            </a:r>
            <a:endParaRPr lang="en-US" sz="1170" dirty="0"/>
          </a:p>
        </p:txBody>
      </p:sp>
      <p:sp>
        <p:nvSpPr>
          <p:cNvPr id="12" name="Text 10"/>
          <p:cNvSpPr/>
          <p:nvPr/>
        </p:nvSpPr>
        <p:spPr>
          <a:xfrm>
            <a:off x="6693408" y="1883664"/>
            <a:ext cx="4398264" cy="18288"/>
          </a:xfrm>
          <a:prstGeom prst="rect">
            <a:avLst/>
          </a:prstGeom>
          <a:noFill/>
          <a:ln/>
        </p:spPr>
        <p:txBody>
          <a:bodyPr wrap="square" lIns="0" tIns="0" rIns="0" bIns="0" rtlCol="0" anchor="ctr">
            <a:normAutofit/>
          </a:bodyPr>
          <a:lstStyle/>
          <a:p>
            <a:pPr indent="0" marL="0">
              <a:buNone/>
            </a:pPr>
            <a:r>
              <a:rPr lang="en-US" sz="1000" dirty="0">
                <a:solidFill>
                  <a:srgbClr val="8FA6B9"/>
                </a:solidFill>
              </a:rPr>
              <a:t>PASS</a:t>
            </a:r>
            <a:endParaRPr lang="en-US" sz="1000" dirty="0"/>
          </a:p>
        </p:txBody>
      </p:sp>
      <p:sp>
        <p:nvSpPr>
          <p:cNvPr id="13" name="Shape 11"/>
          <p:cNvSpPr/>
          <p:nvPr/>
        </p:nvSpPr>
        <p:spPr>
          <a:xfrm>
            <a:off x="6492240" y="2240280"/>
            <a:ext cx="4709160" cy="676656"/>
          </a:xfrm>
          <a:prstGeom prst="roundRect">
            <a:avLst>
              <a:gd name="adj" fmla="val 8108"/>
            </a:avLst>
          </a:prstGeom>
          <a:solidFill>
            <a:srgbClr val="0F1D2D"/>
          </a:solidFill>
          <a:ln w="12700">
            <a:solidFill>
              <a:srgbClr val="29445C"/>
            </a:solidFill>
            <a:prstDash val="solid"/>
          </a:ln>
        </p:spPr>
      </p:sp>
      <p:sp>
        <p:nvSpPr>
          <p:cNvPr id="14" name="Shape 12"/>
          <p:cNvSpPr/>
          <p:nvPr/>
        </p:nvSpPr>
        <p:spPr>
          <a:xfrm>
            <a:off x="6492240" y="2240280"/>
            <a:ext cx="54864" cy="676656"/>
          </a:xfrm>
          <a:prstGeom prst="rect">
            <a:avLst/>
          </a:prstGeom>
          <a:solidFill>
            <a:srgbClr val="54D6A3"/>
          </a:solidFill>
          <a:ln w="12700">
            <a:solidFill>
              <a:srgbClr val="54D6A3"/>
            </a:solidFill>
            <a:prstDash val="solid"/>
          </a:ln>
        </p:spPr>
      </p:sp>
      <p:sp>
        <p:nvSpPr>
          <p:cNvPr id="15" name="Text 13"/>
          <p:cNvSpPr/>
          <p:nvPr/>
        </p:nvSpPr>
        <p:spPr>
          <a:xfrm>
            <a:off x="6693408" y="2395728"/>
            <a:ext cx="4398264" cy="256032"/>
          </a:xfrm>
          <a:prstGeom prst="rect">
            <a:avLst/>
          </a:prstGeom>
          <a:noFill/>
          <a:ln/>
        </p:spPr>
        <p:txBody>
          <a:bodyPr wrap="square" lIns="0" tIns="0" rIns="0" bIns="0" rtlCol="0" anchor="ctr">
            <a:normAutofit/>
          </a:bodyPr>
          <a:lstStyle/>
          <a:p>
            <a:pPr indent="0" marL="0">
              <a:buNone/>
            </a:pPr>
            <a:r>
              <a:rPr lang="en-US" sz="1170" b="1" dirty="0">
                <a:solidFill>
                  <a:srgbClr val="F7FAFC"/>
                </a:solidFill>
              </a:rPr>
              <a:t>Cross-page state</a:t>
            </a:r>
            <a:endParaRPr lang="en-US" sz="1170" dirty="0"/>
          </a:p>
        </p:txBody>
      </p:sp>
      <p:sp>
        <p:nvSpPr>
          <p:cNvPr id="16" name="Text 14"/>
          <p:cNvSpPr/>
          <p:nvPr/>
        </p:nvSpPr>
        <p:spPr>
          <a:xfrm>
            <a:off x="6693408" y="2752344"/>
            <a:ext cx="4398264" cy="18288"/>
          </a:xfrm>
          <a:prstGeom prst="rect">
            <a:avLst/>
          </a:prstGeom>
          <a:noFill/>
          <a:ln/>
        </p:spPr>
        <p:txBody>
          <a:bodyPr wrap="square" lIns="0" tIns="0" rIns="0" bIns="0" rtlCol="0" anchor="ctr">
            <a:normAutofit/>
          </a:bodyPr>
          <a:lstStyle/>
          <a:p>
            <a:pPr indent="0" marL="0">
              <a:buNone/>
            </a:pPr>
            <a:r>
              <a:rPr lang="en-US" sz="1000" dirty="0">
                <a:solidFill>
                  <a:srgbClr val="8FA6B9"/>
                </a:solidFill>
              </a:rPr>
              <a:t>PASS</a:t>
            </a:r>
            <a:endParaRPr lang="en-US" sz="1000" dirty="0"/>
          </a:p>
        </p:txBody>
      </p:sp>
      <p:sp>
        <p:nvSpPr>
          <p:cNvPr id="17" name="Shape 15"/>
          <p:cNvSpPr/>
          <p:nvPr/>
        </p:nvSpPr>
        <p:spPr>
          <a:xfrm>
            <a:off x="6492240" y="3108960"/>
            <a:ext cx="4709160" cy="676656"/>
          </a:xfrm>
          <a:prstGeom prst="roundRect">
            <a:avLst>
              <a:gd name="adj" fmla="val 8108"/>
            </a:avLst>
          </a:prstGeom>
          <a:solidFill>
            <a:srgbClr val="0F1D2D"/>
          </a:solidFill>
          <a:ln w="12700">
            <a:solidFill>
              <a:srgbClr val="29445C"/>
            </a:solidFill>
            <a:prstDash val="solid"/>
          </a:ln>
        </p:spPr>
      </p:sp>
      <p:sp>
        <p:nvSpPr>
          <p:cNvPr id="18" name="Shape 16"/>
          <p:cNvSpPr/>
          <p:nvPr/>
        </p:nvSpPr>
        <p:spPr>
          <a:xfrm>
            <a:off x="6492240" y="3108960"/>
            <a:ext cx="54864" cy="676656"/>
          </a:xfrm>
          <a:prstGeom prst="rect">
            <a:avLst/>
          </a:prstGeom>
          <a:solidFill>
            <a:srgbClr val="54D6A3"/>
          </a:solidFill>
          <a:ln w="12700">
            <a:solidFill>
              <a:srgbClr val="54D6A3"/>
            </a:solidFill>
            <a:prstDash val="solid"/>
          </a:ln>
        </p:spPr>
      </p:sp>
      <p:sp>
        <p:nvSpPr>
          <p:cNvPr id="19" name="Text 17"/>
          <p:cNvSpPr/>
          <p:nvPr/>
        </p:nvSpPr>
        <p:spPr>
          <a:xfrm>
            <a:off x="6693408" y="3264408"/>
            <a:ext cx="4398264" cy="256032"/>
          </a:xfrm>
          <a:prstGeom prst="rect">
            <a:avLst/>
          </a:prstGeom>
          <a:noFill/>
          <a:ln/>
        </p:spPr>
        <p:txBody>
          <a:bodyPr wrap="square" lIns="0" tIns="0" rIns="0" bIns="0" rtlCol="0" anchor="ctr">
            <a:normAutofit/>
          </a:bodyPr>
          <a:lstStyle/>
          <a:p>
            <a:pPr indent="0" marL="0">
              <a:buNone/>
            </a:pPr>
            <a:r>
              <a:rPr lang="en-US" sz="1170" b="1" dirty="0">
                <a:solidFill>
                  <a:srgbClr val="F7FAFC"/>
                </a:solidFill>
              </a:rPr>
              <a:t>Monitoring surfaces</a:t>
            </a:r>
            <a:endParaRPr lang="en-US" sz="1170" dirty="0"/>
          </a:p>
        </p:txBody>
      </p:sp>
      <p:sp>
        <p:nvSpPr>
          <p:cNvPr id="20" name="Text 18"/>
          <p:cNvSpPr/>
          <p:nvPr/>
        </p:nvSpPr>
        <p:spPr>
          <a:xfrm>
            <a:off x="6693408" y="3621024"/>
            <a:ext cx="4398264" cy="18288"/>
          </a:xfrm>
          <a:prstGeom prst="rect">
            <a:avLst/>
          </a:prstGeom>
          <a:noFill/>
          <a:ln/>
        </p:spPr>
        <p:txBody>
          <a:bodyPr wrap="square" lIns="0" tIns="0" rIns="0" bIns="0" rtlCol="0" anchor="ctr">
            <a:normAutofit/>
          </a:bodyPr>
          <a:lstStyle/>
          <a:p>
            <a:pPr indent="0" marL="0">
              <a:buNone/>
            </a:pPr>
            <a:r>
              <a:rPr lang="en-US" sz="1000" dirty="0">
                <a:solidFill>
                  <a:srgbClr val="8FA6B9"/>
                </a:solidFill>
              </a:rPr>
              <a:t>PASS</a:t>
            </a:r>
            <a:endParaRPr lang="en-US" sz="1000" dirty="0"/>
          </a:p>
        </p:txBody>
      </p:sp>
      <p:sp>
        <p:nvSpPr>
          <p:cNvPr id="21" name="Shape 19"/>
          <p:cNvSpPr/>
          <p:nvPr/>
        </p:nvSpPr>
        <p:spPr>
          <a:xfrm>
            <a:off x="6492240" y="3977640"/>
            <a:ext cx="4709160" cy="676656"/>
          </a:xfrm>
          <a:prstGeom prst="roundRect">
            <a:avLst>
              <a:gd name="adj" fmla="val 8108"/>
            </a:avLst>
          </a:prstGeom>
          <a:solidFill>
            <a:srgbClr val="0F1D2D"/>
          </a:solidFill>
          <a:ln w="12700">
            <a:solidFill>
              <a:srgbClr val="29445C"/>
            </a:solidFill>
            <a:prstDash val="solid"/>
          </a:ln>
        </p:spPr>
      </p:sp>
      <p:sp>
        <p:nvSpPr>
          <p:cNvPr id="22" name="Shape 20"/>
          <p:cNvSpPr/>
          <p:nvPr/>
        </p:nvSpPr>
        <p:spPr>
          <a:xfrm>
            <a:off x="6492240" y="3977640"/>
            <a:ext cx="54864" cy="676656"/>
          </a:xfrm>
          <a:prstGeom prst="rect">
            <a:avLst/>
          </a:prstGeom>
          <a:solidFill>
            <a:srgbClr val="F5B041"/>
          </a:solidFill>
          <a:ln w="12700">
            <a:solidFill>
              <a:srgbClr val="F5B041"/>
            </a:solidFill>
            <a:prstDash val="solid"/>
          </a:ln>
        </p:spPr>
      </p:sp>
      <p:sp>
        <p:nvSpPr>
          <p:cNvPr id="23" name="Text 21"/>
          <p:cNvSpPr/>
          <p:nvPr/>
        </p:nvSpPr>
        <p:spPr>
          <a:xfrm>
            <a:off x="6693408" y="4133088"/>
            <a:ext cx="4398264" cy="256032"/>
          </a:xfrm>
          <a:prstGeom prst="rect">
            <a:avLst/>
          </a:prstGeom>
          <a:noFill/>
          <a:ln/>
        </p:spPr>
        <p:txBody>
          <a:bodyPr wrap="square" lIns="0" tIns="0" rIns="0" bIns="0" rtlCol="0" anchor="ctr">
            <a:normAutofit/>
          </a:bodyPr>
          <a:lstStyle/>
          <a:p>
            <a:pPr indent="0" marL="0">
              <a:buNone/>
            </a:pPr>
            <a:r>
              <a:rPr lang="en-US" sz="1170" b="1" dirty="0">
                <a:solidFill>
                  <a:srgbClr val="F7FAFC"/>
                </a:solidFill>
              </a:rPr>
              <a:t>GitHub installation</a:t>
            </a:r>
            <a:endParaRPr lang="en-US" sz="1170" dirty="0"/>
          </a:p>
        </p:txBody>
      </p:sp>
      <p:sp>
        <p:nvSpPr>
          <p:cNvPr id="24" name="Text 22"/>
          <p:cNvSpPr/>
          <p:nvPr/>
        </p:nvSpPr>
        <p:spPr>
          <a:xfrm>
            <a:off x="6693408" y="4489704"/>
            <a:ext cx="4398264" cy="18288"/>
          </a:xfrm>
          <a:prstGeom prst="rect">
            <a:avLst/>
          </a:prstGeom>
          <a:noFill/>
          <a:ln/>
        </p:spPr>
        <p:txBody>
          <a:bodyPr wrap="square" lIns="0" tIns="0" rIns="0" bIns="0" rtlCol="0" anchor="ctr">
            <a:normAutofit/>
          </a:bodyPr>
          <a:lstStyle/>
          <a:p>
            <a:pPr indent="0" marL="0">
              <a:buNone/>
            </a:pPr>
            <a:r>
              <a:rPr lang="en-US" sz="1000" dirty="0">
                <a:solidFill>
                  <a:srgbClr val="8FA6B9"/>
                </a:solidFill>
              </a:rPr>
              <a:t>EXPECTED BLOCKER</a:t>
            </a:r>
            <a:endParaRPr lang="en-US" sz="1000" dirty="0"/>
          </a:p>
        </p:txBody>
      </p:sp>
      <p:sp>
        <p:nvSpPr>
          <p:cNvPr id="25" name="Shape 23"/>
          <p:cNvSpPr/>
          <p:nvPr/>
        </p:nvSpPr>
        <p:spPr>
          <a:xfrm>
            <a:off x="6492240" y="4846320"/>
            <a:ext cx="4709160" cy="676656"/>
          </a:xfrm>
          <a:prstGeom prst="roundRect">
            <a:avLst>
              <a:gd name="adj" fmla="val 8108"/>
            </a:avLst>
          </a:prstGeom>
          <a:solidFill>
            <a:srgbClr val="0F1D2D"/>
          </a:solidFill>
          <a:ln w="12700">
            <a:solidFill>
              <a:srgbClr val="29445C"/>
            </a:solidFill>
            <a:prstDash val="solid"/>
          </a:ln>
        </p:spPr>
      </p:sp>
      <p:sp>
        <p:nvSpPr>
          <p:cNvPr id="26" name="Shape 24"/>
          <p:cNvSpPr/>
          <p:nvPr/>
        </p:nvSpPr>
        <p:spPr>
          <a:xfrm>
            <a:off x="6492240" y="4846320"/>
            <a:ext cx="54864" cy="676656"/>
          </a:xfrm>
          <a:prstGeom prst="rect">
            <a:avLst/>
          </a:prstGeom>
          <a:solidFill>
            <a:srgbClr val="4FA3FF"/>
          </a:solidFill>
          <a:ln w="12700">
            <a:solidFill>
              <a:srgbClr val="4FA3FF"/>
            </a:solidFill>
            <a:prstDash val="solid"/>
          </a:ln>
        </p:spPr>
      </p:sp>
      <p:sp>
        <p:nvSpPr>
          <p:cNvPr id="27" name="Text 25"/>
          <p:cNvSpPr/>
          <p:nvPr/>
        </p:nvSpPr>
        <p:spPr>
          <a:xfrm>
            <a:off x="6693408" y="5001768"/>
            <a:ext cx="4398264" cy="256032"/>
          </a:xfrm>
          <a:prstGeom prst="rect">
            <a:avLst/>
          </a:prstGeom>
          <a:noFill/>
          <a:ln/>
        </p:spPr>
        <p:txBody>
          <a:bodyPr wrap="square" lIns="0" tIns="0" rIns="0" bIns="0" rtlCol="0" anchor="ctr">
            <a:normAutofit/>
          </a:bodyPr>
          <a:lstStyle/>
          <a:p>
            <a:pPr indent="0" marL="0">
              <a:buNone/>
            </a:pPr>
            <a:r>
              <a:rPr lang="en-US" sz="1170" b="1" dirty="0">
                <a:solidFill>
                  <a:srgbClr val="F7FAFC"/>
                </a:solidFill>
              </a:rPr>
              <a:t>Live-cloud cases</a:t>
            </a:r>
            <a:endParaRPr lang="en-US" sz="1170" dirty="0"/>
          </a:p>
        </p:txBody>
      </p:sp>
      <p:sp>
        <p:nvSpPr>
          <p:cNvPr id="28" name="Text 26"/>
          <p:cNvSpPr/>
          <p:nvPr/>
        </p:nvSpPr>
        <p:spPr>
          <a:xfrm>
            <a:off x="6693408" y="5358384"/>
            <a:ext cx="4398264" cy="18288"/>
          </a:xfrm>
          <a:prstGeom prst="rect">
            <a:avLst/>
          </a:prstGeom>
          <a:noFill/>
          <a:ln/>
        </p:spPr>
        <p:txBody>
          <a:bodyPr wrap="square" lIns="0" tIns="0" rIns="0" bIns="0" rtlCol="0" anchor="ctr">
            <a:normAutofit/>
          </a:bodyPr>
          <a:lstStyle/>
          <a:p>
            <a:pPr indent="0" marL="0">
              <a:buNone/>
            </a:pPr>
            <a:r>
              <a:rPr lang="en-US" sz="1000" dirty="0">
                <a:solidFill>
                  <a:srgbClr val="8FA6B9"/>
                </a:solidFill>
              </a:rPr>
              <a:t>VERIFY FRESH</a:t>
            </a:r>
            <a:endParaRPr lang="en-US" sz="1000" dirty="0"/>
          </a:p>
        </p:txBody>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347472"/>
            <a:ext cx="9098280" cy="475488"/>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Backend Control-Plane Architecture</a:t>
            </a:r>
            <a:endParaRPr lang="en-US" sz="2400" dirty="0"/>
          </a:p>
        </p:txBody>
      </p:sp>
      <p:sp>
        <p:nvSpPr>
          <p:cNvPr id="3" name="Shape 1"/>
          <p:cNvSpPr/>
          <p:nvPr/>
        </p:nvSpPr>
        <p:spPr>
          <a:xfrm>
            <a:off x="9829800" y="338328"/>
            <a:ext cx="1783080" cy="329184"/>
          </a:xfrm>
          <a:prstGeom prst="roundRect">
            <a:avLst>
              <a:gd name="adj" fmla="val 22222"/>
            </a:avLst>
          </a:prstGeom>
          <a:solidFill>
            <a:srgbClr val="54D6A3">
              <a:alpha val="92000"/>
            </a:srgbClr>
          </a:solidFill>
          <a:ln w="12700">
            <a:solidFill>
              <a:srgbClr val="54D6A3">
                <a:alpha val="0"/>
              </a:srgbClr>
            </a:solidFill>
            <a:prstDash val="solid"/>
          </a:ln>
        </p:spPr>
      </p:sp>
      <p:sp>
        <p:nvSpPr>
          <p:cNvPr id="4" name="Text 2"/>
          <p:cNvSpPr/>
          <p:nvPr/>
        </p:nvSpPr>
        <p:spPr>
          <a:xfrm>
            <a:off x="9912096" y="416052"/>
            <a:ext cx="1609344" cy="118872"/>
          </a:xfrm>
          <a:prstGeom prst="rect">
            <a:avLst/>
          </a:prstGeom>
          <a:noFill/>
          <a:ln/>
        </p:spPr>
        <p:txBody>
          <a:bodyPr wrap="square" lIns="0" tIns="0" rIns="0" bIns="0" rtlCol="0" anchor="ctr">
            <a:normAutofit/>
          </a:bodyPr>
          <a:lstStyle/>
          <a:p>
            <a:pPr algn="ctr" indent="0" marL="0">
              <a:buNone/>
            </a:pPr>
            <a:r>
              <a:rPr lang="en-US" sz="1000" b="1" dirty="0">
                <a:solidFill>
                  <a:srgbClr val="07111F"/>
                </a:solidFill>
              </a:rPr>
              <a:t>Faria Fatima</a:t>
            </a:r>
            <a:endParaRPr lang="en-US" sz="1000" dirty="0"/>
          </a:p>
          <a:p>
            <a:pPr algn="ctr" indent="0" marL="0">
              <a:buNone/>
            </a:pPr>
            <a:endParaRPr lang="en-US" sz="1000" dirty="0"/>
          </a:p>
          <a:p>
            <a:pPr algn="ctr" indent="0" marL="0">
              <a:buNone/>
            </a:pPr>
            <a:r>
              <a:rPr lang="en-US" sz="1000" b="1" dirty="0">
                <a:solidFill>
                  <a:srgbClr val="07111F"/>
                </a:solidFill>
              </a:rPr>
              <a:t>Purpose: Explain how backend modules coordinate the product.</a:t>
            </a:r>
            <a:endParaRPr lang="en-US" sz="1000" dirty="0"/>
          </a:p>
          <a:p>
            <a:pPr algn="ctr" indent="0" marL="0">
              <a:buNone/>
            </a:pPr>
            <a:endParaRPr lang="en-US" sz="1000" dirty="0"/>
          </a:p>
          <a:p>
            <a:pPr algn="ctr" indent="0" marL="0">
              <a:buNone/>
            </a:pPr>
            <a:r>
              <a:rPr lang="en-US" sz="1000" b="1" dirty="0">
                <a:solidFill>
                  <a:srgbClr val="07111F"/>
                </a:solidFill>
              </a:rPr>
              <a:t>Presentation Content:</a:t>
            </a:r>
            <a:endParaRPr lang="en-US" sz="1000" dirty="0"/>
          </a:p>
          <a:p>
            <a:pPr algn="ctr" indent="0" marL="0">
              <a:buNone/>
            </a:pPr>
            <a:endParaRPr lang="en-US" sz="1000" dirty="0"/>
          </a:p>
          <a:p>
            <a:pPr algn="ctr" indent="0" marL="0">
              <a:buNone/>
            </a:pPr>
            <a:r>
              <a:rPr lang="en-US" sz="1000" b="1" dirty="0">
                <a:solidFill>
                  <a:srgbClr val="07111F"/>
                </a:solidFill>
              </a:rPr>
              <a:t>- NestJS organizes authentication, users, projects, deployment orchestration, observability, AI, administration, audit, export, and billing into explicit modules.</a:t>
            </a:r>
            <a:endParaRPr lang="en-US" sz="1000" dirty="0"/>
          </a:p>
          <a:p>
            <a:pPr algn="ctr" indent="0" marL="0">
              <a:buNone/>
            </a:pPr>
            <a:endParaRPr lang="en-US" sz="1000" dirty="0"/>
          </a:p>
          <a:p>
            <a:pPr algn="ctr" indent="0" marL="0">
              <a:buNone/>
            </a:pPr>
            <a:r>
              <a:rPr lang="en-US" sz="1000" b="1" dirty="0">
                <a:solidFill>
                  <a:srgbClr val="07111F"/>
                </a:solidFill>
              </a:rPr>
              <a:t>- Controllers validate transport requests and delegate lifecycle decisions to services rather than embedding deployment logic in routes.</a:t>
            </a:r>
            <a:endParaRPr lang="en-US" sz="1000" dirty="0"/>
          </a:p>
          <a:p>
            <a:pPr algn="ctr" indent="0" marL="0">
              <a:buNone/>
            </a:pPr>
            <a:endParaRPr lang="en-US" sz="1000" dirty="0"/>
          </a:p>
          <a:p>
            <a:pPr algn="ctr" indent="0" marL="0">
              <a:buNone/>
            </a:pPr>
            <a:r>
              <a:rPr lang="en-US" sz="1000" b="1" dirty="0">
                <a:solidFill>
                  <a:srgbClr val="07111F"/>
                </a:solidFill>
              </a:rPr>
              <a:t>- PostgreSQL stores durable product truth through TypeORM entities and migrations.</a:t>
            </a:r>
            <a:endParaRPr lang="en-US" sz="1000" dirty="0"/>
          </a:p>
          <a:p>
            <a:pPr algn="ctr" indent="0" marL="0">
              <a:buNone/>
            </a:pPr>
            <a:endParaRPr lang="en-US" sz="1000" dirty="0"/>
          </a:p>
          <a:p>
            <a:pPr algn="ctr" indent="0" marL="0">
              <a:buNone/>
            </a:pPr>
            <a:r>
              <a:rPr lang="en-US" sz="1000" b="1" dirty="0">
                <a:solidFill>
                  <a:srgbClr val="07111F"/>
                </a:solidFill>
              </a:rPr>
              <a:t>- Redis-backed BullMQ queues isolate long-running deployment, lifecycle, and emergency-cleanup jobs from request-response handling.</a:t>
            </a:r>
            <a:endParaRPr lang="en-US" sz="1000" dirty="0"/>
          </a:p>
          <a:p>
            <a:pPr algn="ctr" indent="0" marL="0">
              <a:buNone/>
            </a:pPr>
            <a:endParaRPr lang="en-US" sz="1000" dirty="0"/>
          </a:p>
          <a:p>
            <a:pPr algn="ctr" indent="0" marL="0">
              <a:buNone/>
            </a:pPr>
            <a:r>
              <a:rPr lang="en-US" sz="1000" b="1" dirty="0">
                <a:solidFill>
                  <a:srgbClr val="07111F"/>
                </a:solidFill>
              </a:rPr>
              <a:t>- Workers apply retry, backoff, concurrency, and completed-job retention policies while persisting durable results in PostgreSQL.</a:t>
            </a:r>
            <a:endParaRPr lang="en-US" sz="1000" dirty="0"/>
          </a:p>
          <a:p>
            <a:pPr algn="ctr" indent="0" marL="0">
              <a:buNone/>
            </a:pPr>
            <a:endParaRPr lang="en-US" sz="1000" dirty="0"/>
          </a:p>
          <a:p>
            <a:pPr algn="ctr" indent="0" marL="0">
              <a:buNone/>
            </a:pPr>
            <a:r>
              <a:rPr lang="en-US" sz="1000" b="1" dirty="0">
                <a:solidFill>
                  <a:srgbClr val="07111F"/>
                </a:solidFill>
              </a:rPr>
              <a:t>- Global validation rejects unknown fields, and centralized HTTP protections apply consistently across modules.</a:t>
            </a:r>
            <a:endParaRPr lang="en-US" sz="1000" dirty="0"/>
          </a:p>
          <a:p>
            <a:pPr algn="ctr" indent="0" marL="0">
              <a:buNone/>
            </a:pPr>
            <a:endParaRPr lang="en-US" sz="1000" dirty="0"/>
          </a:p>
          <a:p>
            <a:pPr algn="ctr" indent="0" marL="0">
              <a:buNone/>
            </a:pPr>
            <a:r>
              <a:rPr lang="en-US" sz="1000" b="1" dirty="0">
                <a:solidFill>
                  <a:srgbClr val="07111F"/>
                </a:solidFill>
              </a:rPr>
              <a:t>Visual Recommendation: Backend component diagram: Controllers → Domain Services → PostgreSQL, with Queues/Workers beside the synchronous path and adapters to external providers.</a:t>
            </a:r>
            <a:endParaRPr lang="en-US" sz="1000" dirty="0"/>
          </a:p>
          <a:p>
            <a:pPr algn="ctr" indent="0" marL="0">
              <a:buNone/>
            </a:pPr>
            <a:endParaRPr lang="en-US" sz="1000" dirty="0"/>
          </a:p>
          <a:p>
            <a:pPr algn="ctr" indent="0" marL="0">
              <a:buNone/>
            </a:pPr>
            <a:r>
              <a:rPr lang="en-US" sz="1000" b="1" dirty="0">
                <a:solidFill>
                  <a:srgbClr val="07111F"/>
                </a:solidFill>
              </a:rPr>
              <a:t>Defense Notes: Redis queue state is operational coordination, not the only record of a deployment. The durable generation, events, evidence, and terminal result are stored in PostgreSQL.</a:t>
            </a:r>
            <a:endParaRPr lang="en-US" sz="1000" dirty="0"/>
          </a:p>
        </p:txBody>
      </p:sp>
      <p:sp>
        <p:nvSpPr>
          <p:cNvPr id="5" name="Shape 3"/>
          <p:cNvSpPr/>
          <p:nvPr/>
        </p:nvSpPr>
        <p:spPr>
          <a:xfrm>
            <a:off x="502920" y="932688"/>
            <a:ext cx="11109960" cy="0"/>
          </a:xfrm>
          <a:prstGeom prst="line">
            <a:avLst/>
          </a:prstGeom>
          <a:noFill/>
          <a:ln w="17780">
            <a:solidFill>
              <a:srgbClr val="54D6A3">
                <a:alpha val="75000"/>
              </a:srgbClr>
            </a:solidFill>
            <a:prstDash val="solid"/>
          </a:ln>
        </p:spPr>
      </p:sp>
      <p:sp>
        <p:nvSpPr>
          <p:cNvPr id="6" name="Text 4"/>
          <p:cNvSpPr/>
          <p:nvPr/>
        </p:nvSpPr>
        <p:spPr>
          <a:xfrm>
            <a:off x="502920" y="996696"/>
            <a:ext cx="5212080" cy="164592"/>
          </a:xfrm>
          <a:prstGeom prst="rect">
            <a:avLst/>
          </a:prstGeom>
          <a:noFill/>
          <a:ln/>
        </p:spPr>
        <p:txBody>
          <a:bodyPr wrap="square" lIns="0" tIns="0" rIns="0" bIns="0" rtlCol="0" anchor="ctr"/>
          <a:lstStyle/>
          <a:p>
            <a:pPr indent="0" marL="0">
              <a:buNone/>
            </a:pPr>
            <a:r>
              <a:rPr lang="en-US" sz="850" b="1" spc="110" kern="0" dirty="0">
                <a:solidFill>
                  <a:srgbClr val="54D6A3"/>
                </a:solidFill>
              </a:rPr>
              <a:t>FARIA — BACKEND &amp; INTEGRATION</a:t>
            </a:r>
            <a:endParaRPr lang="en-US" sz="850" dirty="0"/>
          </a:p>
        </p:txBody>
      </p:sp>
      <p:sp>
        <p:nvSpPr>
          <p:cNvPr id="7" name="Text 5"/>
          <p:cNvSpPr/>
          <p:nvPr/>
        </p:nvSpPr>
        <p:spPr>
          <a:xfrm>
            <a:off x="594360" y="1325880"/>
            <a:ext cx="5349240" cy="4937760"/>
          </a:xfrm>
          <a:prstGeom prst="rect">
            <a:avLst/>
          </a:prstGeom>
          <a:noFill/>
          <a:ln/>
        </p:spPr>
        <p:txBody>
          <a:bodyPr wrap="square" lIns="254" tIns="254" rIns="254" bIns="254" rtlCol="0" anchor="ctr">
            <a:normAutofit/>
          </a:bodyPr>
          <a:lstStyle/>
          <a:p>
            <a:pPr marL="190500" indent="-190500">
              <a:buSzPct val="100000"/>
              <a:buChar char="•"/>
            </a:pPr>
            <a:r>
              <a:rPr lang="en-US" sz="1580" dirty="0">
                <a:solidFill>
                  <a:srgbClr val="D9E5EF"/>
                </a:solidFill>
                <a:latin typeface="Aptos" pitchFamily="34" charset="0"/>
                <a:ea typeface="Aptos" pitchFamily="34" charset="-122"/>
                <a:cs typeface="Aptos" pitchFamily="34" charset="-120"/>
              </a:rPr>
              <a:t>NestJS organizes authentication, users, projects, deployment orchestration, observability, AI, administration, audit, export, and billing into explicit modules.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Controllers validate transport requests and delegate lifecycle decisions to services rather than embedding deployment logic in routes.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PostgreSQL stores durable product truth through TypeORM entities and migrations.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Background workers isolate long-running deployment, lifecycle, and cleanup jobs from request-response handling.</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Background operations apply retry and bounded execution policies while persisting durable results in PostgreSQL.</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Global validation rejects unknown fields, and centralized HTTP protections apply consistently across modules.</a:t>
            </a:r>
            <a:endParaRPr lang="en-US" sz="1580" dirty="0"/>
          </a:p>
        </p:txBody>
      </p:sp>
      <p:sp>
        <p:nvSpPr>
          <p:cNvPr id="8" name="Shape 6"/>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9" name="Shape 7"/>
          <p:cNvSpPr/>
          <p:nvPr/>
        </p:nvSpPr>
        <p:spPr>
          <a:xfrm>
            <a:off x="6446520" y="2011680"/>
            <a:ext cx="1463040" cy="822960"/>
          </a:xfrm>
          <a:prstGeom prst="roundRect">
            <a:avLst>
              <a:gd name="adj" fmla="val 5556"/>
            </a:avLst>
          </a:prstGeom>
          <a:solidFill>
            <a:srgbClr val="12263A"/>
          </a:solidFill>
          <a:ln w="17780">
            <a:solidFill>
              <a:srgbClr val="B276FF"/>
            </a:solidFill>
            <a:prstDash val="solid"/>
          </a:ln>
        </p:spPr>
      </p:sp>
      <p:sp>
        <p:nvSpPr>
          <p:cNvPr id="10" name="Text 8"/>
          <p:cNvSpPr/>
          <p:nvPr/>
        </p:nvSpPr>
        <p:spPr>
          <a:xfrm>
            <a:off x="6537960" y="2139696"/>
            <a:ext cx="128016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Controllers</a:t>
            </a:r>
            <a:endParaRPr lang="en-US" sz="1200" dirty="0"/>
          </a:p>
        </p:txBody>
      </p:sp>
      <p:sp>
        <p:nvSpPr>
          <p:cNvPr id="11" name="Text 9"/>
          <p:cNvSpPr/>
          <p:nvPr/>
        </p:nvSpPr>
        <p:spPr>
          <a:xfrm>
            <a:off x="6537960" y="2459736"/>
            <a:ext cx="1280160" cy="292608"/>
          </a:xfrm>
          <a:prstGeom prst="rect">
            <a:avLst/>
          </a:prstGeom>
          <a:noFill/>
          <a:ln/>
        </p:spPr>
        <p:txBody>
          <a:bodyPr wrap="square" lIns="0" tIns="0" rIns="0" bIns="0" rtlCol="0" anchor="ctr">
            <a:normAutofit/>
          </a:bodyPr>
          <a:lstStyle/>
          <a:p>
            <a:pPr algn="ctr" indent="0" marL="0">
              <a:buNone/>
            </a:pPr>
            <a:r>
              <a:rPr lang="en-US" sz="880" dirty="0">
                <a:solidFill>
                  <a:srgbClr val="8FA6B9"/>
                </a:solidFill>
              </a:rPr>
              <a:t>Transport + validation</a:t>
            </a:r>
            <a:endParaRPr lang="en-US" sz="880" dirty="0"/>
          </a:p>
        </p:txBody>
      </p:sp>
      <p:sp>
        <p:nvSpPr>
          <p:cNvPr id="12" name="Shape 10"/>
          <p:cNvSpPr/>
          <p:nvPr/>
        </p:nvSpPr>
        <p:spPr>
          <a:xfrm>
            <a:off x="8275320" y="2011680"/>
            <a:ext cx="1463040" cy="822960"/>
          </a:xfrm>
          <a:prstGeom prst="roundRect">
            <a:avLst>
              <a:gd name="adj" fmla="val 5556"/>
            </a:avLst>
          </a:prstGeom>
          <a:solidFill>
            <a:srgbClr val="12263A"/>
          </a:solidFill>
          <a:ln w="17780">
            <a:solidFill>
              <a:srgbClr val="35C2D8"/>
            </a:solidFill>
            <a:prstDash val="solid"/>
          </a:ln>
        </p:spPr>
      </p:sp>
      <p:sp>
        <p:nvSpPr>
          <p:cNvPr id="13" name="Text 11"/>
          <p:cNvSpPr/>
          <p:nvPr/>
        </p:nvSpPr>
        <p:spPr>
          <a:xfrm>
            <a:off x="8366760" y="2139696"/>
            <a:ext cx="128016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Domain Services</a:t>
            </a:r>
            <a:endParaRPr lang="en-US" sz="1200" dirty="0"/>
          </a:p>
        </p:txBody>
      </p:sp>
      <p:sp>
        <p:nvSpPr>
          <p:cNvPr id="14" name="Text 12"/>
          <p:cNvSpPr/>
          <p:nvPr/>
        </p:nvSpPr>
        <p:spPr>
          <a:xfrm>
            <a:off x="8366760" y="2459736"/>
            <a:ext cx="1280160" cy="292608"/>
          </a:xfrm>
          <a:prstGeom prst="rect">
            <a:avLst/>
          </a:prstGeom>
          <a:noFill/>
          <a:ln/>
        </p:spPr>
        <p:txBody>
          <a:bodyPr wrap="square" lIns="0" tIns="0" rIns="0" bIns="0" rtlCol="0" anchor="ctr">
            <a:normAutofit/>
          </a:bodyPr>
          <a:lstStyle/>
          <a:p>
            <a:pPr algn="ctr" indent="0" marL="0">
              <a:buNone/>
            </a:pPr>
            <a:r>
              <a:rPr lang="en-US" sz="880" dirty="0">
                <a:solidFill>
                  <a:srgbClr val="8FA6B9"/>
                </a:solidFill>
              </a:rPr>
              <a:t>Lifecycle decisions</a:t>
            </a:r>
            <a:endParaRPr lang="en-US" sz="880" dirty="0"/>
          </a:p>
        </p:txBody>
      </p:sp>
      <p:sp>
        <p:nvSpPr>
          <p:cNvPr id="15" name="Shape 13"/>
          <p:cNvSpPr/>
          <p:nvPr/>
        </p:nvSpPr>
        <p:spPr>
          <a:xfrm>
            <a:off x="10104120" y="2011680"/>
            <a:ext cx="1463040" cy="822960"/>
          </a:xfrm>
          <a:prstGeom prst="roundRect">
            <a:avLst>
              <a:gd name="adj" fmla="val 5556"/>
            </a:avLst>
          </a:prstGeom>
          <a:solidFill>
            <a:srgbClr val="12263A"/>
          </a:solidFill>
          <a:ln w="17780">
            <a:solidFill>
              <a:srgbClr val="4FA3FF"/>
            </a:solidFill>
            <a:prstDash val="solid"/>
          </a:ln>
        </p:spPr>
      </p:sp>
      <p:sp>
        <p:nvSpPr>
          <p:cNvPr id="16" name="Text 14"/>
          <p:cNvSpPr/>
          <p:nvPr/>
        </p:nvSpPr>
        <p:spPr>
          <a:xfrm>
            <a:off x="10195560" y="2139696"/>
            <a:ext cx="128016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PostgreSQL</a:t>
            </a:r>
            <a:endParaRPr lang="en-US" sz="1200" dirty="0"/>
          </a:p>
        </p:txBody>
      </p:sp>
      <p:sp>
        <p:nvSpPr>
          <p:cNvPr id="17" name="Text 15"/>
          <p:cNvSpPr/>
          <p:nvPr/>
        </p:nvSpPr>
        <p:spPr>
          <a:xfrm>
            <a:off x="10195560" y="2459736"/>
            <a:ext cx="1280160" cy="292608"/>
          </a:xfrm>
          <a:prstGeom prst="rect">
            <a:avLst/>
          </a:prstGeom>
          <a:noFill/>
          <a:ln/>
        </p:spPr>
        <p:txBody>
          <a:bodyPr wrap="square" lIns="0" tIns="0" rIns="0" bIns="0" rtlCol="0" anchor="ctr">
            <a:normAutofit/>
          </a:bodyPr>
          <a:lstStyle/>
          <a:p>
            <a:pPr algn="ctr" indent="0" marL="0">
              <a:buNone/>
            </a:pPr>
            <a:r>
              <a:rPr lang="en-US" sz="880" dirty="0">
                <a:solidFill>
                  <a:srgbClr val="8FA6B9"/>
                </a:solidFill>
              </a:rPr>
              <a:t>Durable truth</a:t>
            </a:r>
            <a:endParaRPr lang="en-US" sz="880" dirty="0"/>
          </a:p>
        </p:txBody>
      </p:sp>
      <p:sp>
        <p:nvSpPr>
          <p:cNvPr id="18" name="Shape 16"/>
          <p:cNvSpPr/>
          <p:nvPr/>
        </p:nvSpPr>
        <p:spPr>
          <a:xfrm>
            <a:off x="7909560" y="2423160"/>
            <a:ext cx="365760" cy="0"/>
          </a:xfrm>
          <a:prstGeom prst="line">
            <a:avLst/>
          </a:prstGeom>
          <a:noFill/>
          <a:ln w="25400">
            <a:solidFill>
              <a:srgbClr val="B276FF"/>
            </a:solidFill>
            <a:prstDash val="solid"/>
            <a:tailEnd type="triangle"/>
          </a:ln>
        </p:spPr>
      </p:sp>
      <p:sp>
        <p:nvSpPr>
          <p:cNvPr id="19" name="Shape 17"/>
          <p:cNvSpPr/>
          <p:nvPr/>
        </p:nvSpPr>
        <p:spPr>
          <a:xfrm>
            <a:off x="9738360" y="2423160"/>
            <a:ext cx="365760" cy="0"/>
          </a:xfrm>
          <a:prstGeom prst="line">
            <a:avLst/>
          </a:prstGeom>
          <a:noFill/>
          <a:ln w="25400">
            <a:solidFill>
              <a:srgbClr val="35C2D8"/>
            </a:solidFill>
            <a:prstDash val="solid"/>
            <a:tailEnd type="triangle"/>
          </a:ln>
        </p:spPr>
      </p:sp>
      <p:sp>
        <p:nvSpPr>
          <p:cNvPr id="20" name="Shape 18"/>
          <p:cNvSpPr/>
          <p:nvPr/>
        </p:nvSpPr>
        <p:spPr>
          <a:xfrm>
            <a:off x="8275320" y="3931920"/>
            <a:ext cx="1463040" cy="822960"/>
          </a:xfrm>
          <a:prstGeom prst="roundRect">
            <a:avLst>
              <a:gd name="adj" fmla="val 5556"/>
            </a:avLst>
          </a:prstGeom>
          <a:solidFill>
            <a:srgbClr val="12263A"/>
          </a:solidFill>
          <a:ln w="17780">
            <a:solidFill>
              <a:srgbClr val="54D6A3"/>
            </a:solidFill>
            <a:prstDash val="solid"/>
          </a:ln>
        </p:spPr>
      </p:sp>
      <p:sp>
        <p:nvSpPr>
          <p:cNvPr id="21" name="Text 19"/>
          <p:cNvSpPr/>
          <p:nvPr/>
        </p:nvSpPr>
        <p:spPr>
          <a:xfrm>
            <a:off x="8366760" y="4059936"/>
            <a:ext cx="128016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Workers</a:t>
            </a:r>
            <a:endParaRPr lang="en-US" sz="1200" dirty="0"/>
          </a:p>
        </p:txBody>
      </p:sp>
      <p:sp>
        <p:nvSpPr>
          <p:cNvPr id="22" name="Text 20"/>
          <p:cNvSpPr/>
          <p:nvPr/>
        </p:nvSpPr>
        <p:spPr>
          <a:xfrm>
            <a:off x="8366760" y="4379976"/>
            <a:ext cx="1280160" cy="292608"/>
          </a:xfrm>
          <a:prstGeom prst="rect">
            <a:avLst/>
          </a:prstGeom>
          <a:noFill/>
          <a:ln/>
        </p:spPr>
        <p:txBody>
          <a:bodyPr wrap="square" lIns="0" tIns="0" rIns="0" bIns="0" rtlCol="0" anchor="ctr">
            <a:normAutofit/>
          </a:bodyPr>
          <a:lstStyle/>
          <a:p>
            <a:pPr algn="ctr" indent="0" marL="0">
              <a:buNone/>
            </a:pPr>
            <a:r>
              <a:rPr lang="en-US" sz="880" dirty="0">
                <a:solidFill>
                  <a:srgbClr val="8FA6B9"/>
                </a:solidFill>
              </a:rPr>
              <a:t>Long-running operations</a:t>
            </a:r>
            <a:endParaRPr lang="en-US" sz="880" dirty="0"/>
          </a:p>
        </p:txBody>
      </p:sp>
      <p:sp>
        <p:nvSpPr>
          <p:cNvPr id="23" name="Shape 21"/>
          <p:cNvSpPr/>
          <p:nvPr/>
        </p:nvSpPr>
        <p:spPr>
          <a:xfrm>
            <a:off x="9006840" y="2834640"/>
            <a:ext cx="0" cy="1097280"/>
          </a:xfrm>
          <a:prstGeom prst="line">
            <a:avLst/>
          </a:prstGeom>
          <a:noFill/>
          <a:ln w="25400">
            <a:solidFill>
              <a:srgbClr val="54D6A3"/>
            </a:solidFill>
            <a:prstDash val="solid"/>
            <a:tailEnd type="triangle"/>
          </a:ln>
        </p:spPr>
      </p:sp>
      <p:sp>
        <p:nvSpPr>
          <p:cNvPr id="24" name="Shape 22"/>
          <p:cNvSpPr/>
          <p:nvPr/>
        </p:nvSpPr>
        <p:spPr>
          <a:xfrm>
            <a:off x="6720840" y="5212080"/>
            <a:ext cx="4480560" cy="347472"/>
          </a:xfrm>
          <a:prstGeom prst="roundRect">
            <a:avLst>
              <a:gd name="adj" fmla="val 47368"/>
            </a:avLst>
          </a:prstGeom>
          <a:solidFill>
            <a:srgbClr val="35C2D8">
              <a:alpha val="88000"/>
            </a:srgbClr>
          </a:solidFill>
          <a:ln w="12700">
            <a:solidFill>
              <a:srgbClr val="35C2D8">
                <a:alpha val="0"/>
              </a:srgbClr>
            </a:solidFill>
            <a:prstDash val="solid"/>
          </a:ln>
        </p:spPr>
      </p:sp>
      <p:sp>
        <p:nvSpPr>
          <p:cNvPr id="25" name="Text 23"/>
          <p:cNvSpPr/>
          <p:nvPr/>
        </p:nvSpPr>
        <p:spPr>
          <a:xfrm>
            <a:off x="6793992" y="5294376"/>
            <a:ext cx="4334256" cy="118872"/>
          </a:xfrm>
          <a:prstGeom prst="rect">
            <a:avLst/>
          </a:prstGeom>
          <a:noFill/>
          <a:ln/>
        </p:spPr>
        <p:txBody>
          <a:bodyPr wrap="square" lIns="0" tIns="0" rIns="0" bIns="0" rtlCol="0" anchor="ctr">
            <a:normAutofit/>
          </a:bodyPr>
          <a:lstStyle/>
          <a:p>
            <a:pPr algn="ctr" indent="0" marL="0">
              <a:buNone/>
            </a:pPr>
            <a:r>
              <a:rPr lang="en-US" sz="950" b="1" dirty="0">
                <a:solidFill>
                  <a:srgbClr val="07111F"/>
                </a:solidFill>
              </a:rPr>
              <a:t>MODULAR NESTJS CONTROL PLANE</a:t>
            </a:r>
            <a:endParaRPr lang="en-US" sz="950" dirty="0"/>
          </a:p>
        </p:txBody>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347472"/>
            <a:ext cx="9098280" cy="475488"/>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Authentication, GitHub Integration, and Source Ingestion</a:t>
            </a:r>
            <a:endParaRPr lang="en-US" sz="2400" dirty="0"/>
          </a:p>
        </p:txBody>
      </p:sp>
      <p:sp>
        <p:nvSpPr>
          <p:cNvPr id="3" name="Shape 1"/>
          <p:cNvSpPr/>
          <p:nvPr/>
        </p:nvSpPr>
        <p:spPr>
          <a:xfrm>
            <a:off x="9829800" y="338328"/>
            <a:ext cx="1783080" cy="329184"/>
          </a:xfrm>
          <a:prstGeom prst="roundRect">
            <a:avLst>
              <a:gd name="adj" fmla="val 22222"/>
            </a:avLst>
          </a:prstGeom>
          <a:solidFill>
            <a:srgbClr val="54D6A3">
              <a:alpha val="92000"/>
            </a:srgbClr>
          </a:solidFill>
          <a:ln w="12700">
            <a:solidFill>
              <a:srgbClr val="54D6A3">
                <a:alpha val="0"/>
              </a:srgbClr>
            </a:solidFill>
            <a:prstDash val="solid"/>
          </a:ln>
        </p:spPr>
      </p:sp>
      <p:sp>
        <p:nvSpPr>
          <p:cNvPr id="4" name="Text 2"/>
          <p:cNvSpPr/>
          <p:nvPr/>
        </p:nvSpPr>
        <p:spPr>
          <a:xfrm>
            <a:off x="9912096" y="416052"/>
            <a:ext cx="1609344" cy="118872"/>
          </a:xfrm>
          <a:prstGeom prst="rect">
            <a:avLst/>
          </a:prstGeom>
          <a:noFill/>
          <a:ln/>
        </p:spPr>
        <p:txBody>
          <a:bodyPr wrap="square" lIns="0" tIns="0" rIns="0" bIns="0" rtlCol="0" anchor="ctr">
            <a:normAutofit/>
          </a:bodyPr>
          <a:lstStyle/>
          <a:p>
            <a:pPr algn="ctr" indent="0" marL="0">
              <a:buNone/>
            </a:pPr>
            <a:r>
              <a:rPr lang="en-US" sz="1000" b="1" dirty="0">
                <a:solidFill>
                  <a:srgbClr val="07111F"/>
                </a:solidFill>
              </a:rPr>
              <a:t>Faria Fatima</a:t>
            </a:r>
            <a:endParaRPr lang="en-US" sz="1000" dirty="0"/>
          </a:p>
          <a:p>
            <a:pPr algn="ctr" indent="0" marL="0">
              <a:buNone/>
            </a:pPr>
            <a:endParaRPr lang="en-US" sz="1000" dirty="0"/>
          </a:p>
          <a:p>
            <a:pPr algn="ctr" indent="0" marL="0">
              <a:buNone/>
            </a:pPr>
            <a:r>
              <a:rPr lang="en-US" sz="1000" b="1" dirty="0">
                <a:solidFill>
                  <a:srgbClr val="07111F"/>
                </a:solidFill>
              </a:rPr>
              <a:t>Purpose: Demonstrate controlled access to users and repository source.</a:t>
            </a:r>
            <a:endParaRPr lang="en-US" sz="1000" dirty="0"/>
          </a:p>
          <a:p>
            <a:pPr algn="ctr" indent="0" marL="0">
              <a:buNone/>
            </a:pPr>
            <a:endParaRPr lang="en-US" sz="1000" dirty="0"/>
          </a:p>
          <a:p>
            <a:pPr algn="ctr" indent="0" marL="0">
              <a:buNone/>
            </a:pPr>
            <a:r>
              <a:rPr lang="en-US" sz="1000" b="1" dirty="0">
                <a:solidFill>
                  <a:srgbClr val="07111F"/>
                </a:solidFill>
              </a:rPr>
              <a:t>Presentation Content:</a:t>
            </a:r>
            <a:endParaRPr lang="en-US" sz="1000" dirty="0"/>
          </a:p>
          <a:p>
            <a:pPr algn="ctr" indent="0" marL="0">
              <a:buNone/>
            </a:pPr>
            <a:endParaRPr lang="en-US" sz="1000" dirty="0"/>
          </a:p>
          <a:p>
            <a:pPr algn="ctr" indent="0" marL="0">
              <a:buNone/>
            </a:pPr>
            <a:r>
              <a:rPr lang="en-US" sz="1000" b="1" dirty="0">
                <a:solidFill>
                  <a:srgbClr val="07111F"/>
                </a:solidFill>
              </a:rPr>
              <a:t>- Users can authenticate through local credentials or GitHub OAuth; signed HTTP-only cookies carry separate developer and administrator sessions.</a:t>
            </a:r>
            <a:endParaRPr lang="en-US" sz="1000" dirty="0"/>
          </a:p>
          <a:p>
            <a:pPr algn="ctr" indent="0" marL="0">
              <a:buNone/>
            </a:pPr>
            <a:endParaRPr lang="en-US" sz="1000" dirty="0"/>
          </a:p>
          <a:p>
            <a:pPr algn="ctr" indent="0" marL="0">
              <a:buNone/>
            </a:pPr>
            <a:r>
              <a:rPr lang="en-US" sz="1000" b="1" dirty="0">
                <a:solidFill>
                  <a:srgbClr val="07111F"/>
                </a:solidFill>
              </a:rPr>
              <a:t>- Local passwords use salted key derivation, and OAuth state is validated to prevent request forgery.</a:t>
            </a:r>
            <a:endParaRPr lang="en-US" sz="1000" dirty="0"/>
          </a:p>
          <a:p>
            <a:pPr algn="ctr" indent="0" marL="0">
              <a:buNone/>
            </a:pPr>
            <a:endParaRPr lang="en-US" sz="1000" dirty="0"/>
          </a:p>
          <a:p>
            <a:pPr algn="ctr" indent="0" marL="0">
              <a:buNone/>
            </a:pPr>
            <a:r>
              <a:rPr lang="en-US" sz="1000" b="1" dirty="0">
                <a:solidFill>
                  <a:srgbClr val="07111F"/>
                </a:solidFill>
              </a:rPr>
              <a:t>- GitHub App installation tokens are generated for short-lived repository access rather than storing a broad permanent personal token.</a:t>
            </a:r>
            <a:endParaRPr lang="en-US" sz="1000" dirty="0"/>
          </a:p>
          <a:p>
            <a:pPr algn="ctr" indent="0" marL="0">
              <a:buNone/>
            </a:pPr>
            <a:endParaRPr lang="en-US" sz="1000" dirty="0"/>
          </a:p>
          <a:p>
            <a:pPr algn="ctr" indent="0" marL="0">
              <a:buNone/>
            </a:pPr>
            <a:r>
              <a:rPr lang="en-US" sz="1000" b="1" dirty="0">
                <a:solidFill>
                  <a:srgbClr val="07111F"/>
                </a:solidFill>
              </a:rPr>
              <a:t>- Repository selection is restricted to installations available to the authenticated user.</a:t>
            </a:r>
            <a:endParaRPr lang="en-US" sz="1000" dirty="0"/>
          </a:p>
          <a:p>
            <a:pPr algn="ctr" indent="0" marL="0">
              <a:buNone/>
            </a:pPr>
            <a:endParaRPr lang="en-US" sz="1000" dirty="0"/>
          </a:p>
          <a:p>
            <a:pPr algn="ctr" indent="0" marL="0">
              <a:buNone/>
            </a:pPr>
            <a:r>
              <a:rPr lang="en-US" sz="1000" b="1" dirty="0">
                <a:solidFill>
                  <a:srgbClr val="07111F"/>
                </a:solidFill>
              </a:rPr>
              <a:t>- Source ingestion performs a shallow checkout for the selected reference, resolves it to an exact revision, and applies path-containment checks.</a:t>
            </a:r>
            <a:endParaRPr lang="en-US" sz="1000" dirty="0"/>
          </a:p>
          <a:p>
            <a:pPr algn="ctr" indent="0" marL="0">
              <a:buNone/>
            </a:pPr>
            <a:endParaRPr lang="en-US" sz="1000" dirty="0"/>
          </a:p>
          <a:p>
            <a:pPr algn="ctr" indent="0" marL="0">
              <a:buNone/>
            </a:pPr>
            <a:r>
              <a:rPr lang="en-US" sz="1000" b="1" dirty="0">
                <a:solidFill>
                  <a:srgbClr val="07111F"/>
                </a:solidFill>
              </a:rPr>
              <a:t>- Repository analysis creates service-specific build targets and rejects ambiguous or unsupported runtime contracts before cloud work begins.</a:t>
            </a:r>
            <a:endParaRPr lang="en-US" sz="1000" dirty="0"/>
          </a:p>
          <a:p>
            <a:pPr algn="ctr" indent="0" marL="0">
              <a:buNone/>
            </a:pPr>
            <a:endParaRPr lang="en-US" sz="1000" dirty="0"/>
          </a:p>
          <a:p>
            <a:pPr algn="ctr" indent="0" marL="0">
              <a:buNone/>
            </a:pPr>
            <a:r>
              <a:rPr lang="en-US" sz="1000" b="1" dirty="0">
                <a:solidFill>
                  <a:srgbClr val="07111F"/>
                </a:solidFill>
              </a:rPr>
              <a:t>Visual Recommendation: Trust flow: User Session → GitHub App Installation → Short-Lived Token → Exact Source Checkout → Analyzed Service Contract.</a:t>
            </a:r>
            <a:endParaRPr lang="en-US" sz="1000" dirty="0"/>
          </a:p>
          <a:p>
            <a:pPr algn="ctr" indent="0" marL="0">
              <a:buNone/>
            </a:pPr>
            <a:endParaRPr lang="en-US" sz="1000" dirty="0"/>
          </a:p>
          <a:p>
            <a:pPr algn="ctr" indent="0" marL="0">
              <a:buNone/>
            </a:pPr>
            <a:r>
              <a:rPr lang="en-US" sz="1000" b="1" dirty="0">
                <a:solidFill>
                  <a:srgbClr val="07111F"/>
                </a:solidFill>
              </a:rPr>
              <a:t>Defense Notes: Differentiate user OAuth from GitHub App repository access. OAuth identifies and links the user; the App installation token authorizes repository operations for a limited time and scope.</a:t>
            </a:r>
            <a:endParaRPr lang="en-US" sz="1000" dirty="0"/>
          </a:p>
        </p:txBody>
      </p:sp>
      <p:sp>
        <p:nvSpPr>
          <p:cNvPr id="5" name="Shape 3"/>
          <p:cNvSpPr/>
          <p:nvPr/>
        </p:nvSpPr>
        <p:spPr>
          <a:xfrm>
            <a:off x="502920" y="932688"/>
            <a:ext cx="11109960" cy="0"/>
          </a:xfrm>
          <a:prstGeom prst="line">
            <a:avLst/>
          </a:prstGeom>
          <a:noFill/>
          <a:ln w="17780">
            <a:solidFill>
              <a:srgbClr val="54D6A3">
                <a:alpha val="75000"/>
              </a:srgbClr>
            </a:solidFill>
            <a:prstDash val="solid"/>
          </a:ln>
        </p:spPr>
      </p:sp>
      <p:sp>
        <p:nvSpPr>
          <p:cNvPr id="6" name="Text 4"/>
          <p:cNvSpPr/>
          <p:nvPr/>
        </p:nvSpPr>
        <p:spPr>
          <a:xfrm>
            <a:off x="502920" y="996696"/>
            <a:ext cx="5212080" cy="164592"/>
          </a:xfrm>
          <a:prstGeom prst="rect">
            <a:avLst/>
          </a:prstGeom>
          <a:noFill/>
          <a:ln/>
        </p:spPr>
        <p:txBody>
          <a:bodyPr wrap="square" lIns="0" tIns="0" rIns="0" bIns="0" rtlCol="0" anchor="ctr"/>
          <a:lstStyle/>
          <a:p>
            <a:pPr indent="0" marL="0">
              <a:buNone/>
            </a:pPr>
            <a:r>
              <a:rPr lang="en-US" sz="850" b="1" spc="110" kern="0" dirty="0">
                <a:solidFill>
                  <a:srgbClr val="54D6A3"/>
                </a:solidFill>
              </a:rPr>
              <a:t>FARIA — BACKEND &amp; INTEGRATION</a:t>
            </a:r>
            <a:endParaRPr lang="en-US" sz="850" dirty="0"/>
          </a:p>
        </p:txBody>
      </p:sp>
      <p:sp>
        <p:nvSpPr>
          <p:cNvPr id="7" name="Text 5"/>
          <p:cNvSpPr/>
          <p:nvPr/>
        </p:nvSpPr>
        <p:spPr>
          <a:xfrm>
            <a:off x="594360" y="1325880"/>
            <a:ext cx="5349240" cy="4937760"/>
          </a:xfrm>
          <a:prstGeom prst="rect">
            <a:avLst/>
          </a:prstGeom>
          <a:noFill/>
          <a:ln/>
        </p:spPr>
        <p:txBody>
          <a:bodyPr wrap="square" lIns="254" tIns="254" rIns="254" bIns="254" rtlCol="0" anchor="ctr">
            <a:normAutofit/>
          </a:bodyPr>
          <a:lstStyle/>
          <a:p>
            <a:pPr marL="190500" indent="-190500">
              <a:buSzPct val="100000"/>
              <a:buChar char="•"/>
            </a:pPr>
            <a:r>
              <a:rPr lang="en-US" sz="1580" dirty="0">
                <a:solidFill>
                  <a:srgbClr val="D9E5EF"/>
                </a:solidFill>
                <a:latin typeface="Aptos" pitchFamily="34" charset="0"/>
                <a:ea typeface="Aptos" pitchFamily="34" charset="-122"/>
                <a:cs typeface="Aptos" pitchFamily="34" charset="-120"/>
              </a:rPr>
              <a:t>Users can authenticate through local credentials or GitHub OAuth; signed HTTP-only cookies carry separate developer and administrator sessions.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Local passwords use salted key derivation, and OAuth state is validated to prevent request forgery.</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GitHub App installation tokens are generated for short-lived repository access rather than storing a broad permanent personal token.</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Repository selection is restricted to installations available to the authenticated user.</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Source ingestion performs a shallow checkout for the selected reference, resolves it to an exact revision, and applies path-containment checks.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Repository analysis creates service-specific build targets and rejects ambiguous or unsupported runtime contracts before cloud work begins.</a:t>
            </a:r>
            <a:endParaRPr lang="en-US" sz="1580" dirty="0"/>
          </a:p>
        </p:txBody>
      </p:sp>
      <p:sp>
        <p:nvSpPr>
          <p:cNvPr id="8" name="Shape 6"/>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9" name="Shape 7"/>
          <p:cNvSpPr/>
          <p:nvPr/>
        </p:nvSpPr>
        <p:spPr>
          <a:xfrm>
            <a:off x="6400800" y="1828800"/>
            <a:ext cx="868680" cy="1097280"/>
          </a:xfrm>
          <a:prstGeom prst="roundRect">
            <a:avLst>
              <a:gd name="adj" fmla="val 5263"/>
            </a:avLst>
          </a:prstGeom>
          <a:solidFill>
            <a:srgbClr val="12263A"/>
          </a:solidFill>
          <a:ln w="17780">
            <a:solidFill>
              <a:srgbClr val="35C2D8"/>
            </a:solidFill>
            <a:prstDash val="solid"/>
          </a:ln>
        </p:spPr>
      </p:sp>
      <p:sp>
        <p:nvSpPr>
          <p:cNvPr id="10" name="Text 8"/>
          <p:cNvSpPr/>
          <p:nvPr/>
        </p:nvSpPr>
        <p:spPr>
          <a:xfrm>
            <a:off x="6492240" y="1956816"/>
            <a:ext cx="68580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User session</a:t>
            </a:r>
            <a:endParaRPr lang="en-US" sz="1200" dirty="0"/>
          </a:p>
        </p:txBody>
      </p:sp>
      <p:sp>
        <p:nvSpPr>
          <p:cNvPr id="11" name="Shape 9"/>
          <p:cNvSpPr/>
          <p:nvPr/>
        </p:nvSpPr>
        <p:spPr>
          <a:xfrm>
            <a:off x="7269480" y="2377440"/>
            <a:ext cx="100584" cy="0"/>
          </a:xfrm>
          <a:prstGeom prst="line">
            <a:avLst/>
          </a:prstGeom>
          <a:noFill/>
          <a:ln w="12700">
            <a:solidFill>
              <a:srgbClr val="54D6A3"/>
            </a:solidFill>
            <a:prstDash val="solid"/>
            <a:tailEnd type="triangle"/>
          </a:ln>
        </p:spPr>
      </p:sp>
      <p:sp>
        <p:nvSpPr>
          <p:cNvPr id="12" name="Shape 10"/>
          <p:cNvSpPr/>
          <p:nvPr/>
        </p:nvSpPr>
        <p:spPr>
          <a:xfrm>
            <a:off x="7388352" y="1828800"/>
            <a:ext cx="868680" cy="1097280"/>
          </a:xfrm>
          <a:prstGeom prst="roundRect">
            <a:avLst>
              <a:gd name="adj" fmla="val 5263"/>
            </a:avLst>
          </a:prstGeom>
          <a:solidFill>
            <a:srgbClr val="12263A"/>
          </a:solidFill>
          <a:ln w="17780">
            <a:solidFill>
              <a:srgbClr val="B276FF"/>
            </a:solidFill>
            <a:prstDash val="solid"/>
          </a:ln>
        </p:spPr>
      </p:sp>
      <p:sp>
        <p:nvSpPr>
          <p:cNvPr id="13" name="Text 11"/>
          <p:cNvSpPr/>
          <p:nvPr/>
        </p:nvSpPr>
        <p:spPr>
          <a:xfrm>
            <a:off x="7479792" y="1956816"/>
            <a:ext cx="68580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GitHub App</a:t>
            </a:r>
            <a:endParaRPr lang="en-US" sz="1200" dirty="0"/>
          </a:p>
        </p:txBody>
      </p:sp>
      <p:sp>
        <p:nvSpPr>
          <p:cNvPr id="14" name="Shape 12"/>
          <p:cNvSpPr/>
          <p:nvPr/>
        </p:nvSpPr>
        <p:spPr>
          <a:xfrm>
            <a:off x="8257032" y="2377440"/>
            <a:ext cx="100584" cy="0"/>
          </a:xfrm>
          <a:prstGeom prst="line">
            <a:avLst/>
          </a:prstGeom>
          <a:noFill/>
          <a:ln w="12700">
            <a:solidFill>
              <a:srgbClr val="54D6A3"/>
            </a:solidFill>
            <a:prstDash val="solid"/>
            <a:tailEnd type="triangle"/>
          </a:ln>
        </p:spPr>
      </p:sp>
      <p:sp>
        <p:nvSpPr>
          <p:cNvPr id="15" name="Shape 13"/>
          <p:cNvSpPr/>
          <p:nvPr/>
        </p:nvSpPr>
        <p:spPr>
          <a:xfrm>
            <a:off x="8375904" y="1828800"/>
            <a:ext cx="868680" cy="1097280"/>
          </a:xfrm>
          <a:prstGeom prst="roundRect">
            <a:avLst>
              <a:gd name="adj" fmla="val 5263"/>
            </a:avLst>
          </a:prstGeom>
          <a:solidFill>
            <a:srgbClr val="12263A"/>
          </a:solidFill>
          <a:ln w="17780">
            <a:solidFill>
              <a:srgbClr val="54D6A3"/>
            </a:solidFill>
            <a:prstDash val="solid"/>
          </a:ln>
        </p:spPr>
      </p:sp>
      <p:sp>
        <p:nvSpPr>
          <p:cNvPr id="16" name="Text 14"/>
          <p:cNvSpPr/>
          <p:nvPr/>
        </p:nvSpPr>
        <p:spPr>
          <a:xfrm>
            <a:off x="8467344" y="1956816"/>
            <a:ext cx="68580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Short-lived token</a:t>
            </a:r>
            <a:endParaRPr lang="en-US" sz="1200" dirty="0"/>
          </a:p>
        </p:txBody>
      </p:sp>
      <p:sp>
        <p:nvSpPr>
          <p:cNvPr id="17" name="Shape 15"/>
          <p:cNvSpPr/>
          <p:nvPr/>
        </p:nvSpPr>
        <p:spPr>
          <a:xfrm>
            <a:off x="9244584" y="2377440"/>
            <a:ext cx="100584" cy="0"/>
          </a:xfrm>
          <a:prstGeom prst="line">
            <a:avLst/>
          </a:prstGeom>
          <a:noFill/>
          <a:ln w="12700">
            <a:solidFill>
              <a:srgbClr val="54D6A3"/>
            </a:solidFill>
            <a:prstDash val="solid"/>
            <a:tailEnd type="triangle"/>
          </a:ln>
        </p:spPr>
      </p:sp>
      <p:sp>
        <p:nvSpPr>
          <p:cNvPr id="18" name="Shape 16"/>
          <p:cNvSpPr/>
          <p:nvPr/>
        </p:nvSpPr>
        <p:spPr>
          <a:xfrm>
            <a:off x="9363456" y="1828800"/>
            <a:ext cx="868680" cy="1097280"/>
          </a:xfrm>
          <a:prstGeom prst="roundRect">
            <a:avLst>
              <a:gd name="adj" fmla="val 5263"/>
            </a:avLst>
          </a:prstGeom>
          <a:solidFill>
            <a:srgbClr val="12263A"/>
          </a:solidFill>
          <a:ln w="17780">
            <a:solidFill>
              <a:srgbClr val="4FA3FF"/>
            </a:solidFill>
            <a:prstDash val="solid"/>
          </a:ln>
        </p:spPr>
      </p:sp>
      <p:sp>
        <p:nvSpPr>
          <p:cNvPr id="19" name="Text 17"/>
          <p:cNvSpPr/>
          <p:nvPr/>
        </p:nvSpPr>
        <p:spPr>
          <a:xfrm>
            <a:off x="9454896" y="1956816"/>
            <a:ext cx="68580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Exact checkout</a:t>
            </a:r>
            <a:endParaRPr lang="en-US" sz="1200" dirty="0"/>
          </a:p>
        </p:txBody>
      </p:sp>
      <p:sp>
        <p:nvSpPr>
          <p:cNvPr id="20" name="Shape 18"/>
          <p:cNvSpPr/>
          <p:nvPr/>
        </p:nvSpPr>
        <p:spPr>
          <a:xfrm>
            <a:off x="10232136" y="2377440"/>
            <a:ext cx="100584" cy="0"/>
          </a:xfrm>
          <a:prstGeom prst="line">
            <a:avLst/>
          </a:prstGeom>
          <a:noFill/>
          <a:ln w="12700">
            <a:solidFill>
              <a:srgbClr val="54D6A3"/>
            </a:solidFill>
            <a:prstDash val="solid"/>
            <a:tailEnd type="triangle"/>
          </a:ln>
        </p:spPr>
      </p:sp>
      <p:sp>
        <p:nvSpPr>
          <p:cNvPr id="21" name="Shape 19"/>
          <p:cNvSpPr/>
          <p:nvPr/>
        </p:nvSpPr>
        <p:spPr>
          <a:xfrm>
            <a:off x="10351008" y="1828800"/>
            <a:ext cx="868680" cy="1097280"/>
          </a:xfrm>
          <a:prstGeom prst="roundRect">
            <a:avLst>
              <a:gd name="adj" fmla="val 5263"/>
            </a:avLst>
          </a:prstGeom>
          <a:solidFill>
            <a:srgbClr val="12263A"/>
          </a:solidFill>
          <a:ln w="17780">
            <a:solidFill>
              <a:srgbClr val="F5B041"/>
            </a:solidFill>
            <a:prstDash val="solid"/>
          </a:ln>
        </p:spPr>
      </p:sp>
      <p:sp>
        <p:nvSpPr>
          <p:cNvPr id="22" name="Text 20"/>
          <p:cNvSpPr/>
          <p:nvPr/>
        </p:nvSpPr>
        <p:spPr>
          <a:xfrm>
            <a:off x="10442448" y="1956816"/>
            <a:ext cx="68580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Service contract</a:t>
            </a:r>
            <a:endParaRPr lang="en-US" sz="1200" dirty="0"/>
          </a:p>
        </p:txBody>
      </p:sp>
      <p:sp>
        <p:nvSpPr>
          <p:cNvPr id="23" name="Shape 21"/>
          <p:cNvSpPr/>
          <p:nvPr/>
        </p:nvSpPr>
        <p:spPr>
          <a:xfrm>
            <a:off x="7132320" y="4800600"/>
            <a:ext cx="3474720" cy="347472"/>
          </a:xfrm>
          <a:prstGeom prst="roundRect">
            <a:avLst>
              <a:gd name="adj" fmla="val 47368"/>
            </a:avLst>
          </a:prstGeom>
          <a:solidFill>
            <a:srgbClr val="FF6B6B">
              <a:alpha val="88000"/>
            </a:srgbClr>
          </a:solidFill>
          <a:ln w="12700">
            <a:solidFill>
              <a:srgbClr val="FF6B6B">
                <a:alpha val="0"/>
              </a:srgbClr>
            </a:solidFill>
            <a:prstDash val="solid"/>
          </a:ln>
        </p:spPr>
      </p:sp>
      <p:sp>
        <p:nvSpPr>
          <p:cNvPr id="24" name="Text 22"/>
          <p:cNvSpPr/>
          <p:nvPr/>
        </p:nvSpPr>
        <p:spPr>
          <a:xfrm>
            <a:off x="7205472" y="4882896"/>
            <a:ext cx="3328416" cy="118872"/>
          </a:xfrm>
          <a:prstGeom prst="rect">
            <a:avLst/>
          </a:prstGeom>
          <a:noFill/>
          <a:ln/>
        </p:spPr>
        <p:txBody>
          <a:bodyPr wrap="square" lIns="0" tIns="0" rIns="0" bIns="0" rtlCol="0" anchor="ctr">
            <a:normAutofit/>
          </a:bodyPr>
          <a:lstStyle/>
          <a:p>
            <a:pPr algn="ctr" indent="0" marL="0">
              <a:buNone/>
            </a:pPr>
            <a:r>
              <a:rPr lang="en-US" sz="950" b="1" dirty="0">
                <a:solidFill>
                  <a:srgbClr val="07111F"/>
                </a:solidFill>
              </a:rPr>
              <a:t>AUTHENTICATION ≠ REPOSITORY AUTHORIZATION</a:t>
            </a:r>
            <a:endParaRPr lang="en-US" sz="950" dirty="0"/>
          </a:p>
        </p:txBody>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347472"/>
            <a:ext cx="9098280" cy="475488"/>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Data Model, Configuration, and Secret Handling</a:t>
            </a:r>
            <a:endParaRPr lang="en-US" sz="2400" dirty="0"/>
          </a:p>
        </p:txBody>
      </p:sp>
      <p:sp>
        <p:nvSpPr>
          <p:cNvPr id="3" name="Shape 1"/>
          <p:cNvSpPr/>
          <p:nvPr/>
        </p:nvSpPr>
        <p:spPr>
          <a:xfrm>
            <a:off x="9829800" y="338328"/>
            <a:ext cx="1783080" cy="329184"/>
          </a:xfrm>
          <a:prstGeom prst="roundRect">
            <a:avLst>
              <a:gd name="adj" fmla="val 22222"/>
            </a:avLst>
          </a:prstGeom>
          <a:solidFill>
            <a:srgbClr val="54D6A3">
              <a:alpha val="92000"/>
            </a:srgbClr>
          </a:solidFill>
          <a:ln w="12700">
            <a:solidFill>
              <a:srgbClr val="54D6A3">
                <a:alpha val="0"/>
              </a:srgbClr>
            </a:solidFill>
            <a:prstDash val="solid"/>
          </a:ln>
        </p:spPr>
      </p:sp>
      <p:sp>
        <p:nvSpPr>
          <p:cNvPr id="4" name="Text 2"/>
          <p:cNvSpPr/>
          <p:nvPr/>
        </p:nvSpPr>
        <p:spPr>
          <a:xfrm>
            <a:off x="9912096" y="416052"/>
            <a:ext cx="1609344" cy="118872"/>
          </a:xfrm>
          <a:prstGeom prst="rect">
            <a:avLst/>
          </a:prstGeom>
          <a:noFill/>
          <a:ln/>
        </p:spPr>
        <p:txBody>
          <a:bodyPr wrap="square" lIns="0" tIns="0" rIns="0" bIns="0" rtlCol="0" anchor="ctr">
            <a:normAutofit/>
          </a:bodyPr>
          <a:lstStyle/>
          <a:p>
            <a:pPr algn="ctr" indent="0" marL="0">
              <a:buNone/>
            </a:pPr>
            <a:r>
              <a:rPr lang="en-US" sz="1000" b="1" dirty="0">
                <a:solidFill>
                  <a:srgbClr val="07111F"/>
                </a:solidFill>
              </a:rPr>
              <a:t>Faria Fatima</a:t>
            </a:r>
            <a:endParaRPr lang="en-US" sz="1000" dirty="0"/>
          </a:p>
          <a:p>
            <a:pPr algn="ctr" indent="0" marL="0">
              <a:buNone/>
            </a:pPr>
            <a:endParaRPr lang="en-US" sz="1000" dirty="0"/>
          </a:p>
          <a:p>
            <a:pPr algn="ctr" indent="0" marL="0">
              <a:buNone/>
            </a:pPr>
            <a:r>
              <a:rPr lang="en-US" sz="1000" b="1" dirty="0">
                <a:solidFill>
                  <a:srgbClr val="07111F"/>
                </a:solidFill>
              </a:rPr>
              <a:t>Purpose: Explain how the backend preserves traceability and confidentiality.</a:t>
            </a:r>
            <a:endParaRPr lang="en-US" sz="1000" dirty="0"/>
          </a:p>
          <a:p>
            <a:pPr algn="ctr" indent="0" marL="0">
              <a:buNone/>
            </a:pPr>
            <a:endParaRPr lang="en-US" sz="1000" dirty="0"/>
          </a:p>
          <a:p>
            <a:pPr algn="ctr" indent="0" marL="0">
              <a:buNone/>
            </a:pPr>
            <a:r>
              <a:rPr lang="en-US" sz="1000" b="1" dirty="0">
                <a:solidFill>
                  <a:srgbClr val="07111F"/>
                </a:solidFill>
              </a:rPr>
              <a:t>Presentation Content:</a:t>
            </a:r>
            <a:endParaRPr lang="en-US" sz="1000" dirty="0"/>
          </a:p>
          <a:p>
            <a:pPr algn="ctr" indent="0" marL="0">
              <a:buNone/>
            </a:pPr>
            <a:endParaRPr lang="en-US" sz="1000" dirty="0"/>
          </a:p>
          <a:p>
            <a:pPr algn="ctr" indent="0" marL="0">
              <a:buNone/>
            </a:pPr>
            <a:r>
              <a:rPr lang="en-US" sz="1000" b="1" dirty="0">
                <a:solidFill>
                  <a:srgbClr val="07111F"/>
                </a:solidFill>
              </a:rPr>
              <a:t>- Core records include projects, deployable services, build-target revisions, runtime-config revisions, deployment generations, stable releases, and pipeline events.</a:t>
            </a:r>
            <a:endParaRPr lang="en-US" sz="1000" dirty="0"/>
          </a:p>
          <a:p>
            <a:pPr algn="ctr" indent="0" marL="0">
              <a:buNone/>
            </a:pPr>
            <a:endParaRPr lang="en-US" sz="1000" dirty="0"/>
          </a:p>
          <a:p>
            <a:pPr algn="ctr" indent="0" marL="0">
              <a:buNone/>
            </a:pPr>
            <a:r>
              <a:rPr lang="en-US" sz="1000" b="1" dirty="0">
                <a:solidFill>
                  <a:srgbClr val="07111F"/>
                </a:solidFill>
              </a:rPr>
              <a:t>- Additional records cover managed databases, environment routes, FinOps decisions, infrastructure evidence, state operations, storage, observability, AI analysis, notifications, and billing.</a:t>
            </a:r>
            <a:endParaRPr lang="en-US" sz="1000" dirty="0"/>
          </a:p>
          <a:p>
            <a:pPr algn="ctr" indent="0" marL="0">
              <a:buNone/>
            </a:pPr>
            <a:endParaRPr lang="en-US" sz="1000" dirty="0"/>
          </a:p>
          <a:p>
            <a:pPr algn="ctr" indent="0" marL="0">
              <a:buNone/>
            </a:pPr>
            <a:r>
              <a:rPr lang="en-US" sz="1000" b="1" dirty="0">
                <a:solidFill>
                  <a:srgbClr val="07111F"/>
                </a:solidFill>
              </a:rPr>
              <a:t>- Environment variables are service-scoped so values cannot silently leak between applications in a multi-service project.</a:t>
            </a:r>
            <a:endParaRPr lang="en-US" sz="1000" dirty="0"/>
          </a:p>
          <a:p>
            <a:pPr algn="ctr" indent="0" marL="0">
              <a:buNone/>
            </a:pPr>
            <a:endParaRPr lang="en-US" sz="1000" dirty="0"/>
          </a:p>
          <a:p>
            <a:pPr algn="ctr" indent="0" marL="0">
              <a:buNone/>
            </a:pPr>
            <a:r>
              <a:rPr lang="en-US" sz="1000" b="1" dirty="0">
                <a:solidFill>
                  <a:srgbClr val="07111F"/>
                </a:solidFill>
              </a:rPr>
              <a:t>- Sensitive values are encrypted with authenticated encryption before storage and are decrypted only for authorized execution paths.</a:t>
            </a:r>
            <a:endParaRPr lang="en-US" sz="1000" dirty="0"/>
          </a:p>
          <a:p>
            <a:pPr algn="ctr" indent="0" marL="0">
              <a:buNone/>
            </a:pPr>
            <a:endParaRPr lang="en-US" sz="1000" dirty="0"/>
          </a:p>
          <a:p>
            <a:pPr algn="ctr" indent="0" marL="0">
              <a:buNone/>
            </a:pPr>
            <a:r>
              <a:rPr lang="en-US" sz="1000" b="1" dirty="0">
                <a:solidFill>
                  <a:srgbClr val="07111F"/>
                </a:solidFill>
              </a:rPr>
              <a:t>- Runtime configuration revisions preserve deploy-time identity without displaying plaintext secrets in evidence or UI responses.</a:t>
            </a:r>
            <a:endParaRPr lang="en-US" sz="1000" dirty="0"/>
          </a:p>
          <a:p>
            <a:pPr algn="ctr" indent="0" marL="0">
              <a:buNone/>
            </a:pPr>
            <a:endParaRPr lang="en-US" sz="1000" dirty="0"/>
          </a:p>
          <a:p>
            <a:pPr algn="ctr" indent="0" marL="0">
              <a:buNone/>
            </a:pPr>
            <a:r>
              <a:rPr lang="en-US" sz="1000" b="1" dirty="0">
                <a:solidFill>
                  <a:srgbClr val="07111F"/>
                </a:solidFill>
              </a:rPr>
              <a:t>- Database migrations make schema evolution repeatable in local and containerized environments.</a:t>
            </a:r>
            <a:endParaRPr lang="en-US" sz="1000" dirty="0"/>
          </a:p>
          <a:p>
            <a:pPr algn="ctr" indent="0" marL="0">
              <a:buNone/>
            </a:pPr>
            <a:endParaRPr lang="en-US" sz="1000" dirty="0"/>
          </a:p>
          <a:p>
            <a:pPr algn="ctr" indent="0" marL="0">
              <a:buNone/>
            </a:pPr>
            <a:r>
              <a:rPr lang="en-US" sz="1000" b="1" dirty="0">
                <a:solidFill>
                  <a:srgbClr val="07111F"/>
                </a:solidFill>
              </a:rPr>
              <a:t>Visual Recommendation: Simplified entity relationship diagram centered on Project → Service → Config Revision → Generation → Stable Release.</a:t>
            </a:r>
            <a:endParaRPr lang="en-US" sz="1000" dirty="0"/>
          </a:p>
          <a:p>
            <a:pPr algn="ctr" indent="0" marL="0">
              <a:buNone/>
            </a:pPr>
            <a:endParaRPr lang="en-US" sz="1000" dirty="0"/>
          </a:p>
          <a:p>
            <a:pPr algn="ctr" indent="0" marL="0">
              <a:buNone/>
            </a:pPr>
            <a:r>
              <a:rPr lang="en-US" sz="1000" b="1" dirty="0">
                <a:solidFill>
                  <a:srgbClr val="07111F"/>
                </a:solidFill>
              </a:rPr>
              <a:t>Defense Notes: Avoid saying that an encrypted secret is safe merely because it is hidden in the interface. The defense includes encryption at rest, scoped access, controlled injection, redaction, and audit trails.</a:t>
            </a:r>
            <a:endParaRPr lang="en-US" sz="1000" dirty="0"/>
          </a:p>
        </p:txBody>
      </p:sp>
      <p:sp>
        <p:nvSpPr>
          <p:cNvPr id="5" name="Shape 3"/>
          <p:cNvSpPr/>
          <p:nvPr/>
        </p:nvSpPr>
        <p:spPr>
          <a:xfrm>
            <a:off x="502920" y="932688"/>
            <a:ext cx="11109960" cy="0"/>
          </a:xfrm>
          <a:prstGeom prst="line">
            <a:avLst/>
          </a:prstGeom>
          <a:noFill/>
          <a:ln w="17780">
            <a:solidFill>
              <a:srgbClr val="54D6A3">
                <a:alpha val="75000"/>
              </a:srgbClr>
            </a:solidFill>
            <a:prstDash val="solid"/>
          </a:ln>
        </p:spPr>
      </p:sp>
      <p:sp>
        <p:nvSpPr>
          <p:cNvPr id="6" name="Text 4"/>
          <p:cNvSpPr/>
          <p:nvPr/>
        </p:nvSpPr>
        <p:spPr>
          <a:xfrm>
            <a:off x="502920" y="996696"/>
            <a:ext cx="5212080" cy="164592"/>
          </a:xfrm>
          <a:prstGeom prst="rect">
            <a:avLst/>
          </a:prstGeom>
          <a:noFill/>
          <a:ln/>
        </p:spPr>
        <p:txBody>
          <a:bodyPr wrap="square" lIns="0" tIns="0" rIns="0" bIns="0" rtlCol="0" anchor="ctr"/>
          <a:lstStyle/>
          <a:p>
            <a:pPr indent="0" marL="0">
              <a:buNone/>
            </a:pPr>
            <a:r>
              <a:rPr lang="en-US" sz="850" b="1" spc="110" kern="0" dirty="0">
                <a:solidFill>
                  <a:srgbClr val="54D6A3"/>
                </a:solidFill>
              </a:rPr>
              <a:t>FARIA — BACKEND &amp; INTEGRATION</a:t>
            </a:r>
            <a:endParaRPr lang="en-US" sz="850" dirty="0"/>
          </a:p>
        </p:txBody>
      </p:sp>
      <p:sp>
        <p:nvSpPr>
          <p:cNvPr id="7" name="Text 5"/>
          <p:cNvSpPr/>
          <p:nvPr/>
        </p:nvSpPr>
        <p:spPr>
          <a:xfrm>
            <a:off x="594360" y="1325880"/>
            <a:ext cx="5349240" cy="4937760"/>
          </a:xfrm>
          <a:prstGeom prst="rect">
            <a:avLst/>
          </a:prstGeom>
          <a:noFill/>
          <a:ln/>
        </p:spPr>
        <p:txBody>
          <a:bodyPr wrap="square" lIns="254" tIns="254" rIns="254" bIns="254" rtlCol="0" anchor="ctr">
            <a:normAutofit/>
          </a:bodyPr>
          <a:lstStyle/>
          <a:p>
            <a:pPr marL="190500" indent="-190500">
              <a:buSzPct val="100000"/>
              <a:buChar char="•"/>
            </a:pPr>
            <a:r>
              <a:rPr lang="en-US" sz="1580" dirty="0">
                <a:solidFill>
                  <a:srgbClr val="D9E5EF"/>
                </a:solidFill>
                <a:latin typeface="Aptos" pitchFamily="34" charset="0"/>
                <a:ea typeface="Aptos" pitchFamily="34" charset="-122"/>
                <a:cs typeface="Aptos" pitchFamily="34" charset="-120"/>
              </a:rPr>
              <a:t>Core records include projects, deployable services, build-target revisions, runtime-config revisions, deployment generations, stable releases, and pipeline events.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Additional records cover managed databases, environment routes, FinOps decisions, infrastructure evidence, state operations, storage, observability, AI analysis, notifications, and billing.</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Environment variables are service-scoped so values cannot silently leak between applications in a multi-service project.</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Sensitive values are encrypted with authenticated encryption before storage and are decrypted only for authorized execution paths.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Runtime configuration revisions preserve deploy-time identity without displaying plaintext secrets in evidence or UI responses.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Database migrations make schema evolution repeatable in local and containerized environments.</a:t>
            </a:r>
            <a:endParaRPr lang="en-US" sz="1580" dirty="0"/>
          </a:p>
        </p:txBody>
      </p:sp>
      <p:sp>
        <p:nvSpPr>
          <p:cNvPr id="8" name="Shape 6"/>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9" name="Shape 7"/>
          <p:cNvSpPr/>
          <p:nvPr/>
        </p:nvSpPr>
        <p:spPr>
          <a:xfrm>
            <a:off x="6446520" y="1920240"/>
            <a:ext cx="868680" cy="960120"/>
          </a:xfrm>
          <a:prstGeom prst="roundRect">
            <a:avLst>
              <a:gd name="adj" fmla="val 5263"/>
            </a:avLst>
          </a:prstGeom>
          <a:solidFill>
            <a:srgbClr val="12263A"/>
          </a:solidFill>
          <a:ln w="17780">
            <a:solidFill>
              <a:srgbClr val="35C2D8"/>
            </a:solidFill>
            <a:prstDash val="solid"/>
          </a:ln>
        </p:spPr>
      </p:sp>
      <p:sp>
        <p:nvSpPr>
          <p:cNvPr id="10" name="Text 8"/>
          <p:cNvSpPr/>
          <p:nvPr/>
        </p:nvSpPr>
        <p:spPr>
          <a:xfrm>
            <a:off x="6537960" y="2048256"/>
            <a:ext cx="68580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Project</a:t>
            </a:r>
            <a:endParaRPr lang="en-US" sz="1200" dirty="0"/>
          </a:p>
        </p:txBody>
      </p:sp>
      <p:sp>
        <p:nvSpPr>
          <p:cNvPr id="11" name="Shape 9"/>
          <p:cNvSpPr/>
          <p:nvPr/>
        </p:nvSpPr>
        <p:spPr>
          <a:xfrm>
            <a:off x="7315200" y="2404872"/>
            <a:ext cx="100584" cy="0"/>
          </a:xfrm>
          <a:prstGeom prst="line">
            <a:avLst/>
          </a:prstGeom>
          <a:noFill/>
          <a:ln w="12700">
            <a:solidFill>
              <a:srgbClr val="54D6A3"/>
            </a:solidFill>
            <a:prstDash val="solid"/>
            <a:tailEnd type="triangle"/>
          </a:ln>
        </p:spPr>
      </p:sp>
      <p:sp>
        <p:nvSpPr>
          <p:cNvPr id="12" name="Shape 10"/>
          <p:cNvSpPr/>
          <p:nvPr/>
        </p:nvSpPr>
        <p:spPr>
          <a:xfrm>
            <a:off x="7434072" y="1920240"/>
            <a:ext cx="868680" cy="960120"/>
          </a:xfrm>
          <a:prstGeom prst="roundRect">
            <a:avLst>
              <a:gd name="adj" fmla="val 5263"/>
            </a:avLst>
          </a:prstGeom>
          <a:solidFill>
            <a:srgbClr val="12263A"/>
          </a:solidFill>
          <a:ln w="17780">
            <a:solidFill>
              <a:srgbClr val="4FA3FF"/>
            </a:solidFill>
            <a:prstDash val="solid"/>
          </a:ln>
        </p:spPr>
      </p:sp>
      <p:sp>
        <p:nvSpPr>
          <p:cNvPr id="13" name="Text 11"/>
          <p:cNvSpPr/>
          <p:nvPr/>
        </p:nvSpPr>
        <p:spPr>
          <a:xfrm>
            <a:off x="7525512" y="2048256"/>
            <a:ext cx="68580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Service</a:t>
            </a:r>
            <a:endParaRPr lang="en-US" sz="1200" dirty="0"/>
          </a:p>
        </p:txBody>
      </p:sp>
      <p:sp>
        <p:nvSpPr>
          <p:cNvPr id="14" name="Shape 12"/>
          <p:cNvSpPr/>
          <p:nvPr/>
        </p:nvSpPr>
        <p:spPr>
          <a:xfrm>
            <a:off x="8302752" y="2404872"/>
            <a:ext cx="100584" cy="0"/>
          </a:xfrm>
          <a:prstGeom prst="line">
            <a:avLst/>
          </a:prstGeom>
          <a:noFill/>
          <a:ln w="12700">
            <a:solidFill>
              <a:srgbClr val="54D6A3"/>
            </a:solidFill>
            <a:prstDash val="solid"/>
            <a:tailEnd type="triangle"/>
          </a:ln>
        </p:spPr>
      </p:sp>
      <p:sp>
        <p:nvSpPr>
          <p:cNvPr id="15" name="Shape 13"/>
          <p:cNvSpPr/>
          <p:nvPr/>
        </p:nvSpPr>
        <p:spPr>
          <a:xfrm>
            <a:off x="8421624" y="1920240"/>
            <a:ext cx="868680" cy="960120"/>
          </a:xfrm>
          <a:prstGeom prst="roundRect">
            <a:avLst>
              <a:gd name="adj" fmla="val 5263"/>
            </a:avLst>
          </a:prstGeom>
          <a:solidFill>
            <a:srgbClr val="12263A"/>
          </a:solidFill>
          <a:ln w="17780">
            <a:solidFill>
              <a:srgbClr val="B276FF"/>
            </a:solidFill>
            <a:prstDash val="solid"/>
          </a:ln>
        </p:spPr>
      </p:sp>
      <p:sp>
        <p:nvSpPr>
          <p:cNvPr id="16" name="Text 14"/>
          <p:cNvSpPr/>
          <p:nvPr/>
        </p:nvSpPr>
        <p:spPr>
          <a:xfrm>
            <a:off x="8513064" y="2048256"/>
            <a:ext cx="68580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Config Revision</a:t>
            </a:r>
            <a:endParaRPr lang="en-US" sz="1200" dirty="0"/>
          </a:p>
        </p:txBody>
      </p:sp>
      <p:sp>
        <p:nvSpPr>
          <p:cNvPr id="17" name="Shape 15"/>
          <p:cNvSpPr/>
          <p:nvPr/>
        </p:nvSpPr>
        <p:spPr>
          <a:xfrm>
            <a:off x="9290304" y="2404872"/>
            <a:ext cx="100584" cy="0"/>
          </a:xfrm>
          <a:prstGeom prst="line">
            <a:avLst/>
          </a:prstGeom>
          <a:noFill/>
          <a:ln w="12700">
            <a:solidFill>
              <a:srgbClr val="54D6A3"/>
            </a:solidFill>
            <a:prstDash val="solid"/>
            <a:tailEnd type="triangle"/>
          </a:ln>
        </p:spPr>
      </p:sp>
      <p:sp>
        <p:nvSpPr>
          <p:cNvPr id="18" name="Shape 16"/>
          <p:cNvSpPr/>
          <p:nvPr/>
        </p:nvSpPr>
        <p:spPr>
          <a:xfrm>
            <a:off x="9409176" y="1920240"/>
            <a:ext cx="868680" cy="960120"/>
          </a:xfrm>
          <a:prstGeom prst="roundRect">
            <a:avLst>
              <a:gd name="adj" fmla="val 5263"/>
            </a:avLst>
          </a:prstGeom>
          <a:solidFill>
            <a:srgbClr val="12263A"/>
          </a:solidFill>
          <a:ln w="17780">
            <a:solidFill>
              <a:srgbClr val="F5B041"/>
            </a:solidFill>
            <a:prstDash val="solid"/>
          </a:ln>
        </p:spPr>
      </p:sp>
      <p:sp>
        <p:nvSpPr>
          <p:cNvPr id="19" name="Text 17"/>
          <p:cNvSpPr/>
          <p:nvPr/>
        </p:nvSpPr>
        <p:spPr>
          <a:xfrm>
            <a:off x="9500616" y="2048256"/>
            <a:ext cx="68580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Generation</a:t>
            </a:r>
            <a:endParaRPr lang="en-US" sz="1200" dirty="0"/>
          </a:p>
        </p:txBody>
      </p:sp>
      <p:sp>
        <p:nvSpPr>
          <p:cNvPr id="20" name="Shape 18"/>
          <p:cNvSpPr/>
          <p:nvPr/>
        </p:nvSpPr>
        <p:spPr>
          <a:xfrm>
            <a:off x="10277856" y="2404872"/>
            <a:ext cx="100584" cy="0"/>
          </a:xfrm>
          <a:prstGeom prst="line">
            <a:avLst/>
          </a:prstGeom>
          <a:noFill/>
          <a:ln w="12700">
            <a:solidFill>
              <a:srgbClr val="54D6A3"/>
            </a:solidFill>
            <a:prstDash val="solid"/>
            <a:tailEnd type="triangle"/>
          </a:ln>
        </p:spPr>
      </p:sp>
      <p:sp>
        <p:nvSpPr>
          <p:cNvPr id="21" name="Shape 19"/>
          <p:cNvSpPr/>
          <p:nvPr/>
        </p:nvSpPr>
        <p:spPr>
          <a:xfrm>
            <a:off x="10396728" y="1920240"/>
            <a:ext cx="868680" cy="960120"/>
          </a:xfrm>
          <a:prstGeom prst="roundRect">
            <a:avLst>
              <a:gd name="adj" fmla="val 5263"/>
            </a:avLst>
          </a:prstGeom>
          <a:solidFill>
            <a:srgbClr val="12263A"/>
          </a:solidFill>
          <a:ln w="17780">
            <a:solidFill>
              <a:srgbClr val="54D6A3"/>
            </a:solidFill>
            <a:prstDash val="solid"/>
          </a:ln>
        </p:spPr>
      </p:sp>
      <p:sp>
        <p:nvSpPr>
          <p:cNvPr id="22" name="Text 20"/>
          <p:cNvSpPr/>
          <p:nvPr/>
        </p:nvSpPr>
        <p:spPr>
          <a:xfrm>
            <a:off x="10488168" y="2048256"/>
            <a:ext cx="68580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Stable Release</a:t>
            </a:r>
            <a:endParaRPr lang="en-US" sz="1200" dirty="0"/>
          </a:p>
        </p:txBody>
      </p:sp>
      <p:sp>
        <p:nvSpPr>
          <p:cNvPr id="23" name="Shape 21"/>
          <p:cNvSpPr/>
          <p:nvPr/>
        </p:nvSpPr>
        <p:spPr>
          <a:xfrm>
            <a:off x="7315200" y="3840480"/>
            <a:ext cx="3383280" cy="1097280"/>
          </a:xfrm>
          <a:prstGeom prst="roundRect">
            <a:avLst>
              <a:gd name="adj" fmla="val 5000"/>
            </a:avLst>
          </a:prstGeom>
          <a:solidFill>
            <a:srgbClr val="0F1D2D"/>
          </a:solidFill>
          <a:ln w="12700">
            <a:solidFill>
              <a:srgbClr val="29445C"/>
            </a:solidFill>
            <a:prstDash val="solid"/>
          </a:ln>
        </p:spPr>
      </p:sp>
      <p:sp>
        <p:nvSpPr>
          <p:cNvPr id="24" name="Shape 22"/>
          <p:cNvSpPr/>
          <p:nvPr/>
        </p:nvSpPr>
        <p:spPr>
          <a:xfrm>
            <a:off x="7315200" y="3840480"/>
            <a:ext cx="54864" cy="1097280"/>
          </a:xfrm>
          <a:prstGeom prst="rect">
            <a:avLst/>
          </a:prstGeom>
          <a:solidFill>
            <a:srgbClr val="FF6B6B"/>
          </a:solidFill>
          <a:ln w="12700">
            <a:solidFill>
              <a:srgbClr val="FF6B6B"/>
            </a:solidFill>
            <a:prstDash val="solid"/>
          </a:ln>
        </p:spPr>
      </p:sp>
      <p:sp>
        <p:nvSpPr>
          <p:cNvPr id="25" name="Text 23"/>
          <p:cNvSpPr/>
          <p:nvPr/>
        </p:nvSpPr>
        <p:spPr>
          <a:xfrm>
            <a:off x="7516368" y="3995928"/>
            <a:ext cx="3072384" cy="256032"/>
          </a:xfrm>
          <a:prstGeom prst="rect">
            <a:avLst/>
          </a:prstGeom>
          <a:noFill/>
          <a:ln/>
        </p:spPr>
        <p:txBody>
          <a:bodyPr wrap="square" lIns="0" tIns="0" rIns="0" bIns="0" rtlCol="0" anchor="ctr">
            <a:normAutofit/>
          </a:bodyPr>
          <a:lstStyle/>
          <a:p>
            <a:pPr indent="0" marL="0">
              <a:buNone/>
            </a:pPr>
            <a:r>
              <a:rPr lang="en-US" sz="1200" b="1" dirty="0">
                <a:solidFill>
                  <a:srgbClr val="F7FAFC"/>
                </a:solidFill>
              </a:rPr>
              <a:t>SECRET HANDLING</a:t>
            </a:r>
            <a:endParaRPr lang="en-US" sz="1200" dirty="0"/>
          </a:p>
        </p:txBody>
      </p:sp>
      <p:sp>
        <p:nvSpPr>
          <p:cNvPr id="26" name="Text 24"/>
          <p:cNvSpPr/>
          <p:nvPr/>
        </p:nvSpPr>
        <p:spPr>
          <a:xfrm>
            <a:off x="7516368" y="4352544"/>
            <a:ext cx="3072384" cy="438912"/>
          </a:xfrm>
          <a:prstGeom prst="rect">
            <a:avLst/>
          </a:prstGeom>
          <a:noFill/>
          <a:ln/>
        </p:spPr>
        <p:txBody>
          <a:bodyPr wrap="square" lIns="0" tIns="0" rIns="0" bIns="0" rtlCol="0" anchor="ctr">
            <a:normAutofit/>
          </a:bodyPr>
          <a:lstStyle/>
          <a:p>
            <a:pPr indent="0" marL="0">
              <a:buNone/>
            </a:pPr>
            <a:r>
              <a:rPr lang="en-US" sz="1050" dirty="0">
                <a:solidFill>
                  <a:srgbClr val="8FA6B9"/>
                </a:solidFill>
              </a:rPr>
              <a:t>Service-scoped • encrypted at rest • controlled injection • redacted evidence</a:t>
            </a:r>
            <a:endParaRPr lang="en-US" sz="1050" dirty="0"/>
          </a:p>
        </p:txBody>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347472"/>
            <a:ext cx="9098280" cy="475488"/>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Orchestration, Failure Evidence, Audit, and Notifications</a:t>
            </a:r>
            <a:endParaRPr lang="en-US" sz="2400" dirty="0"/>
          </a:p>
        </p:txBody>
      </p:sp>
      <p:sp>
        <p:nvSpPr>
          <p:cNvPr id="3" name="Shape 1"/>
          <p:cNvSpPr/>
          <p:nvPr/>
        </p:nvSpPr>
        <p:spPr>
          <a:xfrm>
            <a:off x="9829800" y="338328"/>
            <a:ext cx="1783080" cy="329184"/>
          </a:xfrm>
          <a:prstGeom prst="roundRect">
            <a:avLst>
              <a:gd name="adj" fmla="val 22222"/>
            </a:avLst>
          </a:prstGeom>
          <a:solidFill>
            <a:srgbClr val="54D6A3">
              <a:alpha val="92000"/>
            </a:srgbClr>
          </a:solidFill>
          <a:ln w="12700">
            <a:solidFill>
              <a:srgbClr val="54D6A3">
                <a:alpha val="0"/>
              </a:srgbClr>
            </a:solidFill>
            <a:prstDash val="solid"/>
          </a:ln>
        </p:spPr>
      </p:sp>
      <p:sp>
        <p:nvSpPr>
          <p:cNvPr id="4" name="Text 2"/>
          <p:cNvSpPr/>
          <p:nvPr/>
        </p:nvSpPr>
        <p:spPr>
          <a:xfrm>
            <a:off x="9912096" y="416052"/>
            <a:ext cx="1609344" cy="118872"/>
          </a:xfrm>
          <a:prstGeom prst="rect">
            <a:avLst/>
          </a:prstGeom>
          <a:noFill/>
          <a:ln/>
        </p:spPr>
        <p:txBody>
          <a:bodyPr wrap="square" lIns="0" tIns="0" rIns="0" bIns="0" rtlCol="0" anchor="ctr">
            <a:normAutofit/>
          </a:bodyPr>
          <a:lstStyle/>
          <a:p>
            <a:pPr algn="ctr" indent="0" marL="0">
              <a:buNone/>
            </a:pPr>
            <a:r>
              <a:rPr lang="en-US" sz="1000" b="1" dirty="0">
                <a:solidFill>
                  <a:srgbClr val="07111F"/>
                </a:solidFill>
              </a:rPr>
              <a:t>Faria Fatima</a:t>
            </a:r>
            <a:endParaRPr lang="en-US" sz="1000" dirty="0"/>
          </a:p>
          <a:p>
            <a:pPr algn="ctr" indent="0" marL="0">
              <a:buNone/>
            </a:pPr>
            <a:endParaRPr lang="en-US" sz="1000" dirty="0"/>
          </a:p>
          <a:p>
            <a:pPr algn="ctr" indent="0" marL="0">
              <a:buNone/>
            </a:pPr>
            <a:r>
              <a:rPr lang="en-US" sz="1000" b="1" dirty="0">
                <a:solidFill>
                  <a:srgbClr val="07111F"/>
                </a:solidFill>
              </a:rPr>
              <a:t>Purpose: Show how backend operations remain understandable during success and failure.</a:t>
            </a:r>
            <a:endParaRPr lang="en-US" sz="1000" dirty="0"/>
          </a:p>
          <a:p>
            <a:pPr algn="ctr" indent="0" marL="0">
              <a:buNone/>
            </a:pPr>
            <a:endParaRPr lang="en-US" sz="1000" dirty="0"/>
          </a:p>
          <a:p>
            <a:pPr algn="ctr" indent="0" marL="0">
              <a:buNone/>
            </a:pPr>
            <a:r>
              <a:rPr lang="en-US" sz="1000" b="1" dirty="0">
                <a:solidFill>
                  <a:srgbClr val="07111F"/>
                </a:solidFill>
              </a:rPr>
              <a:t>Presentation Content:</a:t>
            </a:r>
            <a:endParaRPr lang="en-US" sz="1000" dirty="0"/>
          </a:p>
          <a:p>
            <a:pPr algn="ctr" indent="0" marL="0">
              <a:buNone/>
            </a:pPr>
            <a:endParaRPr lang="en-US" sz="1000" dirty="0"/>
          </a:p>
          <a:p>
            <a:pPr algn="ctr" indent="0" marL="0">
              <a:buNone/>
            </a:pPr>
            <a:r>
              <a:rPr lang="en-US" sz="1000" b="1" dirty="0">
                <a:solidFill>
                  <a:srgbClr val="07111F"/>
                </a:solidFill>
              </a:rPr>
              <a:t>- Admission validates source identity, service contracts, managed-database state, AWS capabilities, runtime secrets, billing entitlement, and action eligibility.</a:t>
            </a:r>
            <a:endParaRPr lang="en-US" sz="1000" dirty="0"/>
          </a:p>
          <a:p>
            <a:pPr algn="ctr" indent="0" marL="0">
              <a:buNone/>
            </a:pPr>
            <a:endParaRPr lang="en-US" sz="1000" dirty="0"/>
          </a:p>
          <a:p>
            <a:pPr algn="ctr" indent="0" marL="0">
              <a:buNone/>
            </a:pPr>
            <a:r>
              <a:rPr lang="en-US" sz="1000" b="1" dirty="0">
                <a:solidFill>
                  <a:srgbClr val="07111F"/>
                </a:solidFill>
              </a:rPr>
              <a:t>- A lifecycle action creates or references a generation, dispatches asynchronous work, consumes workflow evidence, and persists terminal state.</a:t>
            </a:r>
            <a:endParaRPr lang="en-US" sz="1000" dirty="0"/>
          </a:p>
          <a:p>
            <a:pPr algn="ctr" indent="0" marL="0">
              <a:buNone/>
            </a:pPr>
            <a:endParaRPr lang="en-US" sz="1000" dirty="0"/>
          </a:p>
          <a:p>
            <a:pPr algn="ctr" indent="0" marL="0">
              <a:buNone/>
            </a:pPr>
            <a:r>
              <a:rPr lang="en-US" sz="1000" b="1" dirty="0">
                <a:solidFill>
                  <a:srgbClr val="07111F"/>
                </a:solidFill>
              </a:rPr>
              <a:t>- Failure diagnostics carry deterministic code, lifecycle stage, owner, affected service, root cause, evidence, and retry guidance.</a:t>
            </a:r>
            <a:endParaRPr lang="en-US" sz="1000" dirty="0"/>
          </a:p>
          <a:p>
            <a:pPr algn="ctr" indent="0" marL="0">
              <a:buNone/>
            </a:pPr>
            <a:endParaRPr lang="en-US" sz="1000" dirty="0"/>
          </a:p>
          <a:p>
            <a:pPr algn="ctr" indent="0" marL="0">
              <a:buNone/>
            </a:pPr>
            <a:r>
              <a:rPr lang="en-US" sz="1000" b="1" dirty="0">
                <a:solidFill>
                  <a:srgbClr val="07111F"/>
                </a:solidFill>
              </a:rPr>
              <a:t>- Audit logs preserve who performed an action, what resource was affected, whether it succeeded, and sanitized request context.</a:t>
            </a:r>
            <a:endParaRPr lang="en-US" sz="1000" dirty="0"/>
          </a:p>
          <a:p>
            <a:pPr algn="ctr" indent="0" marL="0">
              <a:buNone/>
            </a:pPr>
            <a:endParaRPr lang="en-US" sz="1000" dirty="0"/>
          </a:p>
          <a:p>
            <a:pPr algn="ctr" indent="0" marL="0">
              <a:buNone/>
            </a:pPr>
            <a:r>
              <a:rPr lang="en-US" sz="1000" b="1" dirty="0">
                <a:solidFill>
                  <a:srgbClr val="07111F"/>
                </a:solidFill>
              </a:rPr>
              <a:t>- Notification adapters can publish operational email subscriptions through AWS SNS when live configuration and credentials are available.</a:t>
            </a:r>
            <a:endParaRPr lang="en-US" sz="1000" dirty="0"/>
          </a:p>
          <a:p>
            <a:pPr algn="ctr" indent="0" marL="0">
              <a:buNone/>
            </a:pPr>
            <a:endParaRPr lang="en-US" sz="1000" dirty="0"/>
          </a:p>
          <a:p>
            <a:pPr algn="ctr" indent="0" marL="0">
              <a:buNone/>
            </a:pPr>
            <a:r>
              <a:rPr lang="en-US" sz="1000" b="1" dirty="0">
                <a:solidFill>
                  <a:srgbClr val="07111F"/>
                </a:solidFill>
              </a:rPr>
              <a:t>- Recovery actions reuse persisted evidence and reconciliation rules instead of treating every failure as a clean restart.</a:t>
            </a:r>
            <a:endParaRPr lang="en-US" sz="1000" dirty="0"/>
          </a:p>
          <a:p>
            <a:pPr algn="ctr" indent="0" marL="0">
              <a:buNone/>
            </a:pPr>
            <a:endParaRPr lang="en-US" sz="1000" dirty="0"/>
          </a:p>
          <a:p>
            <a:pPr algn="ctr" indent="0" marL="0">
              <a:buNone/>
            </a:pPr>
            <a:r>
              <a:rPr lang="en-US" sz="1000" b="1" dirty="0">
                <a:solidFill>
                  <a:srgbClr val="07111F"/>
                </a:solidFill>
              </a:rPr>
              <a:t>Visual Recommendation: Sequence diagram: API Admission → Queue → Workflow → Evidence Ingestion → State Transition → Audit/Notification → UI.</a:t>
            </a:r>
            <a:endParaRPr lang="en-US" sz="1000" dirty="0"/>
          </a:p>
          <a:p>
            <a:pPr algn="ctr" indent="0" marL="0">
              <a:buNone/>
            </a:pPr>
            <a:endParaRPr lang="en-US" sz="1000" dirty="0"/>
          </a:p>
          <a:p>
            <a:pPr algn="ctr" indent="0" marL="0">
              <a:buNone/>
            </a:pPr>
            <a:r>
              <a:rPr lang="en-US" sz="1000" b="1" dirty="0">
                <a:solidFill>
                  <a:srgbClr val="07111F"/>
                </a:solidFill>
              </a:rPr>
              <a:t>Defense Notes: A failure code alone is insufficient. DeployGuard combines code, stage, owner, service scope, and evidence so the next action can be safe and specific.</a:t>
            </a:r>
            <a:endParaRPr lang="en-US" sz="1000" dirty="0"/>
          </a:p>
        </p:txBody>
      </p:sp>
      <p:sp>
        <p:nvSpPr>
          <p:cNvPr id="5" name="Shape 3"/>
          <p:cNvSpPr/>
          <p:nvPr/>
        </p:nvSpPr>
        <p:spPr>
          <a:xfrm>
            <a:off x="502920" y="932688"/>
            <a:ext cx="11109960" cy="0"/>
          </a:xfrm>
          <a:prstGeom prst="line">
            <a:avLst/>
          </a:prstGeom>
          <a:noFill/>
          <a:ln w="17780">
            <a:solidFill>
              <a:srgbClr val="54D6A3">
                <a:alpha val="75000"/>
              </a:srgbClr>
            </a:solidFill>
            <a:prstDash val="solid"/>
          </a:ln>
        </p:spPr>
      </p:sp>
      <p:sp>
        <p:nvSpPr>
          <p:cNvPr id="6" name="Text 4"/>
          <p:cNvSpPr/>
          <p:nvPr/>
        </p:nvSpPr>
        <p:spPr>
          <a:xfrm>
            <a:off x="502920" y="996696"/>
            <a:ext cx="5212080" cy="164592"/>
          </a:xfrm>
          <a:prstGeom prst="rect">
            <a:avLst/>
          </a:prstGeom>
          <a:noFill/>
          <a:ln/>
        </p:spPr>
        <p:txBody>
          <a:bodyPr wrap="square" lIns="0" tIns="0" rIns="0" bIns="0" rtlCol="0" anchor="ctr"/>
          <a:lstStyle/>
          <a:p>
            <a:pPr indent="0" marL="0">
              <a:buNone/>
            </a:pPr>
            <a:r>
              <a:rPr lang="en-US" sz="850" b="1" spc="110" kern="0" dirty="0">
                <a:solidFill>
                  <a:srgbClr val="54D6A3"/>
                </a:solidFill>
              </a:rPr>
              <a:t>FARIA — BACKEND &amp; INTEGRATION</a:t>
            </a:r>
            <a:endParaRPr lang="en-US" sz="850" dirty="0"/>
          </a:p>
        </p:txBody>
      </p:sp>
      <p:sp>
        <p:nvSpPr>
          <p:cNvPr id="7" name="Text 5"/>
          <p:cNvSpPr/>
          <p:nvPr/>
        </p:nvSpPr>
        <p:spPr>
          <a:xfrm>
            <a:off x="594360" y="1325880"/>
            <a:ext cx="5349240" cy="4937760"/>
          </a:xfrm>
          <a:prstGeom prst="rect">
            <a:avLst/>
          </a:prstGeom>
          <a:noFill/>
          <a:ln/>
        </p:spPr>
        <p:txBody>
          <a:bodyPr wrap="square" lIns="254" tIns="254" rIns="254" bIns="254" rtlCol="0" anchor="ctr">
            <a:normAutofit/>
          </a:bodyPr>
          <a:lstStyle/>
          <a:p>
            <a:pPr marL="190500" indent="-190500">
              <a:buSzPct val="100000"/>
              <a:buChar char="•"/>
            </a:pPr>
            <a:r>
              <a:rPr lang="en-US" sz="1580" dirty="0">
                <a:solidFill>
                  <a:srgbClr val="D9E5EF"/>
                </a:solidFill>
                <a:latin typeface="Aptos" pitchFamily="34" charset="0"/>
                <a:ea typeface="Aptos" pitchFamily="34" charset="-122"/>
                <a:cs typeface="Aptos" pitchFamily="34" charset="-120"/>
              </a:rPr>
              <a:t>Admission validates source identity, service contracts, managed-database state, AWS capabilities, runtime secrets, billing entitlement, and action eligibility.</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A lifecycle action creates or references a generation, dispatches asynchronous work, consumes workflow evidence, and persists terminal state.</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Failure diagnostics carry deterministic code, lifecycle stage, owner, affected service, root cause, evidence, and retry guidance.</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Audit logs preserve who performed an action, what resource was affected, whether it succeeded, and sanitized request context.</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Notification adapters can publish operational email subscriptions through AWS SNS when live configuration and credentials are available.</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Recovery actions reuse persisted evidence and reconciliation rules instead of treating every failure as a clean restart.</a:t>
            </a:r>
            <a:endParaRPr lang="en-US" sz="1580" dirty="0"/>
          </a:p>
        </p:txBody>
      </p:sp>
      <p:sp>
        <p:nvSpPr>
          <p:cNvPr id="8" name="Shape 6"/>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9" name="Shape 7"/>
          <p:cNvSpPr/>
          <p:nvPr/>
        </p:nvSpPr>
        <p:spPr>
          <a:xfrm>
            <a:off x="6400800" y="1554480"/>
            <a:ext cx="1371600" cy="822960"/>
          </a:xfrm>
          <a:prstGeom prst="roundRect">
            <a:avLst>
              <a:gd name="adj" fmla="val 5556"/>
            </a:avLst>
          </a:prstGeom>
          <a:solidFill>
            <a:srgbClr val="12263A"/>
          </a:solidFill>
          <a:ln w="17780">
            <a:solidFill>
              <a:srgbClr val="35C2D8"/>
            </a:solidFill>
            <a:prstDash val="solid"/>
          </a:ln>
        </p:spPr>
      </p:sp>
      <p:sp>
        <p:nvSpPr>
          <p:cNvPr id="10" name="Text 8"/>
          <p:cNvSpPr/>
          <p:nvPr/>
        </p:nvSpPr>
        <p:spPr>
          <a:xfrm>
            <a:off x="6492240" y="1682496"/>
            <a:ext cx="118872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API admission</a:t>
            </a:r>
            <a:endParaRPr lang="en-US" sz="1200" dirty="0"/>
          </a:p>
        </p:txBody>
      </p:sp>
      <p:sp>
        <p:nvSpPr>
          <p:cNvPr id="11" name="Shape 9"/>
          <p:cNvSpPr/>
          <p:nvPr/>
        </p:nvSpPr>
        <p:spPr>
          <a:xfrm>
            <a:off x="7772400" y="1965960"/>
            <a:ext cx="265176" cy="0"/>
          </a:xfrm>
          <a:prstGeom prst="line">
            <a:avLst/>
          </a:prstGeom>
          <a:noFill/>
          <a:ln w="12700">
            <a:solidFill>
              <a:srgbClr val="54D6A3"/>
            </a:solidFill>
            <a:prstDash val="solid"/>
            <a:tailEnd type="triangle"/>
          </a:ln>
        </p:spPr>
      </p:sp>
      <p:sp>
        <p:nvSpPr>
          <p:cNvPr id="12" name="Shape 10"/>
          <p:cNvSpPr/>
          <p:nvPr/>
        </p:nvSpPr>
        <p:spPr>
          <a:xfrm>
            <a:off x="8065008" y="1554480"/>
            <a:ext cx="1371600" cy="822960"/>
          </a:xfrm>
          <a:prstGeom prst="roundRect">
            <a:avLst>
              <a:gd name="adj" fmla="val 5556"/>
            </a:avLst>
          </a:prstGeom>
          <a:solidFill>
            <a:srgbClr val="12263A"/>
          </a:solidFill>
          <a:ln w="17780">
            <a:solidFill>
              <a:srgbClr val="4FA3FF"/>
            </a:solidFill>
            <a:prstDash val="solid"/>
          </a:ln>
        </p:spPr>
      </p:sp>
      <p:sp>
        <p:nvSpPr>
          <p:cNvPr id="13" name="Text 11"/>
          <p:cNvSpPr/>
          <p:nvPr/>
        </p:nvSpPr>
        <p:spPr>
          <a:xfrm>
            <a:off x="8156448" y="1682496"/>
            <a:ext cx="118872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Background operation</a:t>
            </a:r>
            <a:endParaRPr lang="en-US" sz="1200" dirty="0"/>
          </a:p>
        </p:txBody>
      </p:sp>
      <p:sp>
        <p:nvSpPr>
          <p:cNvPr id="14" name="Shape 12"/>
          <p:cNvSpPr/>
          <p:nvPr/>
        </p:nvSpPr>
        <p:spPr>
          <a:xfrm>
            <a:off x="9436608" y="1965960"/>
            <a:ext cx="265176" cy="0"/>
          </a:xfrm>
          <a:prstGeom prst="line">
            <a:avLst/>
          </a:prstGeom>
          <a:noFill/>
          <a:ln w="12700">
            <a:solidFill>
              <a:srgbClr val="54D6A3"/>
            </a:solidFill>
            <a:prstDash val="solid"/>
            <a:tailEnd type="triangle"/>
          </a:ln>
        </p:spPr>
      </p:sp>
      <p:sp>
        <p:nvSpPr>
          <p:cNvPr id="15" name="Shape 13"/>
          <p:cNvSpPr/>
          <p:nvPr/>
        </p:nvSpPr>
        <p:spPr>
          <a:xfrm>
            <a:off x="9729216" y="1554480"/>
            <a:ext cx="1371600" cy="822960"/>
          </a:xfrm>
          <a:prstGeom prst="roundRect">
            <a:avLst>
              <a:gd name="adj" fmla="val 5556"/>
            </a:avLst>
          </a:prstGeom>
          <a:solidFill>
            <a:srgbClr val="12263A"/>
          </a:solidFill>
          <a:ln w="17780">
            <a:solidFill>
              <a:srgbClr val="B276FF"/>
            </a:solidFill>
            <a:prstDash val="solid"/>
          </a:ln>
        </p:spPr>
      </p:sp>
      <p:sp>
        <p:nvSpPr>
          <p:cNvPr id="16" name="Text 14"/>
          <p:cNvSpPr/>
          <p:nvPr/>
        </p:nvSpPr>
        <p:spPr>
          <a:xfrm>
            <a:off x="9820656" y="1682496"/>
            <a:ext cx="118872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Workflow</a:t>
            </a:r>
            <a:endParaRPr lang="en-US" sz="1200" dirty="0"/>
          </a:p>
        </p:txBody>
      </p:sp>
      <p:sp>
        <p:nvSpPr>
          <p:cNvPr id="17" name="Shape 15"/>
          <p:cNvSpPr/>
          <p:nvPr/>
        </p:nvSpPr>
        <p:spPr>
          <a:xfrm>
            <a:off x="6400800" y="3429000"/>
            <a:ext cx="1371600" cy="822960"/>
          </a:xfrm>
          <a:prstGeom prst="roundRect">
            <a:avLst>
              <a:gd name="adj" fmla="val 5556"/>
            </a:avLst>
          </a:prstGeom>
          <a:solidFill>
            <a:srgbClr val="12263A"/>
          </a:solidFill>
          <a:ln w="17780">
            <a:solidFill>
              <a:srgbClr val="F5B041"/>
            </a:solidFill>
            <a:prstDash val="solid"/>
          </a:ln>
        </p:spPr>
      </p:sp>
      <p:sp>
        <p:nvSpPr>
          <p:cNvPr id="18" name="Text 16"/>
          <p:cNvSpPr/>
          <p:nvPr/>
        </p:nvSpPr>
        <p:spPr>
          <a:xfrm>
            <a:off x="6492240" y="3557016"/>
            <a:ext cx="118872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Evidence ingest</a:t>
            </a:r>
            <a:endParaRPr lang="en-US" sz="1200" dirty="0"/>
          </a:p>
        </p:txBody>
      </p:sp>
      <p:sp>
        <p:nvSpPr>
          <p:cNvPr id="19" name="Shape 17"/>
          <p:cNvSpPr/>
          <p:nvPr/>
        </p:nvSpPr>
        <p:spPr>
          <a:xfrm>
            <a:off x="7772400" y="3840480"/>
            <a:ext cx="265176" cy="0"/>
          </a:xfrm>
          <a:prstGeom prst="line">
            <a:avLst/>
          </a:prstGeom>
          <a:noFill/>
          <a:ln w="12700">
            <a:solidFill>
              <a:srgbClr val="54D6A3"/>
            </a:solidFill>
            <a:prstDash val="solid"/>
            <a:tailEnd type="triangle"/>
          </a:ln>
        </p:spPr>
      </p:sp>
      <p:sp>
        <p:nvSpPr>
          <p:cNvPr id="20" name="Shape 18"/>
          <p:cNvSpPr/>
          <p:nvPr/>
        </p:nvSpPr>
        <p:spPr>
          <a:xfrm>
            <a:off x="8065008" y="3429000"/>
            <a:ext cx="1371600" cy="822960"/>
          </a:xfrm>
          <a:prstGeom prst="roundRect">
            <a:avLst>
              <a:gd name="adj" fmla="val 5556"/>
            </a:avLst>
          </a:prstGeom>
          <a:solidFill>
            <a:srgbClr val="12263A"/>
          </a:solidFill>
          <a:ln w="17780">
            <a:solidFill>
              <a:srgbClr val="54D6A3"/>
            </a:solidFill>
            <a:prstDash val="solid"/>
          </a:ln>
        </p:spPr>
      </p:sp>
      <p:sp>
        <p:nvSpPr>
          <p:cNvPr id="21" name="Text 19"/>
          <p:cNvSpPr/>
          <p:nvPr/>
        </p:nvSpPr>
        <p:spPr>
          <a:xfrm>
            <a:off x="8156448" y="3557016"/>
            <a:ext cx="118872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State transition</a:t>
            </a:r>
            <a:endParaRPr lang="en-US" sz="1200" dirty="0"/>
          </a:p>
        </p:txBody>
      </p:sp>
      <p:sp>
        <p:nvSpPr>
          <p:cNvPr id="22" name="Shape 20"/>
          <p:cNvSpPr/>
          <p:nvPr/>
        </p:nvSpPr>
        <p:spPr>
          <a:xfrm>
            <a:off x="9436608" y="3840480"/>
            <a:ext cx="265176" cy="0"/>
          </a:xfrm>
          <a:prstGeom prst="line">
            <a:avLst/>
          </a:prstGeom>
          <a:noFill/>
          <a:ln w="12700">
            <a:solidFill>
              <a:srgbClr val="54D6A3"/>
            </a:solidFill>
            <a:prstDash val="solid"/>
            <a:tailEnd type="triangle"/>
          </a:ln>
        </p:spPr>
      </p:sp>
      <p:sp>
        <p:nvSpPr>
          <p:cNvPr id="23" name="Shape 21"/>
          <p:cNvSpPr/>
          <p:nvPr/>
        </p:nvSpPr>
        <p:spPr>
          <a:xfrm>
            <a:off x="9729216" y="3429000"/>
            <a:ext cx="1371600" cy="822960"/>
          </a:xfrm>
          <a:prstGeom prst="roundRect">
            <a:avLst>
              <a:gd name="adj" fmla="val 5556"/>
            </a:avLst>
          </a:prstGeom>
          <a:solidFill>
            <a:srgbClr val="12263A"/>
          </a:solidFill>
          <a:ln w="17780">
            <a:solidFill>
              <a:srgbClr val="35C2D8"/>
            </a:solidFill>
            <a:prstDash val="solid"/>
          </a:ln>
        </p:spPr>
      </p:sp>
      <p:sp>
        <p:nvSpPr>
          <p:cNvPr id="24" name="Text 22"/>
          <p:cNvSpPr/>
          <p:nvPr/>
        </p:nvSpPr>
        <p:spPr>
          <a:xfrm>
            <a:off x="9820656" y="3557016"/>
            <a:ext cx="118872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Audit / notify</a:t>
            </a:r>
            <a:endParaRPr lang="en-US" sz="1200" dirty="0"/>
          </a:p>
        </p:txBody>
      </p:sp>
      <p:sp>
        <p:nvSpPr>
          <p:cNvPr id="25" name="Shape 23"/>
          <p:cNvSpPr/>
          <p:nvPr/>
        </p:nvSpPr>
        <p:spPr>
          <a:xfrm>
            <a:off x="6903720" y="5230368"/>
            <a:ext cx="4114800" cy="347472"/>
          </a:xfrm>
          <a:prstGeom prst="roundRect">
            <a:avLst>
              <a:gd name="adj" fmla="val 47368"/>
            </a:avLst>
          </a:prstGeom>
          <a:solidFill>
            <a:srgbClr val="FF6B6B">
              <a:alpha val="88000"/>
            </a:srgbClr>
          </a:solidFill>
          <a:ln w="12700">
            <a:solidFill>
              <a:srgbClr val="FF6B6B">
                <a:alpha val="0"/>
              </a:srgbClr>
            </a:solidFill>
            <a:prstDash val="solid"/>
          </a:ln>
        </p:spPr>
      </p:sp>
      <p:sp>
        <p:nvSpPr>
          <p:cNvPr id="26" name="Text 24"/>
          <p:cNvSpPr/>
          <p:nvPr/>
        </p:nvSpPr>
        <p:spPr>
          <a:xfrm>
            <a:off x="6976872" y="5312664"/>
            <a:ext cx="3968496" cy="118872"/>
          </a:xfrm>
          <a:prstGeom prst="rect">
            <a:avLst/>
          </a:prstGeom>
          <a:noFill/>
          <a:ln/>
        </p:spPr>
        <p:txBody>
          <a:bodyPr wrap="square" lIns="0" tIns="0" rIns="0" bIns="0" rtlCol="0" anchor="ctr">
            <a:normAutofit/>
          </a:bodyPr>
          <a:lstStyle/>
          <a:p>
            <a:pPr algn="ctr" indent="0" marL="0">
              <a:buNone/>
            </a:pPr>
            <a:r>
              <a:rPr lang="en-US" sz="950" b="1" dirty="0">
                <a:solidFill>
                  <a:srgbClr val="07111F"/>
                </a:solidFill>
              </a:rPr>
              <a:t>FAILURE = CODE + STAGE + OWNER + EVIDENCE</a:t>
            </a:r>
            <a:endParaRPr lang="en-US" sz="950" dirty="0"/>
          </a:p>
        </p:txBody>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347472"/>
            <a:ext cx="9098280" cy="475488"/>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Billing, Entitlements, and Administrative Control</a:t>
            </a:r>
            <a:endParaRPr lang="en-US" sz="2400" dirty="0"/>
          </a:p>
        </p:txBody>
      </p:sp>
      <p:sp>
        <p:nvSpPr>
          <p:cNvPr id="3" name="Shape 1"/>
          <p:cNvSpPr/>
          <p:nvPr/>
        </p:nvSpPr>
        <p:spPr>
          <a:xfrm>
            <a:off x="9829800" y="338328"/>
            <a:ext cx="1783080" cy="329184"/>
          </a:xfrm>
          <a:prstGeom prst="roundRect">
            <a:avLst>
              <a:gd name="adj" fmla="val 22222"/>
            </a:avLst>
          </a:prstGeom>
          <a:solidFill>
            <a:srgbClr val="54D6A3">
              <a:alpha val="92000"/>
            </a:srgbClr>
          </a:solidFill>
          <a:ln w="12700">
            <a:solidFill>
              <a:srgbClr val="54D6A3">
                <a:alpha val="0"/>
              </a:srgbClr>
            </a:solidFill>
            <a:prstDash val="solid"/>
          </a:ln>
        </p:spPr>
      </p:sp>
      <p:sp>
        <p:nvSpPr>
          <p:cNvPr id="4" name="Text 2"/>
          <p:cNvSpPr/>
          <p:nvPr/>
        </p:nvSpPr>
        <p:spPr>
          <a:xfrm>
            <a:off x="9912096" y="416052"/>
            <a:ext cx="1609344" cy="118872"/>
          </a:xfrm>
          <a:prstGeom prst="rect">
            <a:avLst/>
          </a:prstGeom>
          <a:noFill/>
          <a:ln/>
        </p:spPr>
        <p:txBody>
          <a:bodyPr wrap="square" lIns="0" tIns="0" rIns="0" bIns="0" rtlCol="0" anchor="ctr">
            <a:normAutofit/>
          </a:bodyPr>
          <a:lstStyle/>
          <a:p>
            <a:pPr algn="ctr" indent="0" marL="0">
              <a:buNone/>
            </a:pPr>
            <a:r>
              <a:rPr lang="en-US" sz="1000" b="1" dirty="0">
                <a:solidFill>
                  <a:srgbClr val="07111F"/>
                </a:solidFill>
              </a:rPr>
              <a:t>Faria Fatima</a:t>
            </a:r>
            <a:endParaRPr lang="en-US" sz="1000" dirty="0"/>
          </a:p>
          <a:p>
            <a:pPr algn="ctr" indent="0" marL="0">
              <a:buNone/>
            </a:pPr>
            <a:endParaRPr lang="en-US" sz="1000" dirty="0"/>
          </a:p>
          <a:p>
            <a:pPr algn="ctr" indent="0" marL="0">
              <a:buNone/>
            </a:pPr>
            <a:r>
              <a:rPr lang="en-US" sz="1000" b="1" dirty="0">
                <a:solidFill>
                  <a:srgbClr val="07111F"/>
                </a:solidFill>
              </a:rPr>
              <a:t>Purpose: Explain product governance beyond deployment mechanics.</a:t>
            </a:r>
            <a:endParaRPr lang="en-US" sz="1000" dirty="0"/>
          </a:p>
          <a:p>
            <a:pPr algn="ctr" indent="0" marL="0">
              <a:buNone/>
            </a:pPr>
            <a:endParaRPr lang="en-US" sz="1000" dirty="0"/>
          </a:p>
          <a:p>
            <a:pPr algn="ctr" indent="0" marL="0">
              <a:buNone/>
            </a:pPr>
            <a:r>
              <a:rPr lang="en-US" sz="1000" b="1" dirty="0">
                <a:solidFill>
                  <a:srgbClr val="07111F"/>
                </a:solidFill>
              </a:rPr>
              <a:t>Presentation Content:</a:t>
            </a:r>
            <a:endParaRPr lang="en-US" sz="1000" dirty="0"/>
          </a:p>
          <a:p>
            <a:pPr algn="ctr" indent="0" marL="0">
              <a:buNone/>
            </a:pPr>
            <a:endParaRPr lang="en-US" sz="1000" dirty="0"/>
          </a:p>
          <a:p>
            <a:pPr algn="ctr" indent="0" marL="0">
              <a:buNone/>
            </a:pPr>
            <a:r>
              <a:rPr lang="en-US" sz="1000" b="1" dirty="0">
                <a:solidFill>
                  <a:srgbClr val="07111F"/>
                </a:solidFill>
              </a:rPr>
              <a:t>- Billing services manage plan catalog, trial state, customer linkage, checkout sessions, subscription status, usage, and invoices.</a:t>
            </a:r>
            <a:endParaRPr lang="en-US" sz="1000" dirty="0"/>
          </a:p>
          <a:p>
            <a:pPr algn="ctr" indent="0" marL="0">
              <a:buNone/>
            </a:pPr>
            <a:endParaRPr lang="en-US" sz="1000" dirty="0"/>
          </a:p>
          <a:p>
            <a:pPr algn="ctr" indent="0" marL="0">
              <a:buNone/>
            </a:pPr>
            <a:r>
              <a:rPr lang="en-US" sz="1000" b="1" dirty="0">
                <a:solidFill>
                  <a:srgbClr val="07111F"/>
                </a:solidFill>
              </a:rPr>
              <a:t>- Signed webhook validation is required before external billing events alter durable subscription state.</a:t>
            </a:r>
            <a:endParaRPr lang="en-US" sz="1000" dirty="0"/>
          </a:p>
          <a:p>
            <a:pPr algn="ctr" indent="0" marL="0">
              <a:buNone/>
            </a:pPr>
            <a:endParaRPr lang="en-US" sz="1000" dirty="0"/>
          </a:p>
          <a:p>
            <a:pPr algn="ctr" indent="0" marL="0">
              <a:buNone/>
            </a:pPr>
            <a:r>
              <a:rPr lang="en-US" sz="1000" b="1" dirty="0">
                <a:solidFill>
                  <a:srgbClr val="07111F"/>
                </a:solidFill>
              </a:rPr>
              <a:t>- Entitlement checks are performed server-side for protected capabilities.</a:t>
            </a:r>
            <a:endParaRPr lang="en-US" sz="1000" dirty="0"/>
          </a:p>
          <a:p>
            <a:pPr algn="ctr" indent="0" marL="0">
              <a:buNone/>
            </a:pPr>
            <a:endParaRPr lang="en-US" sz="1000" dirty="0"/>
          </a:p>
          <a:p>
            <a:pPr algn="ctr" indent="0" marL="0">
              <a:buNone/>
            </a:pPr>
            <a:r>
              <a:rPr lang="en-US" sz="1000" b="1" dirty="0">
                <a:solidFill>
                  <a:srgbClr val="07111F"/>
                </a:solidFill>
              </a:rPr>
              <a:t>- The billing UI clearly indicates test mode in the demonstrated configuration.</a:t>
            </a:r>
            <a:endParaRPr lang="en-US" sz="1000" dirty="0"/>
          </a:p>
          <a:p>
            <a:pPr algn="ctr" indent="0" marL="0">
              <a:buNone/>
            </a:pPr>
            <a:endParaRPr lang="en-US" sz="1000" dirty="0"/>
          </a:p>
          <a:p>
            <a:pPr algn="ctr" indent="0" marL="0">
              <a:buNone/>
            </a:pPr>
            <a:r>
              <a:rPr lang="en-US" sz="1000" b="1" dirty="0">
                <a:solidFill>
                  <a:srgbClr val="07111F"/>
                </a:solidFill>
              </a:rPr>
              <a:t>- Administrator tools expose service readiness, users and roles, canonical project states, and sanitized audit events.</a:t>
            </a:r>
            <a:endParaRPr lang="en-US" sz="1000" dirty="0"/>
          </a:p>
          <a:p>
            <a:pPr algn="ctr" indent="0" marL="0">
              <a:buNone/>
            </a:pPr>
            <a:endParaRPr lang="en-US" sz="1000" dirty="0"/>
          </a:p>
          <a:p>
            <a:pPr algn="ctr" indent="0" marL="0">
              <a:buNone/>
            </a:pPr>
            <a:r>
              <a:rPr lang="en-US" sz="1000" b="1" dirty="0">
                <a:solidFill>
                  <a:srgbClr val="07111F"/>
                </a:solidFill>
              </a:rPr>
              <a:t>- Separate admin authentication and role enforcement reduce the chance that ordinary developer access becomes platform-wide control.</a:t>
            </a:r>
            <a:endParaRPr lang="en-US" sz="1000" dirty="0"/>
          </a:p>
          <a:p>
            <a:pPr algn="ctr" indent="0" marL="0">
              <a:buNone/>
            </a:pPr>
            <a:endParaRPr lang="en-US" sz="1000" dirty="0"/>
          </a:p>
          <a:p>
            <a:pPr algn="ctr" indent="0" marL="0">
              <a:buNone/>
            </a:pPr>
            <a:r>
              <a:rPr lang="en-US" sz="1000" b="1" dirty="0">
                <a:solidFill>
                  <a:srgbClr val="07111F"/>
                </a:solidFill>
              </a:rPr>
              <a:t>Visual Recommendation: Two-column view: Developer Billing Experience and Administrator Governance, both backed by server-side policy.</a:t>
            </a:r>
            <a:endParaRPr lang="en-US" sz="1000" dirty="0"/>
          </a:p>
          <a:p>
            <a:pPr algn="ctr" indent="0" marL="0">
              <a:buNone/>
            </a:pPr>
            <a:endParaRPr lang="en-US" sz="1000" dirty="0"/>
          </a:p>
          <a:p>
            <a:pPr algn="ctr" indent="0" marL="0">
              <a:buNone/>
            </a:pPr>
            <a:r>
              <a:rPr lang="en-US" sz="1000" b="1" dirty="0">
                <a:solidFill>
                  <a:srgbClr val="07111F"/>
                </a:solidFill>
              </a:rPr>
              <a:t>Defense Notes: Present billing as integrated product capability, not as proof of a production financial operation. The defensible result is the implemented test-mode path, signed event handling, and server-side entitlement model.</a:t>
            </a:r>
            <a:endParaRPr lang="en-US" sz="1000" dirty="0"/>
          </a:p>
        </p:txBody>
      </p:sp>
      <p:sp>
        <p:nvSpPr>
          <p:cNvPr id="5" name="Shape 3"/>
          <p:cNvSpPr/>
          <p:nvPr/>
        </p:nvSpPr>
        <p:spPr>
          <a:xfrm>
            <a:off x="502920" y="932688"/>
            <a:ext cx="11109960" cy="0"/>
          </a:xfrm>
          <a:prstGeom prst="line">
            <a:avLst/>
          </a:prstGeom>
          <a:noFill/>
          <a:ln w="17780">
            <a:solidFill>
              <a:srgbClr val="54D6A3">
                <a:alpha val="75000"/>
              </a:srgbClr>
            </a:solidFill>
            <a:prstDash val="solid"/>
          </a:ln>
        </p:spPr>
      </p:sp>
      <p:sp>
        <p:nvSpPr>
          <p:cNvPr id="6" name="Text 4"/>
          <p:cNvSpPr/>
          <p:nvPr/>
        </p:nvSpPr>
        <p:spPr>
          <a:xfrm>
            <a:off x="502920" y="996696"/>
            <a:ext cx="5212080" cy="164592"/>
          </a:xfrm>
          <a:prstGeom prst="rect">
            <a:avLst/>
          </a:prstGeom>
          <a:noFill/>
          <a:ln/>
        </p:spPr>
        <p:txBody>
          <a:bodyPr wrap="square" lIns="0" tIns="0" rIns="0" bIns="0" rtlCol="0" anchor="ctr"/>
          <a:lstStyle/>
          <a:p>
            <a:pPr indent="0" marL="0">
              <a:buNone/>
            </a:pPr>
            <a:r>
              <a:rPr lang="en-US" sz="850" b="1" spc="110" kern="0" dirty="0">
                <a:solidFill>
                  <a:srgbClr val="54D6A3"/>
                </a:solidFill>
              </a:rPr>
              <a:t>FARIA — BACKEND &amp; INTEGRATION</a:t>
            </a:r>
            <a:endParaRPr lang="en-US" sz="850" dirty="0"/>
          </a:p>
        </p:txBody>
      </p:sp>
      <p:sp>
        <p:nvSpPr>
          <p:cNvPr id="7" name="Text 5"/>
          <p:cNvSpPr/>
          <p:nvPr/>
        </p:nvSpPr>
        <p:spPr>
          <a:xfrm>
            <a:off x="594360" y="1325880"/>
            <a:ext cx="5349240" cy="4937760"/>
          </a:xfrm>
          <a:prstGeom prst="rect">
            <a:avLst/>
          </a:prstGeom>
          <a:noFill/>
          <a:ln/>
        </p:spPr>
        <p:txBody>
          <a:bodyPr wrap="square" lIns="254" tIns="254" rIns="254" bIns="254" rtlCol="0" anchor="ctr">
            <a:normAutofit/>
          </a:bodyPr>
          <a:lstStyle/>
          <a:p>
            <a:pPr marL="190500" indent="-190500">
              <a:buSzPct val="100000"/>
              <a:buChar char="•"/>
            </a:pPr>
            <a:r>
              <a:rPr lang="en-US" sz="1580" dirty="0">
                <a:solidFill>
                  <a:srgbClr val="D9E5EF"/>
                </a:solidFill>
                <a:latin typeface="Aptos" pitchFamily="34" charset="0"/>
                <a:ea typeface="Aptos" pitchFamily="34" charset="-122"/>
                <a:cs typeface="Aptos" pitchFamily="34" charset="-120"/>
              </a:rPr>
              <a:t>Billing services manage plan catalog, trial state, customer linkage, checkout sessions, subscription status, usage, and invoices.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Signed webhook validation is required before external billing events alter durable subscription state.</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Entitlement checks are performed server-side for protected capabilities.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The billing UI clearly indicates test mode in the demonstrated configuration.</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Administrator tools expose service readiness, users and roles, canonical project states, and sanitized audit events.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Separate admin authentication and role enforcement reduce the chance that ordinary developer access becomes platform-wide control.</a:t>
            </a:r>
            <a:endParaRPr lang="en-US" sz="1580" dirty="0"/>
          </a:p>
        </p:txBody>
      </p:sp>
      <p:sp>
        <p:nvSpPr>
          <p:cNvPr id="8" name="Shape 6"/>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9" name="Shape 7"/>
          <p:cNvSpPr/>
          <p:nvPr/>
        </p:nvSpPr>
        <p:spPr>
          <a:xfrm>
            <a:off x="6446520" y="1554480"/>
            <a:ext cx="2240280" cy="3337560"/>
          </a:xfrm>
          <a:prstGeom prst="roundRect">
            <a:avLst>
              <a:gd name="adj" fmla="val 2449"/>
            </a:avLst>
          </a:prstGeom>
          <a:solidFill>
            <a:srgbClr val="0F1D2D"/>
          </a:solidFill>
          <a:ln w="12700">
            <a:solidFill>
              <a:srgbClr val="29445C"/>
            </a:solidFill>
            <a:prstDash val="solid"/>
          </a:ln>
        </p:spPr>
      </p:sp>
      <p:sp>
        <p:nvSpPr>
          <p:cNvPr id="10" name="Shape 8"/>
          <p:cNvSpPr/>
          <p:nvPr/>
        </p:nvSpPr>
        <p:spPr>
          <a:xfrm>
            <a:off x="6446520" y="1554480"/>
            <a:ext cx="54864" cy="3337560"/>
          </a:xfrm>
          <a:prstGeom prst="rect">
            <a:avLst/>
          </a:prstGeom>
          <a:solidFill>
            <a:srgbClr val="54D6A3"/>
          </a:solidFill>
          <a:ln w="12700">
            <a:solidFill>
              <a:srgbClr val="54D6A3"/>
            </a:solidFill>
            <a:prstDash val="solid"/>
          </a:ln>
        </p:spPr>
      </p:sp>
      <p:sp>
        <p:nvSpPr>
          <p:cNvPr id="11" name="Text 9"/>
          <p:cNvSpPr/>
          <p:nvPr/>
        </p:nvSpPr>
        <p:spPr>
          <a:xfrm>
            <a:off x="6647688" y="1709928"/>
            <a:ext cx="1929384" cy="256032"/>
          </a:xfrm>
          <a:prstGeom prst="rect">
            <a:avLst/>
          </a:prstGeom>
          <a:noFill/>
          <a:ln/>
        </p:spPr>
        <p:txBody>
          <a:bodyPr wrap="square" lIns="0" tIns="0" rIns="0" bIns="0" rtlCol="0" anchor="ctr">
            <a:normAutofit/>
          </a:bodyPr>
          <a:lstStyle/>
          <a:p>
            <a:pPr indent="0" marL="0">
              <a:buNone/>
            </a:pPr>
            <a:r>
              <a:rPr lang="en-US" sz="1300" b="1" dirty="0">
                <a:solidFill>
                  <a:srgbClr val="F7FAFC"/>
                </a:solidFill>
              </a:rPr>
              <a:t>DEVELOPER BILLING</a:t>
            </a:r>
            <a:endParaRPr lang="en-US" sz="1300" dirty="0"/>
          </a:p>
        </p:txBody>
      </p:sp>
      <p:sp>
        <p:nvSpPr>
          <p:cNvPr id="12" name="Text 10"/>
          <p:cNvSpPr/>
          <p:nvPr/>
        </p:nvSpPr>
        <p:spPr>
          <a:xfrm>
            <a:off x="6647688" y="2066544"/>
            <a:ext cx="1929384" cy="2679192"/>
          </a:xfrm>
          <a:prstGeom prst="rect">
            <a:avLst/>
          </a:prstGeom>
          <a:noFill/>
          <a:ln/>
        </p:spPr>
        <p:txBody>
          <a:bodyPr wrap="square" lIns="0" tIns="0" rIns="0" bIns="0" rtlCol="0" anchor="ctr">
            <a:normAutofit/>
          </a:bodyPr>
          <a:lstStyle/>
          <a:p>
            <a:pPr indent="0" marL="0">
              <a:buNone/>
            </a:pPr>
            <a:r>
              <a:rPr lang="en-US" sz="1250" dirty="0">
                <a:solidFill>
                  <a:srgbClr val="8FA6B9"/>
                </a:solidFill>
              </a:rPr>
              <a:t>Plan catalog</a:t>
            </a:r>
            <a:endParaRPr lang="en-US" sz="1250" dirty="0"/>
          </a:p>
          <a:p>
            <a:pPr indent="0" marL="0">
              <a:buNone/>
            </a:pPr>
            <a:r>
              <a:rPr lang="en-US" sz="1250" dirty="0">
                <a:solidFill>
                  <a:srgbClr val="8FA6B9"/>
                </a:solidFill>
              </a:rPr>
              <a:t>Trial state</a:t>
            </a:r>
            <a:endParaRPr lang="en-US" sz="1250" dirty="0"/>
          </a:p>
          <a:p>
            <a:pPr indent="0" marL="0">
              <a:buNone/>
            </a:pPr>
            <a:r>
              <a:rPr lang="en-US" sz="1250" dirty="0">
                <a:solidFill>
                  <a:srgbClr val="8FA6B9"/>
                </a:solidFill>
              </a:rPr>
              <a:t>Checkout</a:t>
            </a:r>
            <a:endParaRPr lang="en-US" sz="1250" dirty="0"/>
          </a:p>
          <a:p>
            <a:pPr indent="0" marL="0">
              <a:buNone/>
            </a:pPr>
            <a:r>
              <a:rPr lang="en-US" sz="1250" dirty="0">
                <a:solidFill>
                  <a:srgbClr val="8FA6B9"/>
                </a:solidFill>
              </a:rPr>
              <a:t>Usage / invoices</a:t>
            </a:r>
            <a:endParaRPr lang="en-US" sz="1250" dirty="0"/>
          </a:p>
          <a:p>
            <a:pPr indent="0" marL="0">
              <a:buNone/>
            </a:pPr>
            <a:r>
              <a:rPr lang="en-US" sz="1250" dirty="0">
                <a:solidFill>
                  <a:srgbClr val="8FA6B9"/>
                </a:solidFill>
              </a:rPr>
              <a:t>Test-mode label</a:t>
            </a:r>
            <a:endParaRPr lang="en-US" sz="1250" dirty="0"/>
          </a:p>
        </p:txBody>
      </p:sp>
      <p:sp>
        <p:nvSpPr>
          <p:cNvPr id="13" name="Shape 11"/>
          <p:cNvSpPr/>
          <p:nvPr/>
        </p:nvSpPr>
        <p:spPr>
          <a:xfrm>
            <a:off x="9006840" y="1554480"/>
            <a:ext cx="2240280" cy="3337560"/>
          </a:xfrm>
          <a:prstGeom prst="roundRect">
            <a:avLst>
              <a:gd name="adj" fmla="val 2449"/>
            </a:avLst>
          </a:prstGeom>
          <a:solidFill>
            <a:srgbClr val="0F1D2D"/>
          </a:solidFill>
          <a:ln w="12700">
            <a:solidFill>
              <a:srgbClr val="29445C"/>
            </a:solidFill>
            <a:prstDash val="solid"/>
          </a:ln>
        </p:spPr>
      </p:sp>
      <p:sp>
        <p:nvSpPr>
          <p:cNvPr id="14" name="Shape 12"/>
          <p:cNvSpPr/>
          <p:nvPr/>
        </p:nvSpPr>
        <p:spPr>
          <a:xfrm>
            <a:off x="9006840" y="1554480"/>
            <a:ext cx="54864" cy="3337560"/>
          </a:xfrm>
          <a:prstGeom prst="rect">
            <a:avLst/>
          </a:prstGeom>
          <a:solidFill>
            <a:srgbClr val="B276FF"/>
          </a:solidFill>
          <a:ln w="12700">
            <a:solidFill>
              <a:srgbClr val="B276FF"/>
            </a:solidFill>
            <a:prstDash val="solid"/>
          </a:ln>
        </p:spPr>
      </p:sp>
      <p:sp>
        <p:nvSpPr>
          <p:cNvPr id="15" name="Text 13"/>
          <p:cNvSpPr/>
          <p:nvPr/>
        </p:nvSpPr>
        <p:spPr>
          <a:xfrm>
            <a:off x="9208008" y="1709928"/>
            <a:ext cx="1929384" cy="256032"/>
          </a:xfrm>
          <a:prstGeom prst="rect">
            <a:avLst/>
          </a:prstGeom>
          <a:noFill/>
          <a:ln/>
        </p:spPr>
        <p:txBody>
          <a:bodyPr wrap="square" lIns="0" tIns="0" rIns="0" bIns="0" rtlCol="0" anchor="ctr">
            <a:normAutofit/>
          </a:bodyPr>
          <a:lstStyle/>
          <a:p>
            <a:pPr indent="0" marL="0">
              <a:buNone/>
            </a:pPr>
            <a:r>
              <a:rPr lang="en-US" sz="1300" b="1" dirty="0">
                <a:solidFill>
                  <a:srgbClr val="F7FAFC"/>
                </a:solidFill>
              </a:rPr>
              <a:t>ADMIN CONTROL</a:t>
            </a:r>
            <a:endParaRPr lang="en-US" sz="1300" dirty="0"/>
          </a:p>
        </p:txBody>
      </p:sp>
      <p:sp>
        <p:nvSpPr>
          <p:cNvPr id="16" name="Text 14"/>
          <p:cNvSpPr/>
          <p:nvPr/>
        </p:nvSpPr>
        <p:spPr>
          <a:xfrm>
            <a:off x="9208008" y="2066544"/>
            <a:ext cx="1929384" cy="2679192"/>
          </a:xfrm>
          <a:prstGeom prst="rect">
            <a:avLst/>
          </a:prstGeom>
          <a:noFill/>
          <a:ln/>
        </p:spPr>
        <p:txBody>
          <a:bodyPr wrap="square" lIns="0" tIns="0" rIns="0" bIns="0" rtlCol="0" anchor="ctr">
            <a:normAutofit/>
          </a:bodyPr>
          <a:lstStyle/>
          <a:p>
            <a:pPr indent="0" marL="0">
              <a:buNone/>
            </a:pPr>
            <a:r>
              <a:rPr lang="en-US" sz="1250" dirty="0">
                <a:solidFill>
                  <a:srgbClr val="8FA6B9"/>
                </a:solidFill>
              </a:rPr>
              <a:t>Readiness</a:t>
            </a:r>
            <a:endParaRPr lang="en-US" sz="1250" dirty="0"/>
          </a:p>
          <a:p>
            <a:pPr indent="0" marL="0">
              <a:buNone/>
            </a:pPr>
            <a:r>
              <a:rPr lang="en-US" sz="1250" dirty="0">
                <a:solidFill>
                  <a:srgbClr val="8FA6B9"/>
                </a:solidFill>
              </a:rPr>
              <a:t>Users / roles</a:t>
            </a:r>
            <a:endParaRPr lang="en-US" sz="1250" dirty="0"/>
          </a:p>
          <a:p>
            <a:pPr indent="0" marL="0">
              <a:buNone/>
            </a:pPr>
            <a:r>
              <a:rPr lang="en-US" sz="1250" dirty="0">
                <a:solidFill>
                  <a:srgbClr val="8FA6B9"/>
                </a:solidFill>
              </a:rPr>
              <a:t>Project states</a:t>
            </a:r>
            <a:endParaRPr lang="en-US" sz="1250" dirty="0"/>
          </a:p>
          <a:p>
            <a:pPr indent="0" marL="0">
              <a:buNone/>
            </a:pPr>
            <a:r>
              <a:rPr lang="en-US" sz="1250" dirty="0">
                <a:solidFill>
                  <a:srgbClr val="8FA6B9"/>
                </a:solidFill>
              </a:rPr>
              <a:t>Audit events</a:t>
            </a:r>
            <a:endParaRPr lang="en-US" sz="1250" dirty="0"/>
          </a:p>
        </p:txBody>
      </p:sp>
      <p:sp>
        <p:nvSpPr>
          <p:cNvPr id="17" name="Shape 15"/>
          <p:cNvSpPr/>
          <p:nvPr/>
        </p:nvSpPr>
        <p:spPr>
          <a:xfrm>
            <a:off x="7132320" y="5230368"/>
            <a:ext cx="3474720" cy="347472"/>
          </a:xfrm>
          <a:prstGeom prst="roundRect">
            <a:avLst>
              <a:gd name="adj" fmla="val 47368"/>
            </a:avLst>
          </a:prstGeom>
          <a:solidFill>
            <a:srgbClr val="35C2D8">
              <a:alpha val="88000"/>
            </a:srgbClr>
          </a:solidFill>
          <a:ln w="12700">
            <a:solidFill>
              <a:srgbClr val="35C2D8">
                <a:alpha val="0"/>
              </a:srgbClr>
            </a:solidFill>
            <a:prstDash val="solid"/>
          </a:ln>
        </p:spPr>
      </p:sp>
      <p:sp>
        <p:nvSpPr>
          <p:cNvPr id="18" name="Text 16"/>
          <p:cNvSpPr/>
          <p:nvPr/>
        </p:nvSpPr>
        <p:spPr>
          <a:xfrm>
            <a:off x="7205472" y="5312664"/>
            <a:ext cx="3328416" cy="118872"/>
          </a:xfrm>
          <a:prstGeom prst="rect">
            <a:avLst/>
          </a:prstGeom>
          <a:noFill/>
          <a:ln/>
        </p:spPr>
        <p:txBody>
          <a:bodyPr wrap="square" lIns="0" tIns="0" rIns="0" bIns="0" rtlCol="0" anchor="ctr">
            <a:normAutofit/>
          </a:bodyPr>
          <a:lstStyle/>
          <a:p>
            <a:pPr algn="ctr" indent="0" marL="0">
              <a:buNone/>
            </a:pPr>
            <a:r>
              <a:rPr lang="en-US" sz="950" b="1" dirty="0">
                <a:solidFill>
                  <a:srgbClr val="07111F"/>
                </a:solidFill>
              </a:rPr>
              <a:t>SERVER-SIDE POLICY ENFORCEMENT</a:t>
            </a:r>
            <a:endParaRPr lang="en-US" sz="950" dirty="0"/>
          </a:p>
        </p:txBody>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02920" y="347472"/>
            <a:ext cx="9098280" cy="475488"/>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Portable Containerized Product Setup</a:t>
            </a:r>
            <a:endParaRPr lang="en-US" sz="2400" dirty="0"/>
          </a:p>
        </p:txBody>
      </p:sp>
      <p:sp>
        <p:nvSpPr>
          <p:cNvPr id="3" name="Shape 1"/>
          <p:cNvSpPr/>
          <p:nvPr/>
        </p:nvSpPr>
        <p:spPr>
          <a:xfrm>
            <a:off x="9829800" y="338328"/>
            <a:ext cx="1783080" cy="329184"/>
          </a:xfrm>
          <a:prstGeom prst="roundRect">
            <a:avLst>
              <a:gd name="adj" fmla="val 22222"/>
            </a:avLst>
          </a:prstGeom>
          <a:solidFill>
            <a:srgbClr val="54D6A3">
              <a:alpha val="92000"/>
            </a:srgbClr>
          </a:solidFill>
          <a:ln w="12700">
            <a:solidFill>
              <a:srgbClr val="54D6A3">
                <a:alpha val="0"/>
              </a:srgbClr>
            </a:solidFill>
            <a:prstDash val="solid"/>
          </a:ln>
        </p:spPr>
      </p:sp>
      <p:sp>
        <p:nvSpPr>
          <p:cNvPr id="4" name="Text 2"/>
          <p:cNvSpPr/>
          <p:nvPr/>
        </p:nvSpPr>
        <p:spPr>
          <a:xfrm>
            <a:off x="9912096" y="416052"/>
            <a:ext cx="1609344" cy="118872"/>
          </a:xfrm>
          <a:prstGeom prst="rect">
            <a:avLst/>
          </a:prstGeom>
          <a:noFill/>
          <a:ln/>
        </p:spPr>
        <p:txBody>
          <a:bodyPr wrap="square" lIns="0" tIns="0" rIns="0" bIns="0" rtlCol="0" anchor="ctr">
            <a:normAutofit/>
          </a:bodyPr>
          <a:lstStyle/>
          <a:p>
            <a:pPr algn="ctr" indent="0" marL="0">
              <a:buNone/>
            </a:pPr>
            <a:r>
              <a:rPr lang="en-US" sz="1000" b="1" dirty="0">
                <a:solidFill>
                  <a:srgbClr val="07111F"/>
                </a:solidFill>
              </a:rPr>
              <a:t>Faria Fatima</a:t>
            </a:r>
            <a:endParaRPr lang="en-US" sz="1000" dirty="0"/>
          </a:p>
          <a:p>
            <a:pPr algn="ctr" indent="0" marL="0">
              <a:buNone/>
            </a:pPr>
            <a:endParaRPr lang="en-US" sz="1000" dirty="0"/>
          </a:p>
          <a:p>
            <a:pPr algn="ctr" indent="0" marL="0">
              <a:buNone/>
            </a:pPr>
            <a:r>
              <a:rPr lang="en-US" sz="1000" b="1" dirty="0">
                <a:solidFill>
                  <a:srgbClr val="07111F"/>
                </a:solidFill>
              </a:rPr>
              <a:t>Purpose: Show that the full platform can run consistently outside an individual development machine.</a:t>
            </a:r>
            <a:endParaRPr lang="en-US" sz="1000" dirty="0"/>
          </a:p>
          <a:p>
            <a:pPr algn="ctr" indent="0" marL="0">
              <a:buNone/>
            </a:pPr>
            <a:endParaRPr lang="en-US" sz="1000" dirty="0"/>
          </a:p>
          <a:p>
            <a:pPr algn="ctr" indent="0" marL="0">
              <a:buNone/>
            </a:pPr>
            <a:r>
              <a:rPr lang="en-US" sz="1000" b="1" dirty="0">
                <a:solidFill>
                  <a:srgbClr val="07111F"/>
                </a:solidFill>
              </a:rPr>
              <a:t>Presentation Content:</a:t>
            </a:r>
            <a:endParaRPr lang="en-US" sz="1000" dirty="0"/>
          </a:p>
          <a:p>
            <a:pPr algn="ctr" indent="0" marL="0">
              <a:buNone/>
            </a:pPr>
            <a:endParaRPr lang="en-US" sz="1000" dirty="0"/>
          </a:p>
          <a:p>
            <a:pPr algn="ctr" indent="0" marL="0">
              <a:buNone/>
            </a:pPr>
            <a:r>
              <a:rPr lang="en-US" sz="1000" b="1" dirty="0">
                <a:solidFill>
                  <a:srgbClr val="07111F"/>
                </a:solidFill>
              </a:rPr>
              <a:t>- The local product stack is defined as containers for PostgreSQL, one-shot database migration, backend, frontend, Prometheus, and Grafana.</a:t>
            </a:r>
            <a:endParaRPr lang="en-US" sz="1000" dirty="0"/>
          </a:p>
          <a:p>
            <a:pPr algn="ctr" indent="0" marL="0">
              <a:buNone/>
            </a:pPr>
            <a:endParaRPr lang="en-US" sz="1000" dirty="0"/>
          </a:p>
          <a:p>
            <a:pPr algn="ctr" indent="0" marL="0">
              <a:buNone/>
            </a:pPr>
            <a:r>
              <a:rPr lang="en-US" sz="1000" b="1" dirty="0">
                <a:solidFill>
                  <a:srgbClr val="07111F"/>
                </a:solidFill>
              </a:rPr>
              <a:t>- Health checks and dependency ordering prevent the application from racing an unavailable database or unfinished migration.</a:t>
            </a:r>
            <a:endParaRPr lang="en-US" sz="1000" dirty="0"/>
          </a:p>
          <a:p>
            <a:pPr algn="ctr" indent="0" marL="0">
              <a:buNone/>
            </a:pPr>
            <a:endParaRPr lang="en-US" sz="1000" dirty="0"/>
          </a:p>
          <a:p>
            <a:pPr algn="ctr" indent="0" marL="0">
              <a:buNone/>
            </a:pPr>
            <a:r>
              <a:rPr lang="en-US" sz="1000" b="1" dirty="0">
                <a:solidFill>
                  <a:srgbClr val="07111F"/>
                </a:solidFill>
              </a:rPr>
              <a:t>- Named volumes preserve database and monitoring data across ordinary restarts.</a:t>
            </a:r>
            <a:endParaRPr lang="en-US" sz="1000" dirty="0"/>
          </a:p>
          <a:p>
            <a:pPr algn="ctr" indent="0" marL="0">
              <a:buNone/>
            </a:pPr>
            <a:endParaRPr lang="en-US" sz="1000" dirty="0"/>
          </a:p>
          <a:p>
            <a:pPr algn="ctr" indent="0" marL="0">
              <a:buNone/>
            </a:pPr>
            <a:r>
              <a:rPr lang="en-US" sz="1000" b="1" dirty="0">
                <a:solidFill>
                  <a:srgbClr val="07111F"/>
                </a:solidFill>
              </a:rPr>
              <a:t>- The backend image uses a multi-stage build, includes the required infrastructure tooling, and runs as a non-root user.</a:t>
            </a:r>
            <a:endParaRPr lang="en-US" sz="1000" dirty="0"/>
          </a:p>
          <a:p>
            <a:pPr algn="ctr" indent="0" marL="0">
              <a:buNone/>
            </a:pPr>
            <a:endParaRPr lang="en-US" sz="1000" dirty="0"/>
          </a:p>
          <a:p>
            <a:pPr algn="ctr" indent="0" marL="0">
              <a:buNone/>
            </a:pPr>
            <a:r>
              <a:rPr lang="en-US" sz="1000" b="1" dirty="0">
                <a:solidFill>
                  <a:srgbClr val="07111F"/>
                </a:solidFill>
              </a:rPr>
              <a:t>- The frontend is compiled once and served by an unprivileged Nginx runtime on its declared port.</a:t>
            </a:r>
            <a:endParaRPr lang="en-US" sz="1000" dirty="0"/>
          </a:p>
          <a:p>
            <a:pPr algn="ctr" indent="0" marL="0">
              <a:buNone/>
            </a:pPr>
            <a:endParaRPr lang="en-US" sz="1000" dirty="0"/>
          </a:p>
          <a:p>
            <a:pPr algn="ctr" indent="0" marL="0">
              <a:buNone/>
            </a:pPr>
            <a:r>
              <a:rPr lang="en-US" sz="1000" b="1" dirty="0">
                <a:solidFill>
                  <a:srgbClr val="07111F"/>
                </a:solidFill>
              </a:rPr>
              <a:t>- Environment-specific secrets remain external configuration; they are not baked into images or committed defaults.</a:t>
            </a:r>
            <a:endParaRPr lang="en-US" sz="1000" dirty="0"/>
          </a:p>
          <a:p>
            <a:pPr algn="ctr" indent="0" marL="0">
              <a:buNone/>
            </a:pPr>
            <a:endParaRPr lang="en-US" sz="1000" dirty="0"/>
          </a:p>
          <a:p>
            <a:pPr algn="ctr" indent="0" marL="0">
              <a:buNone/>
            </a:pPr>
            <a:r>
              <a:rPr lang="en-US" sz="1000" b="1" dirty="0">
                <a:solidFill>
                  <a:srgbClr val="07111F"/>
                </a:solidFill>
              </a:rPr>
              <a:t>Visual Recommendation: Container composition diagram with health arrows and persistent-volume icons.</a:t>
            </a:r>
            <a:endParaRPr lang="en-US" sz="1000" dirty="0"/>
          </a:p>
          <a:p>
            <a:pPr algn="ctr" indent="0" marL="0">
              <a:buNone/>
            </a:pPr>
            <a:endParaRPr lang="en-US" sz="1000" dirty="0"/>
          </a:p>
          <a:p>
            <a:pPr algn="ctr" indent="0" marL="0">
              <a:buNone/>
            </a:pPr>
            <a:r>
              <a:rPr lang="en-US" sz="1000" b="1" dirty="0">
                <a:solidFill>
                  <a:srgbClr val="07111F"/>
                </a:solidFill>
              </a:rPr>
              <a:t>Defense Notes: For a teammate handoff, the required inputs are Docker, the supplied environment configuration, and external credentials appropriate to the features being demonstrated. Local platform login credentials are distinct from Prometheus authentication and Grafana operator credentials.</a:t>
            </a:r>
            <a:endParaRPr lang="en-US" sz="1000" dirty="0"/>
          </a:p>
        </p:txBody>
      </p:sp>
      <p:sp>
        <p:nvSpPr>
          <p:cNvPr id="5" name="Shape 3"/>
          <p:cNvSpPr/>
          <p:nvPr/>
        </p:nvSpPr>
        <p:spPr>
          <a:xfrm>
            <a:off x="502920" y="932688"/>
            <a:ext cx="11109960" cy="0"/>
          </a:xfrm>
          <a:prstGeom prst="line">
            <a:avLst/>
          </a:prstGeom>
          <a:noFill/>
          <a:ln w="17780">
            <a:solidFill>
              <a:srgbClr val="54D6A3">
                <a:alpha val="75000"/>
              </a:srgbClr>
            </a:solidFill>
            <a:prstDash val="solid"/>
          </a:ln>
        </p:spPr>
      </p:sp>
      <p:sp>
        <p:nvSpPr>
          <p:cNvPr id="6" name="Text 4"/>
          <p:cNvSpPr/>
          <p:nvPr/>
        </p:nvSpPr>
        <p:spPr>
          <a:xfrm>
            <a:off x="502920" y="996696"/>
            <a:ext cx="5212080" cy="164592"/>
          </a:xfrm>
          <a:prstGeom prst="rect">
            <a:avLst/>
          </a:prstGeom>
          <a:noFill/>
          <a:ln/>
        </p:spPr>
        <p:txBody>
          <a:bodyPr wrap="square" lIns="0" tIns="0" rIns="0" bIns="0" rtlCol="0" anchor="ctr"/>
          <a:lstStyle/>
          <a:p>
            <a:pPr indent="0" marL="0">
              <a:buNone/>
            </a:pPr>
            <a:r>
              <a:rPr lang="en-US" sz="850" b="1" spc="110" kern="0" dirty="0">
                <a:solidFill>
                  <a:srgbClr val="54D6A3"/>
                </a:solidFill>
              </a:rPr>
              <a:t>FARIA — BACKEND &amp; INTEGRATION</a:t>
            </a:r>
            <a:endParaRPr lang="en-US" sz="850" dirty="0"/>
          </a:p>
        </p:txBody>
      </p:sp>
      <p:sp>
        <p:nvSpPr>
          <p:cNvPr id="7" name="Text 5"/>
          <p:cNvSpPr/>
          <p:nvPr/>
        </p:nvSpPr>
        <p:spPr>
          <a:xfrm>
            <a:off x="594360" y="1325880"/>
            <a:ext cx="5349240" cy="4937760"/>
          </a:xfrm>
          <a:prstGeom prst="rect">
            <a:avLst/>
          </a:prstGeom>
          <a:noFill/>
          <a:ln/>
        </p:spPr>
        <p:txBody>
          <a:bodyPr wrap="square" lIns="254" tIns="254" rIns="254" bIns="254" rtlCol="0" anchor="ctr">
            <a:normAutofit/>
          </a:bodyPr>
          <a:lstStyle/>
          <a:p>
            <a:pPr marL="190500" indent="-190500">
              <a:buSzPct val="100000"/>
              <a:buChar char="•"/>
            </a:pPr>
            <a:r>
              <a:rPr lang="en-US" sz="1580" dirty="0">
                <a:solidFill>
                  <a:srgbClr val="D9E5EF"/>
                </a:solidFill>
                <a:latin typeface="Aptos" pitchFamily="34" charset="0"/>
                <a:ea typeface="Aptos" pitchFamily="34" charset="-122"/>
                <a:cs typeface="Aptos" pitchFamily="34" charset="-120"/>
              </a:rPr>
              <a:t>The local product stack is defined as containers for PostgreSQL, one-shot database migration, backend, frontend, Prometheus, and Grafana.</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Health checks and dependency ordering prevent the application from racing an unavailable database or unfinished migration.</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Named volumes preserve database and monitoring data across ordinary restarts.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The backend image uses a multi-stage build, includes the required infrastructure tooling, and runs as a non-root user.</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The frontend is compiled once and served by an unprivileged Nginx runtime on its declared port.</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Environment-specific secrets remain external configuration; they are not baked into images or committed defaults.</a:t>
            </a:r>
            <a:endParaRPr lang="en-US" sz="1580" dirty="0"/>
          </a:p>
        </p:txBody>
      </p:sp>
      <p:sp>
        <p:nvSpPr>
          <p:cNvPr id="8" name="Shape 6"/>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9" name="Shape 7"/>
          <p:cNvSpPr/>
          <p:nvPr/>
        </p:nvSpPr>
        <p:spPr>
          <a:xfrm>
            <a:off x="6446520" y="1463040"/>
            <a:ext cx="1371600" cy="868680"/>
          </a:xfrm>
          <a:prstGeom prst="roundRect">
            <a:avLst>
              <a:gd name="adj" fmla="val 5263"/>
            </a:avLst>
          </a:prstGeom>
          <a:solidFill>
            <a:srgbClr val="12263A"/>
          </a:solidFill>
          <a:ln w="17780">
            <a:solidFill>
              <a:srgbClr val="4FA3FF"/>
            </a:solidFill>
            <a:prstDash val="solid"/>
          </a:ln>
        </p:spPr>
      </p:sp>
      <p:sp>
        <p:nvSpPr>
          <p:cNvPr id="10" name="Text 8"/>
          <p:cNvSpPr/>
          <p:nvPr/>
        </p:nvSpPr>
        <p:spPr>
          <a:xfrm>
            <a:off x="6537960" y="1591056"/>
            <a:ext cx="118872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PostgreSQL</a:t>
            </a:r>
            <a:endParaRPr lang="en-US" sz="1200" dirty="0"/>
          </a:p>
        </p:txBody>
      </p:sp>
      <p:sp>
        <p:nvSpPr>
          <p:cNvPr id="11" name="Shape 9"/>
          <p:cNvSpPr/>
          <p:nvPr/>
        </p:nvSpPr>
        <p:spPr>
          <a:xfrm>
            <a:off x="8074152" y="1463040"/>
            <a:ext cx="1371600" cy="868680"/>
          </a:xfrm>
          <a:prstGeom prst="roundRect">
            <a:avLst>
              <a:gd name="adj" fmla="val 5263"/>
            </a:avLst>
          </a:prstGeom>
          <a:solidFill>
            <a:srgbClr val="12263A"/>
          </a:solidFill>
          <a:ln w="17780">
            <a:solidFill>
              <a:srgbClr val="F5B041"/>
            </a:solidFill>
            <a:prstDash val="solid"/>
          </a:ln>
        </p:spPr>
      </p:sp>
      <p:sp>
        <p:nvSpPr>
          <p:cNvPr id="12" name="Text 10"/>
          <p:cNvSpPr/>
          <p:nvPr/>
        </p:nvSpPr>
        <p:spPr>
          <a:xfrm>
            <a:off x="8165592" y="1591056"/>
            <a:ext cx="118872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Migrate</a:t>
            </a:r>
            <a:endParaRPr lang="en-US" sz="1200" dirty="0"/>
          </a:p>
        </p:txBody>
      </p:sp>
      <p:sp>
        <p:nvSpPr>
          <p:cNvPr id="13" name="Shape 11"/>
          <p:cNvSpPr/>
          <p:nvPr/>
        </p:nvSpPr>
        <p:spPr>
          <a:xfrm>
            <a:off x="9701784" y="1463040"/>
            <a:ext cx="1371600" cy="868680"/>
          </a:xfrm>
          <a:prstGeom prst="roundRect">
            <a:avLst>
              <a:gd name="adj" fmla="val 5263"/>
            </a:avLst>
          </a:prstGeom>
          <a:solidFill>
            <a:srgbClr val="12263A"/>
          </a:solidFill>
          <a:ln w="17780">
            <a:solidFill>
              <a:srgbClr val="35C2D8"/>
            </a:solidFill>
            <a:prstDash val="solid"/>
          </a:ln>
        </p:spPr>
      </p:sp>
      <p:sp>
        <p:nvSpPr>
          <p:cNvPr id="14" name="Text 12"/>
          <p:cNvSpPr/>
          <p:nvPr/>
        </p:nvSpPr>
        <p:spPr>
          <a:xfrm>
            <a:off x="9793224" y="1591056"/>
            <a:ext cx="118872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Backend</a:t>
            </a:r>
            <a:endParaRPr lang="en-US" sz="1200" dirty="0"/>
          </a:p>
        </p:txBody>
      </p:sp>
      <p:sp>
        <p:nvSpPr>
          <p:cNvPr id="15" name="Shape 13"/>
          <p:cNvSpPr/>
          <p:nvPr/>
        </p:nvSpPr>
        <p:spPr>
          <a:xfrm>
            <a:off x="6446520" y="3291840"/>
            <a:ext cx="1371600" cy="868680"/>
          </a:xfrm>
          <a:prstGeom prst="roundRect">
            <a:avLst>
              <a:gd name="adj" fmla="val 5263"/>
            </a:avLst>
          </a:prstGeom>
          <a:solidFill>
            <a:srgbClr val="12263A"/>
          </a:solidFill>
          <a:ln w="17780">
            <a:solidFill>
              <a:srgbClr val="B276FF"/>
            </a:solidFill>
            <a:prstDash val="solid"/>
          </a:ln>
        </p:spPr>
      </p:sp>
      <p:sp>
        <p:nvSpPr>
          <p:cNvPr id="16" name="Text 14"/>
          <p:cNvSpPr/>
          <p:nvPr/>
        </p:nvSpPr>
        <p:spPr>
          <a:xfrm>
            <a:off x="6537960" y="3419856"/>
            <a:ext cx="118872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Frontend</a:t>
            </a:r>
            <a:endParaRPr lang="en-US" sz="1200" dirty="0"/>
          </a:p>
        </p:txBody>
      </p:sp>
      <p:sp>
        <p:nvSpPr>
          <p:cNvPr id="17" name="Shape 15"/>
          <p:cNvSpPr/>
          <p:nvPr/>
        </p:nvSpPr>
        <p:spPr>
          <a:xfrm>
            <a:off x="8074152" y="3291840"/>
            <a:ext cx="1371600" cy="868680"/>
          </a:xfrm>
          <a:prstGeom prst="roundRect">
            <a:avLst>
              <a:gd name="adj" fmla="val 5263"/>
            </a:avLst>
          </a:prstGeom>
          <a:solidFill>
            <a:srgbClr val="12263A"/>
          </a:solidFill>
          <a:ln w="17780">
            <a:solidFill>
              <a:srgbClr val="54D6A3"/>
            </a:solidFill>
            <a:prstDash val="solid"/>
          </a:ln>
        </p:spPr>
      </p:sp>
      <p:sp>
        <p:nvSpPr>
          <p:cNvPr id="18" name="Text 16"/>
          <p:cNvSpPr/>
          <p:nvPr/>
        </p:nvSpPr>
        <p:spPr>
          <a:xfrm>
            <a:off x="8165592" y="3419856"/>
            <a:ext cx="118872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Prometheus</a:t>
            </a:r>
            <a:endParaRPr lang="en-US" sz="1200" dirty="0"/>
          </a:p>
        </p:txBody>
      </p:sp>
      <p:sp>
        <p:nvSpPr>
          <p:cNvPr id="19" name="Shape 17"/>
          <p:cNvSpPr/>
          <p:nvPr/>
        </p:nvSpPr>
        <p:spPr>
          <a:xfrm>
            <a:off x="9701784" y="3291840"/>
            <a:ext cx="1371600" cy="868680"/>
          </a:xfrm>
          <a:prstGeom prst="roundRect">
            <a:avLst>
              <a:gd name="adj" fmla="val 5263"/>
            </a:avLst>
          </a:prstGeom>
          <a:solidFill>
            <a:srgbClr val="12263A"/>
          </a:solidFill>
          <a:ln w="17780">
            <a:solidFill>
              <a:srgbClr val="B276FF"/>
            </a:solidFill>
            <a:prstDash val="solid"/>
          </a:ln>
        </p:spPr>
      </p:sp>
      <p:sp>
        <p:nvSpPr>
          <p:cNvPr id="20" name="Text 18"/>
          <p:cNvSpPr/>
          <p:nvPr/>
        </p:nvSpPr>
        <p:spPr>
          <a:xfrm>
            <a:off x="9793224" y="3419856"/>
            <a:ext cx="118872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Grafana</a:t>
            </a:r>
            <a:endParaRPr lang="en-US" sz="1200" dirty="0"/>
          </a:p>
        </p:txBody>
      </p:sp>
      <p:sp>
        <p:nvSpPr>
          <p:cNvPr id="21" name="Shape 19"/>
          <p:cNvSpPr/>
          <p:nvPr/>
        </p:nvSpPr>
        <p:spPr>
          <a:xfrm>
            <a:off x="7818120" y="1901952"/>
            <a:ext cx="256032" cy="0"/>
          </a:xfrm>
          <a:prstGeom prst="line">
            <a:avLst/>
          </a:prstGeom>
          <a:noFill/>
          <a:ln w="25400">
            <a:solidFill>
              <a:srgbClr val="F5B041"/>
            </a:solidFill>
            <a:prstDash val="solid"/>
            <a:tailEnd type="triangle"/>
          </a:ln>
        </p:spPr>
      </p:sp>
      <p:sp>
        <p:nvSpPr>
          <p:cNvPr id="22" name="Shape 20"/>
          <p:cNvSpPr/>
          <p:nvPr/>
        </p:nvSpPr>
        <p:spPr>
          <a:xfrm>
            <a:off x="9445752" y="1901952"/>
            <a:ext cx="246888" cy="0"/>
          </a:xfrm>
          <a:prstGeom prst="line">
            <a:avLst/>
          </a:prstGeom>
          <a:noFill/>
          <a:ln w="25400">
            <a:solidFill>
              <a:srgbClr val="35C2D8"/>
            </a:solidFill>
            <a:prstDash val="solid"/>
            <a:tailEnd type="triangle"/>
          </a:ln>
        </p:spPr>
      </p:sp>
      <p:sp>
        <p:nvSpPr>
          <p:cNvPr id="23" name="Shape 21"/>
          <p:cNvSpPr/>
          <p:nvPr/>
        </p:nvSpPr>
        <p:spPr>
          <a:xfrm>
            <a:off x="6903720" y="5166360"/>
            <a:ext cx="4069080" cy="347472"/>
          </a:xfrm>
          <a:prstGeom prst="roundRect">
            <a:avLst>
              <a:gd name="adj" fmla="val 47368"/>
            </a:avLst>
          </a:prstGeom>
          <a:solidFill>
            <a:srgbClr val="54D6A3">
              <a:alpha val="88000"/>
            </a:srgbClr>
          </a:solidFill>
          <a:ln w="12700">
            <a:solidFill>
              <a:srgbClr val="54D6A3">
                <a:alpha val="0"/>
              </a:srgbClr>
            </a:solidFill>
            <a:prstDash val="solid"/>
          </a:ln>
        </p:spPr>
      </p:sp>
      <p:sp>
        <p:nvSpPr>
          <p:cNvPr id="24" name="Text 22"/>
          <p:cNvSpPr/>
          <p:nvPr/>
        </p:nvSpPr>
        <p:spPr>
          <a:xfrm>
            <a:off x="6976872" y="5248656"/>
            <a:ext cx="3922776" cy="118872"/>
          </a:xfrm>
          <a:prstGeom prst="rect">
            <a:avLst/>
          </a:prstGeom>
          <a:noFill/>
          <a:ln/>
        </p:spPr>
        <p:txBody>
          <a:bodyPr wrap="square" lIns="0" tIns="0" rIns="0" bIns="0" rtlCol="0" anchor="ctr">
            <a:normAutofit/>
          </a:bodyPr>
          <a:lstStyle/>
          <a:p>
            <a:pPr algn="ctr" indent="0" marL="0">
              <a:buNone/>
            </a:pPr>
            <a:r>
              <a:rPr lang="en-US" sz="950" b="1" dirty="0">
                <a:solidFill>
                  <a:srgbClr val="07111F"/>
                </a:solidFill>
              </a:rPr>
              <a:t>HEALTH-GATED • NAMED VOLUMES • EXTERNAL SECRETS</a:t>
            </a:r>
            <a:endParaRPr lang="en-US" sz="950" dirty="0"/>
          </a:p>
        </p:txBody>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02920" y="347472"/>
            <a:ext cx="9098280" cy="475488"/>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Verification Strategy and Honest Limitations</a:t>
            </a:r>
            <a:endParaRPr lang="en-US" sz="2400" dirty="0"/>
          </a:p>
        </p:txBody>
      </p:sp>
      <p:sp>
        <p:nvSpPr>
          <p:cNvPr id="3" name="Shape 1"/>
          <p:cNvSpPr/>
          <p:nvPr/>
        </p:nvSpPr>
        <p:spPr>
          <a:xfrm>
            <a:off x="9829800" y="338328"/>
            <a:ext cx="1783080" cy="329184"/>
          </a:xfrm>
          <a:prstGeom prst="roundRect">
            <a:avLst>
              <a:gd name="adj" fmla="val 22222"/>
            </a:avLst>
          </a:prstGeom>
          <a:solidFill>
            <a:srgbClr val="54D6A3">
              <a:alpha val="92000"/>
            </a:srgbClr>
          </a:solidFill>
          <a:ln w="12700">
            <a:solidFill>
              <a:srgbClr val="54D6A3">
                <a:alpha val="0"/>
              </a:srgbClr>
            </a:solidFill>
            <a:prstDash val="solid"/>
          </a:ln>
        </p:spPr>
      </p:sp>
      <p:sp>
        <p:nvSpPr>
          <p:cNvPr id="4" name="Text 2"/>
          <p:cNvSpPr/>
          <p:nvPr/>
        </p:nvSpPr>
        <p:spPr>
          <a:xfrm>
            <a:off x="9912096" y="416052"/>
            <a:ext cx="1609344" cy="118872"/>
          </a:xfrm>
          <a:prstGeom prst="rect">
            <a:avLst/>
          </a:prstGeom>
          <a:noFill/>
          <a:ln/>
        </p:spPr>
        <p:txBody>
          <a:bodyPr wrap="square" lIns="0" tIns="0" rIns="0" bIns="0" rtlCol="0" anchor="ctr">
            <a:normAutofit/>
          </a:bodyPr>
          <a:lstStyle/>
          <a:p>
            <a:pPr algn="ctr" indent="0" marL="0">
              <a:buNone/>
            </a:pPr>
            <a:r>
              <a:rPr lang="en-US" sz="1000" b="1" dirty="0">
                <a:solidFill>
                  <a:srgbClr val="07111F"/>
                </a:solidFill>
              </a:rPr>
              <a:t>Faria Fatima</a:t>
            </a:r>
            <a:endParaRPr lang="en-US" sz="1000" dirty="0"/>
          </a:p>
          <a:p>
            <a:pPr algn="ctr" indent="0" marL="0">
              <a:buNone/>
            </a:pPr>
            <a:endParaRPr lang="en-US" sz="1000" dirty="0"/>
          </a:p>
          <a:p>
            <a:pPr algn="ctr" indent="0" marL="0">
              <a:buNone/>
            </a:pPr>
            <a:r>
              <a:rPr lang="en-US" sz="1000" b="1" dirty="0">
                <a:solidFill>
                  <a:srgbClr val="07111F"/>
                </a:solidFill>
              </a:rPr>
              <a:t>Purpose: Explain what was tested and prevent overclaiming.</a:t>
            </a:r>
            <a:endParaRPr lang="en-US" sz="1000" dirty="0"/>
          </a:p>
          <a:p>
            <a:pPr algn="ctr" indent="0" marL="0">
              <a:buNone/>
            </a:pPr>
            <a:endParaRPr lang="en-US" sz="1000" dirty="0"/>
          </a:p>
          <a:p>
            <a:pPr algn="ctr" indent="0" marL="0">
              <a:buNone/>
            </a:pPr>
            <a:r>
              <a:rPr lang="en-US" sz="1000" b="1" dirty="0">
                <a:solidFill>
                  <a:srgbClr val="07111F"/>
                </a:solidFill>
              </a:rPr>
              <a:t>Presentation Content:</a:t>
            </a:r>
            <a:endParaRPr lang="en-US" sz="1000" dirty="0"/>
          </a:p>
          <a:p>
            <a:pPr algn="ctr" indent="0" marL="0">
              <a:buNone/>
            </a:pPr>
            <a:endParaRPr lang="en-US" sz="1000" dirty="0"/>
          </a:p>
          <a:p>
            <a:pPr algn="ctr" indent="0" marL="0">
              <a:buNone/>
            </a:pPr>
            <a:r>
              <a:rPr lang="en-US" sz="1000" b="1" dirty="0">
                <a:solidFill>
                  <a:srgbClr val="07111F"/>
                </a:solidFill>
              </a:rPr>
              <a:t>- Verification spans backend compilation and contracts, frontend build and behavior checks, Terraform validation and tests, workflow contracts, container health, and full-stack browser flows.</a:t>
            </a:r>
            <a:endParaRPr lang="en-US" sz="1000" dirty="0"/>
          </a:p>
          <a:p>
            <a:pPr algn="ctr" indent="0" marL="0">
              <a:buNone/>
            </a:pPr>
            <a:endParaRPr lang="en-US" sz="1000" dirty="0"/>
          </a:p>
          <a:p>
            <a:pPr algn="ctr" indent="0" marL="0">
              <a:buNone/>
            </a:pPr>
            <a:r>
              <a:rPr lang="en-US" sz="1000" b="1" dirty="0">
                <a:solidFill>
                  <a:srgbClr val="07111F"/>
                </a:solidFill>
              </a:rPr>
              <a:t>- Stored certification evidence records two clean deployments and one complete deploy, release-only redeploy, rollback, and destroy sequence.</a:t>
            </a:r>
            <a:endParaRPr lang="en-US" sz="1000" dirty="0"/>
          </a:p>
          <a:p>
            <a:pPr algn="ctr" indent="0" marL="0">
              <a:buNone/>
            </a:pPr>
            <a:endParaRPr lang="en-US" sz="1000" dirty="0"/>
          </a:p>
          <a:p>
            <a:pPr algn="ctr" indent="0" marL="0">
              <a:buNone/>
            </a:pPr>
            <a:r>
              <a:rPr lang="en-US" sz="1000" b="1" dirty="0">
                <a:solidFill>
                  <a:srgbClr val="07111F"/>
                </a:solidFill>
              </a:rPr>
              <a:t>- That evidence includes a successful public health response and verified removal of project-scoped resources while shared platform components remained intact.</a:t>
            </a:r>
            <a:endParaRPr lang="en-US" sz="1000" dirty="0"/>
          </a:p>
          <a:p>
            <a:pPr algn="ctr" indent="0" marL="0">
              <a:buNone/>
            </a:pPr>
            <a:endParaRPr lang="en-US" sz="1000" dirty="0"/>
          </a:p>
          <a:p>
            <a:pPr algn="ctr" indent="0" marL="0">
              <a:buNone/>
            </a:pPr>
            <a:r>
              <a:rPr lang="en-US" sz="1000" b="1" dirty="0">
                <a:solidFill>
                  <a:srgbClr val="07111F"/>
                </a:solidFill>
              </a:rPr>
              <a:t>- Structural checks verify architecture and contracts; only execution against AWS can establish live end-to-end behavior for a specific revision and configuration.</a:t>
            </a:r>
            <a:endParaRPr lang="en-US" sz="1000" dirty="0"/>
          </a:p>
          <a:p>
            <a:pPr algn="ctr" indent="0" marL="0">
              <a:buNone/>
            </a:pPr>
            <a:endParaRPr lang="en-US" sz="1000" dirty="0"/>
          </a:p>
          <a:p>
            <a:pPr algn="ctr" indent="0" marL="0">
              <a:buNone/>
            </a:pPr>
            <a:r>
              <a:rPr lang="en-US" sz="1000" b="1" dirty="0">
                <a:solidFill>
                  <a:srgbClr val="07111F"/>
                </a:solidFill>
              </a:rPr>
              <a:t>- Fresh live proof is still appropriate for MySQL dynamic task-network grants, MongoDB, database-failure isolation and recovery, topology reapply preserving the active release, and repeat-destroy idempotency.</a:t>
            </a:r>
            <a:endParaRPr lang="en-US" sz="1000" dirty="0"/>
          </a:p>
          <a:p>
            <a:pPr algn="ctr" indent="0" marL="0">
              <a:buNone/>
            </a:pPr>
            <a:endParaRPr lang="en-US" sz="1000" dirty="0"/>
          </a:p>
          <a:p>
            <a:pPr algn="ctr" indent="0" marL="0">
              <a:buNone/>
            </a:pPr>
            <a:r>
              <a:rPr lang="en-US" sz="1000" b="1" dirty="0">
                <a:solidFill>
                  <a:srgbClr val="07111F"/>
                </a:solidFill>
              </a:rPr>
              <a:t>- External integration prerequisites are labeled instead of being converted into false passes.</a:t>
            </a:r>
            <a:endParaRPr lang="en-US" sz="1000" dirty="0"/>
          </a:p>
          <a:p>
            <a:pPr algn="ctr" indent="0" marL="0">
              <a:buNone/>
            </a:pPr>
            <a:endParaRPr lang="en-US" sz="1000" dirty="0"/>
          </a:p>
          <a:p>
            <a:pPr algn="ctr" indent="0" marL="0">
              <a:buNone/>
            </a:pPr>
            <a:r>
              <a:rPr lang="en-US" sz="1000" b="1" dirty="0">
                <a:solidFill>
                  <a:srgbClr val="07111F"/>
                </a:solidFill>
              </a:rPr>
              <a:t>Visual Recommendation: Evidence matrix with rows for Local, Contract, Full Stack, and Live Cloud, and columns for Deploy, Observe, Redeploy, Rollback, Destroy, and Database Cases.</a:t>
            </a:r>
            <a:endParaRPr lang="en-US" sz="1000" dirty="0"/>
          </a:p>
          <a:p>
            <a:pPr algn="ctr" indent="0" marL="0">
              <a:buNone/>
            </a:pPr>
            <a:endParaRPr lang="en-US" sz="1000" dirty="0"/>
          </a:p>
          <a:p>
            <a:pPr algn="ctr" indent="0" marL="0">
              <a:buNone/>
            </a:pPr>
            <a:r>
              <a:rPr lang="en-US" sz="1000" b="1" dirty="0">
                <a:solidFill>
                  <a:srgbClr val="07111F"/>
                </a:solidFill>
              </a:rPr>
              <a:t>Defense Notes: If challenged on an unverified case, state the exact boundary and the test required. Honest evidence classification is itself a reliability feature.</a:t>
            </a:r>
            <a:endParaRPr lang="en-US" sz="1000" dirty="0"/>
          </a:p>
        </p:txBody>
      </p:sp>
      <p:sp>
        <p:nvSpPr>
          <p:cNvPr id="5" name="Shape 3"/>
          <p:cNvSpPr/>
          <p:nvPr/>
        </p:nvSpPr>
        <p:spPr>
          <a:xfrm>
            <a:off x="502920" y="932688"/>
            <a:ext cx="11109960" cy="0"/>
          </a:xfrm>
          <a:prstGeom prst="line">
            <a:avLst/>
          </a:prstGeom>
          <a:noFill/>
          <a:ln w="17780">
            <a:solidFill>
              <a:srgbClr val="54D6A3">
                <a:alpha val="75000"/>
              </a:srgbClr>
            </a:solidFill>
            <a:prstDash val="solid"/>
          </a:ln>
        </p:spPr>
      </p:sp>
      <p:sp>
        <p:nvSpPr>
          <p:cNvPr id="6" name="Text 4"/>
          <p:cNvSpPr/>
          <p:nvPr/>
        </p:nvSpPr>
        <p:spPr>
          <a:xfrm>
            <a:off x="502920" y="996696"/>
            <a:ext cx="5212080" cy="164592"/>
          </a:xfrm>
          <a:prstGeom prst="rect">
            <a:avLst/>
          </a:prstGeom>
          <a:noFill/>
          <a:ln/>
        </p:spPr>
        <p:txBody>
          <a:bodyPr wrap="square" lIns="0" tIns="0" rIns="0" bIns="0" rtlCol="0" anchor="ctr"/>
          <a:lstStyle/>
          <a:p>
            <a:pPr indent="0" marL="0">
              <a:buNone/>
            </a:pPr>
            <a:r>
              <a:rPr lang="en-US" sz="850" b="1" spc="110" kern="0" dirty="0">
                <a:solidFill>
                  <a:srgbClr val="54D6A3"/>
                </a:solidFill>
              </a:rPr>
              <a:t>FARIA — BACKEND &amp; INTEGRATION</a:t>
            </a:r>
            <a:endParaRPr lang="en-US" sz="850" dirty="0"/>
          </a:p>
        </p:txBody>
      </p:sp>
      <p:sp>
        <p:nvSpPr>
          <p:cNvPr id="7" name="Text 5"/>
          <p:cNvSpPr/>
          <p:nvPr/>
        </p:nvSpPr>
        <p:spPr>
          <a:xfrm>
            <a:off x="594360" y="1325880"/>
            <a:ext cx="5349240" cy="4937760"/>
          </a:xfrm>
          <a:prstGeom prst="rect">
            <a:avLst/>
          </a:prstGeom>
          <a:noFill/>
          <a:ln/>
        </p:spPr>
        <p:txBody>
          <a:bodyPr wrap="square" lIns="254" tIns="254" rIns="254" bIns="254" rtlCol="0" anchor="ctr">
            <a:normAutofit/>
          </a:bodyPr>
          <a:lstStyle/>
          <a:p>
            <a:pPr marL="190500" indent="-190500">
              <a:buSzPct val="100000"/>
              <a:buChar char="•"/>
            </a:pPr>
            <a:r>
              <a:rPr lang="en-US" sz="1580" dirty="0">
                <a:solidFill>
                  <a:srgbClr val="D9E5EF"/>
                </a:solidFill>
                <a:latin typeface="Aptos" pitchFamily="34" charset="0"/>
                <a:ea typeface="Aptos" pitchFamily="34" charset="-122"/>
                <a:cs typeface="Aptos" pitchFamily="34" charset="-120"/>
              </a:rPr>
              <a:t>Verification spans backend compilation and contracts, frontend build and behavior checks, Terraform validation and tests, workflow contracts, container health, and full-stack browser flows.</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Stored certification evidence records two clean deployments and one complete deploy, release-only redeploy, rollback, and destroy sequence.</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That evidence includes a successful public health response and verified removal of project-scoped resources while shared platform components remained intact.</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Structural checks verify architecture and contracts; only execution against AWS can establish live end-to-end behavior for a specific revision and configuration.</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Fresh live proof is still appropriate for MySQL dynamic task-network grants, MongoDB, database-failure isolation and recovery, topology reapply preserving the active release, and repeat-destroy idempotency.</a:t>
            </a:r>
            <a:endParaRPr lang="en-US" sz="1580" dirty="0"/>
          </a:p>
          <a:p>
            <a:pPr marL="190500" indent="-190500">
              <a:buSzPct val="100000"/>
              <a:buChar char="•"/>
            </a:pPr>
            <a:r>
              <a:rPr lang="en-US" sz="1580" dirty="0">
                <a:solidFill>
                  <a:srgbClr val="D9E5EF"/>
                </a:solidFill>
                <a:latin typeface="Aptos" pitchFamily="34" charset="0"/>
                <a:ea typeface="Aptos" pitchFamily="34" charset="-122"/>
                <a:cs typeface="Aptos" pitchFamily="34" charset="-120"/>
              </a:rPr>
              <a:t>External integration prerequisites are labeled instead of being converted into false passes.</a:t>
            </a:r>
            <a:endParaRPr lang="en-US" sz="1580" dirty="0"/>
          </a:p>
        </p:txBody>
      </p:sp>
      <p:sp>
        <p:nvSpPr>
          <p:cNvPr id="8" name="Shape 6"/>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9" name="Shape 7"/>
          <p:cNvSpPr/>
          <p:nvPr/>
        </p:nvSpPr>
        <p:spPr>
          <a:xfrm>
            <a:off x="6400800" y="1481328"/>
            <a:ext cx="1078992" cy="347472"/>
          </a:xfrm>
          <a:prstGeom prst="roundRect">
            <a:avLst>
              <a:gd name="adj" fmla="val 47368"/>
            </a:avLst>
          </a:prstGeom>
          <a:solidFill>
            <a:srgbClr val="35C2D8">
              <a:alpha val="88000"/>
            </a:srgbClr>
          </a:solidFill>
          <a:ln w="12700">
            <a:solidFill>
              <a:srgbClr val="35C2D8">
                <a:alpha val="0"/>
              </a:srgbClr>
            </a:solidFill>
            <a:prstDash val="solid"/>
          </a:ln>
        </p:spPr>
      </p:sp>
      <p:sp>
        <p:nvSpPr>
          <p:cNvPr id="10" name="Text 8"/>
          <p:cNvSpPr/>
          <p:nvPr/>
        </p:nvSpPr>
        <p:spPr>
          <a:xfrm>
            <a:off x="6473952" y="1563624"/>
            <a:ext cx="932688" cy="118872"/>
          </a:xfrm>
          <a:prstGeom prst="rect">
            <a:avLst/>
          </a:prstGeom>
          <a:noFill/>
          <a:ln/>
        </p:spPr>
        <p:txBody>
          <a:bodyPr wrap="square" lIns="0" tIns="0" rIns="0" bIns="0" rtlCol="0" anchor="ctr">
            <a:normAutofit/>
          </a:bodyPr>
          <a:lstStyle/>
          <a:p>
            <a:pPr algn="ctr" indent="0" marL="0">
              <a:buNone/>
            </a:pPr>
            <a:r>
              <a:rPr lang="en-US" sz="950" b="1" dirty="0">
                <a:solidFill>
                  <a:srgbClr val="07111F"/>
                </a:solidFill>
              </a:rPr>
              <a:t>Local</a:t>
            </a:r>
            <a:endParaRPr lang="en-US" sz="950" dirty="0"/>
          </a:p>
        </p:txBody>
      </p:sp>
      <p:sp>
        <p:nvSpPr>
          <p:cNvPr id="11" name="Shape 9"/>
          <p:cNvSpPr/>
          <p:nvPr/>
        </p:nvSpPr>
        <p:spPr>
          <a:xfrm>
            <a:off x="7662672" y="1481328"/>
            <a:ext cx="1078992" cy="347472"/>
          </a:xfrm>
          <a:prstGeom prst="roundRect">
            <a:avLst>
              <a:gd name="adj" fmla="val 47368"/>
            </a:avLst>
          </a:prstGeom>
          <a:solidFill>
            <a:srgbClr val="4FA3FF">
              <a:alpha val="88000"/>
            </a:srgbClr>
          </a:solidFill>
          <a:ln w="12700">
            <a:solidFill>
              <a:srgbClr val="4FA3FF">
                <a:alpha val="0"/>
              </a:srgbClr>
            </a:solidFill>
            <a:prstDash val="solid"/>
          </a:ln>
        </p:spPr>
      </p:sp>
      <p:sp>
        <p:nvSpPr>
          <p:cNvPr id="12" name="Text 10"/>
          <p:cNvSpPr/>
          <p:nvPr/>
        </p:nvSpPr>
        <p:spPr>
          <a:xfrm>
            <a:off x="7735824" y="1563624"/>
            <a:ext cx="932688" cy="118872"/>
          </a:xfrm>
          <a:prstGeom prst="rect">
            <a:avLst/>
          </a:prstGeom>
          <a:noFill/>
          <a:ln/>
        </p:spPr>
        <p:txBody>
          <a:bodyPr wrap="square" lIns="0" tIns="0" rIns="0" bIns="0" rtlCol="0" anchor="ctr">
            <a:normAutofit/>
          </a:bodyPr>
          <a:lstStyle/>
          <a:p>
            <a:pPr algn="ctr" indent="0" marL="0">
              <a:buNone/>
            </a:pPr>
            <a:r>
              <a:rPr lang="en-US" sz="950" b="1" dirty="0">
                <a:solidFill>
                  <a:srgbClr val="07111F"/>
                </a:solidFill>
              </a:rPr>
              <a:t>Contract</a:t>
            </a:r>
            <a:endParaRPr lang="en-US" sz="950" dirty="0"/>
          </a:p>
        </p:txBody>
      </p:sp>
      <p:sp>
        <p:nvSpPr>
          <p:cNvPr id="13" name="Shape 11"/>
          <p:cNvSpPr/>
          <p:nvPr/>
        </p:nvSpPr>
        <p:spPr>
          <a:xfrm>
            <a:off x="8924544" y="1481328"/>
            <a:ext cx="1078992" cy="347472"/>
          </a:xfrm>
          <a:prstGeom prst="roundRect">
            <a:avLst>
              <a:gd name="adj" fmla="val 47368"/>
            </a:avLst>
          </a:prstGeom>
          <a:solidFill>
            <a:srgbClr val="B276FF">
              <a:alpha val="88000"/>
            </a:srgbClr>
          </a:solidFill>
          <a:ln w="12700">
            <a:solidFill>
              <a:srgbClr val="B276FF">
                <a:alpha val="0"/>
              </a:srgbClr>
            </a:solidFill>
            <a:prstDash val="solid"/>
          </a:ln>
        </p:spPr>
      </p:sp>
      <p:sp>
        <p:nvSpPr>
          <p:cNvPr id="14" name="Text 12"/>
          <p:cNvSpPr/>
          <p:nvPr/>
        </p:nvSpPr>
        <p:spPr>
          <a:xfrm>
            <a:off x="8997696" y="1563624"/>
            <a:ext cx="932688" cy="118872"/>
          </a:xfrm>
          <a:prstGeom prst="rect">
            <a:avLst/>
          </a:prstGeom>
          <a:noFill/>
          <a:ln/>
        </p:spPr>
        <p:txBody>
          <a:bodyPr wrap="square" lIns="0" tIns="0" rIns="0" bIns="0" rtlCol="0" anchor="ctr">
            <a:normAutofit/>
          </a:bodyPr>
          <a:lstStyle/>
          <a:p>
            <a:pPr algn="ctr" indent="0" marL="0">
              <a:buNone/>
            </a:pPr>
            <a:r>
              <a:rPr lang="en-US" sz="950" b="1" dirty="0">
                <a:solidFill>
                  <a:srgbClr val="07111F"/>
                </a:solidFill>
              </a:rPr>
              <a:t>Full stack</a:t>
            </a:r>
            <a:endParaRPr lang="en-US" sz="950" dirty="0"/>
          </a:p>
        </p:txBody>
      </p:sp>
      <p:sp>
        <p:nvSpPr>
          <p:cNvPr id="15" name="Shape 13"/>
          <p:cNvSpPr/>
          <p:nvPr/>
        </p:nvSpPr>
        <p:spPr>
          <a:xfrm>
            <a:off x="10186416" y="1481328"/>
            <a:ext cx="1078992" cy="347472"/>
          </a:xfrm>
          <a:prstGeom prst="roundRect">
            <a:avLst>
              <a:gd name="adj" fmla="val 47368"/>
            </a:avLst>
          </a:prstGeom>
          <a:solidFill>
            <a:srgbClr val="54D6A3">
              <a:alpha val="88000"/>
            </a:srgbClr>
          </a:solidFill>
          <a:ln w="12700">
            <a:solidFill>
              <a:srgbClr val="54D6A3">
                <a:alpha val="0"/>
              </a:srgbClr>
            </a:solidFill>
            <a:prstDash val="solid"/>
          </a:ln>
        </p:spPr>
      </p:sp>
      <p:sp>
        <p:nvSpPr>
          <p:cNvPr id="16" name="Text 14"/>
          <p:cNvSpPr/>
          <p:nvPr/>
        </p:nvSpPr>
        <p:spPr>
          <a:xfrm>
            <a:off x="10259568" y="1563624"/>
            <a:ext cx="932688" cy="118872"/>
          </a:xfrm>
          <a:prstGeom prst="rect">
            <a:avLst/>
          </a:prstGeom>
          <a:noFill/>
          <a:ln/>
        </p:spPr>
        <p:txBody>
          <a:bodyPr wrap="square" lIns="0" tIns="0" rIns="0" bIns="0" rtlCol="0" anchor="ctr">
            <a:normAutofit/>
          </a:bodyPr>
          <a:lstStyle/>
          <a:p>
            <a:pPr algn="ctr" indent="0" marL="0">
              <a:buNone/>
            </a:pPr>
            <a:r>
              <a:rPr lang="en-US" sz="950" b="1" dirty="0">
                <a:solidFill>
                  <a:srgbClr val="07111F"/>
                </a:solidFill>
              </a:rPr>
              <a:t>Live cloud</a:t>
            </a:r>
            <a:endParaRPr lang="en-US" sz="950" dirty="0"/>
          </a:p>
        </p:txBody>
      </p:sp>
      <p:sp>
        <p:nvSpPr>
          <p:cNvPr id="17" name="Text 15"/>
          <p:cNvSpPr/>
          <p:nvPr/>
        </p:nvSpPr>
        <p:spPr>
          <a:xfrm>
            <a:off x="6400800" y="2103120"/>
            <a:ext cx="1051560" cy="201168"/>
          </a:xfrm>
          <a:prstGeom prst="rect">
            <a:avLst/>
          </a:prstGeom>
          <a:noFill/>
          <a:ln/>
        </p:spPr>
        <p:txBody>
          <a:bodyPr wrap="square" lIns="0" tIns="0" rIns="0" bIns="0" rtlCol="0" anchor="ctr"/>
          <a:lstStyle/>
          <a:p>
            <a:pPr indent="0" marL="0">
              <a:buNone/>
            </a:pPr>
            <a:r>
              <a:rPr lang="en-US" sz="950" b="1" dirty="0">
                <a:solidFill>
                  <a:srgbClr val="8FA6B9"/>
                </a:solidFill>
              </a:rPr>
              <a:t>Deploy</a:t>
            </a:r>
            <a:endParaRPr lang="en-US" sz="950" dirty="0"/>
          </a:p>
        </p:txBody>
      </p:sp>
      <p:sp>
        <p:nvSpPr>
          <p:cNvPr id="18" name="Shape 16"/>
          <p:cNvSpPr/>
          <p:nvPr/>
        </p:nvSpPr>
        <p:spPr>
          <a:xfrm>
            <a:off x="7543800" y="2093976"/>
            <a:ext cx="164592" cy="164592"/>
          </a:xfrm>
          <a:prstGeom prst="ellipse">
            <a:avLst/>
          </a:prstGeom>
          <a:solidFill>
            <a:srgbClr val="54D6A3"/>
          </a:solidFill>
          <a:ln w="12700">
            <a:solidFill>
              <a:srgbClr val="54D6A3"/>
            </a:solidFill>
            <a:prstDash val="solid"/>
          </a:ln>
        </p:spPr>
      </p:sp>
      <p:sp>
        <p:nvSpPr>
          <p:cNvPr id="19" name="Shape 17"/>
          <p:cNvSpPr/>
          <p:nvPr/>
        </p:nvSpPr>
        <p:spPr>
          <a:xfrm>
            <a:off x="8549640" y="2093976"/>
            <a:ext cx="164592" cy="164592"/>
          </a:xfrm>
          <a:prstGeom prst="ellipse">
            <a:avLst/>
          </a:prstGeom>
          <a:solidFill>
            <a:srgbClr val="54D6A3"/>
          </a:solidFill>
          <a:ln w="12700">
            <a:solidFill>
              <a:srgbClr val="54D6A3"/>
            </a:solidFill>
            <a:prstDash val="solid"/>
          </a:ln>
        </p:spPr>
      </p:sp>
      <p:sp>
        <p:nvSpPr>
          <p:cNvPr id="20" name="Shape 18"/>
          <p:cNvSpPr/>
          <p:nvPr/>
        </p:nvSpPr>
        <p:spPr>
          <a:xfrm>
            <a:off x="9555480" y="2093976"/>
            <a:ext cx="164592" cy="164592"/>
          </a:xfrm>
          <a:prstGeom prst="ellipse">
            <a:avLst/>
          </a:prstGeom>
          <a:solidFill>
            <a:srgbClr val="54D6A3"/>
          </a:solidFill>
          <a:ln w="12700">
            <a:solidFill>
              <a:srgbClr val="54D6A3"/>
            </a:solidFill>
            <a:prstDash val="solid"/>
          </a:ln>
        </p:spPr>
      </p:sp>
      <p:sp>
        <p:nvSpPr>
          <p:cNvPr id="21" name="Shape 19"/>
          <p:cNvSpPr/>
          <p:nvPr/>
        </p:nvSpPr>
        <p:spPr>
          <a:xfrm>
            <a:off x="10561320" y="2093976"/>
            <a:ext cx="164592" cy="164592"/>
          </a:xfrm>
          <a:prstGeom prst="ellipse">
            <a:avLst/>
          </a:prstGeom>
          <a:solidFill>
            <a:srgbClr val="F5B041"/>
          </a:solidFill>
          <a:ln w="12700">
            <a:solidFill>
              <a:srgbClr val="F5B041"/>
            </a:solidFill>
            <a:prstDash val="solid"/>
          </a:ln>
        </p:spPr>
      </p:sp>
      <p:sp>
        <p:nvSpPr>
          <p:cNvPr id="22" name="Text 20"/>
          <p:cNvSpPr/>
          <p:nvPr/>
        </p:nvSpPr>
        <p:spPr>
          <a:xfrm>
            <a:off x="6400800" y="2670048"/>
            <a:ext cx="1051560" cy="201168"/>
          </a:xfrm>
          <a:prstGeom prst="rect">
            <a:avLst/>
          </a:prstGeom>
          <a:noFill/>
          <a:ln/>
        </p:spPr>
        <p:txBody>
          <a:bodyPr wrap="square" lIns="0" tIns="0" rIns="0" bIns="0" rtlCol="0" anchor="ctr"/>
          <a:lstStyle/>
          <a:p>
            <a:pPr indent="0" marL="0">
              <a:buNone/>
            </a:pPr>
            <a:r>
              <a:rPr lang="en-US" sz="950" b="1" dirty="0">
                <a:solidFill>
                  <a:srgbClr val="8FA6B9"/>
                </a:solidFill>
              </a:rPr>
              <a:t>Observe</a:t>
            </a:r>
            <a:endParaRPr lang="en-US" sz="950" dirty="0"/>
          </a:p>
        </p:txBody>
      </p:sp>
      <p:sp>
        <p:nvSpPr>
          <p:cNvPr id="23" name="Shape 21"/>
          <p:cNvSpPr/>
          <p:nvPr/>
        </p:nvSpPr>
        <p:spPr>
          <a:xfrm>
            <a:off x="7543800" y="2660904"/>
            <a:ext cx="164592" cy="164592"/>
          </a:xfrm>
          <a:prstGeom prst="ellipse">
            <a:avLst/>
          </a:prstGeom>
          <a:solidFill>
            <a:srgbClr val="54D6A3"/>
          </a:solidFill>
          <a:ln w="12700">
            <a:solidFill>
              <a:srgbClr val="54D6A3"/>
            </a:solidFill>
            <a:prstDash val="solid"/>
          </a:ln>
        </p:spPr>
      </p:sp>
      <p:sp>
        <p:nvSpPr>
          <p:cNvPr id="24" name="Shape 22"/>
          <p:cNvSpPr/>
          <p:nvPr/>
        </p:nvSpPr>
        <p:spPr>
          <a:xfrm>
            <a:off x="8549640" y="2660904"/>
            <a:ext cx="164592" cy="164592"/>
          </a:xfrm>
          <a:prstGeom prst="ellipse">
            <a:avLst/>
          </a:prstGeom>
          <a:solidFill>
            <a:srgbClr val="54D6A3"/>
          </a:solidFill>
          <a:ln w="12700">
            <a:solidFill>
              <a:srgbClr val="54D6A3"/>
            </a:solidFill>
            <a:prstDash val="solid"/>
          </a:ln>
        </p:spPr>
      </p:sp>
      <p:sp>
        <p:nvSpPr>
          <p:cNvPr id="25" name="Shape 23"/>
          <p:cNvSpPr/>
          <p:nvPr/>
        </p:nvSpPr>
        <p:spPr>
          <a:xfrm>
            <a:off x="9555480" y="2660904"/>
            <a:ext cx="164592" cy="164592"/>
          </a:xfrm>
          <a:prstGeom prst="ellipse">
            <a:avLst/>
          </a:prstGeom>
          <a:solidFill>
            <a:srgbClr val="54D6A3"/>
          </a:solidFill>
          <a:ln w="12700">
            <a:solidFill>
              <a:srgbClr val="54D6A3"/>
            </a:solidFill>
            <a:prstDash val="solid"/>
          </a:ln>
        </p:spPr>
      </p:sp>
      <p:sp>
        <p:nvSpPr>
          <p:cNvPr id="26" name="Shape 24"/>
          <p:cNvSpPr/>
          <p:nvPr/>
        </p:nvSpPr>
        <p:spPr>
          <a:xfrm>
            <a:off x="10561320" y="2660904"/>
            <a:ext cx="164592" cy="164592"/>
          </a:xfrm>
          <a:prstGeom prst="ellipse">
            <a:avLst/>
          </a:prstGeom>
          <a:solidFill>
            <a:srgbClr val="F5B041"/>
          </a:solidFill>
          <a:ln w="12700">
            <a:solidFill>
              <a:srgbClr val="F5B041"/>
            </a:solidFill>
            <a:prstDash val="solid"/>
          </a:ln>
        </p:spPr>
      </p:sp>
      <p:sp>
        <p:nvSpPr>
          <p:cNvPr id="27" name="Text 25"/>
          <p:cNvSpPr/>
          <p:nvPr/>
        </p:nvSpPr>
        <p:spPr>
          <a:xfrm>
            <a:off x="6400800" y="3236976"/>
            <a:ext cx="1051560" cy="201168"/>
          </a:xfrm>
          <a:prstGeom prst="rect">
            <a:avLst/>
          </a:prstGeom>
          <a:noFill/>
          <a:ln/>
        </p:spPr>
        <p:txBody>
          <a:bodyPr wrap="square" lIns="0" tIns="0" rIns="0" bIns="0" rtlCol="0" anchor="ctr"/>
          <a:lstStyle/>
          <a:p>
            <a:pPr indent="0" marL="0">
              <a:buNone/>
            </a:pPr>
            <a:r>
              <a:rPr lang="en-US" sz="950" b="1" dirty="0">
                <a:solidFill>
                  <a:srgbClr val="8FA6B9"/>
                </a:solidFill>
              </a:rPr>
              <a:t>Redeploy</a:t>
            </a:r>
            <a:endParaRPr lang="en-US" sz="950" dirty="0"/>
          </a:p>
        </p:txBody>
      </p:sp>
      <p:sp>
        <p:nvSpPr>
          <p:cNvPr id="28" name="Shape 26"/>
          <p:cNvSpPr/>
          <p:nvPr/>
        </p:nvSpPr>
        <p:spPr>
          <a:xfrm>
            <a:off x="7543800" y="3227832"/>
            <a:ext cx="164592" cy="164592"/>
          </a:xfrm>
          <a:prstGeom prst="ellipse">
            <a:avLst/>
          </a:prstGeom>
          <a:solidFill>
            <a:srgbClr val="54D6A3"/>
          </a:solidFill>
          <a:ln w="12700">
            <a:solidFill>
              <a:srgbClr val="54D6A3"/>
            </a:solidFill>
            <a:prstDash val="solid"/>
          </a:ln>
        </p:spPr>
      </p:sp>
      <p:sp>
        <p:nvSpPr>
          <p:cNvPr id="29" name="Shape 27"/>
          <p:cNvSpPr/>
          <p:nvPr/>
        </p:nvSpPr>
        <p:spPr>
          <a:xfrm>
            <a:off x="8549640" y="3227832"/>
            <a:ext cx="164592" cy="164592"/>
          </a:xfrm>
          <a:prstGeom prst="ellipse">
            <a:avLst/>
          </a:prstGeom>
          <a:solidFill>
            <a:srgbClr val="54D6A3"/>
          </a:solidFill>
          <a:ln w="12700">
            <a:solidFill>
              <a:srgbClr val="54D6A3"/>
            </a:solidFill>
            <a:prstDash val="solid"/>
          </a:ln>
        </p:spPr>
      </p:sp>
      <p:sp>
        <p:nvSpPr>
          <p:cNvPr id="30" name="Shape 28"/>
          <p:cNvSpPr/>
          <p:nvPr/>
        </p:nvSpPr>
        <p:spPr>
          <a:xfrm>
            <a:off x="9555480" y="3227832"/>
            <a:ext cx="164592" cy="164592"/>
          </a:xfrm>
          <a:prstGeom prst="ellipse">
            <a:avLst/>
          </a:prstGeom>
          <a:solidFill>
            <a:srgbClr val="54D6A3"/>
          </a:solidFill>
          <a:ln w="12700">
            <a:solidFill>
              <a:srgbClr val="54D6A3"/>
            </a:solidFill>
            <a:prstDash val="solid"/>
          </a:ln>
        </p:spPr>
      </p:sp>
      <p:sp>
        <p:nvSpPr>
          <p:cNvPr id="31" name="Shape 29"/>
          <p:cNvSpPr/>
          <p:nvPr/>
        </p:nvSpPr>
        <p:spPr>
          <a:xfrm>
            <a:off x="10561320" y="3227832"/>
            <a:ext cx="164592" cy="164592"/>
          </a:xfrm>
          <a:prstGeom prst="ellipse">
            <a:avLst/>
          </a:prstGeom>
          <a:solidFill>
            <a:srgbClr val="F5B041"/>
          </a:solidFill>
          <a:ln w="12700">
            <a:solidFill>
              <a:srgbClr val="F5B041"/>
            </a:solidFill>
            <a:prstDash val="solid"/>
          </a:ln>
        </p:spPr>
      </p:sp>
      <p:sp>
        <p:nvSpPr>
          <p:cNvPr id="32" name="Text 30"/>
          <p:cNvSpPr/>
          <p:nvPr/>
        </p:nvSpPr>
        <p:spPr>
          <a:xfrm>
            <a:off x="6400800" y="3803904"/>
            <a:ext cx="1051560" cy="201168"/>
          </a:xfrm>
          <a:prstGeom prst="rect">
            <a:avLst/>
          </a:prstGeom>
          <a:noFill/>
          <a:ln/>
        </p:spPr>
        <p:txBody>
          <a:bodyPr wrap="square" lIns="0" tIns="0" rIns="0" bIns="0" rtlCol="0" anchor="ctr"/>
          <a:lstStyle/>
          <a:p>
            <a:pPr indent="0" marL="0">
              <a:buNone/>
            </a:pPr>
            <a:r>
              <a:rPr lang="en-US" sz="950" b="1" dirty="0">
                <a:solidFill>
                  <a:srgbClr val="8FA6B9"/>
                </a:solidFill>
              </a:rPr>
              <a:t>Rollback</a:t>
            </a:r>
            <a:endParaRPr lang="en-US" sz="950" dirty="0"/>
          </a:p>
        </p:txBody>
      </p:sp>
      <p:sp>
        <p:nvSpPr>
          <p:cNvPr id="33" name="Shape 31"/>
          <p:cNvSpPr/>
          <p:nvPr/>
        </p:nvSpPr>
        <p:spPr>
          <a:xfrm>
            <a:off x="7543800" y="3794760"/>
            <a:ext cx="164592" cy="164592"/>
          </a:xfrm>
          <a:prstGeom prst="ellipse">
            <a:avLst/>
          </a:prstGeom>
          <a:solidFill>
            <a:srgbClr val="54D6A3"/>
          </a:solidFill>
          <a:ln w="12700">
            <a:solidFill>
              <a:srgbClr val="54D6A3"/>
            </a:solidFill>
            <a:prstDash val="solid"/>
          </a:ln>
        </p:spPr>
      </p:sp>
      <p:sp>
        <p:nvSpPr>
          <p:cNvPr id="34" name="Shape 32"/>
          <p:cNvSpPr/>
          <p:nvPr/>
        </p:nvSpPr>
        <p:spPr>
          <a:xfrm>
            <a:off x="8549640" y="3794760"/>
            <a:ext cx="164592" cy="164592"/>
          </a:xfrm>
          <a:prstGeom prst="ellipse">
            <a:avLst/>
          </a:prstGeom>
          <a:solidFill>
            <a:srgbClr val="54D6A3"/>
          </a:solidFill>
          <a:ln w="12700">
            <a:solidFill>
              <a:srgbClr val="54D6A3"/>
            </a:solidFill>
            <a:prstDash val="solid"/>
          </a:ln>
        </p:spPr>
      </p:sp>
      <p:sp>
        <p:nvSpPr>
          <p:cNvPr id="35" name="Shape 33"/>
          <p:cNvSpPr/>
          <p:nvPr/>
        </p:nvSpPr>
        <p:spPr>
          <a:xfrm>
            <a:off x="9555480" y="3794760"/>
            <a:ext cx="164592" cy="164592"/>
          </a:xfrm>
          <a:prstGeom prst="ellipse">
            <a:avLst/>
          </a:prstGeom>
          <a:solidFill>
            <a:srgbClr val="54D6A3"/>
          </a:solidFill>
          <a:ln w="12700">
            <a:solidFill>
              <a:srgbClr val="54D6A3"/>
            </a:solidFill>
            <a:prstDash val="solid"/>
          </a:ln>
        </p:spPr>
      </p:sp>
      <p:sp>
        <p:nvSpPr>
          <p:cNvPr id="36" name="Shape 34"/>
          <p:cNvSpPr/>
          <p:nvPr/>
        </p:nvSpPr>
        <p:spPr>
          <a:xfrm>
            <a:off x="10561320" y="3794760"/>
            <a:ext cx="164592" cy="164592"/>
          </a:xfrm>
          <a:prstGeom prst="ellipse">
            <a:avLst/>
          </a:prstGeom>
          <a:solidFill>
            <a:srgbClr val="F5B041"/>
          </a:solidFill>
          <a:ln w="12700">
            <a:solidFill>
              <a:srgbClr val="F5B041"/>
            </a:solidFill>
            <a:prstDash val="solid"/>
          </a:ln>
        </p:spPr>
      </p:sp>
      <p:sp>
        <p:nvSpPr>
          <p:cNvPr id="37" name="Text 35"/>
          <p:cNvSpPr/>
          <p:nvPr/>
        </p:nvSpPr>
        <p:spPr>
          <a:xfrm>
            <a:off x="6400800" y="4370832"/>
            <a:ext cx="1051560" cy="201168"/>
          </a:xfrm>
          <a:prstGeom prst="rect">
            <a:avLst/>
          </a:prstGeom>
          <a:noFill/>
          <a:ln/>
        </p:spPr>
        <p:txBody>
          <a:bodyPr wrap="square" lIns="0" tIns="0" rIns="0" bIns="0" rtlCol="0" anchor="ctr"/>
          <a:lstStyle/>
          <a:p>
            <a:pPr indent="0" marL="0">
              <a:buNone/>
            </a:pPr>
            <a:r>
              <a:rPr lang="en-US" sz="950" b="1" dirty="0">
                <a:solidFill>
                  <a:srgbClr val="8FA6B9"/>
                </a:solidFill>
              </a:rPr>
              <a:t>Destroy</a:t>
            </a:r>
            <a:endParaRPr lang="en-US" sz="950" dirty="0"/>
          </a:p>
        </p:txBody>
      </p:sp>
      <p:sp>
        <p:nvSpPr>
          <p:cNvPr id="38" name="Shape 36"/>
          <p:cNvSpPr/>
          <p:nvPr/>
        </p:nvSpPr>
        <p:spPr>
          <a:xfrm>
            <a:off x="7543800" y="4361688"/>
            <a:ext cx="164592" cy="164592"/>
          </a:xfrm>
          <a:prstGeom prst="ellipse">
            <a:avLst/>
          </a:prstGeom>
          <a:solidFill>
            <a:srgbClr val="54D6A3"/>
          </a:solidFill>
          <a:ln w="12700">
            <a:solidFill>
              <a:srgbClr val="54D6A3"/>
            </a:solidFill>
            <a:prstDash val="solid"/>
          </a:ln>
        </p:spPr>
      </p:sp>
      <p:sp>
        <p:nvSpPr>
          <p:cNvPr id="39" name="Shape 37"/>
          <p:cNvSpPr/>
          <p:nvPr/>
        </p:nvSpPr>
        <p:spPr>
          <a:xfrm>
            <a:off x="8549640" y="4361688"/>
            <a:ext cx="164592" cy="164592"/>
          </a:xfrm>
          <a:prstGeom prst="ellipse">
            <a:avLst/>
          </a:prstGeom>
          <a:solidFill>
            <a:srgbClr val="54D6A3"/>
          </a:solidFill>
          <a:ln w="12700">
            <a:solidFill>
              <a:srgbClr val="54D6A3"/>
            </a:solidFill>
            <a:prstDash val="solid"/>
          </a:ln>
        </p:spPr>
      </p:sp>
      <p:sp>
        <p:nvSpPr>
          <p:cNvPr id="40" name="Shape 38"/>
          <p:cNvSpPr/>
          <p:nvPr/>
        </p:nvSpPr>
        <p:spPr>
          <a:xfrm>
            <a:off x="9555480" y="4361688"/>
            <a:ext cx="164592" cy="164592"/>
          </a:xfrm>
          <a:prstGeom prst="ellipse">
            <a:avLst/>
          </a:prstGeom>
          <a:solidFill>
            <a:srgbClr val="54D6A3"/>
          </a:solidFill>
          <a:ln w="12700">
            <a:solidFill>
              <a:srgbClr val="54D6A3"/>
            </a:solidFill>
            <a:prstDash val="solid"/>
          </a:ln>
        </p:spPr>
      </p:sp>
      <p:sp>
        <p:nvSpPr>
          <p:cNvPr id="41" name="Shape 39"/>
          <p:cNvSpPr/>
          <p:nvPr/>
        </p:nvSpPr>
        <p:spPr>
          <a:xfrm>
            <a:off x="10561320" y="4361688"/>
            <a:ext cx="164592" cy="164592"/>
          </a:xfrm>
          <a:prstGeom prst="ellipse">
            <a:avLst/>
          </a:prstGeom>
          <a:solidFill>
            <a:srgbClr val="4FA3FF"/>
          </a:solidFill>
          <a:ln w="12700">
            <a:solidFill>
              <a:srgbClr val="4FA3FF"/>
            </a:solidFill>
            <a:prstDash val="solid"/>
          </a:ln>
        </p:spPr>
      </p:sp>
      <p:sp>
        <p:nvSpPr>
          <p:cNvPr id="42" name="Text 40"/>
          <p:cNvSpPr/>
          <p:nvPr/>
        </p:nvSpPr>
        <p:spPr>
          <a:xfrm>
            <a:off x="6400800" y="4937760"/>
            <a:ext cx="1051560" cy="201168"/>
          </a:xfrm>
          <a:prstGeom prst="rect">
            <a:avLst/>
          </a:prstGeom>
          <a:noFill/>
          <a:ln/>
        </p:spPr>
        <p:txBody>
          <a:bodyPr wrap="square" lIns="0" tIns="0" rIns="0" bIns="0" rtlCol="0" anchor="ctr"/>
          <a:lstStyle/>
          <a:p>
            <a:pPr indent="0" marL="0">
              <a:buNone/>
            </a:pPr>
            <a:r>
              <a:rPr lang="en-US" sz="950" b="1" dirty="0">
                <a:solidFill>
                  <a:srgbClr val="8FA6B9"/>
                </a:solidFill>
              </a:rPr>
              <a:t>DB cases</a:t>
            </a:r>
            <a:endParaRPr lang="en-US" sz="950" dirty="0"/>
          </a:p>
        </p:txBody>
      </p:sp>
      <p:sp>
        <p:nvSpPr>
          <p:cNvPr id="43" name="Shape 41"/>
          <p:cNvSpPr/>
          <p:nvPr/>
        </p:nvSpPr>
        <p:spPr>
          <a:xfrm>
            <a:off x="7543800" y="4928616"/>
            <a:ext cx="164592" cy="164592"/>
          </a:xfrm>
          <a:prstGeom prst="ellipse">
            <a:avLst/>
          </a:prstGeom>
          <a:solidFill>
            <a:srgbClr val="4FA3FF"/>
          </a:solidFill>
          <a:ln w="12700">
            <a:solidFill>
              <a:srgbClr val="4FA3FF"/>
            </a:solidFill>
            <a:prstDash val="solid"/>
          </a:ln>
        </p:spPr>
      </p:sp>
      <p:sp>
        <p:nvSpPr>
          <p:cNvPr id="44" name="Shape 42"/>
          <p:cNvSpPr/>
          <p:nvPr/>
        </p:nvSpPr>
        <p:spPr>
          <a:xfrm>
            <a:off x="8549640" y="4928616"/>
            <a:ext cx="164592" cy="164592"/>
          </a:xfrm>
          <a:prstGeom prst="ellipse">
            <a:avLst/>
          </a:prstGeom>
          <a:solidFill>
            <a:srgbClr val="4FA3FF"/>
          </a:solidFill>
          <a:ln w="12700">
            <a:solidFill>
              <a:srgbClr val="4FA3FF"/>
            </a:solidFill>
            <a:prstDash val="solid"/>
          </a:ln>
        </p:spPr>
      </p:sp>
      <p:sp>
        <p:nvSpPr>
          <p:cNvPr id="45" name="Shape 43"/>
          <p:cNvSpPr/>
          <p:nvPr/>
        </p:nvSpPr>
        <p:spPr>
          <a:xfrm>
            <a:off x="9555480" y="4928616"/>
            <a:ext cx="164592" cy="164592"/>
          </a:xfrm>
          <a:prstGeom prst="ellipse">
            <a:avLst/>
          </a:prstGeom>
          <a:solidFill>
            <a:srgbClr val="4FA3FF"/>
          </a:solidFill>
          <a:ln w="12700">
            <a:solidFill>
              <a:srgbClr val="4FA3FF"/>
            </a:solidFill>
            <a:prstDash val="solid"/>
          </a:ln>
        </p:spPr>
      </p:sp>
      <p:sp>
        <p:nvSpPr>
          <p:cNvPr id="46" name="Shape 44"/>
          <p:cNvSpPr/>
          <p:nvPr/>
        </p:nvSpPr>
        <p:spPr>
          <a:xfrm>
            <a:off x="10561320" y="4928616"/>
            <a:ext cx="164592" cy="164592"/>
          </a:xfrm>
          <a:prstGeom prst="ellipse">
            <a:avLst/>
          </a:prstGeom>
          <a:solidFill>
            <a:srgbClr val="4FA3FF"/>
          </a:solidFill>
          <a:ln w="12700">
            <a:solidFill>
              <a:srgbClr val="4FA3FF"/>
            </a:solidFill>
            <a:prstDash val="solid"/>
          </a:ln>
        </p:spPr>
      </p:sp>
      <p:sp>
        <p:nvSpPr>
          <p:cNvPr id="47" name="Text 45"/>
          <p:cNvSpPr/>
          <p:nvPr/>
        </p:nvSpPr>
        <p:spPr>
          <a:xfrm>
            <a:off x="6583680" y="5486400"/>
            <a:ext cx="4754880" cy="256032"/>
          </a:xfrm>
          <a:prstGeom prst="rect">
            <a:avLst/>
          </a:prstGeom>
          <a:noFill/>
          <a:ln/>
        </p:spPr>
        <p:txBody>
          <a:bodyPr wrap="square" lIns="0" tIns="0" rIns="0" bIns="0" rtlCol="0" anchor="ctr"/>
          <a:lstStyle/>
          <a:p>
            <a:pPr algn="ctr" indent="0" marL="0">
              <a:buNone/>
            </a:pPr>
            <a:r>
              <a:rPr lang="en-US" sz="1100" b="1" dirty="0">
                <a:solidFill>
                  <a:srgbClr val="F5B041"/>
                </a:solidFill>
              </a:rPr>
              <a:t>Executed proof ≠ structural verification</a:t>
            </a:r>
            <a:endParaRPr lang="en-US" sz="1100" dirty="0"/>
          </a:p>
        </p:txBody>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02920" y="347472"/>
            <a:ext cx="9098280" cy="475488"/>
          </a:xfrm>
          <a:prstGeom prst="rect">
            <a:avLst/>
          </a:prstGeom>
          <a:noFill/>
          <a:ln/>
        </p:spPr>
        <p:txBody>
          <a:bodyPr wrap="square" lIns="0" tIns="0" rIns="0" bIns="0" rtlCol="0" anchor="ctr">
            <a:normAutofit/>
          </a:bodyPr>
          <a:lstStyle/>
          <a:p>
            <a:pPr indent="0" marL="0">
              <a:buNone/>
            </a:pPr>
            <a:r>
              <a:rPr lang="en-US" sz="2400" b="1" dirty="0">
                <a:solidFill>
                  <a:srgbClr val="F7FAFC"/>
                </a:solidFill>
                <a:latin typeface="Aptos Display" pitchFamily="34" charset="0"/>
                <a:ea typeface="Aptos Display" pitchFamily="34" charset="-122"/>
                <a:cs typeface="Aptos Display" pitchFamily="34" charset="-120"/>
              </a:rPr>
              <a:t>Integrated Result and Conclusion</a:t>
            </a:r>
            <a:endParaRPr lang="en-US" sz="2400" dirty="0"/>
          </a:p>
        </p:txBody>
      </p:sp>
      <p:sp>
        <p:nvSpPr>
          <p:cNvPr id="3" name="Shape 1"/>
          <p:cNvSpPr/>
          <p:nvPr/>
        </p:nvSpPr>
        <p:spPr>
          <a:xfrm>
            <a:off x="9829800" y="338328"/>
            <a:ext cx="1783080" cy="329184"/>
          </a:xfrm>
          <a:prstGeom prst="roundRect">
            <a:avLst>
              <a:gd name="adj" fmla="val 22222"/>
            </a:avLst>
          </a:prstGeom>
          <a:solidFill>
            <a:srgbClr val="54D6A3">
              <a:alpha val="92000"/>
            </a:srgbClr>
          </a:solidFill>
          <a:ln w="12700">
            <a:solidFill>
              <a:srgbClr val="54D6A3">
                <a:alpha val="0"/>
              </a:srgbClr>
            </a:solidFill>
            <a:prstDash val="solid"/>
          </a:ln>
        </p:spPr>
      </p:sp>
      <p:sp>
        <p:nvSpPr>
          <p:cNvPr id="4" name="Text 2"/>
          <p:cNvSpPr/>
          <p:nvPr/>
        </p:nvSpPr>
        <p:spPr>
          <a:xfrm>
            <a:off x="9912096" y="416052"/>
            <a:ext cx="1609344" cy="118872"/>
          </a:xfrm>
          <a:prstGeom prst="rect">
            <a:avLst/>
          </a:prstGeom>
          <a:noFill/>
          <a:ln/>
        </p:spPr>
        <p:txBody>
          <a:bodyPr wrap="square" lIns="0" tIns="0" rIns="0" bIns="0" rtlCol="0" anchor="ctr">
            <a:normAutofit/>
          </a:bodyPr>
          <a:lstStyle/>
          <a:p>
            <a:pPr algn="ctr" indent="0" marL="0">
              <a:buNone/>
            </a:pPr>
            <a:r>
              <a:rPr lang="en-US" sz="1000" b="1" dirty="0">
                <a:solidFill>
                  <a:srgbClr val="07111F"/>
                </a:solidFill>
              </a:rPr>
              <a:t>Faria Fatima</a:t>
            </a:r>
            <a:endParaRPr lang="en-US" sz="1000" dirty="0"/>
          </a:p>
          <a:p>
            <a:pPr algn="ctr" indent="0" marL="0">
              <a:buNone/>
            </a:pPr>
            <a:endParaRPr lang="en-US" sz="1000" dirty="0"/>
          </a:p>
          <a:p>
            <a:pPr algn="ctr" indent="0" marL="0">
              <a:buNone/>
            </a:pPr>
            <a:r>
              <a:rPr lang="en-US" sz="1000" b="1" dirty="0">
                <a:solidFill>
                  <a:srgbClr val="07111F"/>
                </a:solidFill>
              </a:rPr>
              <a:t>Purpose: Close the presentation with the system-level achievement and future direction.</a:t>
            </a:r>
            <a:endParaRPr lang="en-US" sz="1000" dirty="0"/>
          </a:p>
          <a:p>
            <a:pPr algn="ctr" indent="0" marL="0">
              <a:buNone/>
            </a:pPr>
            <a:endParaRPr lang="en-US" sz="1000" dirty="0"/>
          </a:p>
          <a:p>
            <a:pPr algn="ctr" indent="0" marL="0">
              <a:buNone/>
            </a:pPr>
            <a:r>
              <a:rPr lang="en-US" sz="1000" b="1" dirty="0">
                <a:solidFill>
                  <a:srgbClr val="07111F"/>
                </a:solidFill>
              </a:rPr>
              <a:t>Presentation Content:</a:t>
            </a:r>
            <a:endParaRPr lang="en-US" sz="1000" dirty="0"/>
          </a:p>
          <a:p>
            <a:pPr algn="ctr" indent="0" marL="0">
              <a:buNone/>
            </a:pPr>
            <a:endParaRPr lang="en-US" sz="1000" dirty="0"/>
          </a:p>
          <a:p>
            <a:pPr algn="ctr" indent="0" marL="0">
              <a:buNone/>
            </a:pPr>
            <a:r>
              <a:rPr lang="en-US" sz="1000" b="1" dirty="0">
                <a:solidFill>
                  <a:srgbClr val="07111F"/>
                </a:solidFill>
              </a:rPr>
              <a:t>- DeployGuard integrates repository onboarding, deterministic build contracts, infrastructure provisioning, ECS runtime control, security, cost review, observability, AI assistance, billing, and lifecycle recovery.</a:t>
            </a:r>
            <a:endParaRPr lang="en-US" sz="1000" dirty="0"/>
          </a:p>
          <a:p>
            <a:pPr algn="ctr" indent="0" marL="0">
              <a:buNone/>
            </a:pPr>
            <a:endParaRPr lang="en-US" sz="1000" dirty="0"/>
          </a:p>
          <a:p>
            <a:pPr algn="ctr" indent="0" marL="0">
              <a:buNone/>
            </a:pPr>
            <a:r>
              <a:rPr lang="en-US" sz="1000" b="1" dirty="0">
                <a:solidFill>
                  <a:srgbClr val="07111F"/>
                </a:solidFill>
              </a:rPr>
              <a:t>- Its central contribution is an explicit authority model backed by immutable identities and persisted evidence.</a:t>
            </a:r>
            <a:endParaRPr lang="en-US" sz="1000" dirty="0"/>
          </a:p>
          <a:p>
            <a:pPr algn="ctr" indent="0" marL="0">
              <a:buNone/>
            </a:pPr>
            <a:endParaRPr lang="en-US" sz="1000" dirty="0"/>
          </a:p>
          <a:p>
            <a:pPr algn="ctr" indent="0" marL="0">
              <a:buNone/>
            </a:pPr>
            <a:r>
              <a:rPr lang="en-US" sz="1000" b="1" dirty="0">
                <a:solidFill>
                  <a:srgbClr val="07111F"/>
                </a:solidFill>
              </a:rPr>
              <a:t>- Developers receive one coherent workflow without losing access to source, artifact, infrastructure, runtime, and failure details.</a:t>
            </a:r>
            <a:endParaRPr lang="en-US" sz="1000" dirty="0"/>
          </a:p>
          <a:p>
            <a:pPr algn="ctr" indent="0" marL="0">
              <a:buNone/>
            </a:pPr>
            <a:endParaRPr lang="en-US" sz="1000" dirty="0"/>
          </a:p>
          <a:p>
            <a:pPr algn="ctr" indent="0" marL="0">
              <a:buNone/>
            </a:pPr>
            <a:r>
              <a:rPr lang="en-US" sz="1000" b="1" dirty="0">
                <a:solidFill>
                  <a:srgbClr val="07111F"/>
                </a:solidFill>
              </a:rPr>
              <a:t>- The team produced an operational control plane, a complete web experience, a portable container setup, and a repeatable verification framework.</a:t>
            </a:r>
            <a:endParaRPr lang="en-US" sz="1000" dirty="0"/>
          </a:p>
          <a:p>
            <a:pPr algn="ctr" indent="0" marL="0">
              <a:buNone/>
            </a:pPr>
            <a:endParaRPr lang="en-US" sz="1000" dirty="0"/>
          </a:p>
          <a:p>
            <a:pPr algn="ctr" indent="0" marL="0">
              <a:buNone/>
            </a:pPr>
            <a:r>
              <a:rPr lang="en-US" sz="1000" b="1" dirty="0">
                <a:solidFill>
                  <a:srgbClr val="07111F"/>
                </a:solidFill>
              </a:rPr>
              <a:t>- Immediate next work is focused certification of the remaining live-cloud database and idempotency scenarios, not an architectural rewrite.</a:t>
            </a:r>
            <a:endParaRPr lang="en-US" sz="1000" dirty="0"/>
          </a:p>
          <a:p>
            <a:pPr algn="ctr" indent="0" marL="0">
              <a:buNone/>
            </a:pPr>
            <a:endParaRPr lang="en-US" sz="1000" dirty="0"/>
          </a:p>
          <a:p>
            <a:pPr algn="ctr" indent="0" marL="0">
              <a:buNone/>
            </a:pPr>
            <a:r>
              <a:rPr lang="en-US" sz="1000" b="1" dirty="0">
                <a:solidFill>
                  <a:srgbClr val="07111F"/>
                </a:solidFill>
              </a:rPr>
              <a:t>- Final message: DeployGuard makes deployment state explainable, reversible, and governable.</a:t>
            </a:r>
            <a:endParaRPr lang="en-US" sz="1000" dirty="0"/>
          </a:p>
          <a:p>
            <a:pPr algn="ctr" indent="0" marL="0">
              <a:buNone/>
            </a:pPr>
            <a:endParaRPr lang="en-US" sz="1000" dirty="0"/>
          </a:p>
          <a:p>
            <a:pPr algn="ctr" indent="0" marL="0">
              <a:buNone/>
            </a:pPr>
            <a:r>
              <a:rPr lang="en-US" sz="1000" b="1" dirty="0">
                <a:solidFill>
                  <a:srgbClr val="07111F"/>
                </a:solidFill>
              </a:rPr>
              <a:t>Visual Recommendation: Return to the opening Repository → DeployGuard → AWS diagram, now surrounded by Security, Cost, Observability, AI, Audit, and Recovery outcomes.</a:t>
            </a:r>
            <a:endParaRPr lang="en-US" sz="1000" dirty="0"/>
          </a:p>
          <a:p>
            <a:pPr algn="ctr" indent="0" marL="0">
              <a:buNone/>
            </a:pPr>
            <a:endParaRPr lang="en-US" sz="1000" dirty="0"/>
          </a:p>
          <a:p>
            <a:pPr algn="ctr" indent="0" marL="0">
              <a:buNone/>
            </a:pPr>
            <a:r>
              <a:rPr lang="en-US" sz="1000" b="1" dirty="0">
                <a:solidFill>
                  <a:srgbClr val="07111F"/>
                </a:solidFill>
              </a:rPr>
              <a:t>Defense Notes: End on the system property, not a feature count. The project’s value is that every operation has a clear owner, immutable identity, observable outcome, and safe next step.</a:t>
            </a:r>
            <a:endParaRPr lang="en-US" sz="1000" dirty="0"/>
          </a:p>
        </p:txBody>
      </p:sp>
      <p:sp>
        <p:nvSpPr>
          <p:cNvPr id="5" name="Shape 3"/>
          <p:cNvSpPr/>
          <p:nvPr/>
        </p:nvSpPr>
        <p:spPr>
          <a:xfrm>
            <a:off x="502920" y="932688"/>
            <a:ext cx="11109960" cy="0"/>
          </a:xfrm>
          <a:prstGeom prst="line">
            <a:avLst/>
          </a:prstGeom>
          <a:noFill/>
          <a:ln w="17780">
            <a:solidFill>
              <a:srgbClr val="54D6A3">
                <a:alpha val="75000"/>
              </a:srgbClr>
            </a:solidFill>
            <a:prstDash val="solid"/>
          </a:ln>
        </p:spPr>
      </p:sp>
      <p:sp>
        <p:nvSpPr>
          <p:cNvPr id="6" name="Text 4"/>
          <p:cNvSpPr/>
          <p:nvPr/>
        </p:nvSpPr>
        <p:spPr>
          <a:xfrm>
            <a:off x="502920" y="996696"/>
            <a:ext cx="5212080" cy="164592"/>
          </a:xfrm>
          <a:prstGeom prst="rect">
            <a:avLst/>
          </a:prstGeom>
          <a:noFill/>
          <a:ln/>
        </p:spPr>
        <p:txBody>
          <a:bodyPr wrap="square" lIns="0" tIns="0" rIns="0" bIns="0" rtlCol="0" anchor="ctr"/>
          <a:lstStyle/>
          <a:p>
            <a:pPr indent="0" marL="0">
              <a:buNone/>
            </a:pPr>
            <a:r>
              <a:rPr lang="en-US" sz="850" b="1" spc="110" kern="0" dirty="0">
                <a:solidFill>
                  <a:srgbClr val="54D6A3"/>
                </a:solidFill>
              </a:rPr>
              <a:t>FARIA — BACKEND &amp; INTEGRATION</a:t>
            </a:r>
            <a:endParaRPr lang="en-US" sz="850" dirty="0"/>
          </a:p>
        </p:txBody>
      </p:sp>
      <p:sp>
        <p:nvSpPr>
          <p:cNvPr id="7" name="Text 5"/>
          <p:cNvSpPr/>
          <p:nvPr/>
        </p:nvSpPr>
        <p:spPr>
          <a:xfrm>
            <a:off x="594360" y="1325880"/>
            <a:ext cx="5349240" cy="4937760"/>
          </a:xfrm>
          <a:prstGeom prst="rect">
            <a:avLst/>
          </a:prstGeom>
          <a:noFill/>
          <a:ln/>
        </p:spPr>
        <p:txBody>
          <a:bodyPr wrap="square" lIns="254" tIns="254" rIns="254" bIns="254" rtlCol="0" anchor="ctr">
            <a:normAutofit/>
          </a:bodyPr>
          <a:lstStyle/>
          <a:p>
            <a:pPr marL="190500" indent="-190500">
              <a:buSzPct val="100000"/>
              <a:buChar char="•"/>
            </a:pPr>
            <a:r>
              <a:rPr lang="en-US" sz="1550" dirty="0">
                <a:solidFill>
                  <a:srgbClr val="D9E5EF"/>
                </a:solidFill>
                <a:latin typeface="Aptos" pitchFamily="34" charset="0"/>
                <a:ea typeface="Aptos" pitchFamily="34" charset="-122"/>
                <a:cs typeface="Aptos" pitchFamily="34" charset="-120"/>
              </a:rPr>
              <a:t>DeployGuard integrates repository onboarding, deterministic build contracts, infrastructure provisioning, ECS runtime control, security, cost review, observability, AI assistance, billing, and lifecycle recovery.</a:t>
            </a:r>
            <a:endParaRPr lang="en-US" sz="1550" dirty="0"/>
          </a:p>
          <a:p>
            <a:pPr marL="190500" indent="-190500">
              <a:buSzPct val="100000"/>
              <a:buChar char="•"/>
            </a:pPr>
            <a:r>
              <a:rPr lang="en-US" sz="1550" dirty="0">
                <a:solidFill>
                  <a:srgbClr val="D9E5EF"/>
                </a:solidFill>
                <a:latin typeface="Aptos" pitchFamily="34" charset="0"/>
                <a:ea typeface="Aptos" pitchFamily="34" charset="-122"/>
                <a:cs typeface="Aptos" pitchFamily="34" charset="-120"/>
              </a:rPr>
              <a:t>Its central contribution is an explicit authority model backed by immutable identities and persisted evidence.</a:t>
            </a:r>
            <a:endParaRPr lang="en-US" sz="1550" dirty="0"/>
          </a:p>
          <a:p>
            <a:pPr marL="190500" indent="-190500">
              <a:buSzPct val="100000"/>
              <a:buChar char="•"/>
            </a:pPr>
            <a:r>
              <a:rPr lang="en-US" sz="1550" dirty="0">
                <a:solidFill>
                  <a:srgbClr val="D9E5EF"/>
                </a:solidFill>
                <a:latin typeface="Aptos" pitchFamily="34" charset="0"/>
                <a:ea typeface="Aptos" pitchFamily="34" charset="-122"/>
                <a:cs typeface="Aptos" pitchFamily="34" charset="-120"/>
              </a:rPr>
              <a:t>Developers receive one coherent workflow without losing access to source, artifact, infrastructure, runtime, and failure details.</a:t>
            </a:r>
            <a:endParaRPr lang="en-US" sz="1550" dirty="0"/>
          </a:p>
          <a:p>
            <a:pPr marL="190500" indent="-190500">
              <a:buSzPct val="100000"/>
              <a:buChar char="•"/>
            </a:pPr>
            <a:r>
              <a:rPr lang="en-US" sz="1550" dirty="0">
                <a:solidFill>
                  <a:srgbClr val="D9E5EF"/>
                </a:solidFill>
                <a:latin typeface="Aptos" pitchFamily="34" charset="0"/>
                <a:ea typeface="Aptos" pitchFamily="34" charset="-122"/>
                <a:cs typeface="Aptos" pitchFamily="34" charset="-120"/>
              </a:rPr>
              <a:t>The team produced an operational control plane, a complete web experience, a portable container setup, and a repeatable verification framework.</a:t>
            </a:r>
            <a:endParaRPr lang="en-US" sz="1550" dirty="0"/>
          </a:p>
          <a:p>
            <a:pPr marL="190500" indent="-190500">
              <a:buSzPct val="100000"/>
              <a:buChar char="•"/>
            </a:pPr>
            <a:r>
              <a:rPr lang="en-US" sz="1550" dirty="0">
                <a:solidFill>
                  <a:srgbClr val="D9E5EF"/>
                </a:solidFill>
                <a:latin typeface="Aptos" pitchFamily="34" charset="0"/>
                <a:ea typeface="Aptos" pitchFamily="34" charset="-122"/>
                <a:cs typeface="Aptos" pitchFamily="34" charset="-120"/>
              </a:rPr>
              <a:t>Immediate next work is focused certification of the remaining live-cloud database and idempotency scenarios, not an architectural rewrite.</a:t>
            </a:r>
            <a:endParaRPr lang="en-US" sz="1550" dirty="0"/>
          </a:p>
          <a:p>
            <a:pPr marL="190500" indent="-190500">
              <a:buSzPct val="100000"/>
              <a:buChar char="•"/>
            </a:pPr>
            <a:r>
              <a:rPr lang="en-US" sz="1550" dirty="0">
                <a:solidFill>
                  <a:srgbClr val="D9E5EF"/>
                </a:solidFill>
                <a:latin typeface="Aptos" pitchFamily="34" charset="0"/>
                <a:ea typeface="Aptos" pitchFamily="34" charset="-122"/>
                <a:cs typeface="Aptos" pitchFamily="34" charset="-120"/>
              </a:rPr>
              <a:t>Final message: DeployGuard makes deployment state explainable, reversible, and governable.</a:t>
            </a:r>
            <a:endParaRPr lang="en-US" sz="1550" dirty="0"/>
          </a:p>
        </p:txBody>
      </p:sp>
      <p:sp>
        <p:nvSpPr>
          <p:cNvPr id="8" name="Shape 6"/>
          <p:cNvSpPr/>
          <p:nvPr/>
        </p:nvSpPr>
        <p:spPr>
          <a:xfrm>
            <a:off x="6263640" y="1261872"/>
            <a:ext cx="5349240" cy="4828032"/>
          </a:xfrm>
          <a:prstGeom prst="roundRect">
            <a:avLst>
              <a:gd name="adj" fmla="val 947"/>
            </a:avLst>
          </a:prstGeom>
          <a:solidFill>
            <a:srgbClr val="0A1725"/>
          </a:solidFill>
          <a:ln w="12700">
            <a:solidFill>
              <a:srgbClr val="29445C"/>
            </a:solidFill>
            <a:prstDash val="solid"/>
          </a:ln>
        </p:spPr>
      </p:sp>
      <p:sp>
        <p:nvSpPr>
          <p:cNvPr id="9" name="Shape 7"/>
          <p:cNvSpPr/>
          <p:nvPr/>
        </p:nvSpPr>
        <p:spPr>
          <a:xfrm>
            <a:off x="6492240" y="1554480"/>
            <a:ext cx="1417320" cy="777240"/>
          </a:xfrm>
          <a:prstGeom prst="roundRect">
            <a:avLst>
              <a:gd name="adj" fmla="val 5882"/>
            </a:avLst>
          </a:prstGeom>
          <a:solidFill>
            <a:srgbClr val="12263A"/>
          </a:solidFill>
          <a:ln w="17780">
            <a:solidFill>
              <a:srgbClr val="B276FF"/>
            </a:solidFill>
            <a:prstDash val="solid"/>
          </a:ln>
        </p:spPr>
      </p:sp>
      <p:sp>
        <p:nvSpPr>
          <p:cNvPr id="10" name="Text 8"/>
          <p:cNvSpPr/>
          <p:nvPr/>
        </p:nvSpPr>
        <p:spPr>
          <a:xfrm>
            <a:off x="6583680" y="1682496"/>
            <a:ext cx="123444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Repository</a:t>
            </a:r>
            <a:endParaRPr lang="en-US" sz="1200" dirty="0"/>
          </a:p>
        </p:txBody>
      </p:sp>
      <p:sp>
        <p:nvSpPr>
          <p:cNvPr id="11" name="Shape 9"/>
          <p:cNvSpPr/>
          <p:nvPr/>
        </p:nvSpPr>
        <p:spPr>
          <a:xfrm>
            <a:off x="8229600" y="2514600"/>
            <a:ext cx="1600200" cy="868680"/>
          </a:xfrm>
          <a:prstGeom prst="roundRect">
            <a:avLst>
              <a:gd name="adj" fmla="val 5263"/>
            </a:avLst>
          </a:prstGeom>
          <a:solidFill>
            <a:srgbClr val="12263A"/>
          </a:solidFill>
          <a:ln w="17780">
            <a:solidFill>
              <a:srgbClr val="35C2D8"/>
            </a:solidFill>
            <a:prstDash val="solid"/>
          </a:ln>
        </p:spPr>
      </p:sp>
      <p:sp>
        <p:nvSpPr>
          <p:cNvPr id="12" name="Text 10"/>
          <p:cNvSpPr/>
          <p:nvPr/>
        </p:nvSpPr>
        <p:spPr>
          <a:xfrm>
            <a:off x="8321040" y="2642616"/>
            <a:ext cx="141732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DeployGuard</a:t>
            </a:r>
            <a:endParaRPr lang="en-US" sz="1200" dirty="0"/>
          </a:p>
        </p:txBody>
      </p:sp>
      <p:sp>
        <p:nvSpPr>
          <p:cNvPr id="13" name="Shape 11"/>
          <p:cNvSpPr/>
          <p:nvPr/>
        </p:nvSpPr>
        <p:spPr>
          <a:xfrm>
            <a:off x="10104120" y="1554480"/>
            <a:ext cx="1417320" cy="777240"/>
          </a:xfrm>
          <a:prstGeom prst="roundRect">
            <a:avLst>
              <a:gd name="adj" fmla="val 5882"/>
            </a:avLst>
          </a:prstGeom>
          <a:solidFill>
            <a:srgbClr val="12263A"/>
          </a:solidFill>
          <a:ln w="17780">
            <a:solidFill>
              <a:srgbClr val="54D6A3"/>
            </a:solidFill>
            <a:prstDash val="solid"/>
          </a:ln>
        </p:spPr>
      </p:sp>
      <p:sp>
        <p:nvSpPr>
          <p:cNvPr id="14" name="Text 12"/>
          <p:cNvSpPr/>
          <p:nvPr/>
        </p:nvSpPr>
        <p:spPr>
          <a:xfrm>
            <a:off x="10195560" y="1682496"/>
            <a:ext cx="1234440" cy="219456"/>
          </a:xfrm>
          <a:prstGeom prst="rect">
            <a:avLst/>
          </a:prstGeom>
          <a:noFill/>
          <a:ln/>
        </p:spPr>
        <p:txBody>
          <a:bodyPr wrap="square" lIns="0" tIns="0" rIns="0" bIns="0" rtlCol="0" anchor="ctr">
            <a:normAutofit/>
          </a:bodyPr>
          <a:lstStyle/>
          <a:p>
            <a:pPr algn="ctr" indent="0" marL="0">
              <a:buNone/>
            </a:pPr>
            <a:r>
              <a:rPr lang="en-US" sz="1200" b="1" dirty="0">
                <a:solidFill>
                  <a:srgbClr val="F7FAFC"/>
                </a:solidFill>
              </a:rPr>
              <a:t>AWS Runtime</a:t>
            </a:r>
            <a:endParaRPr lang="en-US" sz="1200" dirty="0"/>
          </a:p>
        </p:txBody>
      </p:sp>
      <p:sp>
        <p:nvSpPr>
          <p:cNvPr id="15" name="Shape 13"/>
          <p:cNvSpPr/>
          <p:nvPr/>
        </p:nvSpPr>
        <p:spPr>
          <a:xfrm>
            <a:off x="7909560" y="1938528"/>
            <a:ext cx="320040" cy="914400"/>
          </a:xfrm>
          <a:prstGeom prst="line">
            <a:avLst/>
          </a:prstGeom>
          <a:noFill/>
          <a:ln w="22860">
            <a:solidFill>
              <a:srgbClr val="35C2D8"/>
            </a:solidFill>
            <a:prstDash val="solid"/>
            <a:tailEnd type="triangle"/>
          </a:ln>
        </p:spPr>
      </p:sp>
      <p:sp>
        <p:nvSpPr>
          <p:cNvPr id="16" name="Shape 14"/>
          <p:cNvSpPr/>
          <p:nvPr/>
        </p:nvSpPr>
        <p:spPr>
          <a:xfrm>
            <a:off x="9829800" y="2852928"/>
            <a:ext cx="274320" cy="-914400"/>
          </a:xfrm>
          <a:prstGeom prst="line">
            <a:avLst/>
          </a:prstGeom>
          <a:noFill/>
          <a:ln w="22860">
            <a:solidFill>
              <a:srgbClr val="54D6A3"/>
            </a:solidFill>
            <a:prstDash val="solid"/>
            <a:tailEnd type="triangle"/>
          </a:ln>
        </p:spPr>
      </p:sp>
      <p:sp>
        <p:nvSpPr>
          <p:cNvPr id="17" name="Shape 15"/>
          <p:cNvSpPr/>
          <p:nvPr/>
        </p:nvSpPr>
        <p:spPr>
          <a:xfrm>
            <a:off x="6583680" y="4206240"/>
            <a:ext cx="1051560" cy="347472"/>
          </a:xfrm>
          <a:prstGeom prst="roundRect">
            <a:avLst>
              <a:gd name="adj" fmla="val 47368"/>
            </a:avLst>
          </a:prstGeom>
          <a:solidFill>
            <a:srgbClr val="FF6B6B">
              <a:alpha val="88000"/>
            </a:srgbClr>
          </a:solidFill>
          <a:ln w="12700">
            <a:solidFill>
              <a:srgbClr val="FF6B6B">
                <a:alpha val="0"/>
              </a:srgbClr>
            </a:solidFill>
            <a:prstDash val="solid"/>
          </a:ln>
        </p:spPr>
      </p:sp>
      <p:sp>
        <p:nvSpPr>
          <p:cNvPr id="18" name="Text 16"/>
          <p:cNvSpPr/>
          <p:nvPr/>
        </p:nvSpPr>
        <p:spPr>
          <a:xfrm>
            <a:off x="6656832" y="4288536"/>
            <a:ext cx="905256" cy="118872"/>
          </a:xfrm>
          <a:prstGeom prst="rect">
            <a:avLst/>
          </a:prstGeom>
          <a:noFill/>
          <a:ln/>
        </p:spPr>
        <p:txBody>
          <a:bodyPr wrap="square" lIns="0" tIns="0" rIns="0" bIns="0" rtlCol="0" anchor="ctr">
            <a:normAutofit/>
          </a:bodyPr>
          <a:lstStyle/>
          <a:p>
            <a:pPr algn="ctr" indent="0" marL="0">
              <a:buNone/>
            </a:pPr>
            <a:r>
              <a:rPr lang="en-US" sz="950" b="1" dirty="0">
                <a:solidFill>
                  <a:srgbClr val="07111F"/>
                </a:solidFill>
              </a:rPr>
              <a:t>Security</a:t>
            </a:r>
            <a:endParaRPr lang="en-US" sz="950" dirty="0"/>
          </a:p>
        </p:txBody>
      </p:sp>
      <p:sp>
        <p:nvSpPr>
          <p:cNvPr id="19" name="Shape 17"/>
          <p:cNvSpPr/>
          <p:nvPr/>
        </p:nvSpPr>
        <p:spPr>
          <a:xfrm>
            <a:off x="7818120" y="4800600"/>
            <a:ext cx="1051560" cy="347472"/>
          </a:xfrm>
          <a:prstGeom prst="roundRect">
            <a:avLst>
              <a:gd name="adj" fmla="val 47368"/>
            </a:avLst>
          </a:prstGeom>
          <a:solidFill>
            <a:srgbClr val="F5B041">
              <a:alpha val="88000"/>
            </a:srgbClr>
          </a:solidFill>
          <a:ln w="12700">
            <a:solidFill>
              <a:srgbClr val="F5B041">
                <a:alpha val="0"/>
              </a:srgbClr>
            </a:solidFill>
            <a:prstDash val="solid"/>
          </a:ln>
        </p:spPr>
      </p:sp>
      <p:sp>
        <p:nvSpPr>
          <p:cNvPr id="20" name="Text 18"/>
          <p:cNvSpPr/>
          <p:nvPr/>
        </p:nvSpPr>
        <p:spPr>
          <a:xfrm>
            <a:off x="7891272" y="4882896"/>
            <a:ext cx="905256" cy="118872"/>
          </a:xfrm>
          <a:prstGeom prst="rect">
            <a:avLst/>
          </a:prstGeom>
          <a:noFill/>
          <a:ln/>
        </p:spPr>
        <p:txBody>
          <a:bodyPr wrap="square" lIns="0" tIns="0" rIns="0" bIns="0" rtlCol="0" anchor="ctr">
            <a:normAutofit/>
          </a:bodyPr>
          <a:lstStyle/>
          <a:p>
            <a:pPr algn="ctr" indent="0" marL="0">
              <a:buNone/>
            </a:pPr>
            <a:r>
              <a:rPr lang="en-US" sz="950" b="1" dirty="0">
                <a:solidFill>
                  <a:srgbClr val="07111F"/>
                </a:solidFill>
              </a:rPr>
              <a:t>Cost</a:t>
            </a:r>
            <a:endParaRPr lang="en-US" sz="950" dirty="0"/>
          </a:p>
        </p:txBody>
      </p:sp>
      <p:sp>
        <p:nvSpPr>
          <p:cNvPr id="21" name="Shape 19"/>
          <p:cNvSpPr/>
          <p:nvPr/>
        </p:nvSpPr>
        <p:spPr>
          <a:xfrm>
            <a:off x="9144000" y="4800600"/>
            <a:ext cx="1051560" cy="347472"/>
          </a:xfrm>
          <a:prstGeom prst="roundRect">
            <a:avLst>
              <a:gd name="adj" fmla="val 47368"/>
            </a:avLst>
          </a:prstGeom>
          <a:solidFill>
            <a:srgbClr val="B276FF">
              <a:alpha val="88000"/>
            </a:srgbClr>
          </a:solidFill>
          <a:ln w="12700">
            <a:solidFill>
              <a:srgbClr val="B276FF">
                <a:alpha val="0"/>
              </a:srgbClr>
            </a:solidFill>
            <a:prstDash val="solid"/>
          </a:ln>
        </p:spPr>
      </p:sp>
      <p:sp>
        <p:nvSpPr>
          <p:cNvPr id="22" name="Text 20"/>
          <p:cNvSpPr/>
          <p:nvPr/>
        </p:nvSpPr>
        <p:spPr>
          <a:xfrm>
            <a:off x="9217152" y="4882896"/>
            <a:ext cx="905256" cy="118872"/>
          </a:xfrm>
          <a:prstGeom prst="rect">
            <a:avLst/>
          </a:prstGeom>
          <a:noFill/>
          <a:ln/>
        </p:spPr>
        <p:txBody>
          <a:bodyPr wrap="square" lIns="0" tIns="0" rIns="0" bIns="0" rtlCol="0" anchor="ctr">
            <a:normAutofit/>
          </a:bodyPr>
          <a:lstStyle/>
          <a:p>
            <a:pPr algn="ctr" indent="0" marL="0">
              <a:buNone/>
            </a:pPr>
            <a:r>
              <a:rPr lang="en-US" sz="950" b="1" dirty="0">
                <a:solidFill>
                  <a:srgbClr val="07111F"/>
                </a:solidFill>
              </a:rPr>
              <a:t>Observability</a:t>
            </a:r>
            <a:endParaRPr lang="en-US" sz="950" dirty="0"/>
          </a:p>
        </p:txBody>
      </p:sp>
      <p:sp>
        <p:nvSpPr>
          <p:cNvPr id="23" name="Shape 21"/>
          <p:cNvSpPr/>
          <p:nvPr/>
        </p:nvSpPr>
        <p:spPr>
          <a:xfrm>
            <a:off x="10469880" y="4206240"/>
            <a:ext cx="1051560" cy="347472"/>
          </a:xfrm>
          <a:prstGeom prst="roundRect">
            <a:avLst>
              <a:gd name="adj" fmla="val 47368"/>
            </a:avLst>
          </a:prstGeom>
          <a:solidFill>
            <a:srgbClr val="54D6A3">
              <a:alpha val="88000"/>
            </a:srgbClr>
          </a:solidFill>
          <a:ln w="12700">
            <a:solidFill>
              <a:srgbClr val="54D6A3">
                <a:alpha val="0"/>
              </a:srgbClr>
            </a:solidFill>
            <a:prstDash val="solid"/>
          </a:ln>
        </p:spPr>
      </p:sp>
      <p:sp>
        <p:nvSpPr>
          <p:cNvPr id="24" name="Text 22"/>
          <p:cNvSpPr/>
          <p:nvPr/>
        </p:nvSpPr>
        <p:spPr>
          <a:xfrm>
            <a:off x="10543032" y="4288536"/>
            <a:ext cx="905256" cy="118872"/>
          </a:xfrm>
          <a:prstGeom prst="rect">
            <a:avLst/>
          </a:prstGeom>
          <a:noFill/>
          <a:ln/>
        </p:spPr>
        <p:txBody>
          <a:bodyPr wrap="square" lIns="0" tIns="0" rIns="0" bIns="0" rtlCol="0" anchor="ctr">
            <a:normAutofit/>
          </a:bodyPr>
          <a:lstStyle/>
          <a:p>
            <a:pPr algn="ctr" indent="0" marL="0">
              <a:buNone/>
            </a:pPr>
            <a:r>
              <a:rPr lang="en-US" sz="950" b="1" dirty="0">
                <a:solidFill>
                  <a:srgbClr val="07111F"/>
                </a:solidFill>
              </a:rPr>
              <a:t>Recovery</a:t>
            </a:r>
            <a:endParaRPr lang="en-US" sz="950" dirty="0"/>
          </a:p>
        </p:txBody>
      </p:sp>
      <p:sp>
        <p:nvSpPr>
          <p:cNvPr id="25" name="Text 23"/>
          <p:cNvSpPr/>
          <p:nvPr/>
        </p:nvSpPr>
        <p:spPr>
          <a:xfrm>
            <a:off x="6446520" y="5532120"/>
            <a:ext cx="4846320" cy="310896"/>
          </a:xfrm>
          <a:prstGeom prst="rect">
            <a:avLst/>
          </a:prstGeom>
          <a:noFill/>
          <a:ln/>
        </p:spPr>
        <p:txBody>
          <a:bodyPr wrap="square" lIns="0" tIns="0" rIns="0" bIns="0" rtlCol="0" anchor="ctr"/>
          <a:lstStyle/>
          <a:p>
            <a:pPr algn="ctr" indent="0" marL="0">
              <a:buNone/>
            </a:pPr>
            <a:r>
              <a:rPr lang="en-US" sz="1400" b="1" dirty="0">
                <a:solidFill>
                  <a:srgbClr val="F7FAFC"/>
                </a:solidFill>
              </a:rPr>
              <a:t>Explainable • Reversible • Governable</a:t>
            </a:r>
            <a:endParaRPr lang="en-US" sz="1400" dirty="0"/>
          </a:p>
        </p:txBody>
      </p:sp>
      <p:sp>
        <p:nvSpPr>
          <p:cNvPr id="25" name="Slide Number Placeholder 0"/>
          <p:cNvSpPr>
            <a:spLocks noGrp="1"/>
          </p:cNvSpPr>
          <p:nvPr>
            <p:ph type="sldNum" sz="quarter" idx="4294967295"/>
          </p:nvPr>
        </p:nvSpPr>
        <p:spPr>
          <a:xfrm>
            <a:off x="11384280" y="6510528"/>
            <a:ext cx="411480" cy="182880"/>
          </a:xfrm>
          <a:prstGeom prst="rect">
            <a:avLst/>
          </a:prstGeom>
          <a:extLst>
            <a:ext uri="{C572A759-6A51-4108-AA02-DFA0A04FC94B}">
              <ma14:wrappingTextBoxFlag xmlns:ma14="http://schemas.microsoft.com/office/mac/drawingml/2011/main" val="0"/>
            </a:ext>
          </a:extLst>
        </p:spPr>
        <p:txBody>
          <a:bodyPr/>
          <a:lstStyle>
            <a:lvl1pPr>
              <a:defRPr sz="900">
                <a:solidFill>
                  <a:srgbClr val="6F879E"/>
                </a:solidFill>
              </a:defRPr>
            </a:lvl1pPr>
          </a:lstStyle>
          <a:p>
            <a:pPr algn="r"/>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Air University Islamabad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DeployGuard — FYP-II Final Implementation Defense</dc:title>
  <dc:subject>DeployGuard FYP-II Final Implementation Defense</dc:subject>
  <dc:creator>Hassan Sajjad, Tania Khawar, Faria Fatima</dc:creator>
  <cp:lastModifiedBy>Hassan Sajjad, Tania Khawar, Faria Fatima</cp:lastModifiedBy>
  <cp:revision>1</cp:revision>
  <dcterms:created xsi:type="dcterms:W3CDTF">2026-09-22T18:33:59Z</dcterms:created>
  <dcterms:modified xsi:type="dcterms:W3CDTF">2026-09-22T18:33:59Z</dcterms:modified>
</cp:coreProperties>
</file>