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Inter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Inter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dt" idx="2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ftr" idx="3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sldNum" idx="4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78FE1EB-5398-484D-8D47-6D8DE0DF7F8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Single message: DeployGuard is a coordinated deployment product, not a collection of disconnected features.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Opening: We built DeployGuard to make the cloud deployment journey feel like one guided product experience.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Speaking time: 25–30 seconds.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lang="en-US" sz="1200" b="0" u="none" strike="noStrike">
              <a:solidFill>
                <a:schemeClr val="dk1"/>
              </a:solidFill>
              <a:effectLst/>
              <a:uFillTx/>
              <a:latin typeface="+mn-lt"/>
              <a:ea typeface="+mn-ea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Single message: the project scope is the complete cloud deployment journey, not only a dashboard.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Explain the four product stages: connect, configure, automate delivery, operate.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 the bottom flow as the one-line definition of scope.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Speaking time: 50–60 seconds.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lang="en-US" sz="1200" b="0" u="none" strike="noStrike">
              <a:solidFill>
                <a:schemeClr val="dk1"/>
              </a:solidFill>
              <a:effectLst/>
              <a:uFillTx/>
              <a:latin typeface="+mn-lt"/>
              <a:ea typeface="+mn-ea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Single message: every objective maps to a clear developer outcome.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Emphasize that cost is automatic and shown before provisioning; there is no separate approval wait in the product flow.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Emphasize only critical vulnerabilities are blocking.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Speaking time: 60–70 seconds.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lang="en-US" sz="1200" b="0" u="none" strike="noStrike">
              <a:solidFill>
                <a:schemeClr val="dk1"/>
              </a:solidFill>
              <a:effectLst/>
              <a:uFillTx/>
              <a:latin typeface="+mn-lt"/>
              <a:ea typeface="+mn-ea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Single message: DeployGuard is one product made of nine clear capabilities.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 not explain implementation internals here. Explain what each capability does for the user.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 troubleshooting is presented as one module only, not as the headline of the product.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Speaking time: 75–90 seconds.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lang="en-US" sz="1200" b="0" u="none" strike="noStrike">
              <a:solidFill>
                <a:schemeClr val="dk1"/>
              </a:solidFill>
              <a:effectLst/>
              <a:uFillTx/>
              <a:latin typeface="+mn-lt"/>
              <a:ea typeface="+mn-ea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Single message: core development is complete and the product journey is connected.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Walk left to right once. Avoid repeating the module list.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Say that the current focus is presentation and demonstration of the connected experience, not unfinished scope.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Speaking time: 45–55 seconds.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lang="en-US" sz="1200" b="0" u="none" strike="noStrike">
              <a:solidFill>
                <a:schemeClr val="dk1"/>
              </a:solidFill>
              <a:effectLst/>
              <a:uFillTx/>
              <a:latin typeface="+mn-lt"/>
              <a:ea typeface="+mn-ea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Single message: the completed work is a usable product journey, not a list of backend tasks.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 the left side to explain what the developer does; use the right side to explain the automation underneath.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Clarify: cost is calculated and shown automatically before provisioning. Critical vulnerabilities are the blocking security condition.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Speaking time: 75–90 seconds.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lang="en-US" sz="1200" b="0" u="none" strike="noStrike">
              <a:solidFill>
                <a:schemeClr val="dk1"/>
              </a:solidFill>
              <a:effectLst/>
              <a:uFillTx/>
              <a:latin typeface="+mn-lt"/>
              <a:ea typeface="+mn-ea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Single message: there is no remaining work inside the defined FYP scope.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 not introduce future-work items on this slide. Keep the answer direct and final.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If asked what remains, answer: nothing within the agreed FYP scope; the product is complete for the defined requirements.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Speaking time: 25–35 seconds.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lang="en-US" sz="1200" b="0" u="none" strike="noStrike">
              <a:solidFill>
                <a:schemeClr val="dk1"/>
              </a:solidFill>
              <a:effectLst/>
              <a:uFillTx/>
              <a:latin typeface="+mn-lt"/>
              <a:ea typeface="+mn-ea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Closing message: DeployGuard is a coherent deployment product that owns the experience from repository to operations.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 not add a new technical explanation here. Pause and invite questions.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Speaking time: 20 seconds.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lang="en-US" sz="1200" b="0" u="none" strike="noStrike">
              <a:solidFill>
                <a:schemeClr val="dk1"/>
              </a:solidFill>
              <a:effectLst/>
              <a:uFillTx/>
              <a:latin typeface="+mn-lt"/>
              <a:ea typeface="+mn-ea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G_MASTER">
    <p:bg>
      <p:bgPr>
        <a:solidFill>
          <a:srgbClr val="09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400" cy="40680"/>
          </a:xfrm>
          <a:prstGeom prst="rect">
            <a:avLst/>
          </a:prstGeom>
          <a:solidFill>
            <a:srgbClr val="5ce89a"/>
          </a:solidFill>
          <a:ln w="12700">
            <a:solidFill>
              <a:srgbClr val="5ce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20124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pc="159" strike="noStrike">
                <a:solidFill>
                  <a:srgbClr val="5ce89a"/>
                </a:solidFill>
                <a:effectLst/>
                <a:uFillTx/>
                <a:latin typeface="Inter"/>
                <a:ea typeface="Inter"/>
              </a:rPr>
              <a:t>DEPLOYGUARD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Text 2"/>
          <p:cNvSpPr/>
          <p:nvPr/>
        </p:nvSpPr>
        <p:spPr>
          <a:xfrm>
            <a:off x="9784080" y="6528960"/>
            <a:ext cx="19656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0" u="none" strike="noStrike">
                <a:solidFill>
                  <a:srgbClr val="66727f"/>
                </a:solidFill>
                <a:effectLst/>
                <a:uFillTx/>
                <a:latin typeface="Inter"/>
                <a:ea typeface="Inter"/>
              </a:rPr>
              <a:t>Air University Islamabad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sldNum" idx="1"/>
          </p:nvPr>
        </p:nvSpPr>
        <p:spPr>
          <a:xfrm>
            <a:off x="11750040" y="6510600"/>
            <a:ext cx="18252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endParaRPr lang="en-US" sz="75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Inter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Inter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Inter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Inter"/>
            </a:endParaRP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Inter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Inter"/>
            </a:endParaRP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Inter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Inter"/>
            </a:endParaRP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Inter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Inter"/>
            </a:endParaRP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Inter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Inter"/>
            </a:endParaRP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Inter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Inter"/>
            </a:endParaRP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Inter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Inter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594360" y="1234440"/>
            <a:ext cx="658332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300" b="1" u="none" strike="noStrike">
                <a:solidFill>
                  <a:srgbClr val="f4f7fa"/>
                </a:solidFill>
                <a:effectLst/>
                <a:uFillTx/>
                <a:latin typeface="Inter"/>
                <a:ea typeface="Inter"/>
              </a:rPr>
              <a:t>Cloud deployment,</a:t>
            </a:r>
            <a:endParaRPr lang="en-US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300" b="1" u="none" strike="noStrike">
                <a:solidFill>
                  <a:srgbClr val="f4f7fa"/>
                </a:solidFill>
                <a:effectLst/>
                <a:uFillTx/>
                <a:latin typeface="Inter"/>
                <a:ea typeface="Inter"/>
              </a:rPr>
              <a:t>coordinated as one product.</a:t>
            </a:r>
            <a:endParaRPr lang="en-US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603360" y="2770560"/>
            <a:ext cx="6309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d9e1e8"/>
                </a:solidFill>
                <a:effectLst/>
                <a:uFillTx/>
                <a:latin typeface="Inter"/>
                <a:ea typeface="Inter"/>
              </a:rPr>
              <a:t>DeployGuard connects repository onboarding, deployment configuration, security, cost visibility, AWS delivery and operations in one guided experience.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2"/>
          <p:cNvSpPr/>
          <p:nvPr/>
        </p:nvSpPr>
        <p:spPr>
          <a:xfrm>
            <a:off x="685800" y="4069080"/>
            <a:ext cx="255600" cy="255600"/>
          </a:xfrm>
          <a:prstGeom prst="ellipse">
            <a:avLst/>
          </a:prstGeom>
          <a:solidFill>
            <a:srgbClr val="5ce89a"/>
          </a:solidFill>
          <a:ln w="12700">
            <a:solidFill>
              <a:srgbClr val="5ce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3"/>
          <p:cNvSpPr/>
          <p:nvPr/>
        </p:nvSpPr>
        <p:spPr>
          <a:xfrm>
            <a:off x="521280" y="4407480"/>
            <a:ext cx="5940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20" b="0" u="none" strike="noStrike">
                <a:solidFill>
                  <a:srgbClr val="8e9aa6"/>
                </a:solidFill>
                <a:effectLst/>
                <a:uFillTx/>
                <a:latin typeface="Inter"/>
                <a:ea typeface="Inter"/>
              </a:rPr>
              <a:t>GitHub</a:t>
            </a:r>
            <a:endParaRPr lang="en-US" sz="7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4"/>
          <p:cNvSpPr/>
          <p:nvPr/>
        </p:nvSpPr>
        <p:spPr>
          <a:xfrm>
            <a:off x="960120" y="4196880"/>
            <a:ext cx="685800" cy="360"/>
          </a:xfrm>
          <a:prstGeom prst="line">
            <a:avLst/>
          </a:prstGeom>
          <a:ln w="17780">
            <a:solidFill>
              <a:srgbClr val="344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5"/>
          <p:cNvSpPr/>
          <p:nvPr/>
        </p:nvSpPr>
        <p:spPr>
          <a:xfrm>
            <a:off x="1645920" y="4069080"/>
            <a:ext cx="255600" cy="255600"/>
          </a:xfrm>
          <a:prstGeom prst="ellipse">
            <a:avLst/>
          </a:prstGeom>
          <a:solidFill>
            <a:srgbClr val="59c9f7"/>
          </a:solidFill>
          <a:ln w="12700">
            <a:solidFill>
              <a:srgbClr val="59c9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6"/>
          <p:cNvSpPr/>
          <p:nvPr/>
        </p:nvSpPr>
        <p:spPr>
          <a:xfrm>
            <a:off x="1481400" y="4407480"/>
            <a:ext cx="5940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20" b="0" u="none" strike="noStrike">
                <a:solidFill>
                  <a:srgbClr val="8e9aa6"/>
                </a:solidFill>
                <a:effectLst/>
                <a:uFillTx/>
                <a:latin typeface="Inter"/>
                <a:ea typeface="Inter"/>
              </a:rPr>
              <a:t>Configure</a:t>
            </a:r>
            <a:endParaRPr lang="en-US" sz="7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7"/>
          <p:cNvSpPr/>
          <p:nvPr/>
        </p:nvSpPr>
        <p:spPr>
          <a:xfrm>
            <a:off x="1920240" y="4196880"/>
            <a:ext cx="685800" cy="360"/>
          </a:xfrm>
          <a:prstGeom prst="line">
            <a:avLst/>
          </a:prstGeom>
          <a:ln w="17780">
            <a:solidFill>
              <a:srgbClr val="344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8"/>
          <p:cNvSpPr/>
          <p:nvPr/>
        </p:nvSpPr>
        <p:spPr>
          <a:xfrm>
            <a:off x="2606040" y="4069080"/>
            <a:ext cx="255600" cy="255600"/>
          </a:xfrm>
          <a:prstGeom prst="ellipse">
            <a:avLst/>
          </a:prstGeom>
          <a:solidFill>
            <a:srgbClr val="59c9f7"/>
          </a:solidFill>
          <a:ln w="12700">
            <a:solidFill>
              <a:srgbClr val="59c9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9"/>
          <p:cNvSpPr/>
          <p:nvPr/>
        </p:nvSpPr>
        <p:spPr>
          <a:xfrm>
            <a:off x="2441520" y="4407480"/>
            <a:ext cx="5940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20" b="0" u="none" strike="noStrike">
                <a:solidFill>
                  <a:srgbClr val="8e9aa6"/>
                </a:solidFill>
                <a:effectLst/>
                <a:uFillTx/>
                <a:latin typeface="Inter"/>
                <a:ea typeface="Inter"/>
              </a:rPr>
              <a:t>Build</a:t>
            </a:r>
            <a:endParaRPr lang="en-US" sz="7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0"/>
          <p:cNvSpPr/>
          <p:nvPr/>
        </p:nvSpPr>
        <p:spPr>
          <a:xfrm>
            <a:off x="2880360" y="4196880"/>
            <a:ext cx="685800" cy="360"/>
          </a:xfrm>
          <a:prstGeom prst="line">
            <a:avLst/>
          </a:prstGeom>
          <a:ln w="17780">
            <a:solidFill>
              <a:srgbClr val="344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1"/>
          <p:cNvSpPr/>
          <p:nvPr/>
        </p:nvSpPr>
        <p:spPr>
          <a:xfrm>
            <a:off x="3566160" y="4069080"/>
            <a:ext cx="255600" cy="255600"/>
          </a:xfrm>
          <a:prstGeom prst="ellipse">
            <a:avLst/>
          </a:prstGeom>
          <a:solidFill>
            <a:srgbClr val="5ce89a"/>
          </a:solidFill>
          <a:ln w="12700">
            <a:solidFill>
              <a:srgbClr val="5ce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2"/>
          <p:cNvSpPr/>
          <p:nvPr/>
        </p:nvSpPr>
        <p:spPr>
          <a:xfrm>
            <a:off x="3401640" y="4407480"/>
            <a:ext cx="5940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20" b="0" u="none" strike="noStrike">
                <a:solidFill>
                  <a:srgbClr val="8e9aa6"/>
                </a:solidFill>
                <a:effectLst/>
                <a:uFillTx/>
                <a:latin typeface="Inter"/>
                <a:ea typeface="Inter"/>
              </a:rPr>
              <a:t>Protect</a:t>
            </a:r>
            <a:endParaRPr lang="en-US" sz="7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3"/>
          <p:cNvSpPr/>
          <p:nvPr/>
        </p:nvSpPr>
        <p:spPr>
          <a:xfrm>
            <a:off x="3840480" y="4196880"/>
            <a:ext cx="685800" cy="360"/>
          </a:xfrm>
          <a:prstGeom prst="line">
            <a:avLst/>
          </a:prstGeom>
          <a:ln w="17780">
            <a:solidFill>
              <a:srgbClr val="344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4"/>
          <p:cNvSpPr/>
          <p:nvPr/>
        </p:nvSpPr>
        <p:spPr>
          <a:xfrm>
            <a:off x="4526280" y="4069080"/>
            <a:ext cx="255600" cy="255600"/>
          </a:xfrm>
          <a:prstGeom prst="ellipse">
            <a:avLst/>
          </a:prstGeom>
          <a:solidFill>
            <a:srgbClr val="ffb456"/>
          </a:solidFill>
          <a:ln w="12700">
            <a:solidFill>
              <a:srgbClr val="ffb4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5"/>
          <p:cNvSpPr/>
          <p:nvPr/>
        </p:nvSpPr>
        <p:spPr>
          <a:xfrm>
            <a:off x="4361760" y="4407480"/>
            <a:ext cx="5940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20" b="0" u="none" strike="noStrike">
                <a:solidFill>
                  <a:srgbClr val="8e9aa6"/>
                </a:solidFill>
                <a:effectLst/>
                <a:uFillTx/>
                <a:latin typeface="Inter"/>
                <a:ea typeface="Inter"/>
              </a:rPr>
              <a:t>Estimate</a:t>
            </a:r>
            <a:endParaRPr lang="en-US" sz="7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6"/>
          <p:cNvSpPr/>
          <p:nvPr/>
        </p:nvSpPr>
        <p:spPr>
          <a:xfrm>
            <a:off x="4800600" y="4196880"/>
            <a:ext cx="685800" cy="360"/>
          </a:xfrm>
          <a:prstGeom prst="line">
            <a:avLst/>
          </a:prstGeom>
          <a:ln w="17780">
            <a:solidFill>
              <a:srgbClr val="344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7"/>
          <p:cNvSpPr/>
          <p:nvPr/>
        </p:nvSpPr>
        <p:spPr>
          <a:xfrm>
            <a:off x="5486400" y="4069080"/>
            <a:ext cx="255600" cy="255600"/>
          </a:xfrm>
          <a:prstGeom prst="ellipse">
            <a:avLst/>
          </a:prstGeom>
          <a:solidFill>
            <a:srgbClr val="59c9f7"/>
          </a:solidFill>
          <a:ln w="12700">
            <a:solidFill>
              <a:srgbClr val="59c9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8"/>
          <p:cNvSpPr/>
          <p:nvPr/>
        </p:nvSpPr>
        <p:spPr>
          <a:xfrm>
            <a:off x="5321880" y="4407480"/>
            <a:ext cx="5940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20" b="0" u="none" strike="noStrike">
                <a:solidFill>
                  <a:srgbClr val="8e9aa6"/>
                </a:solidFill>
                <a:effectLst/>
                <a:uFillTx/>
                <a:latin typeface="Inter"/>
                <a:ea typeface="Inter"/>
              </a:rPr>
              <a:t>Deploy</a:t>
            </a:r>
            <a:endParaRPr lang="en-US" sz="7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9"/>
          <p:cNvSpPr/>
          <p:nvPr/>
        </p:nvSpPr>
        <p:spPr>
          <a:xfrm>
            <a:off x="5760720" y="4196880"/>
            <a:ext cx="685800" cy="360"/>
          </a:xfrm>
          <a:prstGeom prst="line">
            <a:avLst/>
          </a:prstGeom>
          <a:ln w="17780">
            <a:solidFill>
              <a:srgbClr val="344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20"/>
          <p:cNvSpPr/>
          <p:nvPr/>
        </p:nvSpPr>
        <p:spPr>
          <a:xfrm>
            <a:off x="6446520" y="4069080"/>
            <a:ext cx="255600" cy="255600"/>
          </a:xfrm>
          <a:prstGeom prst="ellipse">
            <a:avLst/>
          </a:prstGeom>
          <a:solidFill>
            <a:srgbClr val="5ce89a"/>
          </a:solidFill>
          <a:ln w="12700">
            <a:solidFill>
              <a:srgbClr val="5ce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21"/>
          <p:cNvSpPr/>
          <p:nvPr/>
        </p:nvSpPr>
        <p:spPr>
          <a:xfrm>
            <a:off x="6282000" y="4407480"/>
            <a:ext cx="5940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20" b="0" u="none" strike="noStrike">
                <a:solidFill>
                  <a:srgbClr val="8e9aa6"/>
                </a:solidFill>
                <a:effectLst/>
                <a:uFillTx/>
                <a:latin typeface="Inter"/>
                <a:ea typeface="Inter"/>
              </a:rPr>
              <a:t>Monitor</a:t>
            </a:r>
            <a:endParaRPr lang="en-US" sz="7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22"/>
          <p:cNvSpPr/>
          <p:nvPr/>
        </p:nvSpPr>
        <p:spPr>
          <a:xfrm>
            <a:off x="594360" y="5989320"/>
            <a:ext cx="5028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8e9aa6"/>
                </a:solidFill>
                <a:effectLst/>
                <a:uFillTx/>
                <a:latin typeface="Inter"/>
                <a:ea typeface="Inter"/>
              </a:rPr>
              <a:t>Hassan Sajjad  ·  Faria Fatima  ·  Tania Khawar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0"/>
          <p:cNvSpPr/>
          <p:nvPr/>
        </p:nvSpPr>
        <p:spPr>
          <a:xfrm>
            <a:off x="411480" y="612720"/>
            <a:ext cx="29257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pc="150" strike="noStrike">
                <a:solidFill>
                  <a:srgbClr val="5ce89a"/>
                </a:solidFill>
                <a:effectLst/>
                <a:uFillTx/>
                <a:latin typeface="Inter"/>
                <a:ea typeface="Inter"/>
              </a:rPr>
              <a:t>PROJECT SCOPE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"/>
          <p:cNvSpPr/>
          <p:nvPr/>
        </p:nvSpPr>
        <p:spPr>
          <a:xfrm>
            <a:off x="411480" y="896040"/>
            <a:ext cx="10926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700" b="1" u="none" strike="noStrike">
                <a:solidFill>
                  <a:srgbClr val="f4f7fa"/>
                </a:solidFill>
                <a:effectLst/>
                <a:uFillTx/>
                <a:latin typeface="Inter"/>
                <a:ea typeface="Inter"/>
              </a:rPr>
              <a:t>One product across the full cloud deployment journey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"/>
          <p:cNvSpPr/>
          <p:nvPr/>
        </p:nvSpPr>
        <p:spPr>
          <a:xfrm>
            <a:off x="411480" y="1527120"/>
            <a:ext cx="10698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8e9aa6"/>
                </a:solidFill>
                <a:effectLst/>
                <a:uFillTx/>
                <a:latin typeface="Inter"/>
                <a:ea typeface="Inter"/>
              </a:rPr>
              <a:t>The scope covers the developer journey from repository connection to a running, observable AWS workload.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3"/>
          <p:cNvSpPr/>
          <p:nvPr/>
        </p:nvSpPr>
        <p:spPr>
          <a:xfrm>
            <a:off x="502920" y="2057400"/>
            <a:ext cx="2633040" cy="2212560"/>
          </a:xfrm>
          <a:prstGeom prst="roundRect">
            <a:avLst>
              <a:gd name="adj" fmla="val 3719"/>
            </a:avLst>
          </a:prstGeom>
          <a:solidFill>
            <a:srgbClr val="111923"/>
          </a:solidFill>
          <a:ln w="12700">
            <a:solidFill>
              <a:srgbClr val="2230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4"/>
          <p:cNvSpPr/>
          <p:nvPr/>
        </p:nvSpPr>
        <p:spPr>
          <a:xfrm>
            <a:off x="667440" y="2221920"/>
            <a:ext cx="292320" cy="292320"/>
          </a:xfrm>
          <a:prstGeom prst="ellipse">
            <a:avLst/>
          </a:prstGeom>
          <a:solidFill>
            <a:srgbClr val="5ce89a"/>
          </a:solidFill>
          <a:ln w="12700">
            <a:solidFill>
              <a:srgbClr val="5ce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5"/>
          <p:cNvSpPr/>
          <p:nvPr/>
        </p:nvSpPr>
        <p:spPr>
          <a:xfrm>
            <a:off x="667440" y="2231280"/>
            <a:ext cx="2923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trike="noStrike">
                <a:solidFill>
                  <a:srgbClr val="08100c"/>
                </a:solidFill>
                <a:effectLst/>
                <a:uFillTx/>
                <a:latin typeface="Inter"/>
                <a:ea typeface="Inter"/>
              </a:rPr>
              <a:t>1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6"/>
          <p:cNvSpPr/>
          <p:nvPr/>
        </p:nvSpPr>
        <p:spPr>
          <a:xfrm>
            <a:off x="667440" y="2624400"/>
            <a:ext cx="230400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f4f7fa"/>
                </a:solidFill>
                <a:effectLst/>
                <a:uFillTx/>
                <a:latin typeface="Inter"/>
                <a:ea typeface="Inter"/>
              </a:rPr>
              <a:t>Connect source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7"/>
          <p:cNvSpPr/>
          <p:nvPr/>
        </p:nvSpPr>
        <p:spPr>
          <a:xfrm>
            <a:off x="667440" y="2990160"/>
            <a:ext cx="2304000" cy="113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20" b="0" u="none" strike="noStrike">
                <a:solidFill>
                  <a:srgbClr val="8e9aa6"/>
                </a:solidFill>
                <a:effectLst/>
                <a:uFillTx/>
                <a:latin typeface="Inter"/>
                <a:ea typeface="Inter"/>
              </a:rPr>
              <a:t>Link a GitHub repository and choose the target branch.</a:t>
            </a:r>
            <a:endParaRPr lang="en-US" sz="9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8"/>
          <p:cNvSpPr/>
          <p:nvPr/>
        </p:nvSpPr>
        <p:spPr>
          <a:xfrm>
            <a:off x="3264480" y="2057400"/>
            <a:ext cx="2633040" cy="2212560"/>
          </a:xfrm>
          <a:prstGeom prst="roundRect">
            <a:avLst>
              <a:gd name="adj" fmla="val 3719"/>
            </a:avLst>
          </a:prstGeom>
          <a:solidFill>
            <a:srgbClr val="111923"/>
          </a:solidFill>
          <a:ln w="12700">
            <a:solidFill>
              <a:srgbClr val="2230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9"/>
          <p:cNvSpPr/>
          <p:nvPr/>
        </p:nvSpPr>
        <p:spPr>
          <a:xfrm>
            <a:off x="3429000" y="2221920"/>
            <a:ext cx="292320" cy="292320"/>
          </a:xfrm>
          <a:prstGeom prst="ellipse">
            <a:avLst/>
          </a:prstGeom>
          <a:solidFill>
            <a:srgbClr val="59c9f7"/>
          </a:solidFill>
          <a:ln w="12700">
            <a:solidFill>
              <a:srgbClr val="59c9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0"/>
          <p:cNvSpPr/>
          <p:nvPr/>
        </p:nvSpPr>
        <p:spPr>
          <a:xfrm>
            <a:off x="3429000" y="2231280"/>
            <a:ext cx="2923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trike="noStrike">
                <a:solidFill>
                  <a:srgbClr val="08100c"/>
                </a:solidFill>
                <a:effectLst/>
                <a:uFillTx/>
                <a:latin typeface="Inter"/>
                <a:ea typeface="Inter"/>
              </a:rPr>
              <a:t>2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1"/>
          <p:cNvSpPr/>
          <p:nvPr/>
        </p:nvSpPr>
        <p:spPr>
          <a:xfrm>
            <a:off x="3429000" y="2624400"/>
            <a:ext cx="230400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f4f7fa"/>
                </a:solidFill>
                <a:effectLst/>
                <a:uFillTx/>
                <a:latin typeface="Inter"/>
                <a:ea typeface="Inter"/>
              </a:rPr>
              <a:t>Configure deployment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2"/>
          <p:cNvSpPr/>
          <p:nvPr/>
        </p:nvSpPr>
        <p:spPr>
          <a:xfrm>
            <a:off x="3429000" y="2990160"/>
            <a:ext cx="2304000" cy="113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20" b="0" u="none" strike="noStrike">
                <a:solidFill>
                  <a:srgbClr val="8e9aa6"/>
                </a:solidFill>
                <a:effectLst/>
                <a:uFillTx/>
                <a:latin typeface="Inter"/>
                <a:ea typeface="Inter"/>
              </a:rPr>
              <a:t>Select the deployment directory, environment values and runtime needs.</a:t>
            </a:r>
            <a:endParaRPr lang="en-US" sz="9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13"/>
          <p:cNvSpPr/>
          <p:nvPr/>
        </p:nvSpPr>
        <p:spPr>
          <a:xfrm>
            <a:off x="6026040" y="2057400"/>
            <a:ext cx="2633040" cy="2212560"/>
          </a:xfrm>
          <a:prstGeom prst="roundRect">
            <a:avLst>
              <a:gd name="adj" fmla="val 3719"/>
            </a:avLst>
          </a:prstGeom>
          <a:solidFill>
            <a:srgbClr val="111923"/>
          </a:solidFill>
          <a:ln w="12700">
            <a:solidFill>
              <a:srgbClr val="2230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14"/>
          <p:cNvSpPr/>
          <p:nvPr/>
        </p:nvSpPr>
        <p:spPr>
          <a:xfrm>
            <a:off x="6190560" y="2221920"/>
            <a:ext cx="292320" cy="292320"/>
          </a:xfrm>
          <a:prstGeom prst="ellipse">
            <a:avLst/>
          </a:prstGeom>
          <a:solidFill>
            <a:srgbClr val="ffb456"/>
          </a:solidFill>
          <a:ln w="12700">
            <a:solidFill>
              <a:srgbClr val="ffb4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5"/>
          <p:cNvSpPr/>
          <p:nvPr/>
        </p:nvSpPr>
        <p:spPr>
          <a:xfrm>
            <a:off x="6190560" y="2231280"/>
            <a:ext cx="2923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trike="noStrike">
                <a:solidFill>
                  <a:srgbClr val="08100c"/>
                </a:solidFill>
                <a:effectLst/>
                <a:uFillTx/>
                <a:latin typeface="Inter"/>
                <a:ea typeface="Inter"/>
              </a:rPr>
              <a:t>3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6"/>
          <p:cNvSpPr/>
          <p:nvPr/>
        </p:nvSpPr>
        <p:spPr>
          <a:xfrm>
            <a:off x="6190560" y="2624400"/>
            <a:ext cx="230400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f4f7fa"/>
                </a:solidFill>
                <a:effectLst/>
                <a:uFillTx/>
                <a:latin typeface="Inter"/>
                <a:ea typeface="Inter"/>
              </a:rPr>
              <a:t>Automate delivery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7"/>
          <p:cNvSpPr/>
          <p:nvPr/>
        </p:nvSpPr>
        <p:spPr>
          <a:xfrm>
            <a:off x="6190560" y="2990160"/>
            <a:ext cx="2304000" cy="113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20" b="0" u="none" strike="noStrike">
                <a:solidFill>
                  <a:srgbClr val="8e9aa6"/>
                </a:solidFill>
                <a:effectLst/>
                <a:uFillTx/>
                <a:latin typeface="Inter"/>
                <a:ea typeface="Inter"/>
              </a:rPr>
              <a:t>Build, containerize, scan, estimate cost and provision AWS resources.</a:t>
            </a:r>
            <a:endParaRPr lang="en-US" sz="9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18"/>
          <p:cNvSpPr/>
          <p:nvPr/>
        </p:nvSpPr>
        <p:spPr>
          <a:xfrm>
            <a:off x="8787240" y="2057400"/>
            <a:ext cx="2633040" cy="2212560"/>
          </a:xfrm>
          <a:prstGeom prst="roundRect">
            <a:avLst>
              <a:gd name="adj" fmla="val 3719"/>
            </a:avLst>
          </a:prstGeom>
          <a:solidFill>
            <a:srgbClr val="111923"/>
          </a:solidFill>
          <a:ln w="12700">
            <a:solidFill>
              <a:srgbClr val="2230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19"/>
          <p:cNvSpPr/>
          <p:nvPr/>
        </p:nvSpPr>
        <p:spPr>
          <a:xfrm>
            <a:off x="8952120" y="2221920"/>
            <a:ext cx="292320" cy="292320"/>
          </a:xfrm>
          <a:prstGeom prst="ellipse">
            <a:avLst/>
          </a:prstGeom>
          <a:solidFill>
            <a:srgbClr val="5ce89a"/>
          </a:solidFill>
          <a:ln w="12700">
            <a:solidFill>
              <a:srgbClr val="5ce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20"/>
          <p:cNvSpPr/>
          <p:nvPr/>
        </p:nvSpPr>
        <p:spPr>
          <a:xfrm>
            <a:off x="8952120" y="2231280"/>
            <a:ext cx="2923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trike="noStrike">
                <a:solidFill>
                  <a:srgbClr val="08100c"/>
                </a:solidFill>
                <a:effectLst/>
                <a:uFillTx/>
                <a:latin typeface="Inter"/>
                <a:ea typeface="Inter"/>
              </a:rPr>
              <a:t>4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21"/>
          <p:cNvSpPr/>
          <p:nvPr/>
        </p:nvSpPr>
        <p:spPr>
          <a:xfrm>
            <a:off x="8952120" y="2624400"/>
            <a:ext cx="230400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f4f7fa"/>
                </a:solidFill>
                <a:effectLst/>
                <a:uFillTx/>
                <a:latin typeface="Inter"/>
                <a:ea typeface="Inter"/>
              </a:rPr>
              <a:t>Operate the workload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22"/>
          <p:cNvSpPr/>
          <p:nvPr/>
        </p:nvSpPr>
        <p:spPr>
          <a:xfrm>
            <a:off x="8952120" y="2990160"/>
            <a:ext cx="2304000" cy="113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20" b="0" u="none" strike="noStrike">
                <a:solidFill>
                  <a:srgbClr val="8e9aa6"/>
                </a:solidFill>
                <a:effectLst/>
                <a:uFillTx/>
                <a:latin typeface="Inter"/>
                <a:ea typeface="Inter"/>
              </a:rPr>
              <a:t>Verify deployment health, monitor runtime status and manage lifecycle actions.</a:t>
            </a:r>
            <a:endParaRPr lang="en-US" sz="9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23"/>
          <p:cNvSpPr/>
          <p:nvPr/>
        </p:nvSpPr>
        <p:spPr>
          <a:xfrm>
            <a:off x="502920" y="4754880"/>
            <a:ext cx="10917720" cy="712800"/>
          </a:xfrm>
          <a:prstGeom prst="roundRect">
            <a:avLst>
              <a:gd name="adj" fmla="val 11538"/>
            </a:avLst>
          </a:prstGeom>
          <a:solidFill>
            <a:srgbClr val="0d1914"/>
          </a:solidFill>
          <a:ln w="12700">
            <a:solidFill>
              <a:srgbClr val="183a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24"/>
          <p:cNvSpPr/>
          <p:nvPr/>
        </p:nvSpPr>
        <p:spPr>
          <a:xfrm>
            <a:off x="749880" y="5020200"/>
            <a:ext cx="10423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80" b="1" u="none" strike="noStrike">
                <a:solidFill>
                  <a:srgbClr val="5ce89a"/>
                </a:solidFill>
                <a:effectLst/>
                <a:uFillTx/>
                <a:latin typeface="Inter"/>
                <a:ea typeface="Inter"/>
              </a:rPr>
              <a:t>Repository  →  Deployment Directory  →  Build  →  Security  →  Cost  →  AWS  →  Monitoring</a:t>
            </a:r>
            <a:endParaRPr lang="en-US" sz="1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0"/>
          <p:cNvSpPr/>
          <p:nvPr/>
        </p:nvSpPr>
        <p:spPr>
          <a:xfrm>
            <a:off x="411480" y="612720"/>
            <a:ext cx="29257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pc="150" strike="noStrike">
                <a:solidFill>
                  <a:srgbClr val="5ce89a"/>
                </a:solidFill>
                <a:effectLst/>
                <a:uFillTx/>
                <a:latin typeface="Inter"/>
                <a:ea typeface="Inter"/>
              </a:rPr>
              <a:t>PROJECT OBJECTIVES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"/>
          <p:cNvSpPr/>
          <p:nvPr/>
        </p:nvSpPr>
        <p:spPr>
          <a:xfrm>
            <a:off x="411480" y="896040"/>
            <a:ext cx="10926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700" b="1" u="none" strike="noStrike">
                <a:solidFill>
                  <a:srgbClr val="f4f7fa"/>
                </a:solidFill>
                <a:effectLst/>
                <a:uFillTx/>
                <a:latin typeface="Inter"/>
                <a:ea typeface="Inter"/>
              </a:rPr>
              <a:t>Five outcomes define success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"/>
          <p:cNvSpPr/>
          <p:nvPr/>
        </p:nvSpPr>
        <p:spPr>
          <a:xfrm>
            <a:off x="411480" y="1527120"/>
            <a:ext cx="10698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8e9aa6"/>
                </a:solidFill>
                <a:effectLst/>
                <a:uFillTx/>
                <a:latin typeface="Inter"/>
                <a:ea typeface="Inter"/>
              </a:rPr>
              <a:t>The objectives are expressed as developer outcomes rather than technology choices.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3"/>
          <p:cNvSpPr/>
          <p:nvPr/>
        </p:nvSpPr>
        <p:spPr>
          <a:xfrm>
            <a:off x="567000" y="1993320"/>
            <a:ext cx="502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5ce89a"/>
                </a:solidFill>
                <a:effectLst/>
                <a:uFillTx/>
                <a:latin typeface="Inter"/>
                <a:ea typeface="Inter"/>
              </a:rPr>
              <a:t>01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4"/>
          <p:cNvSpPr/>
          <p:nvPr/>
        </p:nvSpPr>
        <p:spPr>
          <a:xfrm>
            <a:off x="1170360" y="1974960"/>
            <a:ext cx="2742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4f7fa"/>
                </a:solidFill>
                <a:effectLst/>
                <a:uFillTx/>
                <a:latin typeface="Inter"/>
                <a:ea typeface="Inter"/>
              </a:rPr>
              <a:t>Make deployment simple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5"/>
          <p:cNvSpPr/>
          <p:nvPr/>
        </p:nvSpPr>
        <p:spPr>
          <a:xfrm>
            <a:off x="3931920" y="1993320"/>
            <a:ext cx="7314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30" b="0" u="none" strike="noStrike">
                <a:solidFill>
                  <a:srgbClr val="8e9aa6"/>
                </a:solidFill>
                <a:effectLst/>
                <a:uFillTx/>
                <a:latin typeface="Inter"/>
                <a:ea typeface="Inter"/>
              </a:rPr>
              <a:t>Reduce the manual cloud and DevOps steps a developer must manage.</a:t>
            </a:r>
            <a:endParaRPr lang="en-US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6"/>
          <p:cNvSpPr/>
          <p:nvPr/>
        </p:nvSpPr>
        <p:spPr>
          <a:xfrm>
            <a:off x="566640" y="2432160"/>
            <a:ext cx="10698480" cy="360"/>
          </a:xfrm>
          <a:prstGeom prst="line">
            <a:avLst/>
          </a:prstGeom>
          <a:ln w="12700">
            <a:solidFill>
              <a:srgbClr val="1c273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7"/>
          <p:cNvSpPr/>
          <p:nvPr/>
        </p:nvSpPr>
        <p:spPr>
          <a:xfrm>
            <a:off x="567000" y="2752200"/>
            <a:ext cx="502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5ce89a"/>
                </a:solidFill>
                <a:effectLst/>
                <a:uFillTx/>
                <a:latin typeface="Inter"/>
                <a:ea typeface="Inter"/>
              </a:rPr>
              <a:t>02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8"/>
          <p:cNvSpPr/>
          <p:nvPr/>
        </p:nvSpPr>
        <p:spPr>
          <a:xfrm>
            <a:off x="1170360" y="2734200"/>
            <a:ext cx="2742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4f7fa"/>
                </a:solidFill>
                <a:effectLst/>
                <a:uFillTx/>
                <a:latin typeface="Inter"/>
                <a:ea typeface="Inter"/>
              </a:rPr>
              <a:t>Automate the delivery path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9"/>
          <p:cNvSpPr/>
          <p:nvPr/>
        </p:nvSpPr>
        <p:spPr>
          <a:xfrm>
            <a:off x="3931920" y="2752200"/>
            <a:ext cx="7314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30" b="0" u="none" strike="noStrike">
                <a:solidFill>
                  <a:srgbClr val="8e9aa6"/>
                </a:solidFill>
                <a:effectLst/>
                <a:uFillTx/>
                <a:latin typeface="Inter"/>
                <a:ea typeface="Inter"/>
              </a:rPr>
              <a:t>Move from repository to running workload through one controlled flow.</a:t>
            </a:r>
            <a:endParaRPr lang="en-US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10"/>
          <p:cNvSpPr/>
          <p:nvPr/>
        </p:nvSpPr>
        <p:spPr>
          <a:xfrm>
            <a:off x="566640" y="3191040"/>
            <a:ext cx="10698480" cy="360"/>
          </a:xfrm>
          <a:prstGeom prst="line">
            <a:avLst/>
          </a:prstGeom>
          <a:ln w="12700">
            <a:solidFill>
              <a:srgbClr val="1c273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1"/>
          <p:cNvSpPr/>
          <p:nvPr/>
        </p:nvSpPr>
        <p:spPr>
          <a:xfrm>
            <a:off x="567000" y="3511440"/>
            <a:ext cx="502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5ce89a"/>
                </a:solidFill>
                <a:effectLst/>
                <a:uFillTx/>
                <a:latin typeface="Inter"/>
                <a:ea typeface="Inter"/>
              </a:rPr>
              <a:t>03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2"/>
          <p:cNvSpPr/>
          <p:nvPr/>
        </p:nvSpPr>
        <p:spPr>
          <a:xfrm>
            <a:off x="1170360" y="3493080"/>
            <a:ext cx="2742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4f7fa"/>
                </a:solidFill>
                <a:effectLst/>
                <a:uFillTx/>
                <a:latin typeface="Inter"/>
                <a:ea typeface="Inter"/>
              </a:rPr>
              <a:t>Protect before release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3"/>
          <p:cNvSpPr/>
          <p:nvPr/>
        </p:nvSpPr>
        <p:spPr>
          <a:xfrm>
            <a:off x="3931920" y="3511440"/>
            <a:ext cx="7314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30" b="0" u="none" strike="noStrike">
                <a:solidFill>
                  <a:srgbClr val="8e9aa6"/>
                </a:solidFill>
                <a:effectLst/>
                <a:uFillTx/>
                <a:latin typeface="Inter"/>
                <a:ea typeface="Inter"/>
              </a:rPr>
              <a:t>Block critical vulnerabilities before deployment proceeds.</a:t>
            </a:r>
            <a:endParaRPr lang="en-US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4"/>
          <p:cNvSpPr/>
          <p:nvPr/>
        </p:nvSpPr>
        <p:spPr>
          <a:xfrm>
            <a:off x="566640" y="3949920"/>
            <a:ext cx="10698480" cy="360"/>
          </a:xfrm>
          <a:prstGeom prst="line">
            <a:avLst/>
          </a:prstGeom>
          <a:ln w="12700">
            <a:solidFill>
              <a:srgbClr val="1c273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5"/>
          <p:cNvSpPr/>
          <p:nvPr/>
        </p:nvSpPr>
        <p:spPr>
          <a:xfrm>
            <a:off x="567000" y="4270320"/>
            <a:ext cx="502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b456"/>
                </a:solidFill>
                <a:effectLst/>
                <a:uFillTx/>
                <a:latin typeface="Inter"/>
                <a:ea typeface="Inter"/>
              </a:rPr>
              <a:t>04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6"/>
          <p:cNvSpPr/>
          <p:nvPr/>
        </p:nvSpPr>
        <p:spPr>
          <a:xfrm>
            <a:off x="1170360" y="4251960"/>
            <a:ext cx="2742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4f7fa"/>
                </a:solidFill>
                <a:effectLst/>
                <a:uFillTx/>
                <a:latin typeface="Inter"/>
                <a:ea typeface="Inter"/>
              </a:rPr>
              <a:t>Show cost before provisioning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7"/>
          <p:cNvSpPr/>
          <p:nvPr/>
        </p:nvSpPr>
        <p:spPr>
          <a:xfrm>
            <a:off x="3931920" y="4270320"/>
            <a:ext cx="7314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30" b="0" u="none" strike="noStrike">
                <a:solidFill>
                  <a:srgbClr val="8e9aa6"/>
                </a:solidFill>
                <a:effectLst/>
                <a:uFillTx/>
                <a:latin typeface="Inter"/>
                <a:ea typeface="Inter"/>
              </a:rPr>
              <a:t>Calculate and present expected infrastructure cost automatically before AWS resources are created.</a:t>
            </a:r>
            <a:endParaRPr lang="en-US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8"/>
          <p:cNvSpPr/>
          <p:nvPr/>
        </p:nvSpPr>
        <p:spPr>
          <a:xfrm>
            <a:off x="566640" y="4709160"/>
            <a:ext cx="10698480" cy="360"/>
          </a:xfrm>
          <a:prstGeom prst="line">
            <a:avLst/>
          </a:prstGeom>
          <a:ln w="12700">
            <a:solidFill>
              <a:srgbClr val="1c273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9"/>
          <p:cNvSpPr/>
          <p:nvPr/>
        </p:nvSpPr>
        <p:spPr>
          <a:xfrm>
            <a:off x="567000" y="5029200"/>
            <a:ext cx="502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5ce89a"/>
                </a:solidFill>
                <a:effectLst/>
                <a:uFillTx/>
                <a:latin typeface="Inter"/>
                <a:ea typeface="Inter"/>
              </a:rPr>
              <a:t>05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20"/>
          <p:cNvSpPr/>
          <p:nvPr/>
        </p:nvSpPr>
        <p:spPr>
          <a:xfrm>
            <a:off x="1170360" y="5010840"/>
            <a:ext cx="2742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4f7fa"/>
                </a:solidFill>
                <a:effectLst/>
                <a:uFillTx/>
                <a:latin typeface="Inter"/>
                <a:ea typeface="Inter"/>
              </a:rPr>
              <a:t>Keep operations visible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21"/>
          <p:cNvSpPr/>
          <p:nvPr/>
        </p:nvSpPr>
        <p:spPr>
          <a:xfrm>
            <a:off x="3931920" y="5029200"/>
            <a:ext cx="7314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30" b="0" u="none" strike="noStrike">
                <a:solidFill>
                  <a:srgbClr val="8e9aa6"/>
                </a:solidFill>
                <a:effectLst/>
                <a:uFillTx/>
                <a:latin typeface="Inter"/>
                <a:ea typeface="Inter"/>
              </a:rPr>
              <a:t>Make deployment status, infrastructure, health and alerts easy to inspect after release.</a:t>
            </a:r>
            <a:endParaRPr lang="en-US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 0"/>
          <p:cNvSpPr/>
          <p:nvPr/>
        </p:nvSpPr>
        <p:spPr>
          <a:xfrm>
            <a:off x="411480" y="484560"/>
            <a:ext cx="3665520" cy="32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pc="150" strike="noStrike">
                <a:solidFill>
                  <a:srgbClr val="5ce89a"/>
                </a:solidFill>
                <a:effectLst/>
                <a:uFillTx/>
                <a:latin typeface="Inter"/>
                <a:ea typeface="Inter"/>
              </a:rPr>
              <a:t>MAJOR MODULES / FEATURES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"/>
          <p:cNvSpPr/>
          <p:nvPr/>
        </p:nvSpPr>
        <p:spPr>
          <a:xfrm>
            <a:off x="411480" y="896040"/>
            <a:ext cx="10926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700" b="1" u="none" strike="noStrike">
                <a:solidFill>
                  <a:srgbClr val="f4f7fa"/>
                </a:solidFill>
                <a:effectLst/>
                <a:uFillTx/>
                <a:latin typeface="Inter"/>
                <a:ea typeface="Inter"/>
              </a:rPr>
              <a:t>The product is organized around clear capabilities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2"/>
          <p:cNvSpPr/>
          <p:nvPr/>
        </p:nvSpPr>
        <p:spPr>
          <a:xfrm>
            <a:off x="411480" y="1527120"/>
            <a:ext cx="10698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8e9aa6"/>
                </a:solidFill>
                <a:effectLst/>
                <a:uFillTx/>
                <a:latin typeface="Inter"/>
                <a:ea typeface="Inter"/>
              </a:rPr>
              <a:t>Each module has a visible role in the deployment journey.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3"/>
          <p:cNvSpPr/>
          <p:nvPr/>
        </p:nvSpPr>
        <p:spPr>
          <a:xfrm>
            <a:off x="502920" y="1974960"/>
            <a:ext cx="3154320" cy="1142640"/>
          </a:xfrm>
          <a:prstGeom prst="roundRect">
            <a:avLst>
              <a:gd name="adj" fmla="val 5600"/>
            </a:avLst>
          </a:prstGeom>
          <a:solidFill>
            <a:srgbClr val="111923"/>
          </a:solidFill>
          <a:ln w="12700">
            <a:solidFill>
              <a:srgbClr val="2230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4"/>
          <p:cNvSpPr/>
          <p:nvPr/>
        </p:nvSpPr>
        <p:spPr>
          <a:xfrm>
            <a:off x="667440" y="2139840"/>
            <a:ext cx="164160" cy="164160"/>
          </a:xfrm>
          <a:prstGeom prst="ellipse">
            <a:avLst/>
          </a:prstGeom>
          <a:solidFill>
            <a:srgbClr val="5ce89a"/>
          </a:solidFill>
          <a:ln w="12700">
            <a:solidFill>
              <a:srgbClr val="5ce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5"/>
          <p:cNvSpPr/>
          <p:nvPr/>
        </p:nvSpPr>
        <p:spPr>
          <a:xfrm>
            <a:off x="932760" y="2112120"/>
            <a:ext cx="2514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f4f7fa"/>
                </a:solidFill>
                <a:effectLst/>
                <a:uFillTx/>
                <a:latin typeface="Inter"/>
                <a:ea typeface="Inter"/>
              </a:rPr>
              <a:t>Access &amp; Roles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6"/>
          <p:cNvSpPr/>
          <p:nvPr/>
        </p:nvSpPr>
        <p:spPr>
          <a:xfrm>
            <a:off x="667440" y="2477880"/>
            <a:ext cx="2788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10" b="0" u="none" strike="noStrike">
                <a:solidFill>
                  <a:srgbClr val="8e9aa6"/>
                </a:solidFill>
                <a:effectLst/>
                <a:uFillTx/>
                <a:latin typeface="Inter"/>
                <a:ea typeface="Inter"/>
              </a:rPr>
              <a:t>GitHub sign-in and role-based access</a:t>
            </a:r>
            <a:endParaRPr lang="en-US" sz="8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7"/>
          <p:cNvSpPr/>
          <p:nvPr/>
        </p:nvSpPr>
        <p:spPr>
          <a:xfrm>
            <a:off x="4078080" y="1974960"/>
            <a:ext cx="3154320" cy="1142640"/>
          </a:xfrm>
          <a:prstGeom prst="roundRect">
            <a:avLst>
              <a:gd name="adj" fmla="val 5600"/>
            </a:avLst>
          </a:prstGeom>
          <a:solidFill>
            <a:srgbClr val="111923"/>
          </a:solidFill>
          <a:ln w="12700">
            <a:solidFill>
              <a:srgbClr val="2230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8"/>
          <p:cNvSpPr/>
          <p:nvPr/>
        </p:nvSpPr>
        <p:spPr>
          <a:xfrm>
            <a:off x="4242960" y="2139840"/>
            <a:ext cx="164160" cy="164160"/>
          </a:xfrm>
          <a:prstGeom prst="ellipse">
            <a:avLst/>
          </a:prstGeom>
          <a:solidFill>
            <a:srgbClr val="59c9f7"/>
          </a:solidFill>
          <a:ln w="12700">
            <a:solidFill>
              <a:srgbClr val="59c9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9"/>
          <p:cNvSpPr/>
          <p:nvPr/>
        </p:nvSpPr>
        <p:spPr>
          <a:xfrm>
            <a:off x="4507920" y="2112120"/>
            <a:ext cx="2514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f4f7fa"/>
                </a:solidFill>
                <a:effectLst/>
                <a:uFillTx/>
                <a:latin typeface="Inter"/>
                <a:ea typeface="Inter"/>
              </a:rPr>
              <a:t>Projects &amp; Repository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0"/>
          <p:cNvSpPr/>
          <p:nvPr/>
        </p:nvSpPr>
        <p:spPr>
          <a:xfrm>
            <a:off x="4242960" y="2477880"/>
            <a:ext cx="2788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10" b="0" u="none" strike="noStrike">
                <a:solidFill>
                  <a:srgbClr val="8e9aa6"/>
                </a:solidFill>
                <a:effectLst/>
                <a:uFillTx/>
                <a:latin typeface="Inter"/>
                <a:ea typeface="Inter"/>
              </a:rPr>
              <a:t>Repository, branch and project workspace</a:t>
            </a:r>
            <a:endParaRPr lang="en-US" sz="8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11"/>
          <p:cNvSpPr/>
          <p:nvPr/>
        </p:nvSpPr>
        <p:spPr>
          <a:xfrm>
            <a:off x="7653600" y="1974960"/>
            <a:ext cx="3154320" cy="1142640"/>
          </a:xfrm>
          <a:prstGeom prst="roundRect">
            <a:avLst>
              <a:gd name="adj" fmla="val 5600"/>
            </a:avLst>
          </a:prstGeom>
          <a:solidFill>
            <a:srgbClr val="111923"/>
          </a:solidFill>
          <a:ln w="12700">
            <a:solidFill>
              <a:srgbClr val="2230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12"/>
          <p:cNvSpPr/>
          <p:nvPr/>
        </p:nvSpPr>
        <p:spPr>
          <a:xfrm>
            <a:off x="7818120" y="2139840"/>
            <a:ext cx="164160" cy="164160"/>
          </a:xfrm>
          <a:prstGeom prst="ellipse">
            <a:avLst/>
          </a:prstGeom>
          <a:solidFill>
            <a:srgbClr val="ffb456"/>
          </a:solidFill>
          <a:ln w="12700">
            <a:solidFill>
              <a:srgbClr val="ffb4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3"/>
          <p:cNvSpPr/>
          <p:nvPr/>
        </p:nvSpPr>
        <p:spPr>
          <a:xfrm>
            <a:off x="8083440" y="2112120"/>
            <a:ext cx="2514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f4f7fa"/>
                </a:solidFill>
                <a:effectLst/>
                <a:uFillTx/>
                <a:latin typeface="Inter"/>
                <a:ea typeface="Inter"/>
              </a:rPr>
              <a:t>Deployment Configuration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4"/>
          <p:cNvSpPr/>
          <p:nvPr/>
        </p:nvSpPr>
        <p:spPr>
          <a:xfrm>
            <a:off x="7818120" y="2477880"/>
            <a:ext cx="2788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10" b="0" u="none" strike="noStrike">
                <a:solidFill>
                  <a:srgbClr val="8e9aa6"/>
                </a:solidFill>
                <a:effectLst/>
                <a:uFillTx/>
                <a:latin typeface="Inter"/>
                <a:ea typeface="Inter"/>
              </a:rPr>
              <a:t>Deployment directory and environment configuration</a:t>
            </a:r>
            <a:endParaRPr lang="en-US" sz="8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15"/>
          <p:cNvSpPr/>
          <p:nvPr/>
        </p:nvSpPr>
        <p:spPr>
          <a:xfrm>
            <a:off x="502920" y="3410640"/>
            <a:ext cx="3154320" cy="1142640"/>
          </a:xfrm>
          <a:prstGeom prst="roundRect">
            <a:avLst>
              <a:gd name="adj" fmla="val 5600"/>
            </a:avLst>
          </a:prstGeom>
          <a:solidFill>
            <a:srgbClr val="111923"/>
          </a:solidFill>
          <a:ln w="12700">
            <a:solidFill>
              <a:srgbClr val="2230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16"/>
          <p:cNvSpPr/>
          <p:nvPr/>
        </p:nvSpPr>
        <p:spPr>
          <a:xfrm>
            <a:off x="667440" y="3575160"/>
            <a:ext cx="164160" cy="164160"/>
          </a:xfrm>
          <a:prstGeom prst="ellipse">
            <a:avLst/>
          </a:prstGeom>
          <a:solidFill>
            <a:srgbClr val="59c9f7"/>
          </a:solidFill>
          <a:ln w="12700">
            <a:solidFill>
              <a:srgbClr val="59c9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7"/>
          <p:cNvSpPr/>
          <p:nvPr/>
        </p:nvSpPr>
        <p:spPr>
          <a:xfrm>
            <a:off x="932760" y="3547800"/>
            <a:ext cx="2514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f4f7fa"/>
                </a:solidFill>
                <a:effectLst/>
                <a:uFillTx/>
                <a:latin typeface="Inter"/>
                <a:ea typeface="Inter"/>
              </a:rPr>
              <a:t>Build &amp; Containerization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8"/>
          <p:cNvSpPr/>
          <p:nvPr/>
        </p:nvSpPr>
        <p:spPr>
          <a:xfrm>
            <a:off x="667440" y="3913560"/>
            <a:ext cx="2788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10" b="0" u="none" strike="noStrike">
                <a:solidFill>
                  <a:srgbClr val="8e9aa6"/>
                </a:solidFill>
                <a:effectLst/>
                <a:uFillTx/>
                <a:latin typeface="Inter"/>
                <a:ea typeface="Inter"/>
              </a:rPr>
              <a:t>Application build and container image creation</a:t>
            </a:r>
            <a:endParaRPr lang="en-US" sz="8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19"/>
          <p:cNvSpPr/>
          <p:nvPr/>
        </p:nvSpPr>
        <p:spPr>
          <a:xfrm>
            <a:off x="4078080" y="3410640"/>
            <a:ext cx="3154320" cy="1142640"/>
          </a:xfrm>
          <a:prstGeom prst="roundRect">
            <a:avLst>
              <a:gd name="adj" fmla="val 5600"/>
            </a:avLst>
          </a:prstGeom>
          <a:solidFill>
            <a:srgbClr val="111923"/>
          </a:solidFill>
          <a:ln w="12700">
            <a:solidFill>
              <a:srgbClr val="2230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20"/>
          <p:cNvSpPr/>
          <p:nvPr/>
        </p:nvSpPr>
        <p:spPr>
          <a:xfrm>
            <a:off x="4242960" y="3575160"/>
            <a:ext cx="164160" cy="164160"/>
          </a:xfrm>
          <a:prstGeom prst="ellipse">
            <a:avLst/>
          </a:prstGeom>
          <a:solidFill>
            <a:srgbClr val="5ce89a"/>
          </a:solidFill>
          <a:ln w="12700">
            <a:solidFill>
              <a:srgbClr val="5ce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21"/>
          <p:cNvSpPr/>
          <p:nvPr/>
        </p:nvSpPr>
        <p:spPr>
          <a:xfrm>
            <a:off x="4507920" y="3547800"/>
            <a:ext cx="2514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f4f7fa"/>
                </a:solidFill>
                <a:effectLst/>
                <a:uFillTx/>
                <a:latin typeface="Inter"/>
                <a:ea typeface="Inter"/>
              </a:rPr>
              <a:t>Security &amp; Cost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22"/>
          <p:cNvSpPr/>
          <p:nvPr/>
        </p:nvSpPr>
        <p:spPr>
          <a:xfrm>
            <a:off x="4242960" y="3913560"/>
            <a:ext cx="2788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10" b="0" u="none" strike="noStrike">
                <a:solidFill>
                  <a:srgbClr val="8e9aa6"/>
                </a:solidFill>
                <a:effectLst/>
                <a:uFillTx/>
                <a:latin typeface="Inter"/>
                <a:ea typeface="Inter"/>
              </a:rPr>
              <a:t>Critical vulnerability protection and automatic cost visibility</a:t>
            </a:r>
            <a:endParaRPr lang="en-US" sz="8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23"/>
          <p:cNvSpPr/>
          <p:nvPr/>
        </p:nvSpPr>
        <p:spPr>
          <a:xfrm>
            <a:off x="7653600" y="3410640"/>
            <a:ext cx="3154320" cy="1142640"/>
          </a:xfrm>
          <a:prstGeom prst="roundRect">
            <a:avLst>
              <a:gd name="adj" fmla="val 5600"/>
            </a:avLst>
          </a:prstGeom>
          <a:solidFill>
            <a:srgbClr val="111923"/>
          </a:solidFill>
          <a:ln w="12700">
            <a:solidFill>
              <a:srgbClr val="2230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24"/>
          <p:cNvSpPr/>
          <p:nvPr/>
        </p:nvSpPr>
        <p:spPr>
          <a:xfrm>
            <a:off x="7818120" y="3575160"/>
            <a:ext cx="164160" cy="164160"/>
          </a:xfrm>
          <a:prstGeom prst="ellipse">
            <a:avLst/>
          </a:prstGeom>
          <a:solidFill>
            <a:srgbClr val="59c9f7"/>
          </a:solidFill>
          <a:ln w="12700">
            <a:solidFill>
              <a:srgbClr val="59c9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25"/>
          <p:cNvSpPr/>
          <p:nvPr/>
        </p:nvSpPr>
        <p:spPr>
          <a:xfrm>
            <a:off x="8083440" y="3547800"/>
            <a:ext cx="2514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f4f7fa"/>
                </a:solidFill>
                <a:effectLst/>
                <a:uFillTx/>
                <a:latin typeface="Inter"/>
                <a:ea typeface="Inter"/>
              </a:rPr>
              <a:t>AWS Infrastructure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26"/>
          <p:cNvSpPr/>
          <p:nvPr/>
        </p:nvSpPr>
        <p:spPr>
          <a:xfrm>
            <a:off x="7818120" y="3913560"/>
            <a:ext cx="2788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10" b="0" u="none" strike="noStrike">
                <a:solidFill>
                  <a:srgbClr val="8e9aa6"/>
                </a:solidFill>
                <a:effectLst/>
                <a:uFillTx/>
                <a:latin typeface="Inter"/>
                <a:ea typeface="Inter"/>
              </a:rPr>
              <a:t>Terraform provisioning and application runtime</a:t>
            </a:r>
            <a:endParaRPr lang="en-US" sz="8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27"/>
          <p:cNvSpPr/>
          <p:nvPr/>
        </p:nvSpPr>
        <p:spPr>
          <a:xfrm>
            <a:off x="502920" y="4846320"/>
            <a:ext cx="3154320" cy="1142640"/>
          </a:xfrm>
          <a:prstGeom prst="roundRect">
            <a:avLst>
              <a:gd name="adj" fmla="val 5600"/>
            </a:avLst>
          </a:prstGeom>
          <a:solidFill>
            <a:srgbClr val="111923"/>
          </a:solidFill>
          <a:ln w="12700">
            <a:solidFill>
              <a:srgbClr val="2230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28"/>
          <p:cNvSpPr/>
          <p:nvPr/>
        </p:nvSpPr>
        <p:spPr>
          <a:xfrm>
            <a:off x="667440" y="5010840"/>
            <a:ext cx="164160" cy="164160"/>
          </a:xfrm>
          <a:prstGeom prst="ellipse">
            <a:avLst/>
          </a:prstGeom>
          <a:solidFill>
            <a:srgbClr val="ffb456"/>
          </a:solidFill>
          <a:ln w="12700">
            <a:solidFill>
              <a:srgbClr val="ffb4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29"/>
          <p:cNvSpPr/>
          <p:nvPr/>
        </p:nvSpPr>
        <p:spPr>
          <a:xfrm>
            <a:off x="932760" y="4983480"/>
            <a:ext cx="2514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f4f7fa"/>
                </a:solidFill>
                <a:effectLst/>
                <a:uFillTx/>
                <a:latin typeface="Inter"/>
                <a:ea typeface="Inter"/>
              </a:rPr>
              <a:t>Monitoring &amp; Alerts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30"/>
          <p:cNvSpPr/>
          <p:nvPr/>
        </p:nvSpPr>
        <p:spPr>
          <a:xfrm>
            <a:off x="667440" y="5349240"/>
            <a:ext cx="2788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10" b="0" u="none" strike="noStrike">
                <a:solidFill>
                  <a:srgbClr val="8e9aa6"/>
                </a:solidFill>
                <a:effectLst/>
                <a:uFillTx/>
                <a:latin typeface="Inter"/>
                <a:ea typeface="Inter"/>
              </a:rPr>
              <a:t>Deployment status, runtime health, metrics and notifications</a:t>
            </a:r>
            <a:endParaRPr lang="en-US" sz="8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31"/>
          <p:cNvSpPr/>
          <p:nvPr/>
        </p:nvSpPr>
        <p:spPr>
          <a:xfrm>
            <a:off x="4078080" y="4846320"/>
            <a:ext cx="3154320" cy="1142640"/>
          </a:xfrm>
          <a:prstGeom prst="roundRect">
            <a:avLst>
              <a:gd name="adj" fmla="val 5600"/>
            </a:avLst>
          </a:prstGeom>
          <a:solidFill>
            <a:srgbClr val="111923"/>
          </a:solidFill>
          <a:ln w="12700">
            <a:solidFill>
              <a:srgbClr val="2230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32"/>
          <p:cNvSpPr/>
          <p:nvPr/>
        </p:nvSpPr>
        <p:spPr>
          <a:xfrm>
            <a:off x="4242960" y="5010840"/>
            <a:ext cx="164160" cy="164160"/>
          </a:xfrm>
          <a:prstGeom prst="ellipse">
            <a:avLst/>
          </a:prstGeom>
          <a:solidFill>
            <a:srgbClr val="5ce89a"/>
          </a:solidFill>
          <a:ln w="12700">
            <a:solidFill>
              <a:srgbClr val="5ce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33"/>
          <p:cNvSpPr/>
          <p:nvPr/>
        </p:nvSpPr>
        <p:spPr>
          <a:xfrm>
            <a:off x="4507920" y="4983480"/>
            <a:ext cx="2514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f4f7fa"/>
                </a:solidFill>
                <a:effectLst/>
                <a:uFillTx/>
                <a:latin typeface="Inter"/>
                <a:ea typeface="Inter"/>
              </a:rPr>
              <a:t>Lifecycle Management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34"/>
          <p:cNvSpPr/>
          <p:nvPr/>
        </p:nvSpPr>
        <p:spPr>
          <a:xfrm>
            <a:off x="4242960" y="5349240"/>
            <a:ext cx="2788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10" b="0" u="none" strike="noStrike">
                <a:solidFill>
                  <a:srgbClr val="8e9aa6"/>
                </a:solidFill>
                <a:effectLst/>
                <a:uFillTx/>
                <a:latin typeface="Inter"/>
                <a:ea typeface="Inter"/>
              </a:rPr>
              <a:t>Redeploy, rollback, destroy and infrastructure export</a:t>
            </a:r>
            <a:endParaRPr lang="en-US" sz="8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35"/>
          <p:cNvSpPr/>
          <p:nvPr/>
        </p:nvSpPr>
        <p:spPr>
          <a:xfrm>
            <a:off x="7653600" y="4846320"/>
            <a:ext cx="3154320" cy="1142640"/>
          </a:xfrm>
          <a:prstGeom prst="roundRect">
            <a:avLst>
              <a:gd name="adj" fmla="val 5600"/>
            </a:avLst>
          </a:prstGeom>
          <a:solidFill>
            <a:srgbClr val="111923"/>
          </a:solidFill>
          <a:ln w="12700">
            <a:solidFill>
              <a:srgbClr val="2230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36"/>
          <p:cNvSpPr/>
          <p:nvPr/>
        </p:nvSpPr>
        <p:spPr>
          <a:xfrm>
            <a:off x="7818120" y="5010840"/>
            <a:ext cx="164160" cy="164160"/>
          </a:xfrm>
          <a:prstGeom prst="ellipse">
            <a:avLst/>
          </a:prstGeom>
          <a:solidFill>
            <a:srgbClr val="59c9f7"/>
          </a:solidFill>
          <a:ln w="12700">
            <a:solidFill>
              <a:srgbClr val="59c9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37"/>
          <p:cNvSpPr/>
          <p:nvPr/>
        </p:nvSpPr>
        <p:spPr>
          <a:xfrm>
            <a:off x="8083440" y="4983480"/>
            <a:ext cx="2514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f4f7fa"/>
                </a:solidFill>
                <a:effectLst/>
                <a:uFillTx/>
                <a:latin typeface="Inter"/>
                <a:ea typeface="Inter"/>
              </a:rPr>
              <a:t>AI Troubleshooting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38"/>
          <p:cNvSpPr/>
          <p:nvPr/>
        </p:nvSpPr>
        <p:spPr>
          <a:xfrm>
            <a:off x="7818120" y="5349240"/>
            <a:ext cx="2788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10" b="0" u="none" strike="noStrike">
                <a:solidFill>
                  <a:srgbClr val="8e9aa6"/>
                </a:solidFill>
                <a:effectLst/>
                <a:uFillTx/>
                <a:latin typeface="Inter"/>
                <a:ea typeface="Inter"/>
              </a:rPr>
              <a:t>Log-based assistance for deployment errors</a:t>
            </a:r>
            <a:endParaRPr lang="en-US" sz="8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 0"/>
          <p:cNvSpPr/>
          <p:nvPr/>
        </p:nvSpPr>
        <p:spPr>
          <a:xfrm>
            <a:off x="411480" y="466560"/>
            <a:ext cx="45907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pc="150" strike="noStrike">
                <a:solidFill>
                  <a:srgbClr val="5ce89a"/>
                </a:solidFill>
                <a:effectLst/>
                <a:uFillTx/>
                <a:latin typeface="Inter"/>
                <a:ea typeface="Inter"/>
              </a:rPr>
              <a:t>CURRENT DEVELOPMENT PROGRESS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"/>
          <p:cNvSpPr/>
          <p:nvPr/>
        </p:nvSpPr>
        <p:spPr>
          <a:xfrm>
            <a:off x="411480" y="896040"/>
            <a:ext cx="10926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700" b="1" u="none" strike="noStrike">
                <a:solidFill>
                  <a:srgbClr val="f4f7fa"/>
                </a:solidFill>
                <a:effectLst/>
                <a:uFillTx/>
                <a:latin typeface="Inter"/>
                <a:ea typeface="Inter"/>
              </a:rPr>
              <a:t>The core product scope is complete and connected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2"/>
          <p:cNvSpPr/>
          <p:nvPr/>
        </p:nvSpPr>
        <p:spPr>
          <a:xfrm>
            <a:off x="411480" y="1527120"/>
            <a:ext cx="10698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8e9aa6"/>
                </a:solidFill>
                <a:effectLst/>
                <a:uFillTx/>
                <a:latin typeface="Inter"/>
                <a:ea typeface="Inter"/>
              </a:rPr>
              <a:t>The main user journey can be presented as one continuous product experience.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3"/>
          <p:cNvSpPr/>
          <p:nvPr/>
        </p:nvSpPr>
        <p:spPr>
          <a:xfrm>
            <a:off x="511920" y="2359080"/>
            <a:ext cx="1371240" cy="758520"/>
          </a:xfrm>
          <a:prstGeom prst="roundRect">
            <a:avLst>
              <a:gd name="adj" fmla="val 9639"/>
            </a:avLst>
          </a:prstGeom>
          <a:solidFill>
            <a:srgbClr val="0e151d"/>
          </a:solidFill>
          <a:ln w="12700">
            <a:solidFill>
              <a:srgbClr val="2230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4"/>
          <p:cNvSpPr/>
          <p:nvPr/>
        </p:nvSpPr>
        <p:spPr>
          <a:xfrm>
            <a:off x="631080" y="2477880"/>
            <a:ext cx="200880" cy="200880"/>
          </a:xfrm>
          <a:prstGeom prst="ellipse">
            <a:avLst/>
          </a:prstGeom>
          <a:solidFill>
            <a:srgbClr val="5ce89a"/>
          </a:solidFill>
          <a:ln w="12700">
            <a:solidFill>
              <a:srgbClr val="5ce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5"/>
          <p:cNvSpPr/>
          <p:nvPr/>
        </p:nvSpPr>
        <p:spPr>
          <a:xfrm>
            <a:off x="631080" y="2752200"/>
            <a:ext cx="11336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f4f7fa"/>
                </a:solidFill>
                <a:effectLst/>
                <a:uFillTx/>
                <a:latin typeface="Inter"/>
                <a:ea typeface="Inter"/>
              </a:rPr>
              <a:t>Access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6"/>
          <p:cNvSpPr/>
          <p:nvPr/>
        </p:nvSpPr>
        <p:spPr>
          <a:xfrm>
            <a:off x="631080" y="2917080"/>
            <a:ext cx="113364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680" b="0" u="none" strike="noStrike">
                <a:solidFill>
                  <a:srgbClr val="8e9aa6"/>
                </a:solidFill>
                <a:effectLst/>
                <a:uFillTx/>
                <a:latin typeface="Inter"/>
                <a:ea typeface="Inter"/>
              </a:rPr>
              <a:t>Sign in</a:t>
            </a:r>
            <a:endParaRPr lang="en-US" sz="6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7"/>
          <p:cNvSpPr/>
          <p:nvPr/>
        </p:nvSpPr>
        <p:spPr>
          <a:xfrm>
            <a:off x="1947600" y="2624400"/>
            <a:ext cx="255600" cy="219240"/>
          </a:xfrm>
          <a:prstGeom prst="chevron">
            <a:avLst>
              <a:gd name="adj" fmla="val 50000"/>
            </a:avLst>
          </a:prstGeom>
          <a:solidFill>
            <a:srgbClr val="34414e"/>
          </a:solidFill>
          <a:ln w="12700">
            <a:solidFill>
              <a:srgbClr val="344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8"/>
          <p:cNvSpPr/>
          <p:nvPr/>
        </p:nvSpPr>
        <p:spPr>
          <a:xfrm>
            <a:off x="2130480" y="2359080"/>
            <a:ext cx="1371240" cy="758520"/>
          </a:xfrm>
          <a:prstGeom prst="roundRect">
            <a:avLst>
              <a:gd name="adj" fmla="val 9639"/>
            </a:avLst>
          </a:prstGeom>
          <a:solidFill>
            <a:srgbClr val="0e151d"/>
          </a:solidFill>
          <a:ln w="12700">
            <a:solidFill>
              <a:srgbClr val="2230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9"/>
          <p:cNvSpPr/>
          <p:nvPr/>
        </p:nvSpPr>
        <p:spPr>
          <a:xfrm>
            <a:off x="2249280" y="2477880"/>
            <a:ext cx="200880" cy="200880"/>
          </a:xfrm>
          <a:prstGeom prst="ellipse">
            <a:avLst/>
          </a:prstGeom>
          <a:solidFill>
            <a:srgbClr val="59c9f7"/>
          </a:solidFill>
          <a:ln w="12700">
            <a:solidFill>
              <a:srgbClr val="59c9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0"/>
          <p:cNvSpPr/>
          <p:nvPr/>
        </p:nvSpPr>
        <p:spPr>
          <a:xfrm>
            <a:off x="2249280" y="2752200"/>
            <a:ext cx="11336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f4f7fa"/>
                </a:solidFill>
                <a:effectLst/>
                <a:uFillTx/>
                <a:latin typeface="Inter"/>
                <a:ea typeface="Inter"/>
              </a:rPr>
              <a:t>Configure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1"/>
          <p:cNvSpPr/>
          <p:nvPr/>
        </p:nvSpPr>
        <p:spPr>
          <a:xfrm>
            <a:off x="2249280" y="2917080"/>
            <a:ext cx="113364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680" b="0" u="none" strike="noStrike">
                <a:solidFill>
                  <a:srgbClr val="8e9aa6"/>
                </a:solidFill>
                <a:effectLst/>
                <a:uFillTx/>
                <a:latin typeface="Inter"/>
                <a:ea typeface="Inter"/>
              </a:rPr>
              <a:t>Directory + env</a:t>
            </a:r>
            <a:endParaRPr lang="en-US" sz="6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12"/>
          <p:cNvSpPr/>
          <p:nvPr/>
        </p:nvSpPr>
        <p:spPr>
          <a:xfrm>
            <a:off x="3566160" y="2624400"/>
            <a:ext cx="255600" cy="219240"/>
          </a:xfrm>
          <a:prstGeom prst="chevron">
            <a:avLst>
              <a:gd name="adj" fmla="val 50000"/>
            </a:avLst>
          </a:prstGeom>
          <a:solidFill>
            <a:srgbClr val="34414e"/>
          </a:solidFill>
          <a:ln w="12700">
            <a:solidFill>
              <a:srgbClr val="344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13"/>
          <p:cNvSpPr/>
          <p:nvPr/>
        </p:nvSpPr>
        <p:spPr>
          <a:xfrm>
            <a:off x="3749040" y="2359080"/>
            <a:ext cx="1371240" cy="758520"/>
          </a:xfrm>
          <a:prstGeom prst="roundRect">
            <a:avLst>
              <a:gd name="adj" fmla="val 9639"/>
            </a:avLst>
          </a:prstGeom>
          <a:solidFill>
            <a:srgbClr val="0e151d"/>
          </a:solidFill>
          <a:ln w="12700">
            <a:solidFill>
              <a:srgbClr val="2230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14"/>
          <p:cNvSpPr/>
          <p:nvPr/>
        </p:nvSpPr>
        <p:spPr>
          <a:xfrm>
            <a:off x="3867840" y="2477880"/>
            <a:ext cx="200880" cy="200880"/>
          </a:xfrm>
          <a:prstGeom prst="ellipse">
            <a:avLst/>
          </a:prstGeom>
          <a:solidFill>
            <a:srgbClr val="5ce89a"/>
          </a:solidFill>
          <a:ln w="12700">
            <a:solidFill>
              <a:srgbClr val="5ce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5"/>
          <p:cNvSpPr/>
          <p:nvPr/>
        </p:nvSpPr>
        <p:spPr>
          <a:xfrm>
            <a:off x="3867840" y="2752200"/>
            <a:ext cx="11336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f4f7fa"/>
                </a:solidFill>
                <a:effectLst/>
                <a:uFillTx/>
                <a:latin typeface="Inter"/>
                <a:ea typeface="Inter"/>
              </a:rPr>
              <a:t>Build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6"/>
          <p:cNvSpPr/>
          <p:nvPr/>
        </p:nvSpPr>
        <p:spPr>
          <a:xfrm>
            <a:off x="3867840" y="2917080"/>
            <a:ext cx="113364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680" b="0" u="none" strike="noStrike">
                <a:solidFill>
                  <a:srgbClr val="8e9aa6"/>
                </a:solidFill>
                <a:effectLst/>
                <a:uFillTx/>
                <a:latin typeface="Inter"/>
                <a:ea typeface="Inter"/>
              </a:rPr>
              <a:t>Container</a:t>
            </a:r>
            <a:endParaRPr lang="en-US" sz="6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17"/>
          <p:cNvSpPr/>
          <p:nvPr/>
        </p:nvSpPr>
        <p:spPr>
          <a:xfrm>
            <a:off x="5184720" y="2624400"/>
            <a:ext cx="255600" cy="219240"/>
          </a:xfrm>
          <a:prstGeom prst="chevron">
            <a:avLst>
              <a:gd name="adj" fmla="val 50000"/>
            </a:avLst>
          </a:prstGeom>
          <a:solidFill>
            <a:srgbClr val="34414e"/>
          </a:solidFill>
          <a:ln w="12700">
            <a:solidFill>
              <a:srgbClr val="344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8"/>
          <p:cNvSpPr/>
          <p:nvPr/>
        </p:nvSpPr>
        <p:spPr>
          <a:xfrm>
            <a:off x="5367600" y="2359080"/>
            <a:ext cx="1371240" cy="758520"/>
          </a:xfrm>
          <a:prstGeom prst="roundRect">
            <a:avLst>
              <a:gd name="adj" fmla="val 9639"/>
            </a:avLst>
          </a:prstGeom>
          <a:solidFill>
            <a:srgbClr val="0e151d"/>
          </a:solidFill>
          <a:ln w="12700">
            <a:solidFill>
              <a:srgbClr val="2230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19"/>
          <p:cNvSpPr/>
          <p:nvPr/>
        </p:nvSpPr>
        <p:spPr>
          <a:xfrm>
            <a:off x="5486400" y="2477880"/>
            <a:ext cx="200880" cy="200880"/>
          </a:xfrm>
          <a:prstGeom prst="ellipse">
            <a:avLst/>
          </a:prstGeom>
          <a:solidFill>
            <a:srgbClr val="59c9f7"/>
          </a:solidFill>
          <a:ln w="12700">
            <a:solidFill>
              <a:srgbClr val="59c9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20"/>
          <p:cNvSpPr/>
          <p:nvPr/>
        </p:nvSpPr>
        <p:spPr>
          <a:xfrm>
            <a:off x="5486400" y="2752200"/>
            <a:ext cx="11336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f4f7fa"/>
                </a:solidFill>
                <a:effectLst/>
                <a:uFillTx/>
                <a:latin typeface="Inter"/>
                <a:ea typeface="Inter"/>
              </a:rPr>
              <a:t>Protect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21"/>
          <p:cNvSpPr/>
          <p:nvPr/>
        </p:nvSpPr>
        <p:spPr>
          <a:xfrm>
            <a:off x="5486400" y="2917080"/>
            <a:ext cx="113364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680" b="0" u="none" strike="noStrike">
                <a:solidFill>
                  <a:srgbClr val="8e9aa6"/>
                </a:solidFill>
                <a:effectLst/>
                <a:uFillTx/>
                <a:latin typeface="Inter"/>
                <a:ea typeface="Inter"/>
              </a:rPr>
              <a:t>Critical scan</a:t>
            </a:r>
            <a:endParaRPr lang="en-US" sz="6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22"/>
          <p:cNvSpPr/>
          <p:nvPr/>
        </p:nvSpPr>
        <p:spPr>
          <a:xfrm>
            <a:off x="6803280" y="2624400"/>
            <a:ext cx="255600" cy="219240"/>
          </a:xfrm>
          <a:prstGeom prst="chevron">
            <a:avLst>
              <a:gd name="adj" fmla="val 50000"/>
            </a:avLst>
          </a:prstGeom>
          <a:solidFill>
            <a:srgbClr val="34414e"/>
          </a:solidFill>
          <a:ln w="12700">
            <a:solidFill>
              <a:srgbClr val="344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23"/>
          <p:cNvSpPr/>
          <p:nvPr/>
        </p:nvSpPr>
        <p:spPr>
          <a:xfrm>
            <a:off x="6986160" y="2359080"/>
            <a:ext cx="1371240" cy="758520"/>
          </a:xfrm>
          <a:prstGeom prst="roundRect">
            <a:avLst>
              <a:gd name="adj" fmla="val 9639"/>
            </a:avLst>
          </a:prstGeom>
          <a:solidFill>
            <a:srgbClr val="0e151d"/>
          </a:solidFill>
          <a:ln w="12700">
            <a:solidFill>
              <a:srgbClr val="2230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24"/>
          <p:cNvSpPr/>
          <p:nvPr/>
        </p:nvSpPr>
        <p:spPr>
          <a:xfrm>
            <a:off x="7104960" y="2477880"/>
            <a:ext cx="200880" cy="200880"/>
          </a:xfrm>
          <a:prstGeom prst="ellipse">
            <a:avLst/>
          </a:prstGeom>
          <a:solidFill>
            <a:srgbClr val="ffb456"/>
          </a:solidFill>
          <a:ln w="12700">
            <a:solidFill>
              <a:srgbClr val="ffb4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25"/>
          <p:cNvSpPr/>
          <p:nvPr/>
        </p:nvSpPr>
        <p:spPr>
          <a:xfrm>
            <a:off x="7104960" y="2752200"/>
            <a:ext cx="11336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f4f7fa"/>
                </a:solidFill>
                <a:effectLst/>
                <a:uFillTx/>
                <a:latin typeface="Inter"/>
                <a:ea typeface="Inter"/>
              </a:rPr>
              <a:t>Estimate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6"/>
          <p:cNvSpPr/>
          <p:nvPr/>
        </p:nvSpPr>
        <p:spPr>
          <a:xfrm>
            <a:off x="7104960" y="2917080"/>
            <a:ext cx="113364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680" b="0" u="none" strike="noStrike">
                <a:solidFill>
                  <a:srgbClr val="8e9aa6"/>
                </a:solidFill>
                <a:effectLst/>
                <a:uFillTx/>
                <a:latin typeface="Inter"/>
                <a:ea typeface="Inter"/>
              </a:rPr>
              <a:t>Cost shown</a:t>
            </a:r>
            <a:endParaRPr lang="en-US" sz="6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27"/>
          <p:cNvSpPr/>
          <p:nvPr/>
        </p:nvSpPr>
        <p:spPr>
          <a:xfrm>
            <a:off x="8421480" y="2624400"/>
            <a:ext cx="255600" cy="219240"/>
          </a:xfrm>
          <a:prstGeom prst="chevron">
            <a:avLst>
              <a:gd name="adj" fmla="val 50000"/>
            </a:avLst>
          </a:prstGeom>
          <a:solidFill>
            <a:srgbClr val="34414e"/>
          </a:solidFill>
          <a:ln w="12700">
            <a:solidFill>
              <a:srgbClr val="344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28"/>
          <p:cNvSpPr/>
          <p:nvPr/>
        </p:nvSpPr>
        <p:spPr>
          <a:xfrm>
            <a:off x="8604360" y="2359080"/>
            <a:ext cx="1371240" cy="758520"/>
          </a:xfrm>
          <a:prstGeom prst="roundRect">
            <a:avLst>
              <a:gd name="adj" fmla="val 9639"/>
            </a:avLst>
          </a:prstGeom>
          <a:solidFill>
            <a:srgbClr val="0e151d"/>
          </a:solidFill>
          <a:ln w="12700">
            <a:solidFill>
              <a:srgbClr val="2230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29"/>
          <p:cNvSpPr/>
          <p:nvPr/>
        </p:nvSpPr>
        <p:spPr>
          <a:xfrm>
            <a:off x="8723520" y="2477880"/>
            <a:ext cx="200880" cy="200880"/>
          </a:xfrm>
          <a:prstGeom prst="ellipse">
            <a:avLst/>
          </a:prstGeom>
          <a:solidFill>
            <a:srgbClr val="59c9f7"/>
          </a:solidFill>
          <a:ln w="12700">
            <a:solidFill>
              <a:srgbClr val="59c9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30"/>
          <p:cNvSpPr/>
          <p:nvPr/>
        </p:nvSpPr>
        <p:spPr>
          <a:xfrm>
            <a:off x="8723520" y="2752200"/>
            <a:ext cx="11336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f4f7fa"/>
                </a:solidFill>
                <a:effectLst/>
                <a:uFillTx/>
                <a:latin typeface="Inter"/>
                <a:ea typeface="Inter"/>
              </a:rPr>
              <a:t>Deploy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31"/>
          <p:cNvSpPr/>
          <p:nvPr/>
        </p:nvSpPr>
        <p:spPr>
          <a:xfrm>
            <a:off x="8723520" y="2917080"/>
            <a:ext cx="113364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680" b="0" u="none" strike="noStrike">
                <a:solidFill>
                  <a:srgbClr val="8e9aa6"/>
                </a:solidFill>
                <a:effectLst/>
                <a:uFillTx/>
                <a:latin typeface="Inter"/>
                <a:ea typeface="Inter"/>
              </a:rPr>
              <a:t>AWS</a:t>
            </a:r>
            <a:endParaRPr lang="en-US" sz="6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32"/>
          <p:cNvSpPr/>
          <p:nvPr/>
        </p:nvSpPr>
        <p:spPr>
          <a:xfrm>
            <a:off x="10040040" y="2624400"/>
            <a:ext cx="255600" cy="219240"/>
          </a:xfrm>
          <a:prstGeom prst="chevron">
            <a:avLst>
              <a:gd name="adj" fmla="val 50000"/>
            </a:avLst>
          </a:prstGeom>
          <a:solidFill>
            <a:srgbClr val="34414e"/>
          </a:solidFill>
          <a:ln w="12700">
            <a:solidFill>
              <a:srgbClr val="3441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33"/>
          <p:cNvSpPr/>
          <p:nvPr/>
        </p:nvSpPr>
        <p:spPr>
          <a:xfrm>
            <a:off x="10222920" y="2359080"/>
            <a:ext cx="1371240" cy="758520"/>
          </a:xfrm>
          <a:prstGeom prst="roundRect">
            <a:avLst>
              <a:gd name="adj" fmla="val 9639"/>
            </a:avLst>
          </a:prstGeom>
          <a:solidFill>
            <a:srgbClr val="0e151d"/>
          </a:solidFill>
          <a:ln w="12700">
            <a:solidFill>
              <a:srgbClr val="2230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34"/>
          <p:cNvSpPr/>
          <p:nvPr/>
        </p:nvSpPr>
        <p:spPr>
          <a:xfrm>
            <a:off x="10341720" y="2477880"/>
            <a:ext cx="200880" cy="200880"/>
          </a:xfrm>
          <a:prstGeom prst="ellipse">
            <a:avLst/>
          </a:prstGeom>
          <a:solidFill>
            <a:srgbClr val="5ce89a"/>
          </a:solidFill>
          <a:ln w="12700">
            <a:solidFill>
              <a:srgbClr val="5ce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35"/>
          <p:cNvSpPr/>
          <p:nvPr/>
        </p:nvSpPr>
        <p:spPr>
          <a:xfrm>
            <a:off x="10341720" y="2752200"/>
            <a:ext cx="11336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f4f7fa"/>
                </a:solidFill>
                <a:effectLst/>
                <a:uFillTx/>
                <a:latin typeface="Inter"/>
                <a:ea typeface="Inter"/>
              </a:rPr>
              <a:t>Operate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36"/>
          <p:cNvSpPr/>
          <p:nvPr/>
        </p:nvSpPr>
        <p:spPr>
          <a:xfrm>
            <a:off x="10341720" y="2917080"/>
            <a:ext cx="113364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680" b="0" u="none" strike="noStrike">
                <a:solidFill>
                  <a:srgbClr val="8e9aa6"/>
                </a:solidFill>
                <a:effectLst/>
                <a:uFillTx/>
                <a:latin typeface="Inter"/>
                <a:ea typeface="Inter"/>
              </a:rPr>
              <a:t>Monitor + manage</a:t>
            </a:r>
            <a:endParaRPr lang="en-US" sz="6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37"/>
          <p:cNvSpPr/>
          <p:nvPr/>
        </p:nvSpPr>
        <p:spPr>
          <a:xfrm>
            <a:off x="640080" y="3858840"/>
            <a:ext cx="10698120" cy="1170000"/>
          </a:xfrm>
          <a:prstGeom prst="roundRect">
            <a:avLst>
              <a:gd name="adj" fmla="val 6250"/>
            </a:avLst>
          </a:prstGeom>
          <a:solidFill>
            <a:srgbClr val="0d1914"/>
          </a:solidFill>
          <a:ln w="15240">
            <a:solidFill>
              <a:srgbClr val="183a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38"/>
          <p:cNvSpPr/>
          <p:nvPr/>
        </p:nvSpPr>
        <p:spPr>
          <a:xfrm>
            <a:off x="987480" y="4160520"/>
            <a:ext cx="2422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5ce89a"/>
                </a:solidFill>
                <a:effectLst/>
                <a:uFillTx/>
                <a:latin typeface="Inter"/>
                <a:ea typeface="Inter"/>
              </a:rPr>
              <a:t>CORE SCOPE COMPLETE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39"/>
          <p:cNvSpPr/>
          <p:nvPr/>
        </p:nvSpPr>
        <p:spPr>
          <a:xfrm>
            <a:off x="3520440" y="4078080"/>
            <a:ext cx="7223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d9e1e8"/>
                </a:solidFill>
                <a:effectLst/>
                <a:uFillTx/>
                <a:latin typeface="Inter"/>
                <a:ea typeface="Inter"/>
              </a:rPr>
              <a:t>The product flow is connected from access and deployment configuration through AWS delivery and post-deployment operations.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40"/>
          <p:cNvSpPr/>
          <p:nvPr/>
        </p:nvSpPr>
        <p:spPr>
          <a:xfrm>
            <a:off x="658440" y="5376600"/>
            <a:ext cx="10606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ext 0"/>
          <p:cNvSpPr/>
          <p:nvPr/>
        </p:nvSpPr>
        <p:spPr>
          <a:xfrm>
            <a:off x="411480" y="466560"/>
            <a:ext cx="3789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pc="150" strike="noStrike">
                <a:solidFill>
                  <a:srgbClr val="5ce89a"/>
                </a:solidFill>
                <a:effectLst/>
                <a:uFillTx/>
                <a:latin typeface="Inter"/>
                <a:ea typeface="Inter"/>
              </a:rPr>
              <a:t>WORK COMPLETED SO FAR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"/>
          <p:cNvSpPr/>
          <p:nvPr/>
        </p:nvSpPr>
        <p:spPr>
          <a:xfrm>
            <a:off x="411480" y="896040"/>
            <a:ext cx="10926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700" b="1" u="none" strike="noStrike">
                <a:solidFill>
                  <a:srgbClr val="f4f7fa"/>
                </a:solidFill>
                <a:effectLst/>
                <a:uFillTx/>
                <a:latin typeface="Inter"/>
                <a:ea typeface="Inter"/>
              </a:rPr>
              <a:t>A developer can move from repository to running AWS workload from one interfac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2"/>
          <p:cNvSpPr/>
          <p:nvPr/>
        </p:nvSpPr>
        <p:spPr>
          <a:xfrm>
            <a:off x="411480" y="1527120"/>
            <a:ext cx="10698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8e9aa6"/>
                </a:solidFill>
                <a:effectLst/>
                <a:uFillTx/>
                <a:latin typeface="Inter"/>
                <a:ea typeface="Inter"/>
              </a:rPr>
              <a:t>The visible product journey is backed by automated delivery and operational controls.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3"/>
          <p:cNvSpPr/>
          <p:nvPr/>
        </p:nvSpPr>
        <p:spPr>
          <a:xfrm>
            <a:off x="567000" y="1993320"/>
            <a:ext cx="292572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pc="111" strike="noStrike">
                <a:solidFill>
                  <a:srgbClr val="59c9f7"/>
                </a:solidFill>
                <a:effectLst/>
                <a:uFillTx/>
                <a:latin typeface="Inter"/>
                <a:ea typeface="Inter"/>
              </a:rPr>
              <a:t>WHAT THE DEVELOPER DOES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4"/>
          <p:cNvSpPr/>
          <p:nvPr/>
        </p:nvSpPr>
        <p:spPr>
          <a:xfrm>
            <a:off x="6172200" y="1993320"/>
            <a:ext cx="320004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pc="111" strike="noStrike">
                <a:solidFill>
                  <a:srgbClr val="5ce89a"/>
                </a:solidFill>
                <a:effectLst/>
                <a:uFillTx/>
                <a:latin typeface="Inter"/>
                <a:ea typeface="Inter"/>
              </a:rPr>
              <a:t>WHAT DEPLOYGUARD HANDLES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5"/>
          <p:cNvSpPr/>
          <p:nvPr/>
        </p:nvSpPr>
        <p:spPr>
          <a:xfrm>
            <a:off x="585360" y="2423160"/>
            <a:ext cx="255600" cy="255600"/>
          </a:xfrm>
          <a:prstGeom prst="ellipse">
            <a:avLst/>
          </a:prstGeom>
          <a:solidFill>
            <a:srgbClr val="59c9f7"/>
          </a:solidFill>
          <a:ln w="12700">
            <a:solidFill>
              <a:srgbClr val="59c9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6"/>
          <p:cNvSpPr/>
          <p:nvPr/>
        </p:nvSpPr>
        <p:spPr>
          <a:xfrm>
            <a:off x="585360" y="2441520"/>
            <a:ext cx="2556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1" u="none" strike="noStrike">
                <a:solidFill>
                  <a:srgbClr val="071116"/>
                </a:solidFill>
                <a:effectLst/>
                <a:uFillTx/>
                <a:latin typeface="Inter"/>
                <a:ea typeface="Inter"/>
              </a:rPr>
              <a:t>1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7"/>
          <p:cNvSpPr/>
          <p:nvPr/>
        </p:nvSpPr>
        <p:spPr>
          <a:xfrm>
            <a:off x="969120" y="2414160"/>
            <a:ext cx="4343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20" b="0" u="none" strike="noStrike">
                <a:solidFill>
                  <a:srgbClr val="f4f7fa"/>
                </a:solidFill>
                <a:effectLst/>
                <a:uFillTx/>
                <a:latin typeface="Inter"/>
                <a:ea typeface="Inter"/>
              </a:rPr>
              <a:t>Sign in and connect repository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8"/>
          <p:cNvSpPr/>
          <p:nvPr/>
        </p:nvSpPr>
        <p:spPr>
          <a:xfrm>
            <a:off x="585360" y="3081600"/>
            <a:ext cx="255600" cy="255600"/>
          </a:xfrm>
          <a:prstGeom prst="ellipse">
            <a:avLst/>
          </a:prstGeom>
          <a:solidFill>
            <a:srgbClr val="59c9f7"/>
          </a:solidFill>
          <a:ln w="12700">
            <a:solidFill>
              <a:srgbClr val="59c9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9"/>
          <p:cNvSpPr/>
          <p:nvPr/>
        </p:nvSpPr>
        <p:spPr>
          <a:xfrm>
            <a:off x="585360" y="3099960"/>
            <a:ext cx="2556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1" u="none" strike="noStrike">
                <a:solidFill>
                  <a:srgbClr val="071116"/>
                </a:solidFill>
                <a:effectLst/>
                <a:uFillTx/>
                <a:latin typeface="Inter"/>
                <a:ea typeface="Inter"/>
              </a:rPr>
              <a:t>2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0"/>
          <p:cNvSpPr/>
          <p:nvPr/>
        </p:nvSpPr>
        <p:spPr>
          <a:xfrm>
            <a:off x="969120" y="3072240"/>
            <a:ext cx="4343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20" b="0" u="none" strike="noStrike">
                <a:solidFill>
                  <a:srgbClr val="f4f7fa"/>
                </a:solidFill>
                <a:effectLst/>
                <a:uFillTx/>
                <a:latin typeface="Inter"/>
                <a:ea typeface="Inter"/>
              </a:rPr>
              <a:t>Select branch and deployment directory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11"/>
          <p:cNvSpPr/>
          <p:nvPr/>
        </p:nvSpPr>
        <p:spPr>
          <a:xfrm>
            <a:off x="585360" y="3740040"/>
            <a:ext cx="255600" cy="255600"/>
          </a:xfrm>
          <a:prstGeom prst="ellipse">
            <a:avLst/>
          </a:prstGeom>
          <a:solidFill>
            <a:srgbClr val="59c9f7"/>
          </a:solidFill>
          <a:ln w="12700">
            <a:solidFill>
              <a:srgbClr val="59c9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2"/>
          <p:cNvSpPr/>
          <p:nvPr/>
        </p:nvSpPr>
        <p:spPr>
          <a:xfrm>
            <a:off x="585360" y="3758040"/>
            <a:ext cx="2556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1" u="none" strike="noStrike">
                <a:solidFill>
                  <a:srgbClr val="071116"/>
                </a:solidFill>
                <a:effectLst/>
                <a:uFillTx/>
                <a:latin typeface="Inter"/>
                <a:ea typeface="Inter"/>
              </a:rPr>
              <a:t>3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3"/>
          <p:cNvSpPr/>
          <p:nvPr/>
        </p:nvSpPr>
        <p:spPr>
          <a:xfrm>
            <a:off x="969120" y="3730680"/>
            <a:ext cx="4343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20" b="0" u="none" strike="noStrike">
                <a:solidFill>
                  <a:srgbClr val="f4f7fa"/>
                </a:solidFill>
                <a:effectLst/>
                <a:uFillTx/>
                <a:latin typeface="Inter"/>
                <a:ea typeface="Inter"/>
              </a:rPr>
              <a:t>Provide environment configuration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14"/>
          <p:cNvSpPr/>
          <p:nvPr/>
        </p:nvSpPr>
        <p:spPr>
          <a:xfrm>
            <a:off x="585360" y="4398120"/>
            <a:ext cx="255600" cy="255600"/>
          </a:xfrm>
          <a:prstGeom prst="ellipse">
            <a:avLst/>
          </a:prstGeom>
          <a:solidFill>
            <a:srgbClr val="59c9f7"/>
          </a:solidFill>
          <a:ln w="12700">
            <a:solidFill>
              <a:srgbClr val="59c9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5"/>
          <p:cNvSpPr/>
          <p:nvPr/>
        </p:nvSpPr>
        <p:spPr>
          <a:xfrm>
            <a:off x="585360" y="4416480"/>
            <a:ext cx="2556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1" u="none" strike="noStrike">
                <a:solidFill>
                  <a:srgbClr val="071116"/>
                </a:solidFill>
                <a:effectLst/>
                <a:uFillTx/>
                <a:latin typeface="Inter"/>
                <a:ea typeface="Inter"/>
              </a:rPr>
              <a:t>4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6"/>
          <p:cNvSpPr/>
          <p:nvPr/>
        </p:nvSpPr>
        <p:spPr>
          <a:xfrm>
            <a:off x="969120" y="4389120"/>
            <a:ext cx="4343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20" b="1" u="none" strike="noStrike">
                <a:solidFill>
                  <a:srgbClr val="f4f7fa"/>
                </a:solidFill>
                <a:effectLst/>
                <a:uFillTx/>
                <a:latin typeface="Inter"/>
                <a:ea typeface="Inter"/>
              </a:rPr>
              <a:t>Start deployment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17"/>
          <p:cNvSpPr/>
          <p:nvPr/>
        </p:nvSpPr>
        <p:spPr>
          <a:xfrm>
            <a:off x="585360" y="5056560"/>
            <a:ext cx="255600" cy="255600"/>
          </a:xfrm>
          <a:prstGeom prst="ellipse">
            <a:avLst/>
          </a:prstGeom>
          <a:solidFill>
            <a:srgbClr val="59c9f7"/>
          </a:solidFill>
          <a:ln w="12700">
            <a:solidFill>
              <a:srgbClr val="59c9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8"/>
          <p:cNvSpPr/>
          <p:nvPr/>
        </p:nvSpPr>
        <p:spPr>
          <a:xfrm>
            <a:off x="585360" y="5074920"/>
            <a:ext cx="2556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1" u="none" strike="noStrike">
                <a:solidFill>
                  <a:srgbClr val="071116"/>
                </a:solidFill>
                <a:effectLst/>
                <a:uFillTx/>
                <a:latin typeface="Inter"/>
                <a:ea typeface="Inter"/>
              </a:rPr>
              <a:t>5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19"/>
          <p:cNvSpPr/>
          <p:nvPr/>
        </p:nvSpPr>
        <p:spPr>
          <a:xfrm>
            <a:off x="969120" y="5047560"/>
            <a:ext cx="4343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20" b="0" u="none" strike="noStrike">
                <a:solidFill>
                  <a:srgbClr val="f4f7fa"/>
                </a:solidFill>
                <a:effectLst/>
                <a:uFillTx/>
                <a:latin typeface="Inter"/>
                <a:ea typeface="Inter"/>
              </a:rPr>
              <a:t>Inspect infrastructure and monitoring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20"/>
          <p:cNvSpPr/>
          <p:nvPr/>
        </p:nvSpPr>
        <p:spPr>
          <a:xfrm>
            <a:off x="6144840" y="2331720"/>
            <a:ext cx="4983120" cy="529920"/>
          </a:xfrm>
          <a:prstGeom prst="roundRect">
            <a:avLst>
              <a:gd name="adj" fmla="val 8621"/>
            </a:avLst>
          </a:prstGeom>
          <a:solidFill>
            <a:srgbClr val="111923"/>
          </a:solidFill>
          <a:ln w="12700">
            <a:solidFill>
              <a:srgbClr val="2230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21"/>
          <p:cNvSpPr/>
          <p:nvPr/>
        </p:nvSpPr>
        <p:spPr>
          <a:xfrm>
            <a:off x="6309360" y="2496240"/>
            <a:ext cx="145800" cy="145800"/>
          </a:xfrm>
          <a:prstGeom prst="ellipse">
            <a:avLst/>
          </a:prstGeom>
          <a:solidFill>
            <a:srgbClr val="5ce89a"/>
          </a:solidFill>
          <a:ln w="12700">
            <a:solidFill>
              <a:srgbClr val="5ce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22"/>
          <p:cNvSpPr/>
          <p:nvPr/>
        </p:nvSpPr>
        <p:spPr>
          <a:xfrm>
            <a:off x="6565320" y="2432160"/>
            <a:ext cx="18284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4f7fa"/>
                </a:solidFill>
                <a:effectLst/>
                <a:uFillTx/>
                <a:latin typeface="Inter"/>
                <a:ea typeface="Inter"/>
              </a:rPr>
              <a:t>Build &amp; containerization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23"/>
          <p:cNvSpPr/>
          <p:nvPr/>
        </p:nvSpPr>
        <p:spPr>
          <a:xfrm>
            <a:off x="8357760" y="2432160"/>
            <a:ext cx="2468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10" b="0" u="none" strike="noStrike">
                <a:solidFill>
                  <a:srgbClr val="8e9aa6"/>
                </a:solidFill>
                <a:effectLst/>
                <a:uFillTx/>
                <a:latin typeface="Inter"/>
                <a:ea typeface="Inter"/>
              </a:rPr>
              <a:t>Creates the application container</a:t>
            </a:r>
            <a:endParaRPr lang="en-US" sz="8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24"/>
          <p:cNvSpPr/>
          <p:nvPr/>
        </p:nvSpPr>
        <p:spPr>
          <a:xfrm>
            <a:off x="6144840" y="2990160"/>
            <a:ext cx="4983120" cy="529920"/>
          </a:xfrm>
          <a:prstGeom prst="roundRect">
            <a:avLst>
              <a:gd name="adj" fmla="val 8621"/>
            </a:avLst>
          </a:prstGeom>
          <a:solidFill>
            <a:srgbClr val="111923"/>
          </a:solidFill>
          <a:ln w="12700">
            <a:solidFill>
              <a:srgbClr val="2230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25"/>
          <p:cNvSpPr/>
          <p:nvPr/>
        </p:nvSpPr>
        <p:spPr>
          <a:xfrm>
            <a:off x="6309360" y="3154680"/>
            <a:ext cx="145800" cy="145800"/>
          </a:xfrm>
          <a:prstGeom prst="ellipse">
            <a:avLst/>
          </a:prstGeom>
          <a:solidFill>
            <a:srgbClr val="5ce89a"/>
          </a:solidFill>
          <a:ln w="12700">
            <a:solidFill>
              <a:srgbClr val="5ce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26"/>
          <p:cNvSpPr/>
          <p:nvPr/>
        </p:nvSpPr>
        <p:spPr>
          <a:xfrm>
            <a:off x="6565320" y="3090600"/>
            <a:ext cx="18284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4f7fa"/>
                </a:solidFill>
                <a:effectLst/>
                <a:uFillTx/>
                <a:latin typeface="Inter"/>
                <a:ea typeface="Inter"/>
              </a:rPr>
              <a:t>Security protection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27"/>
          <p:cNvSpPr/>
          <p:nvPr/>
        </p:nvSpPr>
        <p:spPr>
          <a:xfrm>
            <a:off x="8357760" y="3090600"/>
            <a:ext cx="2468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10" b="0" u="none" strike="noStrike">
                <a:solidFill>
                  <a:srgbClr val="8e9aa6"/>
                </a:solidFill>
                <a:effectLst/>
                <a:uFillTx/>
                <a:latin typeface="Inter"/>
                <a:ea typeface="Inter"/>
              </a:rPr>
              <a:t>Blocks critical vulnerabilities</a:t>
            </a:r>
            <a:endParaRPr lang="en-US" sz="8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28"/>
          <p:cNvSpPr/>
          <p:nvPr/>
        </p:nvSpPr>
        <p:spPr>
          <a:xfrm>
            <a:off x="6144840" y="3648600"/>
            <a:ext cx="4983120" cy="529920"/>
          </a:xfrm>
          <a:prstGeom prst="roundRect">
            <a:avLst>
              <a:gd name="adj" fmla="val 8621"/>
            </a:avLst>
          </a:prstGeom>
          <a:solidFill>
            <a:srgbClr val="111923"/>
          </a:solidFill>
          <a:ln w="12700">
            <a:solidFill>
              <a:srgbClr val="2230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29"/>
          <p:cNvSpPr/>
          <p:nvPr/>
        </p:nvSpPr>
        <p:spPr>
          <a:xfrm>
            <a:off x="6309360" y="3813120"/>
            <a:ext cx="145800" cy="145800"/>
          </a:xfrm>
          <a:prstGeom prst="ellipse">
            <a:avLst/>
          </a:prstGeom>
          <a:solidFill>
            <a:srgbClr val="ffb456"/>
          </a:solidFill>
          <a:ln w="12700">
            <a:solidFill>
              <a:srgbClr val="ffb45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30"/>
          <p:cNvSpPr/>
          <p:nvPr/>
        </p:nvSpPr>
        <p:spPr>
          <a:xfrm>
            <a:off x="6565320" y="3749040"/>
            <a:ext cx="18284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4f7fa"/>
                </a:solidFill>
                <a:effectLst/>
                <a:uFillTx/>
                <a:latin typeface="Inter"/>
                <a:ea typeface="Inter"/>
              </a:rPr>
              <a:t>Automatic cost visibility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31"/>
          <p:cNvSpPr/>
          <p:nvPr/>
        </p:nvSpPr>
        <p:spPr>
          <a:xfrm>
            <a:off x="8357760" y="3749040"/>
            <a:ext cx="2468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10" b="0" u="none" strike="noStrike">
                <a:solidFill>
                  <a:srgbClr val="8e9aa6"/>
                </a:solidFill>
                <a:effectLst/>
                <a:uFillTx/>
                <a:latin typeface="Inter"/>
                <a:ea typeface="Inter"/>
              </a:rPr>
              <a:t>Shows expected cost before provisioning</a:t>
            </a:r>
            <a:endParaRPr lang="en-US" sz="8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32"/>
          <p:cNvSpPr/>
          <p:nvPr/>
        </p:nvSpPr>
        <p:spPr>
          <a:xfrm>
            <a:off x="6144840" y="4306680"/>
            <a:ext cx="4983120" cy="529920"/>
          </a:xfrm>
          <a:prstGeom prst="roundRect">
            <a:avLst>
              <a:gd name="adj" fmla="val 8621"/>
            </a:avLst>
          </a:prstGeom>
          <a:solidFill>
            <a:srgbClr val="111923"/>
          </a:solidFill>
          <a:ln w="12700">
            <a:solidFill>
              <a:srgbClr val="2230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33"/>
          <p:cNvSpPr/>
          <p:nvPr/>
        </p:nvSpPr>
        <p:spPr>
          <a:xfrm>
            <a:off x="6309360" y="4471560"/>
            <a:ext cx="145800" cy="145800"/>
          </a:xfrm>
          <a:prstGeom prst="ellipse">
            <a:avLst/>
          </a:prstGeom>
          <a:solidFill>
            <a:srgbClr val="5ce89a"/>
          </a:solidFill>
          <a:ln w="12700">
            <a:solidFill>
              <a:srgbClr val="5ce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34"/>
          <p:cNvSpPr/>
          <p:nvPr/>
        </p:nvSpPr>
        <p:spPr>
          <a:xfrm>
            <a:off x="6565320" y="4407480"/>
            <a:ext cx="18284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4f7fa"/>
                </a:solidFill>
                <a:effectLst/>
                <a:uFillTx/>
                <a:latin typeface="Inter"/>
                <a:ea typeface="Inter"/>
              </a:rPr>
              <a:t>AWS delivery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35"/>
          <p:cNvSpPr/>
          <p:nvPr/>
        </p:nvSpPr>
        <p:spPr>
          <a:xfrm>
            <a:off x="8357760" y="4407480"/>
            <a:ext cx="2468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10" b="0" u="none" strike="noStrike">
                <a:solidFill>
                  <a:srgbClr val="8e9aa6"/>
                </a:solidFill>
                <a:effectLst/>
                <a:uFillTx/>
                <a:latin typeface="Inter"/>
                <a:ea typeface="Inter"/>
              </a:rPr>
              <a:t>Provisions infrastructure and deploys runtime</a:t>
            </a:r>
            <a:endParaRPr lang="en-US" sz="8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36"/>
          <p:cNvSpPr/>
          <p:nvPr/>
        </p:nvSpPr>
        <p:spPr>
          <a:xfrm>
            <a:off x="6144840" y="4965120"/>
            <a:ext cx="4983120" cy="529920"/>
          </a:xfrm>
          <a:prstGeom prst="roundRect">
            <a:avLst>
              <a:gd name="adj" fmla="val 8621"/>
            </a:avLst>
          </a:prstGeom>
          <a:solidFill>
            <a:srgbClr val="111923"/>
          </a:solidFill>
          <a:ln w="12700">
            <a:solidFill>
              <a:srgbClr val="2230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37"/>
          <p:cNvSpPr/>
          <p:nvPr/>
        </p:nvSpPr>
        <p:spPr>
          <a:xfrm>
            <a:off x="6309360" y="5129640"/>
            <a:ext cx="145800" cy="145800"/>
          </a:xfrm>
          <a:prstGeom prst="ellipse">
            <a:avLst/>
          </a:prstGeom>
          <a:solidFill>
            <a:srgbClr val="5ce89a"/>
          </a:solidFill>
          <a:ln w="12700">
            <a:solidFill>
              <a:srgbClr val="5ce8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38"/>
          <p:cNvSpPr/>
          <p:nvPr/>
        </p:nvSpPr>
        <p:spPr>
          <a:xfrm>
            <a:off x="6565320" y="5065920"/>
            <a:ext cx="18284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4f7fa"/>
                </a:solidFill>
                <a:effectLst/>
                <a:uFillTx/>
                <a:latin typeface="Inter"/>
                <a:ea typeface="Inter"/>
              </a:rPr>
              <a:t>Operations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39"/>
          <p:cNvSpPr/>
          <p:nvPr/>
        </p:nvSpPr>
        <p:spPr>
          <a:xfrm>
            <a:off x="8357760" y="5065920"/>
            <a:ext cx="2468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10" b="0" u="none" strike="noStrike">
                <a:solidFill>
                  <a:srgbClr val="8e9aa6"/>
                </a:solidFill>
                <a:effectLst/>
                <a:uFillTx/>
                <a:latin typeface="Inter"/>
                <a:ea typeface="Inter"/>
              </a:rPr>
              <a:t>Verifies health, monitoring, alerts and lifecycle actions</a:t>
            </a:r>
            <a:endParaRPr lang="en-US" sz="8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40"/>
          <p:cNvSpPr/>
          <p:nvPr/>
        </p:nvSpPr>
        <p:spPr>
          <a:xfrm>
            <a:off x="567000" y="5760720"/>
            <a:ext cx="10560960" cy="438480"/>
          </a:xfrm>
          <a:prstGeom prst="roundRect">
            <a:avLst>
              <a:gd name="adj" fmla="val 10417"/>
            </a:avLst>
          </a:prstGeom>
          <a:solidFill>
            <a:srgbClr val="0d1914"/>
          </a:solidFill>
          <a:ln w="12700">
            <a:solidFill>
              <a:srgbClr val="183a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41"/>
          <p:cNvSpPr/>
          <p:nvPr/>
        </p:nvSpPr>
        <p:spPr>
          <a:xfrm>
            <a:off x="822960" y="5888880"/>
            <a:ext cx="10058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39" b="1" u="none" strike="noStrike">
                <a:solidFill>
                  <a:srgbClr val="5ce89a"/>
                </a:solidFill>
                <a:effectLst/>
                <a:uFillTx/>
                <a:latin typeface="Inter"/>
                <a:ea typeface="Inter"/>
              </a:rPr>
              <a:t>One user action starts a coordinated delivery flow; the platform handles the repetitive cloud work underneath.</a:t>
            </a:r>
            <a:endParaRPr lang="en-US" sz="93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Text 0"/>
          <p:cNvSpPr/>
          <p:nvPr/>
        </p:nvSpPr>
        <p:spPr>
          <a:xfrm>
            <a:off x="411480" y="509760"/>
            <a:ext cx="329328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pc="150" strike="noStrike">
                <a:solidFill>
                  <a:srgbClr val="5ce89a"/>
                </a:solidFill>
                <a:effectLst/>
                <a:uFillTx/>
                <a:latin typeface="Inter"/>
                <a:ea typeface="Inter"/>
              </a:rPr>
              <a:t>REMAINING WORK, IF ANY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"/>
          <p:cNvSpPr/>
          <p:nvPr/>
        </p:nvSpPr>
        <p:spPr>
          <a:xfrm>
            <a:off x="411480" y="896040"/>
            <a:ext cx="10926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700" b="1" u="none" strike="noStrike">
                <a:solidFill>
                  <a:srgbClr val="f4f7fa"/>
                </a:solidFill>
                <a:effectLst/>
                <a:uFillTx/>
                <a:latin typeface="Inter"/>
                <a:ea typeface="Inter"/>
              </a:rPr>
              <a:t>No remaining work within the defined FYP scope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2"/>
          <p:cNvSpPr/>
          <p:nvPr/>
        </p:nvSpPr>
        <p:spPr>
          <a:xfrm>
            <a:off x="411480" y="1527120"/>
            <a:ext cx="10698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8e9aa6"/>
                </a:solidFill>
                <a:effectLst/>
                <a:uFillTx/>
                <a:latin typeface="Inter"/>
                <a:ea typeface="Inter"/>
              </a:rPr>
              <a:t>The agreed product scope is complete and ready for presentation.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5"/>
          <p:cNvSpPr/>
          <p:nvPr/>
        </p:nvSpPr>
        <p:spPr>
          <a:xfrm>
            <a:off x="1170360" y="2788920"/>
            <a:ext cx="511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1" u="none" strike="noStrike">
                <a:solidFill>
                  <a:srgbClr val="07110b"/>
                </a:solidFill>
                <a:effectLst/>
                <a:uFillTx/>
                <a:latin typeface="Inter"/>
                <a:ea typeface="Inter"/>
              </a:rPr>
              <a:t>✓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6"/>
          <p:cNvSpPr/>
          <p:nvPr/>
        </p:nvSpPr>
        <p:spPr>
          <a:xfrm>
            <a:off x="1938600" y="2615040"/>
            <a:ext cx="5120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7"/>
          <p:cNvSpPr/>
          <p:nvPr/>
        </p:nvSpPr>
        <p:spPr>
          <a:xfrm>
            <a:off x="1938600" y="3127320"/>
            <a:ext cx="813780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8"/>
          <p:cNvSpPr/>
          <p:nvPr/>
        </p:nvSpPr>
        <p:spPr>
          <a:xfrm>
            <a:off x="914400" y="2971800"/>
            <a:ext cx="97837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5ce89a"/>
                </a:solidFill>
                <a:effectLst/>
                <a:uFillTx/>
                <a:latin typeface="Inter"/>
                <a:ea typeface="Inter"/>
              </a:rPr>
              <a:t>No additional module is required to complete the agreed FYP scope.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Text 0"/>
          <p:cNvSpPr/>
          <p:nvPr/>
        </p:nvSpPr>
        <p:spPr>
          <a:xfrm>
            <a:off x="685800" y="1234440"/>
            <a:ext cx="7497720" cy="10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f4f7fa"/>
                </a:solidFill>
                <a:effectLst/>
                <a:uFillTx/>
                <a:latin typeface="Inter"/>
                <a:ea typeface="Inter"/>
              </a:rPr>
              <a:t>DeployGuard turns cloud deployment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f4f7fa"/>
                </a:solidFill>
                <a:effectLst/>
                <a:uFillTx/>
                <a:latin typeface="Inter"/>
                <a:ea typeface="Inter"/>
              </a:rPr>
              <a:t>into one guided operating experience.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1"/>
          <p:cNvSpPr/>
          <p:nvPr/>
        </p:nvSpPr>
        <p:spPr>
          <a:xfrm>
            <a:off x="713160" y="2834640"/>
            <a:ext cx="10606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5ce89a"/>
                </a:solidFill>
                <a:effectLst/>
                <a:uFillTx/>
                <a:latin typeface="Inter"/>
                <a:ea typeface="Inter"/>
              </a:rPr>
              <a:t>Repository  →  Deployment Directory  →  Build  →  Security  →  Cost  →  AWS  →  Monitoring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2"/>
          <p:cNvSpPr/>
          <p:nvPr/>
        </p:nvSpPr>
        <p:spPr>
          <a:xfrm>
            <a:off x="713160" y="3657600"/>
            <a:ext cx="10560960" cy="959760"/>
          </a:xfrm>
          <a:prstGeom prst="roundRect">
            <a:avLst>
              <a:gd name="adj" fmla="val 7619"/>
            </a:avLst>
          </a:prstGeom>
          <a:solidFill>
            <a:srgbClr val="0d1914"/>
          </a:solidFill>
          <a:ln w="15240">
            <a:solidFill>
              <a:srgbClr val="183a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3"/>
          <p:cNvSpPr/>
          <p:nvPr/>
        </p:nvSpPr>
        <p:spPr>
          <a:xfrm>
            <a:off x="1005840" y="4005000"/>
            <a:ext cx="9966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5ce89a"/>
                </a:solidFill>
                <a:effectLst/>
                <a:uFillTx/>
                <a:latin typeface="Inter"/>
                <a:ea typeface="Inter"/>
              </a:rPr>
              <a:t>One place to configure, deploy, observe and manage an AWS application.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4"/>
          <p:cNvSpPr/>
          <p:nvPr/>
        </p:nvSpPr>
        <p:spPr>
          <a:xfrm>
            <a:off x="713160" y="5742360"/>
            <a:ext cx="1096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4f7fa"/>
                </a:solidFill>
                <a:effectLst/>
                <a:uFillTx/>
                <a:latin typeface="Inter"/>
                <a:ea typeface="Inter"/>
              </a:rPr>
              <a:t>Questions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5"/>
          <p:cNvSpPr/>
          <p:nvPr/>
        </p:nvSpPr>
        <p:spPr>
          <a:xfrm>
            <a:off x="7086600" y="5715000"/>
            <a:ext cx="416016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8e9aa6"/>
                </a:solidFill>
                <a:effectLst/>
                <a:uFillTx/>
                <a:latin typeface="Inter"/>
                <a:ea typeface="Inter"/>
              </a:rPr>
              <a:t>Hassan Sajjad  ·  Faria Fatima  ·  Tania Khawar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 pitchFamily="0" charset="1"/>
        <a:ea typeface=""/>
        <a:cs typeface=""/>
      </a:majorFont>
      <a:minorFont>
        <a:latin typeface="Inter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LibreOffice/25.8.7.3$Linux_X86_64 LibreOffice_project/580$Build-3</Application>
  <AppVersion>15.0000</AppVersion>
  <Words>4236</Words>
  <Paragraphs>264</Paragraphs>
  <Company>Air University Islamabad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2026-10-04T14:50:00Z</dcterms:created>
  <dc:creator>DeployGuard</dc:creator>
  <dc:description/>
  <dc:language>en-US</dc:language>
  <cp:lastModifiedBy/>
  <dcterms:modified xsi:type="dcterms:W3CDTF">2026-10-04T23:42:36Z</dcterms:modified>
  <cp:revision>4</cp:revision>
  <dc:subject>DeployGuard FYP Product Defense</dc:subject>
  <dc:title>DeployGuard Product Defense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B0887740150042D6B87C9B3C556A8029_13</vt:lpwstr>
  </property>
  <property fmtid="{D5CDD505-2E9C-101B-9397-08002B2CF9AE}" pid="3" name="KSOProductBuildVer">
    <vt:lpwstr>1033-12.1.0.28485</vt:lpwstr>
  </property>
  <property fmtid="{D5CDD505-2E9C-101B-9397-08002B2CF9AE}" pid="4" name="Notes">
    <vt:i4>8</vt:i4>
  </property>
  <property fmtid="{D5CDD505-2E9C-101B-9397-08002B2CF9AE}" pid="5" name="PresentationFormat">
    <vt:lpwstr>On-screen Show (16:9)</vt:lpwstr>
  </property>
  <property fmtid="{D5CDD505-2E9C-101B-9397-08002B2CF9AE}" pid="6" name="Slides">
    <vt:i4>8</vt:i4>
  </property>
</Properties>
</file>