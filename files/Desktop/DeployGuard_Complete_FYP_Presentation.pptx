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3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4360" y="6519672"/>
            <a:ext cx="29260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94A3B8"/>
                </a:solidFill>
                <a:latin typeface="Inter"/>
              </a:rPr>
              <a:t>DEPLOYGUARD  •  FYP  • 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6519672"/>
            <a:ext cx="24231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Inter"/>
              </a:rPr>
              <a:t>Hassan Sajjad  •  Sep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  <a:latin typeface="Inter"/>
              </a:rPr>
              <a:t>PRODUCT 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B1530"/>
                </a:solidFill>
                <a:latin typeface="Inter"/>
              </a:rPr>
              <a:t>DeployGuard in one sentence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10972800" cy="1417320"/>
          </a:xfrm>
          <a:prstGeom prst="roundRect">
            <a:avLst/>
          </a:prstGeom>
          <a:solidFill>
            <a:srgbClr val="EAF8F6"/>
          </a:solidFill>
          <a:ln>
            <a:solidFill>
              <a:srgbClr val="B7E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19072"/>
            <a:ext cx="10424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300" b="1">
                <a:solidFill>
                  <a:srgbClr val="0B1530"/>
                </a:solidFill>
                <a:latin typeface="Inter"/>
              </a:rPr>
              <a:t>An evidence-driven AWS PaaS control plane that converts an exact Git commit into an immutable, verified ECS release - and refuses to promote it until identity, configuration, infrastructure and runtime evidence agree.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383280"/>
            <a:ext cx="34290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3657600"/>
            <a:ext cx="2971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B1530"/>
                </a:solidFill>
                <a:latin typeface="Inter"/>
              </a:rPr>
              <a:t>Own the AWS runtime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4187952"/>
            <a:ext cx="2971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Inter"/>
              </a:rPr>
              <a:t>ECR • ECS • ALB • EFS • Secrets • S3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3383280"/>
            <a:ext cx="34290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3657600"/>
            <a:ext cx="2971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B1530"/>
                </a:solidFill>
                <a:latin typeface="Inter"/>
              </a:rPr>
              <a:t>Prove the release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4187952"/>
            <a:ext cx="2971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Inter"/>
              </a:rPr>
              <a:t>Source → digest → task definition → runtime evidence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3383280"/>
            <a:ext cx="34290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49640" y="3657600"/>
            <a:ext cx="2971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B1530"/>
                </a:solidFill>
                <a:latin typeface="Inter"/>
              </a:rPr>
              <a:t>Bound destructive actions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4187952"/>
            <a:ext cx="2971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Inter"/>
              </a:rPr>
              <a:t>Tags • namespaces • shared-foundation exclusions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62356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59E0B"/>
                </a:solidFill>
                <a:latin typeface="Inter"/>
              </a:rPr>
              <a:t>Current freeze: source/static closure PASS • newest-pin AWS E2E UNVERIFIED / blocked before dispatch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519672"/>
            <a:ext cx="29260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94A3B8"/>
                </a:solidFill>
                <a:latin typeface="Inter"/>
              </a:rPr>
              <a:t>DEPLOYGUARD  •  FYP  •  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6519672"/>
            <a:ext cx="24231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Inter"/>
              </a:rPr>
              <a:t>Hassan Sajjad  •  Sep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  <a:latin typeface="Inter"/>
              </a:rPr>
              <a:t>WHY DEPLOYGUARD EXISTS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Inter"/>
              </a:rPr>
              <a:t>The problem we chose to solve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6984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DCE7F5"/>
                </a:solidFill>
                <a:latin typeface="Inter"/>
              </a:rPr>
              <a:t>A “green pipeline” is not enough when deployment spans source interpretation, IAM, state, containers, networking, secrets and rollback.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468880"/>
            <a:ext cx="5212080" cy="1234440"/>
          </a:xfrm>
          <a:prstGeom prst="roundRect">
            <a:avLst/>
          </a:prstGeom>
          <a:solidFill>
            <a:srgbClr val="142A50"/>
          </a:solidFill>
          <a:ln>
            <a:solidFill>
              <a:srgbClr val="2746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651760"/>
            <a:ext cx="4663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6B6D4"/>
                </a:solidFill>
                <a:latin typeface="Inter"/>
              </a:rPr>
              <a:t>Source ambiguity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035808"/>
            <a:ext cx="46634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D5E2F1"/>
                </a:solidFill>
                <a:latin typeface="Inter"/>
              </a:rPr>
              <a:t>Branch moved, service root wrong, stack detection wrong.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2468880"/>
            <a:ext cx="5212080" cy="1234440"/>
          </a:xfrm>
          <a:prstGeom prst="roundRect">
            <a:avLst/>
          </a:prstGeom>
          <a:solidFill>
            <a:srgbClr val="142A50"/>
          </a:solidFill>
          <a:ln>
            <a:solidFill>
              <a:srgbClr val="2746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2651760"/>
            <a:ext cx="4663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6B6D4"/>
                </a:solidFill>
                <a:latin typeface="Inter"/>
              </a:rPr>
              <a:t>Cloud ambiguity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3035808"/>
            <a:ext cx="46634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D5E2F1"/>
                </a:solidFill>
                <a:latin typeface="Inter"/>
              </a:rPr>
              <a:t>Wrong account/role/state path can be valid syntax but wrong target.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041648"/>
            <a:ext cx="5212080" cy="1234440"/>
          </a:xfrm>
          <a:prstGeom prst="roundRect">
            <a:avLst/>
          </a:prstGeom>
          <a:solidFill>
            <a:srgbClr val="142A50"/>
          </a:solidFill>
          <a:ln>
            <a:solidFill>
              <a:srgbClr val="2746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224528"/>
            <a:ext cx="4663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6B6D4"/>
                </a:solidFill>
                <a:latin typeface="Inter"/>
              </a:rPr>
              <a:t>Release ambiguity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608576"/>
            <a:ext cx="46634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D5E2F1"/>
                </a:solidFill>
                <a:latin typeface="Inter"/>
              </a:rPr>
              <a:t>Tag says “latest”, task definition changed, rollback rebuilds old source.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4041648"/>
            <a:ext cx="5212080" cy="1234440"/>
          </a:xfrm>
          <a:prstGeom prst="roundRect">
            <a:avLst/>
          </a:prstGeom>
          <a:solidFill>
            <a:srgbClr val="142A50"/>
          </a:solidFill>
          <a:ln>
            <a:solidFill>
              <a:srgbClr val="2746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4224528"/>
            <a:ext cx="4663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6B6D4"/>
                </a:solidFill>
                <a:latin typeface="Inter"/>
              </a:rPr>
              <a:t>Cleanup ambiguity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4608576"/>
            <a:ext cx="46634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D5E2F1"/>
                </a:solidFill>
                <a:latin typeface="Inter"/>
              </a:rPr>
              <a:t>Destroy succeeds partially but shared resources or residue are mishandled.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519672"/>
            <a:ext cx="29260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94A3B8"/>
                </a:solidFill>
                <a:latin typeface="Inter"/>
              </a:rPr>
              <a:t>DEPLOYGUARD  •  FYP  •  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6519672"/>
            <a:ext cx="24231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Inter"/>
              </a:rPr>
              <a:t>Hassan Sajjad  •  Sep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  <a:latin typeface="Inter"/>
              </a:rPr>
              <a:t>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B1530"/>
                </a:solidFill>
                <a:latin typeface="Inter"/>
              </a:rPr>
              <a:t>Architecture: control plane outside, runtime inside AWS</a:t>
            </a:r>
          </a:p>
        </p:txBody>
      </p:sp>
      <p:pic>
        <p:nvPicPr>
          <p:cNvPr id="4" name="Picture 3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88720"/>
            <a:ext cx="11384280" cy="4983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" y="6519672"/>
            <a:ext cx="29260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94A3B8"/>
                </a:solidFill>
                <a:latin typeface="Inter"/>
              </a:rPr>
              <a:t>DEPLOYGUARD  •  FYP  • 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519672"/>
            <a:ext cx="24231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Inter"/>
              </a:rPr>
              <a:t>Hassan Sajjad  •  Sep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  <a:latin typeface="Inter"/>
              </a:rPr>
              <a:t>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B1530"/>
                </a:solidFill>
                <a:latin typeface="Inter"/>
              </a:rPr>
              <a:t>Five trust boundaries drive the design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1078992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472184"/>
            <a:ext cx="2377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B1530"/>
                </a:solidFill>
                <a:latin typeface="Inter"/>
              </a:rPr>
              <a:t>Browser → backend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37560" y="1463039"/>
            <a:ext cx="7818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Inter"/>
              </a:rPr>
              <a:t>OAuth state + signed HttpOnly session + RBAC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221991"/>
            <a:ext cx="1078992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368296"/>
            <a:ext cx="2377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B1530"/>
                </a:solidFill>
                <a:latin typeface="Inter"/>
              </a:rPr>
              <a:t>Backend → GitHub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37560" y="2359151"/>
            <a:ext cx="7818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Inter"/>
              </a:rPr>
              <a:t>GitHub App installation + exact repository/source identity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118104"/>
            <a:ext cx="1078992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264408"/>
            <a:ext cx="2377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B1530"/>
                </a:solidFill>
                <a:latin typeface="Inter"/>
              </a:rPr>
              <a:t>Backend → AWS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3255264"/>
            <a:ext cx="7818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Inter"/>
              </a:rPr>
              <a:t>STS account guard + IAM/OIDC admission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014215"/>
            <a:ext cx="1078992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4160520"/>
            <a:ext cx="2377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B1530"/>
                </a:solidFill>
                <a:latin typeface="Inter"/>
              </a:rPr>
              <a:t>GitHub → AWS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37560" y="4151376"/>
            <a:ext cx="7818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Inter"/>
              </a:rPr>
              <a:t>OIDC web identity into dedicated Actions role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910328"/>
            <a:ext cx="1078992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5056632"/>
            <a:ext cx="2377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B1530"/>
                </a:solidFill>
                <a:latin typeface="Inter"/>
              </a:rPr>
              <a:t>Workflow → backend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5047488"/>
            <a:ext cx="7818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Inter"/>
              </a:rPr>
              <a:t>Structured evidence artifact re-validated before promotion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519672"/>
            <a:ext cx="29260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94A3B8"/>
                </a:solidFill>
                <a:latin typeface="Inter"/>
              </a:rPr>
              <a:t>DEPLOYGUARD  •  FYP  •  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6519672"/>
            <a:ext cx="24231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Inter"/>
              </a:rPr>
              <a:t>Hassan Sajjad  •  Sep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  <a:latin typeface="Inter"/>
              </a:rPr>
              <a:t>DEPLOY / REDEPLOY / ROLLBACK / DESTROY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B1530"/>
                </a:solidFill>
                <a:latin typeface="Inter"/>
              </a:rPr>
              <a:t>Lifecycle contract</a:t>
            </a:r>
          </a:p>
        </p:txBody>
      </p:sp>
      <p:pic>
        <p:nvPicPr>
          <p:cNvPr id="4" name="Picture 3" descr="lifecy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43000"/>
            <a:ext cx="11475720" cy="5212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" y="6519672"/>
            <a:ext cx="29260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94A3B8"/>
                </a:solidFill>
                <a:latin typeface="Inter"/>
              </a:rPr>
              <a:t>DEPLOYGUARD  •  FYP  •  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519672"/>
            <a:ext cx="24231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Inter"/>
              </a:rPr>
              <a:t>Hassan Sajjad  •  Sep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  <a:latin typeface="Inter"/>
              </a:rPr>
              <a:t>BEFORE AWS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Inter"/>
              </a:rPr>
              <a:t>Admission freezes what “this deployment” means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3401568" cy="1554480"/>
          </a:xfrm>
          <a:prstGeom prst="roundRect">
            <a:avLst/>
          </a:prstGeom>
          <a:solidFill>
            <a:srgbClr val="142A50"/>
          </a:solidFill>
          <a:ln>
            <a:solidFill>
              <a:srgbClr val="2746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600200"/>
            <a:ext cx="502920" cy="502920"/>
          </a:xfrm>
          <a:prstGeom prst="round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64208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0B1530"/>
                </a:solidFill>
                <a:latin typeface="Inter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600200"/>
            <a:ext cx="23317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Inter"/>
              </a:rPr>
              <a:t>Exact source SHA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30552"/>
            <a:ext cx="29260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D5E2F1"/>
                </a:solidFill>
                <a:latin typeface="Inter"/>
              </a:rPr>
              <a:t>Moving branch refs are resolved to an immutable commit.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98848" y="1417320"/>
            <a:ext cx="3401568" cy="1554480"/>
          </a:xfrm>
          <a:prstGeom prst="roundRect">
            <a:avLst/>
          </a:prstGeom>
          <a:solidFill>
            <a:srgbClr val="142A50"/>
          </a:solidFill>
          <a:ln>
            <a:solidFill>
              <a:srgbClr val="2746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681728" y="1600200"/>
            <a:ext cx="502920" cy="502920"/>
          </a:xfrm>
          <a:prstGeom prst="round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81728" y="1664208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0B1530"/>
                </a:solidFill>
                <a:latin typeface="Inter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21808" y="1600200"/>
            <a:ext cx="23317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Inter"/>
              </a:rPr>
              <a:t>Service &amp; build target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27448" y="2130552"/>
            <a:ext cx="29260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D5E2F1"/>
                </a:solidFill>
                <a:latin typeface="Inter"/>
              </a:rPr>
              <a:t>Repository-relative path, workspace contract and fingerprint.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66176" y="1417320"/>
            <a:ext cx="3401568" cy="1554480"/>
          </a:xfrm>
          <a:prstGeom prst="roundRect">
            <a:avLst/>
          </a:prstGeom>
          <a:solidFill>
            <a:srgbClr val="142A50"/>
          </a:solidFill>
          <a:ln>
            <a:solidFill>
              <a:srgbClr val="2746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449056" y="1600200"/>
            <a:ext cx="502920" cy="502920"/>
          </a:xfrm>
          <a:prstGeom prst="round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49056" y="1664208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0B1530"/>
                </a:solidFill>
                <a:latin typeface="Inter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89136" y="1600200"/>
            <a:ext cx="23317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Inter"/>
              </a:rPr>
              <a:t>Port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94776" y="2130552"/>
            <a:ext cx="29260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D5E2F1"/>
                </a:solidFill>
                <a:latin typeface="Inter"/>
              </a:rPr>
              <a:t>Concrete evidence or framework default; $PORT is valid dynamic usage.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337560"/>
            <a:ext cx="3401568" cy="1554480"/>
          </a:xfrm>
          <a:prstGeom prst="roundRect">
            <a:avLst/>
          </a:prstGeom>
          <a:solidFill>
            <a:srgbClr val="142A50"/>
          </a:solidFill>
          <a:ln>
            <a:solidFill>
              <a:srgbClr val="2746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14400" y="3520440"/>
            <a:ext cx="502920" cy="502920"/>
          </a:xfrm>
          <a:prstGeom prst="round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3584448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0B1530"/>
                </a:solidFill>
                <a:latin typeface="Inter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3520440"/>
            <a:ext cx="23317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Inter"/>
              </a:rPr>
              <a:t>Config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4050792"/>
            <a:ext cx="29260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D5E2F1"/>
                </a:solidFill>
                <a:latin typeface="Inter"/>
              </a:rPr>
              <a:t>Build/runtime scopes, reserved HOST/PORT, secret refs, DB aliases.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98848" y="3337560"/>
            <a:ext cx="3401568" cy="1554480"/>
          </a:xfrm>
          <a:prstGeom prst="roundRect">
            <a:avLst/>
          </a:prstGeom>
          <a:solidFill>
            <a:srgbClr val="142A50"/>
          </a:solidFill>
          <a:ln>
            <a:solidFill>
              <a:srgbClr val="2746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681728" y="3520440"/>
            <a:ext cx="502920" cy="502920"/>
          </a:xfrm>
          <a:prstGeom prst="round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81728" y="3584448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0B1530"/>
                </a:solidFill>
                <a:latin typeface="Inter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21808" y="3520440"/>
            <a:ext cx="23317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Inter"/>
              </a:rPr>
              <a:t>Cloud capability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27448" y="4050792"/>
            <a:ext cx="29260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D5E2F1"/>
                </a:solidFill>
                <a:latin typeface="Inter"/>
              </a:rPr>
              <a:t>Account match, OIDC trust and effective IAM simulation.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519672"/>
            <a:ext cx="29260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94A3B8"/>
                </a:solidFill>
                <a:latin typeface="Inter"/>
              </a:rPr>
              <a:t>DEPLOYGUARD  •  FYP  •  07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6519672"/>
            <a:ext cx="24231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Inter"/>
              </a:rPr>
              <a:t>Hassan Sajjad  •  Sep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  <a:latin typeface="Inter"/>
              </a:rPr>
              <a:t>BUILD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B1530"/>
                </a:solidFill>
                <a:latin typeface="Inter"/>
              </a:rPr>
              <a:t>Build path: deterministic first, fallback only when proven safe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71600"/>
            <a:ext cx="324612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B1530"/>
                </a:solidFill>
                <a:latin typeface="Inter"/>
              </a:rPr>
              <a:t>Railpack 0.38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40280"/>
            <a:ext cx="2697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b="1" sz="1400">
                <a:solidFill>
                  <a:srgbClr val="64748B"/>
                </a:solidFill>
                <a:latin typeface="Inter"/>
              </a:rPr>
              <a:t>Identity: </a:t>
            </a:r>
            <a:r>
              <a:rPr sz="1400">
                <a:solidFill>
                  <a:srgbClr val="64748B"/>
                </a:solidFill>
                <a:latin typeface="Inter"/>
              </a:rPr>
              <a:t>version + checksum verified</a:t>
            </a:r>
          </a:p>
          <a:p>
            <a:pPr>
              <a:spcAft>
                <a:spcPts val="700"/>
              </a:spcAft>
            </a:pPr>
            <a:r>
              <a:rPr b="1" sz="1400">
                <a:solidFill>
                  <a:srgbClr val="64748B"/>
                </a:solidFill>
                <a:latin typeface="Inter"/>
              </a:rPr>
              <a:t>Inputs: </a:t>
            </a:r>
            <a:r>
              <a:rPr sz="1400">
                <a:solidFill>
                  <a:srgbClr val="64748B"/>
                </a:solidFill>
                <a:latin typeface="Inter"/>
              </a:rPr>
              <a:t>sealed build environment and immutable secret refs</a:t>
            </a:r>
          </a:p>
          <a:p>
            <a:pPr>
              <a:spcAft>
                <a:spcPts val="700"/>
              </a:spcAft>
            </a:pPr>
            <a:r>
              <a:rPr b="1" sz="1400">
                <a:solidFill>
                  <a:srgbClr val="64748B"/>
                </a:solidFill>
                <a:latin typeface="Inter"/>
              </a:rPr>
              <a:t>Output: </a:t>
            </a:r>
            <a:r>
              <a:rPr sz="1400">
                <a:solidFill>
                  <a:srgbClr val="64748B"/>
                </a:solidFill>
                <a:latin typeface="Inter"/>
              </a:rPr>
              <a:t>local immutable image required before publication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371600"/>
            <a:ext cx="324612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169164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B1530"/>
                </a:solidFill>
                <a:latin typeface="Inter"/>
              </a:rPr>
              <a:t>Classifier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2240280"/>
            <a:ext cx="2697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b="1" sz="1400">
                <a:solidFill>
                  <a:srgbClr val="64748B"/>
                </a:solidFill>
                <a:latin typeface="Inter"/>
              </a:rPr>
              <a:t>Question: </a:t>
            </a:r>
            <a:r>
              <a:rPr sz="1400">
                <a:solidFill>
                  <a:srgbClr val="64748B"/>
                </a:solidFill>
                <a:latin typeface="Inter"/>
              </a:rPr>
              <a:t>was this a proven Railpack internal failure?</a:t>
            </a:r>
          </a:p>
          <a:p>
            <a:pPr>
              <a:spcAft>
                <a:spcPts val="700"/>
              </a:spcAft>
            </a:pPr>
            <a:r>
              <a:rPr b="1" sz="1400">
                <a:solidFill>
                  <a:srgbClr val="64748B"/>
                </a:solidFill>
                <a:latin typeface="Inter"/>
              </a:rPr>
              <a:t>Fail closed: </a:t>
            </a:r>
            <a:r>
              <a:rPr sz="1400">
                <a:solidFill>
                  <a:srgbClr val="64748B"/>
                </a:solidFill>
                <a:latin typeface="Inter"/>
              </a:rPr>
              <a:t>application build errors do not trigger fallback</a:t>
            </a:r>
          </a:p>
          <a:p>
            <a:pPr>
              <a:spcAft>
                <a:spcPts val="700"/>
              </a:spcAft>
            </a:pPr>
            <a:r>
              <a:rPr b="1" sz="1400">
                <a:solidFill>
                  <a:srgbClr val="64748B"/>
                </a:solidFill>
                <a:latin typeface="Inter"/>
              </a:rPr>
              <a:t>Evidence: </a:t>
            </a:r>
            <a:r>
              <a:rPr sz="1400">
                <a:solidFill>
                  <a:srgbClr val="64748B"/>
                </a:solidFill>
                <a:latin typeface="Inter"/>
              </a:rPr>
              <a:t>sanitized terminal failure contract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79" y="1371600"/>
            <a:ext cx="324612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1691640"/>
            <a:ext cx="2743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B1530"/>
                </a:solidFill>
                <a:latin typeface="Inter"/>
              </a:rPr>
              <a:t>Certified Docker fallback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2331720"/>
            <a:ext cx="2697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b="1" sz="1400">
                <a:solidFill>
                  <a:srgbClr val="64748B"/>
                </a:solidFill>
                <a:latin typeface="Inter"/>
              </a:rPr>
              <a:t>Selection: </a:t>
            </a:r>
            <a:r>
              <a:rPr sz="1400">
                <a:solidFill>
                  <a:srgbClr val="64748B"/>
                </a:solidFill>
                <a:latin typeface="Inter"/>
              </a:rPr>
              <a:t>exact supported contract/template</a:t>
            </a:r>
          </a:p>
          <a:p>
            <a:pPr>
              <a:spcAft>
                <a:spcPts val="700"/>
              </a:spcAft>
            </a:pPr>
            <a:r>
              <a:rPr b="1" sz="1400">
                <a:solidFill>
                  <a:srgbClr val="64748B"/>
                </a:solidFill>
                <a:latin typeface="Inter"/>
              </a:rPr>
              <a:t>Secrets: </a:t>
            </a:r>
            <a:r>
              <a:rPr sz="1400">
                <a:solidFill>
                  <a:srgbClr val="64748B"/>
                </a:solidFill>
                <a:latin typeface="Inter"/>
              </a:rPr>
              <a:t>BuildKit secret mounts</a:t>
            </a:r>
          </a:p>
          <a:p>
            <a:pPr>
              <a:spcAft>
                <a:spcPts val="700"/>
              </a:spcAft>
            </a:pPr>
            <a:r>
              <a:rPr b="1" sz="1400">
                <a:solidFill>
                  <a:srgbClr val="64748B"/>
                </a:solidFill>
                <a:latin typeface="Inter"/>
              </a:rPr>
              <a:t>Supply chain: </a:t>
            </a:r>
            <a:r>
              <a:rPr sz="1400">
                <a:solidFill>
                  <a:srgbClr val="64748B"/>
                </a:solidFill>
                <a:latin typeface="Inter"/>
              </a:rPr>
              <a:t>pinned template + digest/base image constraints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519672"/>
            <a:ext cx="29260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94A3B8"/>
                </a:solidFill>
                <a:latin typeface="Inter"/>
              </a:rPr>
              <a:t>DEPLOYGUARD  •  FYP  •  08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0" y="6519672"/>
            <a:ext cx="24231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Inter"/>
              </a:rPr>
              <a:t>Hassan Sajjad  •  Sep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  <a:latin typeface="Inter"/>
              </a:rPr>
              <a:t>IMMUTABILITY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Inter"/>
              </a:rPr>
              <a:t>Release identity is a chain, not a tag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2148840"/>
            <a:ext cx="1572768" cy="1234440"/>
          </a:xfrm>
          <a:prstGeom prst="roundRect">
            <a:avLst/>
          </a:prstGeom>
          <a:solidFill>
            <a:srgbClr val="142A50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487168"/>
            <a:ext cx="1389888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Inter"/>
              </a:rPr>
              <a:t>Git SHA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167128" y="2761488"/>
            <a:ext cx="329184" cy="0"/>
          </a:xfrm>
          <a:prstGeom prst="line">
            <a:avLst/>
          </a:prstGeom>
          <a:ln w="254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496312" y="2148840"/>
            <a:ext cx="1572768" cy="1234440"/>
          </a:xfrm>
          <a:prstGeom prst="roundRect">
            <a:avLst/>
          </a:prstGeom>
          <a:solidFill>
            <a:srgbClr val="142A50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87752" y="2487168"/>
            <a:ext cx="1389888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Inter"/>
              </a:rPr>
              <a:t>Build target
revision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069080" y="2761488"/>
            <a:ext cx="329184" cy="0"/>
          </a:xfrm>
          <a:prstGeom prst="line">
            <a:avLst/>
          </a:prstGeom>
          <a:ln w="254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398264" y="2148840"/>
            <a:ext cx="1572768" cy="1234440"/>
          </a:xfrm>
          <a:prstGeom prst="roundRect">
            <a:avLst/>
          </a:prstGeom>
          <a:solidFill>
            <a:srgbClr val="142A50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9704" y="2487168"/>
            <a:ext cx="1389888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Inter"/>
              </a:rPr>
              <a:t>Runtime config
revision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71032" y="2761488"/>
            <a:ext cx="329184" cy="0"/>
          </a:xfrm>
          <a:prstGeom prst="line">
            <a:avLst/>
          </a:prstGeom>
          <a:ln w="254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300216" y="2148840"/>
            <a:ext cx="1572768" cy="1234440"/>
          </a:xfrm>
          <a:prstGeom prst="roundRect">
            <a:avLst/>
          </a:prstGeom>
          <a:solidFill>
            <a:srgbClr val="142A50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91656" y="2487168"/>
            <a:ext cx="1389888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Inter"/>
              </a:rPr>
              <a:t>ECR sha256
digest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872984" y="2761488"/>
            <a:ext cx="329184" cy="0"/>
          </a:xfrm>
          <a:prstGeom prst="line">
            <a:avLst/>
          </a:prstGeom>
          <a:ln w="254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202168" y="2148840"/>
            <a:ext cx="1572768" cy="1234440"/>
          </a:xfrm>
          <a:prstGeom prst="roundRect">
            <a:avLst/>
          </a:prstGeom>
          <a:solidFill>
            <a:srgbClr val="142A50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93608" y="2487168"/>
            <a:ext cx="1389888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Inter"/>
              </a:rPr>
              <a:t>ECS task
definition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774936" y="2761488"/>
            <a:ext cx="329184" cy="0"/>
          </a:xfrm>
          <a:prstGeom prst="line">
            <a:avLst/>
          </a:prstGeom>
          <a:ln w="254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10104120" y="2148840"/>
            <a:ext cx="1572768" cy="1234440"/>
          </a:xfrm>
          <a:prstGeom prst="roundRect">
            <a:avLst/>
          </a:prstGeom>
          <a:solidFill>
            <a:srgbClr val="142A50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95560" y="2487168"/>
            <a:ext cx="1389888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Inter"/>
              </a:rPr>
              <a:t>AWS runtime
evidence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069080"/>
            <a:ext cx="103327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DCE7F5"/>
                </a:solidFill>
                <a:latin typeface="Inter"/>
              </a:rPr>
              <a:t>The backend promotes only after the terminal artifact proves this exact mapping is running.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519672"/>
            <a:ext cx="29260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94A3B8"/>
                </a:solidFill>
                <a:latin typeface="Inter"/>
              </a:rPr>
              <a:t>DEPLOYGUARD  •  FYP  •  09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6519672"/>
            <a:ext cx="24231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Inter"/>
              </a:rPr>
              <a:t>Hassan Sajjad  •  Sep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  <a:latin typeface="Inter"/>
              </a:rPr>
              <a:t>TERRAFORM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B1530"/>
                </a:solidFill>
                <a:latin typeface="Inter"/>
              </a:rPr>
              <a:t>AWS runtime topology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34290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2834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B1530"/>
                </a:solidFill>
                <a:latin typeface="Inter"/>
              </a:rPr>
              <a:t>ECR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2834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Inter"/>
              </a:rPr>
              <a:t>Service-scoped repositories
immutable digests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417320"/>
            <a:ext cx="34290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09160" y="1645920"/>
            <a:ext cx="2834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B1530"/>
                </a:solidFill>
                <a:latin typeface="Inter"/>
              </a:rPr>
              <a:t>ECS Fargate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9160" y="2103120"/>
            <a:ext cx="2834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Inter"/>
              </a:rPr>
              <a:t>Per-project cluster
per-service task/service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75320" y="1417320"/>
            <a:ext cx="34290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0" y="1645920"/>
            <a:ext cx="2834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B1530"/>
                </a:solidFill>
                <a:latin typeface="Inter"/>
              </a:rPr>
              <a:t>ALB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103120"/>
            <a:ext cx="2834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Inter"/>
              </a:rPr>
              <a:t>Per-service ALB/target/listener
transport-ready probe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34290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703320"/>
            <a:ext cx="2834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B1530"/>
                </a:solidFill>
                <a:latin typeface="Inter"/>
              </a:rPr>
              <a:t>IAM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160520"/>
            <a:ext cx="2834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Inter"/>
              </a:rPr>
              <a:t>Project execution role
Secrets read only when needed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80560" y="3474720"/>
            <a:ext cx="34290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09160" y="3703320"/>
            <a:ext cx="2834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B1530"/>
                </a:solidFill>
                <a:latin typeface="Inter"/>
              </a:rPr>
              <a:t>CloudWatch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9160" y="4160520"/>
            <a:ext cx="2834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Inter"/>
              </a:rPr>
              <a:t>Per-service log groups
runtime metrics/logs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75320" y="3474720"/>
            <a:ext cx="34290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20" y="3703320"/>
            <a:ext cx="2834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B1530"/>
                </a:solidFill>
                <a:latin typeface="Inter"/>
              </a:rPr>
              <a:t>S3 state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4160520"/>
            <a:ext cx="2834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Inter"/>
              </a:rPr>
              <a:t>project/environment/runtime
.tfstate + .tflock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715000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59E0B"/>
                </a:solidFill>
                <a:latin typeface="Inter"/>
              </a:rPr>
              <a:t>Current boundary: public ALB + public-subnet Fargate; HTTP/80 in reference runtime. Private subnets + HTTPS/WAF are hardening roadmap items.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519672"/>
            <a:ext cx="29260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94A3B8"/>
                </a:solidFill>
                <a:latin typeface="Inter"/>
              </a:rPr>
              <a:t>DEPLOYGUARD  •  FYP  •  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6519672"/>
            <a:ext cx="24231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Inter"/>
              </a:rPr>
              <a:t>Hassan Sajjad  •  Sep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  <a:latin typeface="Inter"/>
              </a:rPr>
              <a:t>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B1530"/>
                </a:solidFill>
                <a:latin typeface="Inter"/>
              </a:rPr>
              <a:t>Managed DB: persistent container topology, not an external black box</a:t>
            </a:r>
          </a:p>
        </p:txBody>
      </p:sp>
      <p:pic>
        <p:nvPicPr>
          <p:cNvPr id="4" name="Picture 3" descr="db_topolo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34440"/>
            <a:ext cx="11384280" cy="4983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" y="6519672"/>
            <a:ext cx="29260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94A3B8"/>
                </a:solidFill>
                <a:latin typeface="Inter"/>
              </a:rPr>
              <a:t>DEPLOYGUARD  •  FYP  • 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519672"/>
            <a:ext cx="24231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Inter"/>
              </a:rPr>
              <a:t>Hassan Sajjad  •  Sep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  <a:latin typeface="Inter"/>
              </a:rPr>
              <a:t>RELEASE OPERATIONS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Inter"/>
              </a:rPr>
              <a:t>Redeploy and rollback avoid unnecessary infrastructure work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5166360" cy="4206240"/>
          </a:xfrm>
          <a:prstGeom prst="roundRect">
            <a:avLst/>
          </a:prstGeom>
          <a:solidFill>
            <a:srgbClr val="142A50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182880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Inter"/>
              </a:rPr>
              <a:t>Changed-source Redeploy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423160"/>
            <a:ext cx="43891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b="1" sz="1500">
                <a:solidFill>
                  <a:srgbClr val="D5E2F1"/>
                </a:solidFill>
                <a:latin typeface="Inter"/>
              </a:rPr>
              <a:t>Build: </a:t>
            </a:r>
            <a:r>
              <a:rPr sz="1500">
                <a:solidFill>
                  <a:srgbClr val="D5E2F1"/>
                </a:solidFill>
                <a:latin typeface="Inter"/>
              </a:rPr>
              <a:t>new source → new ECR digest</a:t>
            </a:r>
          </a:p>
          <a:p>
            <a:pPr>
              <a:spcAft>
                <a:spcPts val="700"/>
              </a:spcAft>
            </a:pPr>
            <a:r>
              <a:rPr b="1" sz="1500">
                <a:solidFill>
                  <a:srgbClr val="D5E2F1"/>
                </a:solidFill>
                <a:latin typeface="Inter"/>
              </a:rPr>
              <a:t>Topology: </a:t>
            </a:r>
            <a:r>
              <a:rPr sz="1500">
                <a:solidFill>
                  <a:srgbClr val="D5E2F1"/>
                </a:solidFill>
                <a:latin typeface="Inter"/>
              </a:rPr>
              <a:t>reuse existing Terraform outputs</a:t>
            </a:r>
          </a:p>
          <a:p>
            <a:pPr>
              <a:spcAft>
                <a:spcPts val="700"/>
              </a:spcAft>
            </a:pPr>
            <a:r>
              <a:rPr b="1" sz="1500">
                <a:solidFill>
                  <a:srgbClr val="D5E2F1"/>
                </a:solidFill>
                <a:latin typeface="Inter"/>
              </a:rPr>
              <a:t>Runtime: </a:t>
            </a:r>
            <a:r>
              <a:rPr sz="1500">
                <a:solidFill>
                  <a:srgbClr val="D5E2F1"/>
                </a:solidFill>
                <a:latin typeface="Inter"/>
              </a:rPr>
              <a:t>register new task definition + update ECS</a:t>
            </a:r>
          </a:p>
          <a:p>
            <a:pPr>
              <a:spcAft>
                <a:spcPts val="700"/>
              </a:spcAft>
            </a:pPr>
            <a:r>
              <a:rPr b="1" sz="1500">
                <a:solidFill>
                  <a:srgbClr val="D5E2F1"/>
                </a:solidFill>
                <a:latin typeface="Inter"/>
              </a:rPr>
              <a:t>Guardrail: </a:t>
            </a:r>
            <a:r>
              <a:rPr sz="1500">
                <a:solidFill>
                  <a:srgbClr val="D5E2F1"/>
                </a:solidFill>
                <a:latin typeface="Inter"/>
              </a:rPr>
              <a:t>service-port/topology mismatch rejects fast path</a:t>
            </a:r>
          </a:p>
          <a:p>
            <a:pPr>
              <a:spcAft>
                <a:spcPts val="700"/>
              </a:spcAft>
            </a:pPr>
            <a:r>
              <a:rPr b="1" sz="1500">
                <a:solidFill>
                  <a:srgbClr val="D5E2F1"/>
                </a:solidFill>
                <a:latin typeface="Inter"/>
              </a:rPr>
              <a:t>Gate: </a:t>
            </a:r>
            <a:r>
              <a:rPr sz="1500">
                <a:solidFill>
                  <a:srgbClr val="D5E2F1"/>
                </a:solidFill>
                <a:latin typeface="Inter"/>
              </a:rPr>
              <a:t>full runtime verification still required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508760"/>
            <a:ext cx="5166360" cy="4206240"/>
          </a:xfrm>
          <a:prstGeom prst="roundRect">
            <a:avLst/>
          </a:prstGeom>
          <a:solidFill>
            <a:srgbClr val="142A50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29400" y="182880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Inter"/>
              </a:rPr>
              <a:t>Rollback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2423160"/>
            <a:ext cx="43891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b="1" sz="1500">
                <a:solidFill>
                  <a:srgbClr val="D5E2F1"/>
                </a:solidFill>
                <a:latin typeface="Inter"/>
              </a:rPr>
              <a:t>Build: </a:t>
            </a:r>
            <a:r>
              <a:rPr sz="1500">
                <a:solidFill>
                  <a:srgbClr val="D5E2F1"/>
                </a:solidFill>
                <a:latin typeface="Inter"/>
              </a:rPr>
              <a:t>none</a:t>
            </a:r>
          </a:p>
          <a:p>
            <a:pPr>
              <a:spcAft>
                <a:spcPts val="700"/>
              </a:spcAft>
            </a:pPr>
            <a:r>
              <a:rPr b="1" sz="1500">
                <a:solidFill>
                  <a:srgbClr val="D5E2F1"/>
                </a:solidFill>
                <a:latin typeface="Inter"/>
              </a:rPr>
              <a:t>Artifact: </a:t>
            </a:r>
            <a:r>
              <a:rPr sz="1500">
                <a:solidFill>
                  <a:srgbClr val="D5E2F1"/>
                </a:solidFill>
                <a:latin typeface="Inter"/>
              </a:rPr>
              <a:t>prior immutable digest</a:t>
            </a:r>
          </a:p>
          <a:p>
            <a:pPr>
              <a:spcAft>
                <a:spcPts val="700"/>
              </a:spcAft>
            </a:pPr>
            <a:r>
              <a:rPr b="1" sz="1500">
                <a:solidFill>
                  <a:srgbClr val="D5E2F1"/>
                </a:solidFill>
                <a:latin typeface="Inter"/>
              </a:rPr>
              <a:t>Runtime: </a:t>
            </a:r>
            <a:r>
              <a:rPr sz="1500">
                <a:solidFill>
                  <a:srgbClr val="D5E2F1"/>
                </a:solidFill>
                <a:latin typeface="Inter"/>
              </a:rPr>
              <a:t>historical task definition identity</a:t>
            </a:r>
          </a:p>
          <a:p>
            <a:pPr>
              <a:spcAft>
                <a:spcPts val="700"/>
              </a:spcAft>
            </a:pPr>
            <a:r>
              <a:rPr b="1" sz="1500">
                <a:solidFill>
                  <a:srgbClr val="D5E2F1"/>
                </a:solidFill>
                <a:latin typeface="Inter"/>
              </a:rPr>
              <a:t>Safety: </a:t>
            </a:r>
            <a:r>
              <a:rPr sz="1500">
                <a:solidFill>
                  <a:srgbClr val="D5E2F1"/>
                </a:solidFill>
                <a:latin typeface="Inter"/>
              </a:rPr>
              <a:t>only eligible immediate rollback target</a:t>
            </a:r>
          </a:p>
          <a:p>
            <a:pPr>
              <a:spcAft>
                <a:spcPts val="700"/>
              </a:spcAft>
            </a:pPr>
            <a:r>
              <a:rPr b="1" sz="1500">
                <a:solidFill>
                  <a:srgbClr val="D5E2F1"/>
                </a:solidFill>
                <a:latin typeface="Inter"/>
              </a:rPr>
              <a:t>Gate: </a:t>
            </a:r>
            <a:r>
              <a:rPr sz="1500">
                <a:solidFill>
                  <a:srgbClr val="D5E2F1"/>
                </a:solidFill>
                <a:latin typeface="Inter"/>
              </a:rPr>
              <a:t>verify ECS/ALB/public transport after update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519672"/>
            <a:ext cx="29260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94A3B8"/>
                </a:solidFill>
                <a:latin typeface="Inter"/>
              </a:rPr>
              <a:t>DEPLOYGUARD  •  FYP  •  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6519672"/>
            <a:ext cx="24231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Inter"/>
              </a:rPr>
              <a:t>Hassan Sajjad  •  Sep 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  <a:latin typeface="Inter"/>
              </a:rPr>
              <a:t>SAFETY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B1530"/>
                </a:solidFill>
                <a:latin typeface="Inter"/>
              </a:rPr>
              <a:t>Destroy is an evidence-producing lifecycle operation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298448"/>
            <a:ext cx="10561320" cy="768096"/>
          </a:xfrm>
          <a:prstGeom prst="roundRect">
            <a:avLst/>
          </a:prstGeom>
          <a:solidFill>
            <a:srgbClr val="FFFFFF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1490472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9E0B"/>
                </a:solidFill>
                <a:latin typeface="Inter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91640" y="1444751"/>
            <a:ext cx="2331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B1530"/>
                </a:solidFill>
                <a:latin typeface="Inter"/>
              </a:rPr>
              <a:t>Terraform destroy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444751"/>
            <a:ext cx="67665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Inter"/>
              </a:rPr>
              <a:t>Owned AWS topology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286000"/>
            <a:ext cx="10561320" cy="768096"/>
          </a:xfrm>
          <a:prstGeom prst="roundRect">
            <a:avLst/>
          </a:prstGeom>
          <a:solidFill>
            <a:srgbClr val="FFFFFF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478024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9E0B"/>
                </a:solidFill>
                <a:latin typeface="Inter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432304"/>
            <a:ext cx="2331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B1530"/>
                </a:solidFill>
                <a:latin typeface="Inter"/>
              </a:rPr>
              <a:t>Runtime secrets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2432304"/>
            <a:ext cx="67665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Inter"/>
              </a:rPr>
              <a:t>Exact namespace + ownership tags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273552"/>
            <a:ext cx="10561320" cy="768096"/>
          </a:xfrm>
          <a:prstGeom prst="roundRect">
            <a:avLst/>
          </a:prstGeom>
          <a:solidFill>
            <a:srgbClr val="FFFFFF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465576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9E0B"/>
                </a:solidFill>
                <a:latin typeface="Inter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3419856"/>
            <a:ext cx="2331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B1530"/>
                </a:solidFill>
                <a:latin typeface="Inter"/>
              </a:rPr>
              <a:t>ECR cleanup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3419856"/>
            <a:ext cx="67665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Inter"/>
              </a:rPr>
              <a:t>Missing repo = already clean; real errors fail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261104"/>
            <a:ext cx="10561320" cy="768096"/>
          </a:xfrm>
          <a:prstGeom prst="roundRect">
            <a:avLst/>
          </a:prstGeom>
          <a:solidFill>
            <a:srgbClr val="FFFFFF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4453128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9E0B"/>
                </a:solidFill>
                <a:latin typeface="Inter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" y="4407408"/>
            <a:ext cx="2331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B1530"/>
                </a:solidFill>
                <a:latin typeface="Inter"/>
              </a:rPr>
              <a:t>State cleanup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4407408"/>
            <a:ext cx="67665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Inter"/>
              </a:rPr>
              <a:t>Environment-scoped state/lock absence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5248656"/>
            <a:ext cx="10561320" cy="768096"/>
          </a:xfrm>
          <a:prstGeom prst="roundRect">
            <a:avLst/>
          </a:prstGeom>
          <a:solidFill>
            <a:srgbClr val="FFFFFF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544068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6A34A"/>
                </a:solidFill>
                <a:latin typeface="Inter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91640" y="5394960"/>
            <a:ext cx="2331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B1530"/>
                </a:solidFill>
                <a:latin typeface="Inter"/>
              </a:rPr>
              <a:t>Control-plane finalization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5394960"/>
            <a:ext cx="67665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Inter"/>
              </a:rPr>
              <a:t>Only after verified cloud deletion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519672"/>
            <a:ext cx="29260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94A3B8"/>
                </a:solidFill>
                <a:latin typeface="Inter"/>
              </a:rPr>
              <a:t>DEPLOYGUARD  •  FYP  •  13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6519672"/>
            <a:ext cx="24231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Inter"/>
              </a:rPr>
              <a:t>Hassan Sajjad  •  Sep 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  <a:latin typeface="Inter"/>
              </a:rPr>
              <a:t>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B1530"/>
                </a:solidFill>
                <a:latin typeface="Inter"/>
              </a:rPr>
              <a:t>Security is layered around release integrity</a:t>
            </a:r>
          </a:p>
        </p:txBody>
      </p:sp>
      <p:pic>
        <p:nvPicPr>
          <p:cNvPr id="4" name="Picture 3" descr="security_lay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143000"/>
            <a:ext cx="11430000" cy="5212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" y="6519672"/>
            <a:ext cx="29260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94A3B8"/>
                </a:solidFill>
                <a:latin typeface="Inter"/>
              </a:rPr>
              <a:t>DEPLOYGUARD  •  FYP  • 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519672"/>
            <a:ext cx="24231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Inter"/>
              </a:rPr>
              <a:t>Hassan Sajjad  •  Sep 2026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  <a:latin typeface="Inter"/>
              </a:rPr>
              <a:t>SECURITY CONTROLS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Inter"/>
              </a:rPr>
              <a:t>Identity, secrets and cloud trust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3429000" cy="4389120"/>
          </a:xfrm>
          <a:prstGeom prst="roundRect">
            <a:avLst/>
          </a:prstGeom>
          <a:solidFill>
            <a:srgbClr val="142A50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41832" y="1755648"/>
            <a:ext cx="2880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Inter"/>
              </a:rPr>
              <a:t>User identity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2423160"/>
            <a:ext cx="274320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A8CFE1"/>
                </a:solidFill>
                <a:latin typeface="Inter"/>
              </a:rPr>
              <a:t>OAuth state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2697479"/>
            <a:ext cx="2788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E1EAF5"/>
                </a:solidFill>
                <a:latin typeface="Inter"/>
              </a:rPr>
              <a:t>callback must match random cookie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3401568"/>
            <a:ext cx="274320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A8CFE1"/>
                </a:solidFill>
                <a:latin typeface="Inter"/>
              </a:rPr>
              <a:t>Session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3675887"/>
            <a:ext cx="2788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E1EAF5"/>
                </a:solidFill>
                <a:latin typeface="Inter"/>
              </a:rPr>
              <a:t>HttpOnly • SameSite=Lax • signed audience/expiry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4379976"/>
            <a:ext cx="274320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A8CFE1"/>
                </a:solidFill>
                <a:latin typeface="Inter"/>
              </a:rPr>
              <a:t>RBAC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4654296"/>
            <a:ext cx="2788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E1EAF5"/>
                </a:solidFill>
                <a:latin typeface="Inter"/>
              </a:rPr>
              <a:t>readonly / developer / admin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60" y="1417320"/>
            <a:ext cx="3429000" cy="4389120"/>
          </a:xfrm>
          <a:prstGeom prst="roundRect">
            <a:avLst/>
          </a:prstGeom>
          <a:solidFill>
            <a:srgbClr val="142A50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36592" y="1755648"/>
            <a:ext cx="2880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Inter"/>
              </a:rPr>
              <a:t>Configuration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36592" y="2423160"/>
            <a:ext cx="274320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A8CFE1"/>
                </a:solidFill>
                <a:latin typeface="Inter"/>
              </a:rPr>
              <a:t>At rest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36592" y="2697479"/>
            <a:ext cx="2788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E1EAF5"/>
                </a:solidFill>
                <a:latin typeface="Inter"/>
              </a:rPr>
              <a:t>AES-256-GCM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36592" y="3401568"/>
            <a:ext cx="274320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A8CFE1"/>
                </a:solidFill>
                <a:latin typeface="Inter"/>
              </a:rPr>
              <a:t>Runtime secrets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36592" y="3675887"/>
            <a:ext cx="2788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E1EAF5"/>
                </a:solidFill>
                <a:latin typeface="Inter"/>
              </a:rPr>
              <a:t>Secrets Manager + immutable version ID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36592" y="4379976"/>
            <a:ext cx="274320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A8CFE1"/>
                </a:solidFill>
                <a:latin typeface="Inter"/>
              </a:rPr>
              <a:t>Rollback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36592" y="4654296"/>
            <a:ext cx="2788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E1EAF5"/>
                </a:solidFill>
                <a:latin typeface="Inter"/>
              </a:rPr>
              <a:t>does not follow mutable AWSCURRENT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75320" y="1417320"/>
            <a:ext cx="3429000" cy="4389120"/>
          </a:xfrm>
          <a:prstGeom prst="roundRect">
            <a:avLst/>
          </a:prstGeom>
          <a:solidFill>
            <a:srgbClr val="142A50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31352" y="1755648"/>
            <a:ext cx="2880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Inter"/>
              </a:rPr>
              <a:t>AWS trust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31352" y="2423160"/>
            <a:ext cx="274320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A8CFE1"/>
                </a:solidFill>
                <a:latin typeface="Inter"/>
              </a:rPr>
              <a:t>Actions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31352" y="2697479"/>
            <a:ext cx="2788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E1EAF5"/>
                </a:solidFill>
                <a:latin typeface="Inter"/>
              </a:rPr>
              <a:t>GitHub OIDC → dedicated role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31352" y="3401568"/>
            <a:ext cx="274320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A8CFE1"/>
                </a:solidFill>
                <a:latin typeface="Inter"/>
              </a:rPr>
              <a:t>Backend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31352" y="3675887"/>
            <a:ext cx="2788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E1EAF5"/>
                </a:solidFill>
                <a:latin typeface="Inter"/>
              </a:rPr>
              <a:t>separate AWS identity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31352" y="4379976"/>
            <a:ext cx="274320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A8CFE1"/>
                </a:solidFill>
                <a:latin typeface="Inter"/>
              </a:rPr>
              <a:t>Guard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31352" y="4654296"/>
            <a:ext cx="2788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E1EAF5"/>
                </a:solidFill>
                <a:latin typeface="Inter"/>
              </a:rPr>
              <a:t>STS account = configured account = role account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6519672"/>
            <a:ext cx="29260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94A3B8"/>
                </a:solidFill>
                <a:latin typeface="Inter"/>
              </a:rPr>
              <a:t>DEPLOYGUARD  •  FYP  •  15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6519672"/>
            <a:ext cx="24231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Inter"/>
              </a:rPr>
              <a:t>Hassan Sajjad  •  Sep 2026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  <a:latin typeface="Inter"/>
              </a:rPr>
              <a:t>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B1530"/>
                </a:solidFill>
                <a:latin typeface="Inter"/>
              </a:rPr>
              <a:t>Supply-chain and evidence controls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53949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527048"/>
            <a:ext cx="48006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B1530"/>
                </a:solidFill>
                <a:latin typeface="Inter"/>
              </a:rPr>
              <a:t>Exact workflow SHA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947672"/>
            <a:ext cx="4800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Inter"/>
              </a:rPr>
              <a:t>40-character immutable pin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80" y="1325880"/>
            <a:ext cx="53949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527048"/>
            <a:ext cx="48006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B1530"/>
                </a:solidFill>
                <a:latin typeface="Inter"/>
              </a:rPr>
              <a:t>Executable SHA-256 contract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947672"/>
            <a:ext cx="4800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Inter"/>
              </a:rPr>
              <a:t>Workflow + Terraform + verification + fallback assets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880360"/>
            <a:ext cx="53949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081528"/>
            <a:ext cx="48006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B1530"/>
                </a:solidFill>
                <a:latin typeface="Inter"/>
              </a:rPr>
              <a:t>Pinned Actions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502152"/>
            <a:ext cx="4800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Inter"/>
              </a:rPr>
              <a:t>checkout / AWS credentials / Terraform / artifacts / Trivy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2880360"/>
            <a:ext cx="53949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3081528"/>
            <a:ext cx="48006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B1530"/>
                </a:solidFill>
                <a:latin typeface="Inter"/>
              </a:rPr>
              <a:t>Pinned helper images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502152"/>
            <a:ext cx="4800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Inter"/>
              </a:rPr>
              <a:t>BuildKit + transport probe digests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434840"/>
            <a:ext cx="53949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636007"/>
            <a:ext cx="48006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B1530"/>
                </a:solidFill>
                <a:latin typeface="Inter"/>
              </a:rPr>
              <a:t>Railpack checksum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056631"/>
            <a:ext cx="4800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Inter"/>
              </a:rPr>
              <a:t>Builder identity verified before build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80" y="4434840"/>
            <a:ext cx="53949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4636007"/>
            <a:ext cx="48006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B1530"/>
                </a:solidFill>
                <a:latin typeface="Inter"/>
              </a:rPr>
              <a:t>Structured artifacts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5056631"/>
            <a:ext cx="4800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Inter"/>
              </a:rPr>
              <a:t>Success and DG_* failure evidence are bounded and validated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519672"/>
            <a:ext cx="29260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94A3B8"/>
                </a:solidFill>
                <a:latin typeface="Inter"/>
              </a:rPr>
              <a:t>DEPLOYGUARD  •  FYP  •  16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6519672"/>
            <a:ext cx="24231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Inter"/>
              </a:rPr>
              <a:t>Hassan Sajjad  •  Sep 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  <a:latin typeface="Inter"/>
              </a:rPr>
              <a:t>PRODUCT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Inter"/>
              </a:rPr>
              <a:t>Operations beyond deploy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3401568" cy="1554480"/>
          </a:xfrm>
          <a:prstGeom prst="roundRect">
            <a:avLst/>
          </a:prstGeom>
          <a:solidFill>
            <a:srgbClr val="142A50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2880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Inter"/>
              </a:rPr>
              <a:t>Observability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28803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D5E2F1"/>
                </a:solidFill>
                <a:latin typeface="Inter"/>
              </a:rPr>
              <a:t>CloudWatch logs/metrics • Prometheus export • live-runtime resolver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53128" y="1417320"/>
            <a:ext cx="3401568" cy="1554480"/>
          </a:xfrm>
          <a:prstGeom prst="roundRect">
            <a:avLst/>
          </a:prstGeom>
          <a:solidFill>
            <a:srgbClr val="142A50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81728" y="1645920"/>
            <a:ext cx="2880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Inter"/>
              </a:rPr>
              <a:t>Failure diagnostics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81728" y="2103120"/>
            <a:ext cx="28803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D5E2F1"/>
                </a:solidFill>
                <a:latin typeface="Inter"/>
              </a:rPr>
              <a:t>Ownership/provider/stage + retry decision from structured evidence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0456" y="1417320"/>
            <a:ext cx="3401568" cy="1554480"/>
          </a:xfrm>
          <a:prstGeom prst="roundRect">
            <a:avLst/>
          </a:prstGeom>
          <a:solidFill>
            <a:srgbClr val="142A50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49056" y="1645920"/>
            <a:ext cx="2880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Inter"/>
              </a:rPr>
              <a:t>AI troubleshooting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49056" y="2103120"/>
            <a:ext cx="28803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D5E2F1"/>
                </a:solidFill>
                <a:latin typeface="Inter"/>
              </a:rPr>
              <a:t>Sanitized evidence-assisted analysis; not deployment authority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29000"/>
            <a:ext cx="3401568" cy="1554480"/>
          </a:xfrm>
          <a:prstGeom prst="roundRect">
            <a:avLst/>
          </a:prstGeom>
          <a:solidFill>
            <a:srgbClr val="142A50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657600"/>
            <a:ext cx="2880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Inter"/>
              </a:rPr>
              <a:t>Cost evidence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114800"/>
            <a:ext cx="28803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D5E2F1"/>
                </a:solidFill>
                <a:latin typeface="Inter"/>
              </a:rPr>
              <a:t>Infracost + project cost projections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53128" y="3429000"/>
            <a:ext cx="3401568" cy="1554480"/>
          </a:xfrm>
          <a:prstGeom prst="roundRect">
            <a:avLst/>
          </a:prstGeom>
          <a:solidFill>
            <a:srgbClr val="142A50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81728" y="3657600"/>
            <a:ext cx="2880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Inter"/>
              </a:rPr>
              <a:t>Billing &amp; entitlements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81728" y="4114800"/>
            <a:ext cx="28803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D5E2F1"/>
                </a:solidFill>
                <a:latin typeface="Inter"/>
              </a:rPr>
              <a:t>Subscriptions • usage • checkout • invoice • payment • webhooks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0456" y="3429000"/>
            <a:ext cx="3401568" cy="1554480"/>
          </a:xfrm>
          <a:prstGeom prst="roundRect">
            <a:avLst/>
          </a:prstGeom>
          <a:solidFill>
            <a:srgbClr val="142A50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49056" y="3657600"/>
            <a:ext cx="2880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Inter"/>
              </a:rPr>
              <a:t>Notifications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49056" y="4114800"/>
            <a:ext cx="28803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D5E2F1"/>
                </a:solidFill>
                <a:latin typeface="Inter"/>
              </a:rPr>
              <a:t>Preferences/subscriptions/delivery + SNS adapter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519672"/>
            <a:ext cx="29260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94A3B8"/>
                </a:solidFill>
                <a:latin typeface="Inter"/>
              </a:rPr>
              <a:t>DEPLOYGUARD  •  FYP  •  17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6519672"/>
            <a:ext cx="24231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Inter"/>
              </a:rPr>
              <a:t>Hassan Sajjad  •  Sep 2026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  <a:latin typeface="Inter"/>
              </a:rPr>
              <a:t>OPERATIONS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B1530"/>
                </a:solidFill>
                <a:latin typeface="Inter"/>
              </a:rPr>
              <a:t>Performance behavior: optimize work, do not invent benchmarks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371600"/>
            <a:ext cx="106527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0020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B1530"/>
                </a:solidFill>
                <a:latin typeface="Inter"/>
              </a:rPr>
              <a:t>Deploy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23160" y="1581912"/>
            <a:ext cx="5669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Inter"/>
              </a:rPr>
              <a:t>Build + ECR + Terraform + ECS/ALB verification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75320" y="1581912"/>
            <a:ext cx="2651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1">
                <a:solidFill>
                  <a:srgbClr val="2563EB"/>
                </a:solidFill>
                <a:latin typeface="Inter"/>
              </a:rPr>
              <a:t>Most work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514600"/>
            <a:ext cx="106527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74320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B1530"/>
                </a:solidFill>
                <a:latin typeface="Inter"/>
              </a:rPr>
              <a:t>Redeploy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23160" y="2724912"/>
            <a:ext cx="5669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Inter"/>
              </a:rPr>
              <a:t>Build + ECR + new task definition + ECS update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75320" y="2724912"/>
            <a:ext cx="2651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1">
                <a:solidFill>
                  <a:srgbClr val="14B8A6"/>
                </a:solidFill>
                <a:latin typeface="Inter"/>
              </a:rPr>
              <a:t>Skips Terraform apply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657600"/>
            <a:ext cx="106527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88620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B1530"/>
                </a:solidFill>
                <a:latin typeface="Inter"/>
              </a:rPr>
              <a:t>Rollback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23160" y="3867912"/>
            <a:ext cx="5669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Inter"/>
              </a:rPr>
              <a:t>Historical digest/task definition + ECS update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3867912"/>
            <a:ext cx="2651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1">
                <a:solidFill>
                  <a:srgbClr val="7C3AED"/>
                </a:solidFill>
                <a:latin typeface="Inter"/>
              </a:rPr>
              <a:t>No rebuild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800600"/>
            <a:ext cx="106527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502920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B1530"/>
                </a:solidFill>
                <a:latin typeface="Inter"/>
              </a:rPr>
              <a:t>Destroy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23160" y="5010912"/>
            <a:ext cx="5669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Inter"/>
              </a:rPr>
              <a:t>Terraform destroy + cleanup proofs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5010912"/>
            <a:ext cx="2651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1">
                <a:solidFill>
                  <a:srgbClr val="F59E0B"/>
                </a:solidFill>
                <a:latin typeface="Inter"/>
              </a:rPr>
              <a:t>Deletion-bound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989320"/>
            <a:ext cx="10241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59E0B"/>
                </a:solidFill>
                <a:latin typeface="Inter"/>
              </a:rPr>
              <a:t>No newest-pin latency / throughput / cost benchmark is claimed until AWS E2E is rerun.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519672"/>
            <a:ext cx="29260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94A3B8"/>
                </a:solidFill>
                <a:latin typeface="Inter"/>
              </a:rPr>
              <a:t>DEPLOYGUARD  •  FYP  •  18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6519672"/>
            <a:ext cx="24231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Inter"/>
              </a:rPr>
              <a:t>Hassan Sajjad  •  Sep 2026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  <a:latin typeface="Inter"/>
              </a:rPr>
              <a:t>COMPETITIVE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B1530"/>
                </a:solidFill>
                <a:latin typeface="Inter"/>
              </a:rPr>
              <a:t>DeployGuard vs Vercel vs Render vs Heroku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61872"/>
            <a:ext cx="1737360" cy="502920"/>
          </a:xfrm>
          <a:prstGeom prst="roundRect">
            <a:avLst/>
          </a:prstGeom>
          <a:solidFill>
            <a:srgbClr val="EEF2F7"/>
          </a:solidFill>
          <a:ln>
            <a:solidFill>
              <a:srgbClr val="EE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1645919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0B1530"/>
                </a:solidFill>
                <a:latin typeface="Inter"/>
              </a:rPr>
              <a:t/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40280" y="1261872"/>
            <a:ext cx="2331720" cy="502920"/>
          </a:xfrm>
          <a:prstGeom prst="roundRect">
            <a:avLst/>
          </a:prstGeom>
          <a:solidFill>
            <a:srgbClr val="0B1530"/>
          </a:solidFill>
          <a:ln>
            <a:solidFill>
              <a:srgbClr val="0B1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0" y="1417320"/>
            <a:ext cx="2240279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Inter"/>
              </a:rPr>
              <a:t>DeployGuard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17720" y="1261872"/>
            <a:ext cx="2423160" cy="502920"/>
          </a:xfrm>
          <a:prstGeom prst="roundRect">
            <a:avLst/>
          </a:prstGeom>
          <a:solidFill>
            <a:srgbClr val="0B1530"/>
          </a:solidFill>
          <a:ln>
            <a:solidFill>
              <a:srgbClr val="0B1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1417320"/>
            <a:ext cx="23317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Inter"/>
              </a:rPr>
              <a:t>Vercel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086600" y="1261872"/>
            <a:ext cx="2423160" cy="502920"/>
          </a:xfrm>
          <a:prstGeom prst="roundRect">
            <a:avLst/>
          </a:prstGeom>
          <a:solidFill>
            <a:srgbClr val="0B1530"/>
          </a:solidFill>
          <a:ln>
            <a:solidFill>
              <a:srgbClr val="0B1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0" y="1417320"/>
            <a:ext cx="23317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Inter"/>
              </a:rPr>
              <a:t>Render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555480" y="1261872"/>
            <a:ext cx="2148840" cy="502920"/>
          </a:xfrm>
          <a:prstGeom prst="roundRect">
            <a:avLst/>
          </a:prstGeom>
          <a:solidFill>
            <a:srgbClr val="0B1530"/>
          </a:solidFill>
          <a:ln>
            <a:solidFill>
              <a:srgbClr val="0B1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0" y="1417320"/>
            <a:ext cx="2057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Inter"/>
              </a:rPr>
              <a:t>Heroku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1783080"/>
            <a:ext cx="173736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6072" y="1947672"/>
            <a:ext cx="159105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0B1530"/>
                </a:solidFill>
                <a:latin typeface="Inter"/>
              </a:rPr>
              <a:t>Ownership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40280" y="1783080"/>
            <a:ext cx="233172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313432" y="1947672"/>
            <a:ext cx="2185415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64748B"/>
                </a:solidFill>
                <a:latin typeface="Inter"/>
              </a:rPr>
              <a:t>AWS account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17720" y="1783080"/>
            <a:ext cx="242316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90872" y="1947672"/>
            <a:ext cx="227685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64748B"/>
                </a:solidFill>
                <a:latin typeface="Inter"/>
              </a:rPr>
              <a:t>Vercel infra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086600" y="1783080"/>
            <a:ext cx="242316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59752" y="1947672"/>
            <a:ext cx="227685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64748B"/>
                </a:solidFill>
                <a:latin typeface="Inter"/>
              </a:rPr>
              <a:t>Render infra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555480" y="1783080"/>
            <a:ext cx="214884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28632" y="1947672"/>
            <a:ext cx="200253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64748B"/>
                </a:solidFill>
                <a:latin typeface="Inter"/>
              </a:rPr>
              <a:t>Heroku runtime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2441448"/>
            <a:ext cx="1737360" cy="658368"/>
          </a:xfrm>
          <a:prstGeom prst="rect">
            <a:avLst/>
          </a:prstGeom>
          <a:solidFill>
            <a:srgbClr val="F3F6FA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6072" y="2606040"/>
            <a:ext cx="159105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0B1530"/>
                </a:solidFill>
                <a:latin typeface="Inter"/>
              </a:rPr>
              <a:t>Release ID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40280" y="2441448"/>
            <a:ext cx="2331720" cy="658368"/>
          </a:xfrm>
          <a:prstGeom prst="rect">
            <a:avLst/>
          </a:prstGeom>
          <a:solidFill>
            <a:srgbClr val="F3F6FA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313432" y="2606040"/>
            <a:ext cx="2185415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64748B"/>
                </a:solidFill>
                <a:latin typeface="Inter"/>
              </a:rPr>
              <a:t>Digest + task def + evidence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617720" y="2441448"/>
            <a:ext cx="2423160" cy="658368"/>
          </a:xfrm>
          <a:prstGeom prst="rect">
            <a:avLst/>
          </a:prstGeom>
          <a:solidFill>
            <a:srgbClr val="F3F6FA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90872" y="2606040"/>
            <a:ext cx="227685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64748B"/>
                </a:solidFill>
                <a:latin typeface="Inter"/>
              </a:rPr>
              <a:t>Deployment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086600" y="2441448"/>
            <a:ext cx="2423160" cy="658368"/>
          </a:xfrm>
          <a:prstGeom prst="rect">
            <a:avLst/>
          </a:prstGeom>
          <a:solidFill>
            <a:srgbClr val="F3F6FA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159752" y="2606040"/>
            <a:ext cx="227685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64748B"/>
                </a:solidFill>
                <a:latin typeface="Inter"/>
              </a:rPr>
              <a:t>Deploy/artifact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555480" y="2441448"/>
            <a:ext cx="2148840" cy="658368"/>
          </a:xfrm>
          <a:prstGeom prst="rect">
            <a:avLst/>
          </a:prstGeom>
          <a:solidFill>
            <a:srgbClr val="F3F6FA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28632" y="2606040"/>
            <a:ext cx="200253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64748B"/>
                </a:solidFill>
                <a:latin typeface="Inter"/>
              </a:rPr>
              <a:t>Release + slug/OCI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3099815"/>
            <a:ext cx="173736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76072" y="3264408"/>
            <a:ext cx="159105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0B1530"/>
                </a:solidFill>
                <a:latin typeface="Inter"/>
              </a:rPr>
              <a:t>IaC/state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240280" y="3099815"/>
            <a:ext cx="233172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313432" y="3264408"/>
            <a:ext cx="2185415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64748B"/>
                </a:solidFill>
                <a:latin typeface="Inter"/>
              </a:rPr>
              <a:t>Terraform + S3 lock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17720" y="3099815"/>
            <a:ext cx="242316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690872" y="3264408"/>
            <a:ext cx="227685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64748B"/>
                </a:solidFill>
                <a:latin typeface="Inter"/>
              </a:rPr>
              <a:t>Platform / Build Output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086600" y="3099815"/>
            <a:ext cx="242316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159752" y="3264408"/>
            <a:ext cx="227685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64748B"/>
                </a:solidFill>
                <a:latin typeface="Inter"/>
              </a:rPr>
              <a:t>render.yaml Blueprint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555480" y="3099815"/>
            <a:ext cx="214884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628632" y="3264408"/>
            <a:ext cx="200253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64748B"/>
                </a:solidFill>
                <a:latin typeface="Inter"/>
              </a:rPr>
              <a:t>Platform release model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02920" y="3758183"/>
            <a:ext cx="1737360" cy="658368"/>
          </a:xfrm>
          <a:prstGeom prst="rect">
            <a:avLst/>
          </a:prstGeom>
          <a:solidFill>
            <a:srgbClr val="F3F6FA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76072" y="3922775"/>
            <a:ext cx="159105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0B1530"/>
                </a:solidFill>
                <a:latin typeface="Inter"/>
              </a:rPr>
              <a:t>Rollback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240280" y="3758183"/>
            <a:ext cx="2331720" cy="658368"/>
          </a:xfrm>
          <a:prstGeom prst="rect">
            <a:avLst/>
          </a:prstGeom>
          <a:solidFill>
            <a:srgbClr val="F3F6FA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313432" y="3922775"/>
            <a:ext cx="2185415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64748B"/>
                </a:solidFill>
                <a:latin typeface="Inter"/>
              </a:rPr>
              <a:t>Historical ECS identity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617720" y="3758183"/>
            <a:ext cx="2423160" cy="658368"/>
          </a:xfrm>
          <a:prstGeom prst="rect">
            <a:avLst/>
          </a:prstGeom>
          <a:solidFill>
            <a:srgbClr val="F3F6FA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690872" y="3922775"/>
            <a:ext cx="227685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64748B"/>
                </a:solidFill>
                <a:latin typeface="Inter"/>
              </a:rPr>
              <a:t>Point domain to old deploy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086600" y="3758183"/>
            <a:ext cx="2423160" cy="658368"/>
          </a:xfrm>
          <a:prstGeom prst="rect">
            <a:avLst/>
          </a:prstGeom>
          <a:solidFill>
            <a:srgbClr val="F3F6FA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159752" y="3922775"/>
            <a:ext cx="227685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64748B"/>
                </a:solidFill>
                <a:latin typeface="Inter"/>
              </a:rPr>
              <a:t>Deploy old artifact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555480" y="3758183"/>
            <a:ext cx="2148840" cy="658368"/>
          </a:xfrm>
          <a:prstGeom prst="rect">
            <a:avLst/>
          </a:prstGeom>
          <a:solidFill>
            <a:srgbClr val="F3F6FA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628632" y="3922775"/>
            <a:ext cx="200253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64748B"/>
                </a:solidFill>
                <a:latin typeface="Inter"/>
              </a:rPr>
              <a:t>New release from old slug/config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02920" y="4416551"/>
            <a:ext cx="173736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76072" y="4581143"/>
            <a:ext cx="159105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0B1530"/>
                </a:solidFill>
                <a:latin typeface="Inter"/>
              </a:rPr>
              <a:t>DB/persist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240280" y="4416551"/>
            <a:ext cx="233172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313432" y="4581143"/>
            <a:ext cx="2185415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64748B"/>
                </a:solidFill>
                <a:latin typeface="Inter"/>
              </a:rPr>
              <a:t>ECS DB + EFS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617720" y="4416551"/>
            <a:ext cx="242316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690872" y="4581143"/>
            <a:ext cx="227685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64748B"/>
                </a:solidFill>
                <a:latin typeface="Inter"/>
              </a:rPr>
              <a:t>External data services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086600" y="4416551"/>
            <a:ext cx="242316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159752" y="4581143"/>
            <a:ext cx="227685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64748B"/>
                </a:solidFill>
                <a:latin typeface="Inter"/>
              </a:rPr>
              <a:t>Managed DB / disk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555480" y="4416551"/>
            <a:ext cx="214884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628632" y="4581143"/>
            <a:ext cx="200253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64748B"/>
                </a:solidFill>
                <a:latin typeface="Inter"/>
              </a:rPr>
              <a:t>Add-ons / external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02920" y="5074919"/>
            <a:ext cx="1737360" cy="658368"/>
          </a:xfrm>
          <a:prstGeom prst="rect">
            <a:avLst/>
          </a:prstGeom>
          <a:solidFill>
            <a:srgbClr val="F3F6FA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76072" y="5239511"/>
            <a:ext cx="159105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0B1530"/>
                </a:solidFill>
                <a:latin typeface="Inter"/>
              </a:rPr>
              <a:t>Security angle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240280" y="5074919"/>
            <a:ext cx="2331720" cy="658368"/>
          </a:xfrm>
          <a:prstGeom prst="rect">
            <a:avLst/>
          </a:prstGeom>
          <a:solidFill>
            <a:srgbClr val="F3F6FA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313432" y="5239511"/>
            <a:ext cx="2185415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64748B"/>
                </a:solidFill>
                <a:latin typeface="Inter"/>
              </a:rPr>
              <a:t>OIDC/IAM + release integrity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617720" y="5074919"/>
            <a:ext cx="2423160" cy="658368"/>
          </a:xfrm>
          <a:prstGeom prst="rect">
            <a:avLst/>
          </a:prstGeom>
          <a:solidFill>
            <a:srgbClr val="F3F6FA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690872" y="5239511"/>
            <a:ext cx="227685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64748B"/>
                </a:solidFill>
                <a:latin typeface="Inter"/>
              </a:rPr>
              <a:t>Edge/WAF/protection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086600" y="5074919"/>
            <a:ext cx="2423160" cy="658368"/>
          </a:xfrm>
          <a:prstGeom prst="rect">
            <a:avLst/>
          </a:prstGeom>
          <a:solidFill>
            <a:srgbClr val="F3F6FA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159752" y="5239511"/>
            <a:ext cx="227685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64748B"/>
                </a:solidFill>
                <a:latin typeface="Inter"/>
              </a:rPr>
              <a:t>Managed service network</a:t>
            </a:r>
          </a:p>
        </p:txBody>
      </p:sp>
      <p:sp>
        <p:nvSpPr>
          <p:cNvPr id="72" name="Rectangle 71"/>
          <p:cNvSpPr/>
          <p:nvPr/>
        </p:nvSpPr>
        <p:spPr>
          <a:xfrm>
            <a:off x="9555480" y="5074919"/>
            <a:ext cx="2148840" cy="658368"/>
          </a:xfrm>
          <a:prstGeom prst="rect">
            <a:avLst/>
          </a:prstGeom>
          <a:solidFill>
            <a:srgbClr val="F3F6FA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628632" y="5239511"/>
            <a:ext cx="200253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64748B"/>
                </a:solidFill>
                <a:latin typeface="Inter"/>
              </a:rPr>
              <a:t>Dyno isolation / spaces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94360" y="6519672"/>
            <a:ext cx="29260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94A3B8"/>
                </a:solidFill>
                <a:latin typeface="Inter"/>
              </a:rPr>
              <a:t>DEPLOYGUARD  •  FYP  •  19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144000" y="6519672"/>
            <a:ext cx="24231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Inter"/>
              </a:rPr>
              <a:t>Hassan Sajjad  •  Sep 2026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  <a:latin typeface="Inter"/>
              </a:rPr>
              <a:t>HONEST POSITIONING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Inter"/>
              </a:rPr>
              <a:t>Clear differences - and where competitors are stronger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417320"/>
            <a:ext cx="10607040" cy="868680"/>
          </a:xfrm>
          <a:prstGeom prst="roundRect">
            <a:avLst/>
          </a:prstGeom>
          <a:solidFill>
            <a:srgbClr val="142A50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1636776"/>
            <a:ext cx="1325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Inter"/>
              </a:rPr>
              <a:t>Vercel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68880" y="1572768"/>
            <a:ext cx="8321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D5E2F1"/>
                </a:solidFill>
                <a:latin typeface="Inter"/>
              </a:rPr>
              <a:t>Best-in-class managed web/Functions + edge/WAF/deployment protection. DeployGuard gives AWS-resource ownership and explicit IAM/Terraform evidence instead.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578608"/>
            <a:ext cx="10607040" cy="868680"/>
          </a:xfrm>
          <a:prstGeom prst="roundRect">
            <a:avLst/>
          </a:prstGeom>
          <a:solidFill>
            <a:srgbClr val="142A50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798064"/>
            <a:ext cx="1325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Inter"/>
              </a:rPr>
              <a:t>Render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2734056"/>
            <a:ext cx="8321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D5E2F1"/>
                </a:solidFill>
                <a:latin typeface="Inter"/>
              </a:rPr>
              <a:t>Managed service + Blueprint model with strong simplicity; persistent disks/managed Postgres. DeployGuard exposes the AWS topology and release proof chain.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739896"/>
            <a:ext cx="10607040" cy="868680"/>
          </a:xfrm>
          <a:prstGeom prst="roundRect">
            <a:avLst/>
          </a:prstGeom>
          <a:solidFill>
            <a:srgbClr val="142A50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959352"/>
            <a:ext cx="1325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Inter"/>
              </a:rPr>
              <a:t>Heroku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3895344"/>
            <a:ext cx="8321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D5E2F1"/>
                </a:solidFill>
                <a:latin typeface="Inter"/>
              </a:rPr>
              <a:t>Mature dyno/release/config-var abstraction. DeployGuard is lower-level: ECS task definitions, ECR digests and Terraform state are first-class contract objects.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4901184"/>
            <a:ext cx="10607040" cy="868680"/>
          </a:xfrm>
          <a:prstGeom prst="roundRect">
            <a:avLst/>
          </a:prstGeom>
          <a:solidFill>
            <a:srgbClr val="142A50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5120640"/>
            <a:ext cx="1325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Inter"/>
              </a:rPr>
              <a:t>Trade-off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5056632"/>
            <a:ext cx="8321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D5E2F1"/>
                </a:solidFill>
                <a:latin typeface="Inter"/>
              </a:rPr>
              <a:t>DeployGuard gains auditability/control but assumes more IAM, networking and cloud-operation responsibility.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519672"/>
            <a:ext cx="29260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94A3B8"/>
                </a:solidFill>
                <a:latin typeface="Inter"/>
              </a:rPr>
              <a:t>DEPLOYGUARD  •  FYP  •  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6519672"/>
            <a:ext cx="24231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Inter"/>
              </a:rPr>
              <a:t>Hassan Sajjad  •  Sep 2026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  <a:latin typeface="Inter"/>
              </a:rPr>
              <a:t>SECURITY HONESTY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B1530"/>
                </a:solidFill>
                <a:latin typeface="Inter"/>
              </a:rPr>
              <a:t>What we do NOT claim yet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53312"/>
            <a:ext cx="52578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36192"/>
            <a:ext cx="4754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B1530"/>
                </a:solidFill>
                <a:latin typeface="Inter"/>
              </a:rPr>
              <a:t>Newest-pin production certification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56816"/>
            <a:ext cx="47548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Inter"/>
              </a:rPr>
              <a:t>Blocked before dispatch; no current-pin AWS E2E proof.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353312"/>
            <a:ext cx="52578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1536192"/>
            <a:ext cx="4754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B1530"/>
                </a:solidFill>
                <a:latin typeface="Inter"/>
              </a:rPr>
              <a:t>TLS/WAF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1956816"/>
            <a:ext cx="47548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Inter"/>
              </a:rPr>
              <a:t>Reference runtime is HTTP/80. HTTPS/ACM/WAF are hardening roadmap.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907791"/>
            <a:ext cx="52578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090672"/>
            <a:ext cx="4754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B1530"/>
                </a:solidFill>
                <a:latin typeface="Inter"/>
              </a:rPr>
              <a:t>Private app/DB subnets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511296"/>
            <a:ext cx="47548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Inter"/>
              </a:rPr>
              <a:t>Current runtime uses configured public subnets + public IP with SG restrictions.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2907791"/>
            <a:ext cx="52578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3090672"/>
            <a:ext cx="4754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B1530"/>
                </a:solidFill>
                <a:latin typeface="Inter"/>
              </a:rPr>
              <a:t>Managed DB = RDS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3511296"/>
            <a:ext cx="47548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Inter"/>
              </a:rPr>
              <a:t>No. It is containerized DB + EFS; HA/PITR/backups need further product work.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4462272"/>
            <a:ext cx="52578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645152"/>
            <a:ext cx="4754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B1530"/>
                </a:solidFill>
                <a:latin typeface="Inter"/>
              </a:rPr>
              <a:t>Autoscaling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065776"/>
            <a:ext cx="47548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Inter"/>
              </a:rPr>
              <a:t>Not part of the currently inspected certified Terraform topology.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4462272"/>
            <a:ext cx="52578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4645152"/>
            <a:ext cx="4754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B1530"/>
                </a:solidFill>
                <a:latin typeface="Inter"/>
              </a:rPr>
              <a:t>Least privilege in Test 2 certification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5065776"/>
            <a:ext cx="47548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Inter"/>
              </a:rPr>
              <a:t>Temporary broad AdministratorAccess was used to unblock certification; tighten after E2E.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519672"/>
            <a:ext cx="29260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94A3B8"/>
                </a:solidFill>
                <a:latin typeface="Inter"/>
              </a:rPr>
              <a:t>DEPLOYGUARD  •  FYP  •  21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6519672"/>
            <a:ext cx="24231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Inter"/>
              </a:rPr>
              <a:t>Hassan Sajjad  •  Sep 2026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  <a:latin typeface="Inter"/>
              </a:rPr>
              <a:t>FREEZE 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Inter"/>
              </a:rPr>
              <a:t>Certification snapshot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5394960" cy="4526280"/>
          </a:xfrm>
          <a:prstGeom prst="roundRect">
            <a:avLst/>
          </a:prstGeom>
          <a:solidFill>
            <a:srgbClr val="142A50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4592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Inter"/>
              </a:rPr>
              <a:t>TEST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240280"/>
            <a:ext cx="46177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b="1" sz="1400">
                <a:solidFill>
                  <a:srgbClr val="DCE7F5"/>
                </a:solidFill>
                <a:latin typeface="Inter"/>
              </a:rPr>
              <a:t>Head: </a:t>
            </a:r>
            <a:r>
              <a:rPr sz="1400">
                <a:solidFill>
                  <a:srgbClr val="DCE7F5"/>
                </a:solidFill>
                <a:latin typeface="Inter"/>
              </a:rPr>
              <a:t>54ddc957…</a:t>
            </a:r>
          </a:p>
          <a:p>
            <a:pPr>
              <a:spcAft>
                <a:spcPts val="700"/>
              </a:spcAft>
            </a:pPr>
            <a:r>
              <a:rPr b="1" sz="1400">
                <a:solidFill>
                  <a:srgbClr val="DCE7F5"/>
                </a:solidFill>
                <a:latin typeface="Inter"/>
              </a:rPr>
              <a:t>Pin: </a:t>
            </a:r>
            <a:r>
              <a:rPr sz="1400">
                <a:solidFill>
                  <a:srgbClr val="DCE7F5"/>
                </a:solidFill>
                <a:latin typeface="Inter"/>
              </a:rPr>
              <a:t>df86ae471…</a:t>
            </a:r>
          </a:p>
          <a:p>
            <a:pPr>
              <a:spcAft>
                <a:spcPts val="700"/>
              </a:spcAft>
            </a:pPr>
            <a:r>
              <a:rPr b="1" sz="1400">
                <a:solidFill>
                  <a:srgbClr val="DCE7F5"/>
                </a:solidFill>
                <a:latin typeface="Inter"/>
              </a:rPr>
              <a:t>Static defect closure: </a:t>
            </a:r>
            <a:r>
              <a:rPr sz="1400">
                <a:solidFill>
                  <a:srgbClr val="DCE7F5"/>
                </a:solidFill>
                <a:latin typeface="Inter"/>
              </a:rPr>
              <a:t>PASS</a:t>
            </a:r>
          </a:p>
          <a:p>
            <a:pPr>
              <a:spcAft>
                <a:spcPts val="700"/>
              </a:spcAft>
            </a:pPr>
            <a:r>
              <a:rPr b="1" sz="1400">
                <a:solidFill>
                  <a:srgbClr val="DCE7F5"/>
                </a:solidFill>
                <a:latin typeface="Inter"/>
              </a:rPr>
              <a:t>Historical live: </a:t>
            </a:r>
            <a:r>
              <a:rPr sz="1400">
                <a:solidFill>
                  <a:srgbClr val="DCE7F5"/>
                </a:solidFill>
                <a:latin typeface="Inter"/>
              </a:rPr>
              <a:t>Deploy / Rollback / Destroy PASS on older pin</a:t>
            </a:r>
          </a:p>
          <a:p>
            <a:pPr>
              <a:spcAft>
                <a:spcPts val="700"/>
              </a:spcAft>
            </a:pPr>
            <a:r>
              <a:rPr b="1" sz="1400">
                <a:solidFill>
                  <a:srgbClr val="DCE7F5"/>
                </a:solidFill>
                <a:latin typeface="Inter"/>
              </a:rPr>
              <a:t>Newest-pin E2E: </a:t>
            </a:r>
            <a:r>
              <a:rPr sz="1400">
                <a:solidFill>
                  <a:srgbClr val="DCE7F5"/>
                </a:solidFill>
                <a:latin typeface="Inter"/>
              </a:rPr>
              <a:t>UNVERIFIED - blocked before dispatch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80" y="1325880"/>
            <a:ext cx="5166360" cy="4526280"/>
          </a:xfrm>
          <a:prstGeom prst="roundRect">
            <a:avLst/>
          </a:prstGeom>
          <a:solidFill>
            <a:srgbClr val="142A50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29400" y="164592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Inter"/>
              </a:rPr>
              <a:t>TEST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2240280"/>
            <a:ext cx="43891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b="1" sz="1400">
                <a:solidFill>
                  <a:srgbClr val="DCE7F5"/>
                </a:solidFill>
                <a:latin typeface="Inter"/>
              </a:rPr>
              <a:t>Head: </a:t>
            </a:r>
            <a:r>
              <a:rPr sz="1400">
                <a:solidFill>
                  <a:srgbClr val="DCE7F5"/>
                </a:solidFill>
                <a:latin typeface="Inter"/>
              </a:rPr>
              <a:t>1d5a243a…</a:t>
            </a:r>
          </a:p>
          <a:p>
            <a:pPr>
              <a:spcAft>
                <a:spcPts val="700"/>
              </a:spcAft>
            </a:pPr>
            <a:r>
              <a:rPr b="1" sz="1400">
                <a:solidFill>
                  <a:srgbClr val="DCE7F5"/>
                </a:solidFill>
                <a:latin typeface="Inter"/>
              </a:rPr>
              <a:t>Pin: </a:t>
            </a:r>
            <a:r>
              <a:rPr sz="1400">
                <a:solidFill>
                  <a:srgbClr val="DCE7F5"/>
                </a:solidFill>
                <a:latin typeface="Inter"/>
              </a:rPr>
              <a:t>0ebf940d…</a:t>
            </a:r>
          </a:p>
          <a:p>
            <a:pPr>
              <a:spcAft>
                <a:spcPts val="700"/>
              </a:spcAft>
            </a:pPr>
            <a:r>
              <a:rPr b="1" sz="1400">
                <a:solidFill>
                  <a:srgbClr val="DCE7F5"/>
                </a:solidFill>
                <a:latin typeface="Inter"/>
              </a:rPr>
              <a:t>Static defect closure: </a:t>
            </a:r>
            <a:r>
              <a:rPr sz="1400">
                <a:solidFill>
                  <a:srgbClr val="DCE7F5"/>
                </a:solidFill>
                <a:latin typeface="Inter"/>
              </a:rPr>
              <a:t>PASS</a:t>
            </a:r>
          </a:p>
          <a:p>
            <a:pPr>
              <a:spcAft>
                <a:spcPts val="700"/>
              </a:spcAft>
            </a:pPr>
            <a:r>
              <a:rPr b="1" sz="1400">
                <a:solidFill>
                  <a:srgbClr val="DCE7F5"/>
                </a:solidFill>
                <a:latin typeface="Inter"/>
              </a:rPr>
              <a:t>Source readiness: </a:t>
            </a:r>
            <a:r>
              <a:rPr sz="1400">
                <a:solidFill>
                  <a:srgbClr val="DCE7F5"/>
                </a:solidFill>
                <a:latin typeface="Inter"/>
              </a:rPr>
              <a:t>PASS</a:t>
            </a:r>
          </a:p>
          <a:p>
            <a:pPr>
              <a:spcAft>
                <a:spcPts val="700"/>
              </a:spcAft>
            </a:pPr>
            <a:r>
              <a:rPr b="1" sz="1400">
                <a:solidFill>
                  <a:srgbClr val="DCE7F5"/>
                </a:solidFill>
                <a:latin typeface="Inter"/>
              </a:rPr>
              <a:t>Newest-pin E2E: </a:t>
            </a:r>
            <a:r>
              <a:rPr sz="1400">
                <a:solidFill>
                  <a:srgbClr val="DCE7F5"/>
                </a:solidFill>
                <a:latin typeface="Inter"/>
              </a:rPr>
              <a:t>UNVERIFIED - separate AWS configuration missing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519672"/>
            <a:ext cx="29260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94A3B8"/>
                </a:solidFill>
                <a:latin typeface="Inter"/>
              </a:rPr>
              <a:t>DEPLOYGUARD  •  FYP  •  22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6519672"/>
            <a:ext cx="24231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Inter"/>
              </a:rPr>
              <a:t>Hassan Sajjad  •  Sep 2026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  <a:latin typeface="Inter"/>
              </a:rPr>
              <a:t>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B1530"/>
                </a:solidFill>
                <a:latin typeface="Inter"/>
              </a:rPr>
              <a:t>Presentation demo: prove the contract, not just the UI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298448"/>
            <a:ext cx="420624" cy="420624"/>
          </a:xfrm>
          <a:prstGeom prst="round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08176"/>
            <a:ext cx="420624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0B1530"/>
                </a:solidFill>
                <a:latin typeface="Inter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44752" y="1353312"/>
            <a:ext cx="98755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Inter"/>
              </a:rPr>
              <a:t>GitHub login → project → exact repo/branch/service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011680"/>
            <a:ext cx="420624" cy="420624"/>
          </a:xfrm>
          <a:prstGeom prst="round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121408"/>
            <a:ext cx="420624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0B1530"/>
                </a:solidFill>
                <a:latin typeface="Inter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44752" y="2066544"/>
            <a:ext cx="98755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Inter"/>
              </a:rPr>
              <a:t>Show resolved build target + port + environment/DB requirements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724912"/>
            <a:ext cx="420624" cy="420624"/>
          </a:xfrm>
          <a:prstGeom prst="round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834640"/>
            <a:ext cx="420624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0B1530"/>
                </a:solidFill>
                <a:latin typeface="Inter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44752" y="2779776"/>
            <a:ext cx="98755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B1530"/>
                </a:solidFill>
                <a:latin typeface="Inter"/>
              </a:rPr>
              <a:t>Deploy: source SHA → build → ECR digest → Terraform → ECS/ALB evidence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438144"/>
            <a:ext cx="420624" cy="420624"/>
          </a:xfrm>
          <a:prstGeom prst="round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547872"/>
            <a:ext cx="420624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0B1530"/>
                </a:solidFill>
                <a:latin typeface="Inter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44752" y="3493008"/>
            <a:ext cx="98755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B1530"/>
                </a:solidFill>
                <a:latin typeface="Inter"/>
              </a:rPr>
              <a:t>Change source → Redeploy → prove new digest/task definition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151376"/>
            <a:ext cx="420624" cy="420624"/>
          </a:xfrm>
          <a:prstGeom prst="round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261104"/>
            <a:ext cx="420624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0B1530"/>
                </a:solidFill>
                <a:latin typeface="Inter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44752" y="4206240"/>
            <a:ext cx="98755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B1530"/>
                </a:solidFill>
                <a:latin typeface="Inter"/>
              </a:rPr>
              <a:t>Rollback → prove prior digest/task definition restored with no rebuild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4864608"/>
            <a:ext cx="420624" cy="420624"/>
          </a:xfrm>
          <a:prstGeom prst="round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974336"/>
            <a:ext cx="420624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0B1530"/>
                </a:solidFill>
                <a:latin typeface="Inter"/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44752" y="4919472"/>
            <a:ext cx="98755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Inter"/>
              </a:rPr>
              <a:t>Managed DB → show EFS + Secrets + Cloud Map + DB-first activation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5577840"/>
            <a:ext cx="420624" cy="420624"/>
          </a:xfrm>
          <a:prstGeom prst="round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5687568"/>
            <a:ext cx="420624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0B1530"/>
                </a:solidFill>
                <a:latin typeface="Inter"/>
              </a:rPr>
              <a:t>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44752" y="5632703"/>
            <a:ext cx="98755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B1530"/>
                </a:solidFill>
                <a:latin typeface="Inter"/>
              </a:rPr>
              <a:t>Destroy → prove project resources/state removed; shared foundation remains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519672"/>
            <a:ext cx="29260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94A3B8"/>
                </a:solidFill>
                <a:latin typeface="Inter"/>
              </a:rPr>
              <a:t>DEPLOYGUARD  •  FYP  •  23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6519672"/>
            <a:ext cx="24231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Inter"/>
              </a:rPr>
              <a:t>Hassan Sajjad  •  Sep 2026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  <a:latin typeface="Inter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Inter"/>
              </a:rPr>
              <a:t>DeployGuard’s strongest differentiator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400" b="1">
                <a:solidFill>
                  <a:srgbClr val="06B6D4"/>
                </a:solidFill>
                <a:latin typeface="Inter"/>
              </a:rPr>
              <a:t>Release truth is explicit.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2468880"/>
            <a:ext cx="9875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Inter"/>
              </a:rPr>
              <a:t>Source identity + build/config interpretation + cloud identity + immutable runtime + verification evidence must agree before promotion.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65960" y="4069080"/>
            <a:ext cx="8275320" cy="1051560"/>
          </a:xfrm>
          <a:prstGeom prst="roundRect">
            <a:avLst/>
          </a:prstGeom>
          <a:solidFill>
            <a:srgbClr val="142A50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40280" y="4370832"/>
            <a:ext cx="772667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DCE7F5"/>
                </a:solidFill>
                <a:latin typeface="Inter"/>
              </a:rPr>
              <a:t>Control and auditability over hidden infrastructure - with the responsibility that comes with owning AWS.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623560"/>
            <a:ext cx="10332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59E0B"/>
                </a:solidFill>
                <a:latin typeface="Inter"/>
              </a:rPr>
              <a:t>Next gate: run the frozen Test 2 + Test 3 AWS E2E lifecycles on the exact pins.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519672"/>
            <a:ext cx="29260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94A3B8"/>
                </a:solidFill>
                <a:latin typeface="Inter"/>
              </a:rPr>
              <a:t>DEPLOYGUARD  •  FYP  •  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0" y="6519672"/>
            <a:ext cx="24231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Inter"/>
              </a:rPr>
              <a:t>Hassan Sajjad  •  Sep 2026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  <a:latin typeface="Inter"/>
              </a:rPr>
              <a:t>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B1530"/>
                </a:solidFill>
                <a:latin typeface="Inter"/>
              </a:rPr>
              <a:t>Reference basis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80160"/>
            <a:ext cx="5029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B1530"/>
                </a:solidFill>
                <a:latin typeface="Inter"/>
              </a:rPr>
              <a:t>DeployGuard source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91640"/>
            <a:ext cx="507492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Inter"/>
              </a:rPr>
              <a:t>Frozen Test 2 / Test 3 source: workflow, capability contracts, Railpack deployment service, Terraform runtime, verification scripts, auth/security, observability, billing and troubleshooting modules.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40" y="1280160"/>
            <a:ext cx="5029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B1530"/>
                </a:solidFill>
                <a:latin typeface="Inter"/>
              </a:rPr>
              <a:t>Official platform docs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1691640"/>
            <a:ext cx="5074920" cy="2331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Inter"/>
              </a:rPr>
              <a:t>Vercel: deployments, Build Output API, Instant Rollback, security, Functions
Render: deploys, rollbacks, persistent disks, Blueprints, service types
Heroku: dynos, releases, config vars, Container Registry &amp; Runtime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343400"/>
            <a:ext cx="10698480" cy="1143000"/>
          </a:xfrm>
          <a:prstGeom prst="roundRect">
            <a:avLst/>
          </a:prstGeom>
          <a:solidFill>
            <a:srgbClr val="EEF2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599432"/>
            <a:ext cx="10149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0B1530"/>
                </a:solidFill>
                <a:latin typeface="Inter"/>
              </a:rPr>
              <a:t>Comparison is architectural, not a claim that DeployGuard is universally superior. Vendor-managed PaaS products intentionally offer lower operational burden and mature platform security; DeployGuard intentionally exposes AWS ownership and release evidence.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519672"/>
            <a:ext cx="29260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94A3B8"/>
                </a:solidFill>
                <a:latin typeface="Inter"/>
              </a:rPr>
              <a:t>DEPLOYGUARD  •  FYP  •  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6519672"/>
            <a:ext cx="24231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Inter"/>
              </a:rPr>
              <a:t>Hassan Sajjad  •  Sep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