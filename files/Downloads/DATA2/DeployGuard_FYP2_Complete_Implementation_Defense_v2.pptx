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Tania: Open with one sentence: DeployGuard is our implemented platform that takes a repository through build, security, infrastructure provisioning and verified cloud deployment. Emphasize that this is FYP-II implementation defense, not proposal 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Tania: Explain the system in input-control-output terms. Keep this implementation oriented: every item shown is part of the built platform, not a future proposal.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Tania: Do not defend the written problem statement. Show the implementation problem: there are many dependent runtime decisions and DeployGuard centralizes them into one controlled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Faria: Present this as the implemented product surface. This is the bridge from the opening into the technical walkthrough.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Faria: Keep this simple. The experience is repository → configure → deploy → verify → operate. Then hand over to Hassan for what happens internally.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Hassan: Take over here. State that the remaining slides defend the implemented system from source analysis through cloud runtime and cleanup.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Hassan: Emphasize separation. Backend coordinates; build worker produces image; Terraform owns infrastructure; ECS owns runtime. This prevents one subsystem from silently taking over another subsystem’s responsibility.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Hassan: This is the only lifecycle slide where all four actions appear together. Spend most of the time on DEPLOY. Mention Redeploy and Rollback in one sentence each. Destroy gets a dedicated slide later because cleanup is important, but deployment remains the project’s main capability.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Hassan: The backend does not blindly build the whole repository. It resolves a canonical build target from the exact source revision and selected service. This provides a stable input for the build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Hassan: Do not introduce the underlying third-party builder by name. Present the abstraction we own: DeployGuard creates the canonical build specification; a configuration-driven build worker converts it into a container image; we validate the result before publication.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Hassan: This distinction matters. CanonicalBuildTarget is the build contract. Runtime configuration is a separate revisioned contract used by Terraform/ECS and the application runtime.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Hassan: Explain that the platform treats image creation, validation, security and publication as separate gates. This gives precise failure reasons instead of treating every build problem as the same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Hassan: Defend the design choice: AWS SDK can inspect/verify, but Terraform owns creation and lifecycle. This avoids infrastructure state divergence.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Hassan: Walk left to right. The important defense point is that infrastructure creation and application readiness are not the same event. DeployGuard verifies the runtime before marking the release usable.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Hassan: This is also where you can explain the current credential recovery work if asked. The architecture separates controller, deployment workflow and runtime identities instead of using one all-powerful key everywhere.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Hassan: Explain contract behavior, not provider-specific noise. The goal is deterministic attachment of managed database configuration to the intended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Hassan: This is an implementation defense point: failures from multiple stages converge into one evidence model, so frontend monitoring and AI troubleshooting are based on the same source of truth.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Hassan: Use this slide to show maturity. A deployment system needs identities and evidence that explain exactly which source became which image and which runtime.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Hassan: Keep this short. The purpose is to show that the FYP-II implementation includes real platform functions around the deployment engine, not only a Terraform 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Hassan: Destroy is the main post-deployment cleanup feature. Keep the story connected to deployment: we provision project-scoped resources and we also know how to remove them cleanly.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Hassan: One short slide only. Do not spend detailed time here unless the panel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Hassan: Present only evidence you actually have. These are the current certified paths from the project reports. If the panel asks about managed DB live certification, distinguish local contract PASS from any path still blocked by external AWS credential authority.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Hassan: This answers the likely reliability question. We do not claim Terraform or container tooling can never fail. We designed the platform so failures are bounded, visible and recoverable.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Hassan: The live demo should center on Deploy and then Destroy. Do not consume time demonstrating every supporting lifecycle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Hassan: Be confident about boundaries. The panel is more likely to trust a system that clearly defines supported contracts than one that claims every repository and cloud scenario is supported.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Hassan: Close on the implemented outcome: DeployGuard takes a repository through analysis, containerization, security, Terraform provisioning and runtime verification, then provides controlled cleanup and supporting lifecycle capabilities.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59E0B"/>
          </a:solidFill>
          <a:ln w="12700">
            <a:solidFill>
              <a:srgbClr val="F59E0B"/>
            </a:solidFill>
            <a:prstDash val="solid"/>
          </a:ln>
        </p:spPr>
      </p:sp>
      <p:sp>
        <p:nvSpPr>
          <p:cNvPr id="3" name="Text 1"/>
          <p:cNvSpPr/>
          <p:nvPr/>
        </p:nvSpPr>
        <p:spPr>
          <a:xfrm>
            <a:off x="457200" y="6519672"/>
            <a:ext cx="5943600" cy="182880"/>
          </a:xfrm>
          <a:prstGeom prst="rect">
            <a:avLst/>
          </a:prstGeom>
          <a:noFill/>
          <a:ln/>
        </p:spPr>
        <p:txBody>
          <a:bodyPr wrap="square" lIns="0" tIns="0" rIns="0" bIns="0" rtlCol="0" anchor="ctr"/>
          <a:lstStyle/>
          <a:p>
            <a:pPr indent="0" marL="0">
              <a:buNone/>
            </a:pPr>
            <a:r>
              <a:rPr lang="en-US" sz="800" dirty="0">
                <a:solidFill>
                  <a:srgbClr val="7C8AA5"/>
                </a:solidFill>
                <a:latin typeface="Aptos" pitchFamily="34" charset="0"/>
                <a:ea typeface="Aptos" pitchFamily="34" charset="-122"/>
                <a:cs typeface="Aptos" pitchFamily="34" charset="-120"/>
              </a:rPr>
              <a:t>DEPLOYGUARD • FYP-II IMPLEMENTATION DEFENSE</a:t>
            </a:r>
            <a:endParaRPr lang="en-US" sz="800" dirty="0"/>
          </a:p>
        </p:txBody>
      </p:sp>
      <p:sp>
        <p:nvSpPr>
          <p:cNvPr id="4" name="Text 2"/>
          <p:cNvSpPr/>
          <p:nvPr/>
        </p:nvSpPr>
        <p:spPr>
          <a:xfrm>
            <a:off x="11201400" y="6473952"/>
            <a:ext cx="502920" cy="228600"/>
          </a:xfrm>
          <a:prstGeom prst="rect">
            <a:avLst/>
          </a:prstGeom>
          <a:noFill/>
          <a:ln/>
        </p:spPr>
        <p:txBody>
          <a:bodyPr wrap="square" lIns="0" tIns="0" rIns="0" bIns="0" rtlCol="0" anchor="ctr"/>
          <a:lstStyle/>
          <a:p>
            <a:pPr algn="r" indent="0" marL="0">
              <a:buNone/>
            </a:pPr>
            <a:endParaRPr lang="en-US" sz="900" dirty="0"/>
          </a:p>
        </p:txBody>
      </p:sp>
      <p:sp>
        <p:nvSpPr>
          <p:cNvPr id="25" name="Slide Number Placeholder 0"/>
          <p:cNvSpPr>
            <a:spLocks noGrp="1"/>
          </p:cNvSpPr>
          <p:nvPr>
            <p:ph type="sldNum" sz="quarter" idx="4294967295"/>
          </p:nvPr>
        </p:nvSpPr>
        <p:spPr>
          <a:xfrm>
            <a:off x="1138428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7C8AA5"/>
                </a:solidFill>
                <a:latin typeface="Aptos"/>
                <a:ea typeface="Aptos"/>
                <a:cs typeface="Aptos"/>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7C8AA5"/>
                </a:solidFill>
                <a:latin typeface="Aptos"/>
                <a:ea typeface="Aptos"/>
                <a:cs typeface="Aptos"/>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020"/>
        </a:solidFill>
      </p:bgPr>
    </p:bg>
    <p:spTree>
      <p:nvGrpSpPr>
        <p:cNvPr id="1" name=""/>
        <p:cNvGrpSpPr/>
        <p:nvPr/>
      </p:nvGrpSpPr>
      <p:grpSpPr>
        <a:xfrm>
          <a:off x="0" y="0"/>
          <a:ext cx="0" cy="0"/>
          <a:chOff x="0" y="0"/>
          <a:chExt cx="0" cy="0"/>
        </a:xfrm>
      </p:grpSpPr>
      <p:sp>
        <p:nvSpPr>
          <p:cNvPr id="2" name="Text 0"/>
          <p:cNvSpPr/>
          <p:nvPr/>
        </p:nvSpPr>
        <p:spPr>
          <a:xfrm>
            <a:off x="640080" y="1188720"/>
            <a:ext cx="6583680" cy="731520"/>
          </a:xfrm>
          <a:prstGeom prst="rect">
            <a:avLst/>
          </a:prstGeom>
          <a:noFill/>
          <a:ln/>
        </p:spPr>
        <p:txBody>
          <a:bodyPr wrap="square" lIns="0" tIns="0" rIns="0" bIns="0" rtlCol="0" anchor="ctr"/>
          <a:lstStyle/>
          <a:p>
            <a:pPr indent="0" marL="0">
              <a:buNone/>
            </a:pPr>
            <a:r>
              <a:rPr lang="en-US" sz="4400" b="1" dirty="0">
                <a:solidFill>
                  <a:srgbClr val="F7FAFC"/>
                </a:solidFill>
                <a:latin typeface="Aptos Display" pitchFamily="34" charset="0"/>
                <a:ea typeface="Aptos Display" pitchFamily="34" charset="-122"/>
                <a:cs typeface="Aptos Display" pitchFamily="34" charset="-120"/>
              </a:rPr>
              <a:t>DeployGuard</a:t>
            </a:r>
            <a:endParaRPr lang="en-US" sz="4400" dirty="0"/>
          </a:p>
        </p:txBody>
      </p:sp>
      <p:sp>
        <p:nvSpPr>
          <p:cNvPr id="3" name="Text 1"/>
          <p:cNvSpPr/>
          <p:nvPr/>
        </p:nvSpPr>
        <p:spPr>
          <a:xfrm>
            <a:off x="658368" y="1975104"/>
            <a:ext cx="6858000" cy="502920"/>
          </a:xfrm>
          <a:prstGeom prst="rect">
            <a:avLst/>
          </a:prstGeom>
          <a:noFill/>
          <a:ln/>
        </p:spPr>
        <p:txBody>
          <a:bodyPr wrap="square" lIns="0" tIns="0" rIns="0" bIns="0" rtlCol="0" anchor="ctr"/>
          <a:lstStyle/>
          <a:p>
            <a:pPr indent="0" marL="0">
              <a:buNone/>
            </a:pPr>
            <a:r>
              <a:rPr lang="en-US" sz="2400" b="1" dirty="0">
                <a:solidFill>
                  <a:srgbClr val="F59E0B"/>
                </a:solidFill>
              </a:rPr>
              <a:t>FYP-II Implementation Defense</a:t>
            </a:r>
            <a:endParaRPr lang="en-US" sz="2400" dirty="0"/>
          </a:p>
        </p:txBody>
      </p:sp>
      <p:sp>
        <p:nvSpPr>
          <p:cNvPr id="4" name="Text 2"/>
          <p:cNvSpPr/>
          <p:nvPr/>
        </p:nvSpPr>
        <p:spPr>
          <a:xfrm>
            <a:off x="676656" y="2697480"/>
            <a:ext cx="6583680" cy="347472"/>
          </a:xfrm>
          <a:prstGeom prst="rect">
            <a:avLst/>
          </a:prstGeom>
          <a:noFill/>
          <a:ln/>
        </p:spPr>
        <p:txBody>
          <a:bodyPr wrap="square" lIns="0" tIns="0" rIns="0" bIns="0" rtlCol="0" anchor="ctr"/>
          <a:lstStyle/>
          <a:p>
            <a:pPr indent="0" marL="0">
              <a:buNone/>
            </a:pPr>
            <a:r>
              <a:rPr lang="en-US" sz="1600" dirty="0">
                <a:solidFill>
                  <a:srgbClr val="A9B4C7"/>
                </a:solidFill>
              </a:rPr>
              <a:t>From source repository to verified cloud deployment</a:t>
            </a:r>
            <a:endParaRPr lang="en-US" sz="1600" dirty="0"/>
          </a:p>
        </p:txBody>
      </p:sp>
      <p:sp>
        <p:nvSpPr>
          <p:cNvPr id="5" name="Shape 3"/>
          <p:cNvSpPr/>
          <p:nvPr/>
        </p:nvSpPr>
        <p:spPr>
          <a:xfrm>
            <a:off x="7726680" y="1051560"/>
            <a:ext cx="3291840" cy="640080"/>
          </a:xfrm>
          <a:prstGeom prst="roundRect">
            <a:avLst>
              <a:gd name="adj" fmla="val 7143"/>
            </a:avLst>
          </a:prstGeom>
          <a:solidFill>
            <a:srgbClr val="172238"/>
          </a:solidFill>
          <a:ln w="12700">
            <a:solidFill>
              <a:srgbClr val="A78BFA"/>
            </a:solidFill>
            <a:prstDash val="solid"/>
          </a:ln>
        </p:spPr>
      </p:sp>
      <p:sp>
        <p:nvSpPr>
          <p:cNvPr id="6" name="Text 4"/>
          <p:cNvSpPr/>
          <p:nvPr/>
        </p:nvSpPr>
        <p:spPr>
          <a:xfrm>
            <a:off x="7799832" y="1124712"/>
            <a:ext cx="3145536" cy="49377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SOURCE REPOSITORY</a:t>
            </a:r>
            <a:endParaRPr lang="en-US" sz="1200" dirty="0"/>
          </a:p>
        </p:txBody>
      </p:sp>
      <p:sp>
        <p:nvSpPr>
          <p:cNvPr id="7" name="Shape 5"/>
          <p:cNvSpPr/>
          <p:nvPr/>
        </p:nvSpPr>
        <p:spPr>
          <a:xfrm>
            <a:off x="9372600" y="1709928"/>
            <a:ext cx="0" cy="301752"/>
          </a:xfrm>
          <a:prstGeom prst="line">
            <a:avLst/>
          </a:prstGeom>
          <a:noFill/>
          <a:ln w="12700">
            <a:solidFill>
              <a:srgbClr val="F59E0B"/>
            </a:solidFill>
            <a:prstDash val="solid"/>
            <a:headEnd type="none"/>
            <a:tailEnd type="triangle"/>
          </a:ln>
        </p:spPr>
      </p:sp>
      <p:sp>
        <p:nvSpPr>
          <p:cNvPr id="8" name="Shape 6"/>
          <p:cNvSpPr/>
          <p:nvPr/>
        </p:nvSpPr>
        <p:spPr>
          <a:xfrm>
            <a:off x="7726680" y="2075688"/>
            <a:ext cx="3291840" cy="640080"/>
          </a:xfrm>
          <a:prstGeom prst="roundRect">
            <a:avLst>
              <a:gd name="adj" fmla="val 7143"/>
            </a:avLst>
          </a:prstGeom>
          <a:solidFill>
            <a:srgbClr val="172238"/>
          </a:solidFill>
          <a:ln w="12700">
            <a:solidFill>
              <a:srgbClr val="F59E0B"/>
            </a:solidFill>
            <a:prstDash val="solid"/>
          </a:ln>
        </p:spPr>
      </p:sp>
      <p:sp>
        <p:nvSpPr>
          <p:cNvPr id="9" name="Text 7"/>
          <p:cNvSpPr/>
          <p:nvPr/>
        </p:nvSpPr>
        <p:spPr>
          <a:xfrm>
            <a:off x="7799832" y="2148840"/>
            <a:ext cx="3145536" cy="49377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DEPLOYGUARD</a:t>
            </a:r>
            <a:endParaRPr lang="en-US" sz="1200" dirty="0"/>
          </a:p>
        </p:txBody>
      </p:sp>
      <p:sp>
        <p:nvSpPr>
          <p:cNvPr id="10" name="Shape 8"/>
          <p:cNvSpPr/>
          <p:nvPr/>
        </p:nvSpPr>
        <p:spPr>
          <a:xfrm>
            <a:off x="9372600" y="2734056"/>
            <a:ext cx="0" cy="301752"/>
          </a:xfrm>
          <a:prstGeom prst="line">
            <a:avLst/>
          </a:prstGeom>
          <a:noFill/>
          <a:ln w="12700">
            <a:solidFill>
              <a:srgbClr val="F59E0B"/>
            </a:solidFill>
            <a:prstDash val="solid"/>
            <a:headEnd type="none"/>
            <a:tailEnd type="triangle"/>
          </a:ln>
        </p:spPr>
      </p:sp>
      <p:sp>
        <p:nvSpPr>
          <p:cNvPr id="11" name="Shape 9"/>
          <p:cNvSpPr/>
          <p:nvPr/>
        </p:nvSpPr>
        <p:spPr>
          <a:xfrm>
            <a:off x="7726680" y="3099816"/>
            <a:ext cx="3291840" cy="640080"/>
          </a:xfrm>
          <a:prstGeom prst="roundRect">
            <a:avLst>
              <a:gd name="adj" fmla="val 7143"/>
            </a:avLst>
          </a:prstGeom>
          <a:solidFill>
            <a:srgbClr val="172238"/>
          </a:solidFill>
          <a:ln w="12700">
            <a:solidFill>
              <a:srgbClr val="38BDF8"/>
            </a:solidFill>
            <a:prstDash val="solid"/>
          </a:ln>
        </p:spPr>
      </p:sp>
      <p:sp>
        <p:nvSpPr>
          <p:cNvPr id="12" name="Text 10"/>
          <p:cNvSpPr/>
          <p:nvPr/>
        </p:nvSpPr>
        <p:spPr>
          <a:xfrm>
            <a:off x="7799832" y="3172968"/>
            <a:ext cx="3145536" cy="49377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CONTAINER IMAGE</a:t>
            </a:r>
            <a:endParaRPr lang="en-US" sz="1200" dirty="0"/>
          </a:p>
        </p:txBody>
      </p:sp>
      <p:sp>
        <p:nvSpPr>
          <p:cNvPr id="13" name="Shape 11"/>
          <p:cNvSpPr/>
          <p:nvPr/>
        </p:nvSpPr>
        <p:spPr>
          <a:xfrm>
            <a:off x="9372600" y="3758184"/>
            <a:ext cx="0" cy="301752"/>
          </a:xfrm>
          <a:prstGeom prst="line">
            <a:avLst/>
          </a:prstGeom>
          <a:noFill/>
          <a:ln w="12700">
            <a:solidFill>
              <a:srgbClr val="F59E0B"/>
            </a:solidFill>
            <a:prstDash val="solid"/>
            <a:headEnd type="none"/>
            <a:tailEnd type="triangle"/>
          </a:ln>
        </p:spPr>
      </p:sp>
      <p:sp>
        <p:nvSpPr>
          <p:cNvPr id="14" name="Shape 12"/>
          <p:cNvSpPr/>
          <p:nvPr/>
        </p:nvSpPr>
        <p:spPr>
          <a:xfrm>
            <a:off x="7726680" y="4123944"/>
            <a:ext cx="3291840" cy="640080"/>
          </a:xfrm>
          <a:prstGeom prst="roundRect">
            <a:avLst>
              <a:gd name="adj" fmla="val 7143"/>
            </a:avLst>
          </a:prstGeom>
          <a:solidFill>
            <a:srgbClr val="172238"/>
          </a:solidFill>
          <a:ln w="12700">
            <a:solidFill>
              <a:srgbClr val="22C55E"/>
            </a:solidFill>
            <a:prstDash val="solid"/>
          </a:ln>
        </p:spPr>
      </p:sp>
      <p:sp>
        <p:nvSpPr>
          <p:cNvPr id="15" name="Text 13"/>
          <p:cNvSpPr/>
          <p:nvPr/>
        </p:nvSpPr>
        <p:spPr>
          <a:xfrm>
            <a:off x="7799832" y="4197096"/>
            <a:ext cx="3145536" cy="49377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AWS RUNTIME</a:t>
            </a:r>
            <a:endParaRPr lang="en-US" sz="1200" dirty="0"/>
          </a:p>
        </p:txBody>
      </p:sp>
      <p:sp>
        <p:nvSpPr>
          <p:cNvPr id="16" name="Text 14"/>
          <p:cNvSpPr/>
          <p:nvPr/>
        </p:nvSpPr>
        <p:spPr>
          <a:xfrm>
            <a:off x="676656" y="3675888"/>
            <a:ext cx="4754880" cy="320040"/>
          </a:xfrm>
          <a:prstGeom prst="rect">
            <a:avLst/>
          </a:prstGeom>
          <a:noFill/>
          <a:ln/>
        </p:spPr>
        <p:txBody>
          <a:bodyPr wrap="square" lIns="0" tIns="0" rIns="0" bIns="0" rtlCol="0" anchor="ctr"/>
          <a:lstStyle/>
          <a:p>
            <a:pPr indent="0" marL="0">
              <a:buNone/>
            </a:pPr>
            <a:r>
              <a:rPr lang="en-US" sz="1400" b="1" dirty="0">
                <a:solidFill>
                  <a:srgbClr val="F7FAFC"/>
                </a:solidFill>
              </a:rPr>
              <a:t>Tania  •  Faria  •  Hassan</a:t>
            </a:r>
            <a:endParaRPr lang="en-US" sz="1400" dirty="0"/>
          </a:p>
        </p:txBody>
      </p:sp>
      <p:sp>
        <p:nvSpPr>
          <p:cNvPr id="17" name="Text 15"/>
          <p:cNvSpPr/>
          <p:nvPr/>
        </p:nvSpPr>
        <p:spPr>
          <a:xfrm>
            <a:off x="676656" y="4087368"/>
            <a:ext cx="6217920" cy="457200"/>
          </a:xfrm>
          <a:prstGeom prst="rect">
            <a:avLst/>
          </a:prstGeom>
          <a:noFill/>
          <a:ln/>
        </p:spPr>
        <p:txBody>
          <a:bodyPr wrap="square" lIns="0" tIns="0" rIns="0" bIns="0" rtlCol="0" anchor="ctr"/>
          <a:lstStyle/>
          <a:p>
            <a:pPr indent="0" marL="0">
              <a:buNone/>
            </a:pPr>
            <a:r>
              <a:rPr lang="en-US" sz="1250" dirty="0">
                <a:solidFill>
                  <a:srgbClr val="A9B4C7"/>
                </a:solidFill>
              </a:rPr>
              <a:t>Implemented system • live deployment pipeline • operational evidence</a:t>
            </a:r>
            <a:endParaRPr lang="en-US" sz="1250" dirty="0"/>
          </a:p>
        </p:txBody>
      </p:sp>
      <p:sp>
        <p:nvSpPr>
          <p:cNvPr id="18" name="Shape 16"/>
          <p:cNvSpPr/>
          <p:nvPr/>
        </p:nvSpPr>
        <p:spPr>
          <a:xfrm>
            <a:off x="676656" y="4800600"/>
            <a:ext cx="1965960" cy="274320"/>
          </a:xfrm>
          <a:prstGeom prst="roundRect">
            <a:avLst>
              <a:gd name="adj" fmla="val 16667"/>
            </a:avLst>
          </a:prstGeom>
          <a:solidFill>
            <a:srgbClr val="22C55E">
              <a:alpha val="20000"/>
            </a:srgbClr>
          </a:solidFill>
          <a:ln w="12700">
            <a:solidFill>
              <a:srgbClr val="22C55E">
                <a:alpha val="70000"/>
              </a:srgbClr>
            </a:solidFill>
            <a:prstDash val="solid"/>
          </a:ln>
        </p:spPr>
      </p:sp>
      <p:sp>
        <p:nvSpPr>
          <p:cNvPr id="19" name="Text 17"/>
          <p:cNvSpPr/>
          <p:nvPr/>
        </p:nvSpPr>
        <p:spPr>
          <a:xfrm>
            <a:off x="749808" y="4850892"/>
            <a:ext cx="1819656" cy="155448"/>
          </a:xfrm>
          <a:prstGeom prst="rect">
            <a:avLst/>
          </a:prstGeom>
          <a:noFill/>
          <a:ln/>
        </p:spPr>
        <p:txBody>
          <a:bodyPr wrap="square" lIns="0" tIns="0" rIns="0" bIns="0" rtlCol="0" anchor="ctr"/>
          <a:lstStyle/>
          <a:p>
            <a:pPr algn="ctr" indent="0" marL="0">
              <a:buNone/>
            </a:pPr>
            <a:r>
              <a:rPr lang="en-US" sz="900" b="1" dirty="0">
                <a:solidFill>
                  <a:srgbClr val="22C55E"/>
                </a:solidFill>
              </a:rPr>
              <a:t>IMPLEMENTATION-FOCUSED</a:t>
            </a:r>
            <a:endParaRPr lang="en-US" sz="900" dirty="0"/>
          </a:p>
        </p:txBody>
      </p:sp>
      <p:sp>
        <p:nvSpPr>
          <p:cNvPr id="25" name="Slide Number Placeholder 0"/>
          <p:cNvSpPr>
            <a:spLocks noGrp="1"/>
          </p:cNvSpPr>
          <p:nvPr>
            <p:ph type="sldNum" sz="quarter" idx="4294967295"/>
          </p:nvPr>
        </p:nvSpPr>
        <p:spPr>
          <a:xfrm>
            <a:off x="1138428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7C8AA5"/>
                </a:solidFill>
                <a:latin typeface="Aptos"/>
                <a:ea typeface="Aptos"/>
                <a:cs typeface="Aptos"/>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320040"/>
            <a:ext cx="11064240" cy="502920"/>
          </a:xfrm>
          <a:prstGeom prst="rect">
            <a:avLst/>
          </a:prstGeom>
          <a:noFill/>
          <a:ln/>
        </p:spPr>
        <p:txBody>
          <a:bodyPr wrap="square" lIns="0" tIns="0" rIns="0" bIns="0" rtlCol="0" anchor="ctr"/>
          <a:lstStyle/>
          <a:p>
            <a:pPr indent="0" marL="0">
              <a:buNone/>
            </a:pPr>
            <a:r>
              <a:rPr lang="en-US" sz="2800" b="1" dirty="0">
                <a:solidFill>
                  <a:srgbClr val="F7FAFC"/>
                </a:solidFill>
                <a:latin typeface="Aptos Display" pitchFamily="34" charset="0"/>
                <a:ea typeface="Aptos Display" pitchFamily="34" charset="-122"/>
                <a:cs typeface="Aptos Display" pitchFamily="34" charset="-120"/>
              </a:rPr>
              <a:t>Project at a glance</a:t>
            </a:r>
            <a:endParaRPr lang="en-US" sz="2800" dirty="0"/>
          </a:p>
        </p:txBody>
      </p:sp>
      <p:sp>
        <p:nvSpPr>
          <p:cNvPr id="3" name="Text 1"/>
          <p:cNvSpPr/>
          <p:nvPr/>
        </p:nvSpPr>
        <p:spPr>
          <a:xfrm>
            <a:off x="521208" y="868680"/>
            <a:ext cx="10972800" cy="310896"/>
          </a:xfrm>
          <a:prstGeom prst="rect">
            <a:avLst/>
          </a:prstGeom>
          <a:noFill/>
          <a:ln/>
        </p:spPr>
        <p:txBody>
          <a:bodyPr wrap="square" lIns="0" tIns="0" rIns="0" bIns="0" rtlCol="0" anchor="ctr"/>
          <a:lstStyle/>
          <a:p>
            <a:pPr indent="0" marL="0">
              <a:buNone/>
            </a:pPr>
            <a:r>
              <a:rPr lang="en-US" sz="1250" dirty="0">
                <a:solidFill>
                  <a:srgbClr val="A9B4C7"/>
                </a:solidFill>
              </a:rPr>
              <a:t>What the implemented system does today</a:t>
            </a:r>
            <a:endParaRPr lang="en-US" sz="1250" dirty="0"/>
          </a:p>
        </p:txBody>
      </p:sp>
      <p:sp>
        <p:nvSpPr>
          <p:cNvPr id="4" name="Shape 2"/>
          <p:cNvSpPr/>
          <p:nvPr/>
        </p:nvSpPr>
        <p:spPr>
          <a:xfrm>
            <a:off x="10469880" y="338328"/>
            <a:ext cx="1078992" cy="274320"/>
          </a:xfrm>
          <a:prstGeom prst="roundRect">
            <a:avLst>
              <a:gd name="adj" fmla="val 16667"/>
            </a:avLst>
          </a:prstGeom>
          <a:solidFill>
            <a:srgbClr val="A78BFA">
              <a:alpha val="20000"/>
            </a:srgbClr>
          </a:solidFill>
          <a:ln w="12700">
            <a:solidFill>
              <a:srgbClr val="A78BFA">
                <a:alpha val="70000"/>
              </a:srgbClr>
            </a:solidFill>
            <a:prstDash val="solid"/>
          </a:ln>
        </p:spPr>
      </p:sp>
      <p:sp>
        <p:nvSpPr>
          <p:cNvPr id="5" name="Text 3"/>
          <p:cNvSpPr/>
          <p:nvPr/>
        </p:nvSpPr>
        <p:spPr>
          <a:xfrm>
            <a:off x="10543032" y="388620"/>
            <a:ext cx="932688" cy="155448"/>
          </a:xfrm>
          <a:prstGeom prst="rect">
            <a:avLst/>
          </a:prstGeom>
          <a:noFill/>
          <a:ln/>
        </p:spPr>
        <p:txBody>
          <a:bodyPr wrap="square" lIns="0" tIns="0" rIns="0" bIns="0" rtlCol="0" anchor="ctr"/>
          <a:lstStyle/>
          <a:p>
            <a:pPr algn="ctr" indent="0" marL="0">
              <a:buNone/>
            </a:pPr>
            <a:r>
              <a:rPr lang="en-US" sz="900" b="1" dirty="0">
                <a:solidFill>
                  <a:srgbClr val="A78BFA"/>
                </a:solidFill>
              </a:rPr>
              <a:t>TANIA</a:t>
            </a:r>
            <a:endParaRPr lang="en-US" sz="900" dirty="0"/>
          </a:p>
        </p:txBody>
      </p:sp>
      <p:sp>
        <p:nvSpPr>
          <p:cNvPr id="6" name="Shape 4"/>
          <p:cNvSpPr/>
          <p:nvPr/>
        </p:nvSpPr>
        <p:spPr>
          <a:xfrm>
            <a:off x="594360" y="1325880"/>
            <a:ext cx="3429000" cy="1325880"/>
          </a:xfrm>
          <a:prstGeom prst="roundRect">
            <a:avLst>
              <a:gd name="adj" fmla="val 4138"/>
            </a:avLst>
          </a:prstGeom>
          <a:solidFill>
            <a:srgbClr val="121A2D"/>
          </a:solidFill>
          <a:ln w="12700">
            <a:solidFill>
              <a:srgbClr val="2A3853"/>
            </a:solidFill>
            <a:prstDash val="solid"/>
          </a:ln>
        </p:spPr>
      </p:sp>
      <p:sp>
        <p:nvSpPr>
          <p:cNvPr id="7" name="Shape 5"/>
          <p:cNvSpPr/>
          <p:nvPr/>
        </p:nvSpPr>
        <p:spPr>
          <a:xfrm>
            <a:off x="594360" y="1325880"/>
            <a:ext cx="54864" cy="1325880"/>
          </a:xfrm>
          <a:prstGeom prst="rect">
            <a:avLst/>
          </a:prstGeom>
          <a:solidFill>
            <a:srgbClr val="A78BFA"/>
          </a:solidFill>
          <a:ln w="12700">
            <a:solidFill>
              <a:srgbClr val="A78BFA"/>
            </a:solidFill>
            <a:prstDash val="solid"/>
          </a:ln>
        </p:spPr>
      </p:sp>
      <p:sp>
        <p:nvSpPr>
          <p:cNvPr id="8" name="Text 6"/>
          <p:cNvSpPr/>
          <p:nvPr/>
        </p:nvSpPr>
        <p:spPr>
          <a:xfrm>
            <a:off x="795528" y="1481328"/>
            <a:ext cx="3108960" cy="292608"/>
          </a:xfrm>
          <a:prstGeom prst="rect">
            <a:avLst/>
          </a:prstGeom>
          <a:noFill/>
          <a:ln/>
        </p:spPr>
        <p:txBody>
          <a:bodyPr wrap="square" lIns="0" tIns="0" rIns="0" bIns="0" rtlCol="0" anchor="ctr"/>
          <a:lstStyle/>
          <a:p>
            <a:pPr indent="0" marL="0">
              <a:buNone/>
            </a:pPr>
            <a:r>
              <a:rPr lang="en-US" sz="1500" b="1" dirty="0">
                <a:solidFill>
                  <a:srgbClr val="F7FAFC"/>
                </a:solidFill>
              </a:rPr>
              <a:t>INPUT</a:t>
            </a:r>
            <a:endParaRPr lang="en-US" sz="1500" dirty="0"/>
          </a:p>
        </p:txBody>
      </p:sp>
      <p:sp>
        <p:nvSpPr>
          <p:cNvPr id="9" name="Text 7"/>
          <p:cNvSpPr/>
          <p:nvPr/>
        </p:nvSpPr>
        <p:spPr>
          <a:xfrm>
            <a:off x="795528" y="1892808"/>
            <a:ext cx="3063240" cy="640080"/>
          </a:xfrm>
          <a:prstGeom prst="rect">
            <a:avLst/>
          </a:prstGeom>
          <a:noFill/>
          <a:ln/>
        </p:spPr>
        <p:txBody>
          <a:bodyPr wrap="square" lIns="254" tIns="254" rIns="254" bIns="254" rtlCol="0" anchor="t">
            <a:normAutofit/>
          </a:bodyPr>
          <a:lstStyle/>
          <a:p>
            <a:pPr indent="0" marL="0">
              <a:buNone/>
            </a:pPr>
            <a:r>
              <a:rPr lang="en-US" sz="1150" dirty="0">
                <a:solidFill>
                  <a:srgbClr val="A9B4C7"/>
                </a:solidFill>
              </a:rPr>
              <a:t>Git repository, branch/service selection, environment configuration and optional managed database.</a:t>
            </a:r>
            <a:endParaRPr lang="en-US" sz="1150" dirty="0"/>
          </a:p>
        </p:txBody>
      </p:sp>
      <p:sp>
        <p:nvSpPr>
          <p:cNvPr id="10" name="Shape 8"/>
          <p:cNvSpPr/>
          <p:nvPr/>
        </p:nvSpPr>
        <p:spPr>
          <a:xfrm>
            <a:off x="4389120" y="1325880"/>
            <a:ext cx="3429000" cy="1325880"/>
          </a:xfrm>
          <a:prstGeom prst="roundRect">
            <a:avLst>
              <a:gd name="adj" fmla="val 4138"/>
            </a:avLst>
          </a:prstGeom>
          <a:solidFill>
            <a:srgbClr val="121A2D"/>
          </a:solidFill>
          <a:ln w="12700">
            <a:solidFill>
              <a:srgbClr val="2A3853"/>
            </a:solidFill>
            <a:prstDash val="solid"/>
          </a:ln>
        </p:spPr>
      </p:sp>
      <p:sp>
        <p:nvSpPr>
          <p:cNvPr id="11" name="Shape 9"/>
          <p:cNvSpPr/>
          <p:nvPr/>
        </p:nvSpPr>
        <p:spPr>
          <a:xfrm>
            <a:off x="4389120" y="1325880"/>
            <a:ext cx="54864" cy="1325880"/>
          </a:xfrm>
          <a:prstGeom prst="rect">
            <a:avLst/>
          </a:prstGeom>
          <a:solidFill>
            <a:srgbClr val="F59E0B"/>
          </a:solidFill>
          <a:ln w="12700">
            <a:solidFill>
              <a:srgbClr val="F59E0B"/>
            </a:solidFill>
            <a:prstDash val="solid"/>
          </a:ln>
        </p:spPr>
      </p:sp>
      <p:sp>
        <p:nvSpPr>
          <p:cNvPr id="12" name="Text 10"/>
          <p:cNvSpPr/>
          <p:nvPr/>
        </p:nvSpPr>
        <p:spPr>
          <a:xfrm>
            <a:off x="4590288" y="1481328"/>
            <a:ext cx="3108960" cy="292608"/>
          </a:xfrm>
          <a:prstGeom prst="rect">
            <a:avLst/>
          </a:prstGeom>
          <a:noFill/>
          <a:ln/>
        </p:spPr>
        <p:txBody>
          <a:bodyPr wrap="square" lIns="0" tIns="0" rIns="0" bIns="0" rtlCol="0" anchor="ctr"/>
          <a:lstStyle/>
          <a:p>
            <a:pPr indent="0" marL="0">
              <a:buNone/>
            </a:pPr>
            <a:r>
              <a:rPr lang="en-US" sz="1500" b="1" dirty="0">
                <a:solidFill>
                  <a:srgbClr val="F7FAFC"/>
                </a:solidFill>
              </a:rPr>
              <a:t>CONTROL PLANE</a:t>
            </a:r>
            <a:endParaRPr lang="en-US" sz="1500" dirty="0"/>
          </a:p>
        </p:txBody>
      </p:sp>
      <p:sp>
        <p:nvSpPr>
          <p:cNvPr id="13" name="Text 11"/>
          <p:cNvSpPr/>
          <p:nvPr/>
        </p:nvSpPr>
        <p:spPr>
          <a:xfrm>
            <a:off x="4590288" y="1892808"/>
            <a:ext cx="3063240" cy="640080"/>
          </a:xfrm>
          <a:prstGeom prst="rect">
            <a:avLst/>
          </a:prstGeom>
          <a:noFill/>
          <a:ln/>
        </p:spPr>
        <p:txBody>
          <a:bodyPr wrap="square" lIns="254" tIns="254" rIns="254" bIns="254" rtlCol="0" anchor="t">
            <a:normAutofit/>
          </a:bodyPr>
          <a:lstStyle/>
          <a:p>
            <a:pPr indent="0" marL="0">
              <a:buNone/>
            </a:pPr>
            <a:r>
              <a:rPr lang="en-US" sz="1150" dirty="0">
                <a:solidFill>
                  <a:srgbClr val="A9B4C7"/>
                </a:solidFill>
              </a:rPr>
              <a:t>Backend analyzes the source, creates deployment contracts, validates configuration and orchestrates the pipeline.</a:t>
            </a:r>
            <a:endParaRPr lang="en-US" sz="1150" dirty="0"/>
          </a:p>
        </p:txBody>
      </p:sp>
      <p:sp>
        <p:nvSpPr>
          <p:cNvPr id="14" name="Shape 12"/>
          <p:cNvSpPr/>
          <p:nvPr/>
        </p:nvSpPr>
        <p:spPr>
          <a:xfrm>
            <a:off x="8183880" y="1325880"/>
            <a:ext cx="3429000" cy="1325880"/>
          </a:xfrm>
          <a:prstGeom prst="roundRect">
            <a:avLst>
              <a:gd name="adj" fmla="val 4138"/>
            </a:avLst>
          </a:prstGeom>
          <a:solidFill>
            <a:srgbClr val="121A2D"/>
          </a:solidFill>
          <a:ln w="12700">
            <a:solidFill>
              <a:srgbClr val="2A3853"/>
            </a:solidFill>
            <a:prstDash val="solid"/>
          </a:ln>
        </p:spPr>
      </p:sp>
      <p:sp>
        <p:nvSpPr>
          <p:cNvPr id="15" name="Shape 13"/>
          <p:cNvSpPr/>
          <p:nvPr/>
        </p:nvSpPr>
        <p:spPr>
          <a:xfrm>
            <a:off x="8183880" y="1325880"/>
            <a:ext cx="54864" cy="1325880"/>
          </a:xfrm>
          <a:prstGeom prst="rect">
            <a:avLst/>
          </a:prstGeom>
          <a:solidFill>
            <a:srgbClr val="22C55E"/>
          </a:solidFill>
          <a:ln w="12700">
            <a:solidFill>
              <a:srgbClr val="22C55E"/>
            </a:solidFill>
            <a:prstDash val="solid"/>
          </a:ln>
        </p:spPr>
      </p:sp>
      <p:sp>
        <p:nvSpPr>
          <p:cNvPr id="16" name="Text 14"/>
          <p:cNvSpPr/>
          <p:nvPr/>
        </p:nvSpPr>
        <p:spPr>
          <a:xfrm>
            <a:off x="8385048" y="1481328"/>
            <a:ext cx="3108960" cy="292608"/>
          </a:xfrm>
          <a:prstGeom prst="rect">
            <a:avLst/>
          </a:prstGeom>
          <a:noFill/>
          <a:ln/>
        </p:spPr>
        <p:txBody>
          <a:bodyPr wrap="square" lIns="0" tIns="0" rIns="0" bIns="0" rtlCol="0" anchor="ctr"/>
          <a:lstStyle/>
          <a:p>
            <a:pPr indent="0" marL="0">
              <a:buNone/>
            </a:pPr>
            <a:r>
              <a:rPr lang="en-US" sz="1500" b="1" dirty="0">
                <a:solidFill>
                  <a:srgbClr val="F7FAFC"/>
                </a:solidFill>
              </a:rPr>
              <a:t>OUTPUT</a:t>
            </a:r>
            <a:endParaRPr lang="en-US" sz="1500" dirty="0"/>
          </a:p>
        </p:txBody>
      </p:sp>
      <p:sp>
        <p:nvSpPr>
          <p:cNvPr id="17" name="Text 15"/>
          <p:cNvSpPr/>
          <p:nvPr/>
        </p:nvSpPr>
        <p:spPr>
          <a:xfrm>
            <a:off x="8385048" y="1892808"/>
            <a:ext cx="3063240" cy="640080"/>
          </a:xfrm>
          <a:prstGeom prst="rect">
            <a:avLst/>
          </a:prstGeom>
          <a:noFill/>
          <a:ln/>
        </p:spPr>
        <p:txBody>
          <a:bodyPr wrap="square" lIns="254" tIns="254" rIns="254" bIns="254" rtlCol="0" anchor="t">
            <a:normAutofit/>
          </a:bodyPr>
          <a:lstStyle/>
          <a:p>
            <a:pPr indent="0" marL="0">
              <a:buNone/>
            </a:pPr>
            <a:r>
              <a:rPr lang="en-US" sz="1150" dirty="0">
                <a:solidFill>
                  <a:srgbClr val="A9B4C7"/>
                </a:solidFill>
              </a:rPr>
              <a:t>A verified containerized application running on AWS with deployment evidence and lifecycle controls.</a:t>
            </a:r>
            <a:endParaRPr lang="en-US" sz="1150" dirty="0"/>
          </a:p>
        </p:txBody>
      </p:sp>
      <p:sp>
        <p:nvSpPr>
          <p:cNvPr id="18" name="Text 16"/>
          <p:cNvSpPr/>
          <p:nvPr/>
        </p:nvSpPr>
        <p:spPr>
          <a:xfrm>
            <a:off x="640080" y="3063240"/>
            <a:ext cx="4114800" cy="320040"/>
          </a:xfrm>
          <a:prstGeom prst="rect">
            <a:avLst/>
          </a:prstGeom>
          <a:noFill/>
          <a:ln/>
        </p:spPr>
        <p:txBody>
          <a:bodyPr wrap="square" lIns="0" tIns="0" rIns="0" bIns="0" rtlCol="0" anchor="ctr"/>
          <a:lstStyle/>
          <a:p>
            <a:pPr indent="0" marL="0">
              <a:buNone/>
            </a:pPr>
            <a:r>
              <a:rPr lang="en-US" sz="1800" b="1" dirty="0">
                <a:solidFill>
                  <a:srgbClr val="F7FAFC"/>
                </a:solidFill>
              </a:rPr>
              <a:t>Core implemented capabilities</a:t>
            </a:r>
            <a:endParaRPr lang="en-US" sz="1800" dirty="0"/>
          </a:p>
        </p:txBody>
      </p:sp>
      <p:sp>
        <p:nvSpPr>
          <p:cNvPr id="19" name="Shape 17"/>
          <p:cNvSpPr/>
          <p:nvPr/>
        </p:nvSpPr>
        <p:spPr>
          <a:xfrm>
            <a:off x="685800" y="3703320"/>
            <a:ext cx="2377440" cy="310896"/>
          </a:xfrm>
          <a:prstGeom prst="roundRect">
            <a:avLst/>
          </a:prstGeom>
          <a:solidFill>
            <a:srgbClr val="A78BFA">
              <a:alpha val="18000"/>
            </a:srgbClr>
          </a:solidFill>
          <a:ln w="12700">
            <a:solidFill>
              <a:srgbClr val="A78BFA">
                <a:alpha val="70000"/>
              </a:srgbClr>
            </a:solidFill>
            <a:prstDash val="solid"/>
          </a:ln>
        </p:spPr>
      </p:sp>
      <p:sp>
        <p:nvSpPr>
          <p:cNvPr id="20" name="Text 18"/>
          <p:cNvSpPr/>
          <p:nvPr/>
        </p:nvSpPr>
        <p:spPr>
          <a:xfrm>
            <a:off x="740664" y="3767328"/>
            <a:ext cx="2267712" cy="155448"/>
          </a:xfrm>
          <a:prstGeom prst="rect">
            <a:avLst/>
          </a:prstGeom>
          <a:noFill/>
          <a:ln/>
        </p:spPr>
        <p:txBody>
          <a:bodyPr wrap="square" lIns="0" tIns="0" rIns="0" bIns="0" rtlCol="0" anchor="ctr"/>
          <a:lstStyle/>
          <a:p>
            <a:pPr algn="ctr" indent="0" marL="0">
              <a:buNone/>
            </a:pPr>
            <a:r>
              <a:rPr lang="en-US" sz="950" b="1" dirty="0">
                <a:solidFill>
                  <a:srgbClr val="A78BFA"/>
                </a:solidFill>
              </a:rPr>
              <a:t>Repository analysis</a:t>
            </a:r>
            <a:endParaRPr lang="en-US" sz="950" dirty="0"/>
          </a:p>
        </p:txBody>
      </p:sp>
      <p:sp>
        <p:nvSpPr>
          <p:cNvPr id="21" name="Shape 19"/>
          <p:cNvSpPr/>
          <p:nvPr/>
        </p:nvSpPr>
        <p:spPr>
          <a:xfrm>
            <a:off x="3474720" y="3703320"/>
            <a:ext cx="2377440" cy="310896"/>
          </a:xfrm>
          <a:prstGeom prst="roundRect">
            <a:avLst/>
          </a:prstGeom>
          <a:solidFill>
            <a:srgbClr val="38BDF8">
              <a:alpha val="18000"/>
            </a:srgbClr>
          </a:solidFill>
          <a:ln w="12700">
            <a:solidFill>
              <a:srgbClr val="38BDF8">
                <a:alpha val="70000"/>
              </a:srgbClr>
            </a:solidFill>
            <a:prstDash val="solid"/>
          </a:ln>
        </p:spPr>
      </p:sp>
      <p:sp>
        <p:nvSpPr>
          <p:cNvPr id="22" name="Text 20"/>
          <p:cNvSpPr/>
          <p:nvPr/>
        </p:nvSpPr>
        <p:spPr>
          <a:xfrm>
            <a:off x="3529584" y="3767328"/>
            <a:ext cx="2267712" cy="155448"/>
          </a:xfrm>
          <a:prstGeom prst="rect">
            <a:avLst/>
          </a:prstGeom>
          <a:noFill/>
          <a:ln/>
        </p:spPr>
        <p:txBody>
          <a:bodyPr wrap="square" lIns="0" tIns="0" rIns="0" bIns="0" rtlCol="0" anchor="ctr"/>
          <a:lstStyle/>
          <a:p>
            <a:pPr algn="ctr" indent="0" marL="0">
              <a:buNone/>
            </a:pPr>
            <a:r>
              <a:rPr lang="en-US" sz="950" b="1" dirty="0">
                <a:solidFill>
                  <a:srgbClr val="38BDF8"/>
                </a:solidFill>
              </a:rPr>
              <a:t>Containerization</a:t>
            </a:r>
            <a:endParaRPr lang="en-US" sz="950" dirty="0"/>
          </a:p>
        </p:txBody>
      </p:sp>
      <p:sp>
        <p:nvSpPr>
          <p:cNvPr id="23" name="Shape 21"/>
          <p:cNvSpPr/>
          <p:nvPr/>
        </p:nvSpPr>
        <p:spPr>
          <a:xfrm>
            <a:off x="6263640" y="3703320"/>
            <a:ext cx="2377440" cy="310896"/>
          </a:xfrm>
          <a:prstGeom prst="roundRect">
            <a:avLst/>
          </a:prstGeom>
          <a:solidFill>
            <a:srgbClr val="EF4444">
              <a:alpha val="18000"/>
            </a:srgbClr>
          </a:solidFill>
          <a:ln w="12700">
            <a:solidFill>
              <a:srgbClr val="EF4444">
                <a:alpha val="70000"/>
              </a:srgbClr>
            </a:solidFill>
            <a:prstDash val="solid"/>
          </a:ln>
        </p:spPr>
      </p:sp>
      <p:sp>
        <p:nvSpPr>
          <p:cNvPr id="24" name="Text 22"/>
          <p:cNvSpPr/>
          <p:nvPr/>
        </p:nvSpPr>
        <p:spPr>
          <a:xfrm>
            <a:off x="6318504" y="3767328"/>
            <a:ext cx="2267712" cy="155448"/>
          </a:xfrm>
          <a:prstGeom prst="rect">
            <a:avLst/>
          </a:prstGeom>
          <a:noFill/>
          <a:ln/>
        </p:spPr>
        <p:txBody>
          <a:bodyPr wrap="square" lIns="0" tIns="0" rIns="0" bIns="0" rtlCol="0" anchor="ctr"/>
          <a:lstStyle/>
          <a:p>
            <a:pPr algn="ctr" indent="0" marL="0">
              <a:buNone/>
            </a:pPr>
            <a:r>
              <a:rPr lang="en-US" sz="950" b="1" dirty="0">
                <a:solidFill>
                  <a:srgbClr val="EF4444"/>
                </a:solidFill>
              </a:rPr>
              <a:t>Security scanning</a:t>
            </a:r>
            <a:endParaRPr lang="en-US" sz="950" dirty="0"/>
          </a:p>
        </p:txBody>
      </p:sp>
      <p:sp>
        <p:nvSpPr>
          <p:cNvPr id="25" name="Shape 23"/>
          <p:cNvSpPr/>
          <p:nvPr/>
        </p:nvSpPr>
        <p:spPr>
          <a:xfrm>
            <a:off x="9052560" y="3703320"/>
            <a:ext cx="2377440" cy="310896"/>
          </a:xfrm>
          <a:prstGeom prst="roundRect">
            <a:avLst/>
          </a:prstGeom>
          <a:solidFill>
            <a:srgbClr val="F59E0B">
              <a:alpha val="18000"/>
            </a:srgbClr>
          </a:solidFill>
          <a:ln w="12700">
            <a:solidFill>
              <a:srgbClr val="F59E0B">
                <a:alpha val="70000"/>
              </a:srgbClr>
            </a:solidFill>
            <a:prstDash val="solid"/>
          </a:ln>
        </p:spPr>
      </p:sp>
      <p:sp>
        <p:nvSpPr>
          <p:cNvPr id="26" name="Text 24"/>
          <p:cNvSpPr/>
          <p:nvPr/>
        </p:nvSpPr>
        <p:spPr>
          <a:xfrm>
            <a:off x="9107424" y="3767328"/>
            <a:ext cx="2267712" cy="155448"/>
          </a:xfrm>
          <a:prstGeom prst="rect">
            <a:avLst/>
          </a:prstGeom>
          <a:noFill/>
          <a:ln/>
        </p:spPr>
        <p:txBody>
          <a:bodyPr wrap="square" lIns="0" tIns="0" rIns="0" bIns="0" rtlCol="0" anchor="ctr"/>
          <a:lstStyle/>
          <a:p>
            <a:pPr algn="ctr" indent="0" marL="0">
              <a:buNone/>
            </a:pPr>
            <a:r>
              <a:rPr lang="en-US" sz="950" b="1" dirty="0">
                <a:solidFill>
                  <a:srgbClr val="F59E0B"/>
                </a:solidFill>
              </a:rPr>
              <a:t>AWS provisioning</a:t>
            </a:r>
            <a:endParaRPr lang="en-US" sz="950" dirty="0"/>
          </a:p>
        </p:txBody>
      </p:sp>
      <p:sp>
        <p:nvSpPr>
          <p:cNvPr id="27" name="Shape 25"/>
          <p:cNvSpPr/>
          <p:nvPr/>
        </p:nvSpPr>
        <p:spPr>
          <a:xfrm>
            <a:off x="685800" y="4325112"/>
            <a:ext cx="2377440" cy="310896"/>
          </a:xfrm>
          <a:prstGeom prst="roundRect">
            <a:avLst/>
          </a:prstGeom>
          <a:solidFill>
            <a:srgbClr val="22C55E">
              <a:alpha val="18000"/>
            </a:srgbClr>
          </a:solidFill>
          <a:ln w="12700">
            <a:solidFill>
              <a:srgbClr val="22C55E">
                <a:alpha val="70000"/>
              </a:srgbClr>
            </a:solidFill>
            <a:prstDash val="solid"/>
          </a:ln>
        </p:spPr>
      </p:sp>
      <p:sp>
        <p:nvSpPr>
          <p:cNvPr id="28" name="Text 26"/>
          <p:cNvSpPr/>
          <p:nvPr/>
        </p:nvSpPr>
        <p:spPr>
          <a:xfrm>
            <a:off x="740664" y="4389120"/>
            <a:ext cx="2267712" cy="155448"/>
          </a:xfrm>
          <a:prstGeom prst="rect">
            <a:avLst/>
          </a:prstGeom>
          <a:noFill/>
          <a:ln/>
        </p:spPr>
        <p:txBody>
          <a:bodyPr wrap="square" lIns="0" tIns="0" rIns="0" bIns="0" rtlCol="0" anchor="ctr"/>
          <a:lstStyle/>
          <a:p>
            <a:pPr algn="ctr" indent="0" marL="0">
              <a:buNone/>
            </a:pPr>
            <a:r>
              <a:rPr lang="en-US" sz="950" b="1" dirty="0">
                <a:solidFill>
                  <a:srgbClr val="22C55E"/>
                </a:solidFill>
              </a:rPr>
              <a:t>Health verification</a:t>
            </a:r>
            <a:endParaRPr lang="en-US" sz="950" dirty="0"/>
          </a:p>
        </p:txBody>
      </p:sp>
      <p:sp>
        <p:nvSpPr>
          <p:cNvPr id="29" name="Shape 27"/>
          <p:cNvSpPr/>
          <p:nvPr/>
        </p:nvSpPr>
        <p:spPr>
          <a:xfrm>
            <a:off x="3474720" y="4325112"/>
            <a:ext cx="2377440" cy="310896"/>
          </a:xfrm>
          <a:prstGeom prst="roundRect">
            <a:avLst/>
          </a:prstGeom>
          <a:solidFill>
            <a:srgbClr val="06B6D4">
              <a:alpha val="18000"/>
            </a:srgbClr>
          </a:solidFill>
          <a:ln w="12700">
            <a:solidFill>
              <a:srgbClr val="06B6D4">
                <a:alpha val="70000"/>
              </a:srgbClr>
            </a:solidFill>
            <a:prstDash val="solid"/>
          </a:ln>
        </p:spPr>
      </p:sp>
      <p:sp>
        <p:nvSpPr>
          <p:cNvPr id="30" name="Text 28"/>
          <p:cNvSpPr/>
          <p:nvPr/>
        </p:nvSpPr>
        <p:spPr>
          <a:xfrm>
            <a:off x="3529584" y="4389120"/>
            <a:ext cx="2267712" cy="155448"/>
          </a:xfrm>
          <a:prstGeom prst="rect">
            <a:avLst/>
          </a:prstGeom>
          <a:noFill/>
          <a:ln/>
        </p:spPr>
        <p:txBody>
          <a:bodyPr wrap="square" lIns="0" tIns="0" rIns="0" bIns="0" rtlCol="0" anchor="ctr"/>
          <a:lstStyle/>
          <a:p>
            <a:pPr algn="ctr" indent="0" marL="0">
              <a:buNone/>
            </a:pPr>
            <a:r>
              <a:rPr lang="en-US" sz="950" b="1" dirty="0">
                <a:solidFill>
                  <a:srgbClr val="06B6D4"/>
                </a:solidFill>
              </a:rPr>
              <a:t>Managed databases</a:t>
            </a:r>
            <a:endParaRPr lang="en-US" sz="950" dirty="0"/>
          </a:p>
        </p:txBody>
      </p:sp>
      <p:sp>
        <p:nvSpPr>
          <p:cNvPr id="31" name="Shape 29"/>
          <p:cNvSpPr/>
          <p:nvPr/>
        </p:nvSpPr>
        <p:spPr>
          <a:xfrm>
            <a:off x="6263640" y="4325112"/>
            <a:ext cx="2377440" cy="310896"/>
          </a:xfrm>
          <a:prstGeom prst="roundRect">
            <a:avLst/>
          </a:prstGeom>
          <a:solidFill>
            <a:srgbClr val="38BDF8">
              <a:alpha val="18000"/>
            </a:srgbClr>
          </a:solidFill>
          <a:ln w="12700">
            <a:solidFill>
              <a:srgbClr val="38BDF8">
                <a:alpha val="70000"/>
              </a:srgbClr>
            </a:solidFill>
            <a:prstDash val="solid"/>
          </a:ln>
        </p:spPr>
      </p:sp>
      <p:sp>
        <p:nvSpPr>
          <p:cNvPr id="32" name="Text 30"/>
          <p:cNvSpPr/>
          <p:nvPr/>
        </p:nvSpPr>
        <p:spPr>
          <a:xfrm>
            <a:off x="6318504" y="4389120"/>
            <a:ext cx="2267712" cy="155448"/>
          </a:xfrm>
          <a:prstGeom prst="rect">
            <a:avLst/>
          </a:prstGeom>
          <a:noFill/>
          <a:ln/>
        </p:spPr>
        <p:txBody>
          <a:bodyPr wrap="square" lIns="0" tIns="0" rIns="0" bIns="0" rtlCol="0" anchor="ctr"/>
          <a:lstStyle/>
          <a:p>
            <a:pPr algn="ctr" indent="0" marL="0">
              <a:buNone/>
            </a:pPr>
            <a:r>
              <a:rPr lang="en-US" sz="950" b="1" dirty="0">
                <a:solidFill>
                  <a:srgbClr val="38BDF8"/>
                </a:solidFill>
              </a:rPr>
              <a:t>Monitoring &amp; evidence</a:t>
            </a:r>
            <a:endParaRPr lang="en-US" sz="950" dirty="0"/>
          </a:p>
        </p:txBody>
      </p:sp>
      <p:sp>
        <p:nvSpPr>
          <p:cNvPr id="33" name="Shape 31"/>
          <p:cNvSpPr/>
          <p:nvPr/>
        </p:nvSpPr>
        <p:spPr>
          <a:xfrm>
            <a:off x="9052560" y="4325112"/>
            <a:ext cx="2377440" cy="310896"/>
          </a:xfrm>
          <a:prstGeom prst="roundRect">
            <a:avLst/>
          </a:prstGeom>
          <a:solidFill>
            <a:srgbClr val="A78BFA">
              <a:alpha val="18000"/>
            </a:srgbClr>
          </a:solidFill>
          <a:ln w="12700">
            <a:solidFill>
              <a:srgbClr val="A78BFA">
                <a:alpha val="70000"/>
              </a:srgbClr>
            </a:solidFill>
            <a:prstDash val="solid"/>
          </a:ln>
        </p:spPr>
      </p:sp>
      <p:sp>
        <p:nvSpPr>
          <p:cNvPr id="34" name="Text 32"/>
          <p:cNvSpPr/>
          <p:nvPr/>
        </p:nvSpPr>
        <p:spPr>
          <a:xfrm>
            <a:off x="9107424" y="4389120"/>
            <a:ext cx="2267712" cy="155448"/>
          </a:xfrm>
          <a:prstGeom prst="rect">
            <a:avLst/>
          </a:prstGeom>
          <a:noFill/>
          <a:ln/>
        </p:spPr>
        <p:txBody>
          <a:bodyPr wrap="square" lIns="0" tIns="0" rIns="0" bIns="0" rtlCol="0" anchor="ctr"/>
          <a:lstStyle/>
          <a:p>
            <a:pPr algn="ctr" indent="0" marL="0">
              <a:buNone/>
            </a:pPr>
            <a:r>
              <a:rPr lang="en-US" sz="950" b="1" dirty="0">
                <a:solidFill>
                  <a:srgbClr val="A78BFA"/>
                </a:solidFill>
              </a:rPr>
              <a:t>Billing &amp; platform controls</a:t>
            </a:r>
            <a:endParaRPr lang="en-US" sz="950" dirty="0"/>
          </a:p>
        </p:txBody>
      </p:sp>
      <p:sp>
        <p:nvSpPr>
          <p:cNvPr id="25" name="Slide Number Placeholder 0"/>
          <p:cNvSpPr>
            <a:spLocks noGrp="1"/>
          </p:cNvSpPr>
          <p:nvPr>
            <p:ph type="sldNum" sz="quarter" idx="4294967295"/>
          </p:nvPr>
        </p:nvSpPr>
        <p:spPr>
          <a:xfrm>
            <a:off x="1138428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7C8AA5"/>
                </a:solidFill>
                <a:latin typeface="Aptos"/>
                <a:ea typeface="Aptos"/>
                <a:cs typeface="Aptos"/>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320040"/>
            <a:ext cx="11064240" cy="502920"/>
          </a:xfrm>
          <a:prstGeom prst="rect">
            <a:avLst/>
          </a:prstGeom>
          <a:noFill/>
          <a:ln/>
        </p:spPr>
        <p:txBody>
          <a:bodyPr wrap="square" lIns="0" tIns="0" rIns="0" bIns="0" rtlCol="0" anchor="ctr"/>
          <a:lstStyle/>
          <a:p>
            <a:pPr indent="0" marL="0">
              <a:buNone/>
            </a:pPr>
            <a:r>
              <a:rPr lang="en-US" sz="2800" b="1" dirty="0">
                <a:solidFill>
                  <a:srgbClr val="F7FAFC"/>
                </a:solidFill>
                <a:latin typeface="Aptos Display" pitchFamily="34" charset="0"/>
                <a:ea typeface="Aptos Display" pitchFamily="34" charset="-122"/>
                <a:cs typeface="Aptos Display" pitchFamily="34" charset="-120"/>
              </a:rPr>
              <a:t>The engineering problem we solved</a:t>
            </a:r>
            <a:endParaRPr lang="en-US" sz="2800" dirty="0"/>
          </a:p>
        </p:txBody>
      </p:sp>
      <p:sp>
        <p:nvSpPr>
          <p:cNvPr id="3" name="Text 1"/>
          <p:cNvSpPr/>
          <p:nvPr/>
        </p:nvSpPr>
        <p:spPr>
          <a:xfrm>
            <a:off x="521208" y="868680"/>
            <a:ext cx="10972800" cy="310896"/>
          </a:xfrm>
          <a:prstGeom prst="rect">
            <a:avLst/>
          </a:prstGeom>
          <a:noFill/>
          <a:ln/>
        </p:spPr>
        <p:txBody>
          <a:bodyPr wrap="square" lIns="0" tIns="0" rIns="0" bIns="0" rtlCol="0" anchor="ctr"/>
          <a:lstStyle/>
          <a:p>
            <a:pPr indent="0" marL="0">
              <a:buNone/>
            </a:pPr>
            <a:r>
              <a:rPr lang="en-US" sz="1250" dirty="0">
                <a:solidFill>
                  <a:srgbClr val="A9B4C7"/>
                </a:solidFill>
              </a:rPr>
              <a:t>Deployment is not one command — it is a chain of dependent technical decisions</a:t>
            </a:r>
            <a:endParaRPr lang="en-US" sz="1250" dirty="0"/>
          </a:p>
        </p:txBody>
      </p:sp>
      <p:sp>
        <p:nvSpPr>
          <p:cNvPr id="4" name="Shape 2"/>
          <p:cNvSpPr/>
          <p:nvPr/>
        </p:nvSpPr>
        <p:spPr>
          <a:xfrm>
            <a:off x="10469880" y="338328"/>
            <a:ext cx="1078992" cy="274320"/>
          </a:xfrm>
          <a:prstGeom prst="roundRect">
            <a:avLst>
              <a:gd name="adj" fmla="val 16667"/>
            </a:avLst>
          </a:prstGeom>
          <a:solidFill>
            <a:srgbClr val="A78BFA">
              <a:alpha val="20000"/>
            </a:srgbClr>
          </a:solidFill>
          <a:ln w="12700">
            <a:solidFill>
              <a:srgbClr val="A78BFA">
                <a:alpha val="70000"/>
              </a:srgbClr>
            </a:solidFill>
            <a:prstDash val="solid"/>
          </a:ln>
        </p:spPr>
      </p:sp>
      <p:sp>
        <p:nvSpPr>
          <p:cNvPr id="5" name="Text 3"/>
          <p:cNvSpPr/>
          <p:nvPr/>
        </p:nvSpPr>
        <p:spPr>
          <a:xfrm>
            <a:off x="10543032" y="388620"/>
            <a:ext cx="932688" cy="155448"/>
          </a:xfrm>
          <a:prstGeom prst="rect">
            <a:avLst/>
          </a:prstGeom>
          <a:noFill/>
          <a:ln/>
        </p:spPr>
        <p:txBody>
          <a:bodyPr wrap="square" lIns="0" tIns="0" rIns="0" bIns="0" rtlCol="0" anchor="ctr"/>
          <a:lstStyle/>
          <a:p>
            <a:pPr algn="ctr" indent="0" marL="0">
              <a:buNone/>
            </a:pPr>
            <a:r>
              <a:rPr lang="en-US" sz="900" b="1" dirty="0">
                <a:solidFill>
                  <a:srgbClr val="A78BFA"/>
                </a:solidFill>
              </a:rPr>
              <a:t>TANIA</a:t>
            </a:r>
            <a:endParaRPr lang="en-US" sz="900" dirty="0"/>
          </a:p>
        </p:txBody>
      </p:sp>
      <p:sp>
        <p:nvSpPr>
          <p:cNvPr id="6" name="Shape 4"/>
          <p:cNvSpPr/>
          <p:nvPr/>
        </p:nvSpPr>
        <p:spPr>
          <a:xfrm>
            <a:off x="640080" y="1325880"/>
            <a:ext cx="5120640" cy="4251960"/>
          </a:xfrm>
          <a:prstGeom prst="roundRect">
            <a:avLst>
              <a:gd name="adj" fmla="val 1290"/>
            </a:avLst>
          </a:prstGeom>
          <a:solidFill>
            <a:srgbClr val="121A2D"/>
          </a:solidFill>
          <a:ln w="12700">
            <a:solidFill>
              <a:srgbClr val="2A3853"/>
            </a:solidFill>
            <a:prstDash val="solid"/>
          </a:ln>
        </p:spPr>
      </p:sp>
      <p:sp>
        <p:nvSpPr>
          <p:cNvPr id="7" name="Shape 5"/>
          <p:cNvSpPr/>
          <p:nvPr/>
        </p:nvSpPr>
        <p:spPr>
          <a:xfrm>
            <a:off x="640080" y="1325880"/>
            <a:ext cx="54864" cy="4251960"/>
          </a:xfrm>
          <a:prstGeom prst="rect">
            <a:avLst/>
          </a:prstGeom>
          <a:solidFill>
            <a:srgbClr val="EF4444"/>
          </a:solidFill>
          <a:ln w="12700">
            <a:solidFill>
              <a:srgbClr val="EF4444"/>
            </a:solidFill>
            <a:prstDash val="solid"/>
          </a:ln>
        </p:spPr>
      </p:sp>
      <p:sp>
        <p:nvSpPr>
          <p:cNvPr id="8" name="Text 6"/>
          <p:cNvSpPr/>
          <p:nvPr/>
        </p:nvSpPr>
        <p:spPr>
          <a:xfrm>
            <a:off x="841248" y="1481328"/>
            <a:ext cx="4800600" cy="292608"/>
          </a:xfrm>
          <a:prstGeom prst="rect">
            <a:avLst/>
          </a:prstGeom>
          <a:noFill/>
          <a:ln/>
        </p:spPr>
        <p:txBody>
          <a:bodyPr wrap="square" lIns="0" tIns="0" rIns="0" bIns="0" rtlCol="0" anchor="ctr"/>
          <a:lstStyle/>
          <a:p>
            <a:pPr indent="0" marL="0">
              <a:buNone/>
            </a:pPr>
            <a:r>
              <a:rPr lang="en-US" sz="1800" b="1" dirty="0">
                <a:solidFill>
                  <a:srgbClr val="F7FAFC"/>
                </a:solidFill>
              </a:rPr>
              <a:t>Without DeployGuard</a:t>
            </a:r>
            <a:endParaRPr lang="en-US" sz="1800" dirty="0"/>
          </a:p>
        </p:txBody>
      </p:sp>
      <p:sp>
        <p:nvSpPr>
          <p:cNvPr id="9" name="Text 7"/>
          <p:cNvSpPr/>
          <p:nvPr/>
        </p:nvSpPr>
        <p:spPr>
          <a:xfrm>
            <a:off x="841248" y="1892808"/>
            <a:ext cx="4754880" cy="3566160"/>
          </a:xfrm>
          <a:prstGeom prst="rect">
            <a:avLst/>
          </a:prstGeom>
          <a:noFill/>
          <a:ln/>
        </p:spPr>
        <p:txBody>
          <a:bodyPr wrap="square" lIns="254" tIns="254" rIns="254" bIns="254" rtlCol="0" anchor="t">
            <a:normAutofit/>
          </a:bodyPr>
          <a:lstStyle/>
          <a:p>
            <a:pPr indent="0" marL="0">
              <a:buNone/>
            </a:pPr>
            <a:r>
              <a:rPr lang="en-US" sz="1500" dirty="0">
                <a:solidFill>
                  <a:srgbClr val="A9B4C7"/>
                </a:solidFill>
              </a:rPr>
              <a:t>Developers manually coordinate build setup, containerization, registry, IAM, networking, load balancing, infrastructure provisioning, environment configuration, database wiring, health checks and cleanup. A failure in one stage can invalidate the entire release.</a:t>
            </a:r>
            <a:endParaRPr lang="en-US" sz="1500" dirty="0"/>
          </a:p>
        </p:txBody>
      </p:sp>
      <p:sp>
        <p:nvSpPr>
          <p:cNvPr id="10" name="Shape 8"/>
          <p:cNvSpPr/>
          <p:nvPr/>
        </p:nvSpPr>
        <p:spPr>
          <a:xfrm>
            <a:off x="6172200" y="1325880"/>
            <a:ext cx="5349240" cy="4251960"/>
          </a:xfrm>
          <a:prstGeom prst="roundRect">
            <a:avLst>
              <a:gd name="adj" fmla="val 1290"/>
            </a:avLst>
          </a:prstGeom>
          <a:solidFill>
            <a:srgbClr val="121A2D"/>
          </a:solidFill>
          <a:ln w="12700">
            <a:solidFill>
              <a:srgbClr val="2A3853"/>
            </a:solidFill>
            <a:prstDash val="solid"/>
          </a:ln>
        </p:spPr>
      </p:sp>
      <p:sp>
        <p:nvSpPr>
          <p:cNvPr id="11" name="Shape 9"/>
          <p:cNvSpPr/>
          <p:nvPr/>
        </p:nvSpPr>
        <p:spPr>
          <a:xfrm>
            <a:off x="6172200" y="1325880"/>
            <a:ext cx="54864" cy="4251960"/>
          </a:xfrm>
          <a:prstGeom prst="rect">
            <a:avLst/>
          </a:prstGeom>
          <a:solidFill>
            <a:srgbClr val="22C55E"/>
          </a:solidFill>
          <a:ln w="12700">
            <a:solidFill>
              <a:srgbClr val="22C55E"/>
            </a:solidFill>
            <a:prstDash val="solid"/>
          </a:ln>
        </p:spPr>
      </p:sp>
      <p:sp>
        <p:nvSpPr>
          <p:cNvPr id="12" name="Text 10"/>
          <p:cNvSpPr/>
          <p:nvPr/>
        </p:nvSpPr>
        <p:spPr>
          <a:xfrm>
            <a:off x="6373368" y="1481328"/>
            <a:ext cx="5029200" cy="292608"/>
          </a:xfrm>
          <a:prstGeom prst="rect">
            <a:avLst/>
          </a:prstGeom>
          <a:noFill/>
          <a:ln/>
        </p:spPr>
        <p:txBody>
          <a:bodyPr wrap="square" lIns="0" tIns="0" rIns="0" bIns="0" rtlCol="0" anchor="ctr"/>
          <a:lstStyle/>
          <a:p>
            <a:pPr indent="0" marL="0">
              <a:buNone/>
            </a:pPr>
            <a:r>
              <a:rPr lang="en-US" sz="1800" b="1" dirty="0">
                <a:solidFill>
                  <a:srgbClr val="F7FAFC"/>
                </a:solidFill>
              </a:rPr>
              <a:t>With DeployGuard</a:t>
            </a:r>
            <a:endParaRPr lang="en-US" sz="1800" dirty="0"/>
          </a:p>
        </p:txBody>
      </p:sp>
      <p:sp>
        <p:nvSpPr>
          <p:cNvPr id="13" name="Text 11"/>
          <p:cNvSpPr/>
          <p:nvPr/>
        </p:nvSpPr>
        <p:spPr>
          <a:xfrm>
            <a:off x="6373368" y="1892808"/>
            <a:ext cx="4983480" cy="3566160"/>
          </a:xfrm>
          <a:prstGeom prst="rect">
            <a:avLst/>
          </a:prstGeom>
          <a:noFill/>
          <a:ln/>
        </p:spPr>
        <p:txBody>
          <a:bodyPr wrap="square" lIns="254" tIns="254" rIns="254" bIns="254" rtlCol="0" anchor="t">
            <a:normAutofit/>
          </a:bodyPr>
          <a:lstStyle/>
          <a:p>
            <a:pPr indent="0" marL="0">
              <a:buNone/>
            </a:pPr>
            <a:r>
              <a:rPr lang="en-US" sz="1500" dirty="0">
                <a:solidFill>
                  <a:srgbClr val="A9B4C7"/>
                </a:solidFill>
              </a:rPr>
              <a:t>The platform converts repository intent into a controlled deployment pipeline with explicit contracts, validated configuration, automated container builds, security checks, Terraform-managed AWS infrastructure, runtime verification and auditable terminal evidence.</a:t>
            </a:r>
            <a:endParaRPr lang="en-US" sz="1500" dirty="0"/>
          </a:p>
        </p:txBody>
      </p:sp>
      <p:sp>
        <p:nvSpPr>
          <p:cNvPr id="25" name="Slide Number Placeholder 0"/>
          <p:cNvSpPr>
            <a:spLocks noGrp="1"/>
          </p:cNvSpPr>
          <p:nvPr>
            <p:ph type="sldNum" sz="quarter" idx="4294967295"/>
          </p:nvPr>
        </p:nvSpPr>
        <p:spPr>
          <a:xfrm>
            <a:off x="1138428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7C8AA5"/>
                </a:solidFill>
                <a:latin typeface="Aptos"/>
                <a:ea typeface="Aptos"/>
                <a:cs typeface="Aptos"/>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320040"/>
            <a:ext cx="11064240" cy="502920"/>
          </a:xfrm>
          <a:prstGeom prst="rect">
            <a:avLst/>
          </a:prstGeom>
          <a:noFill/>
          <a:ln/>
        </p:spPr>
        <p:txBody>
          <a:bodyPr wrap="square" lIns="0" tIns="0" rIns="0" bIns="0" rtlCol="0" anchor="ctr"/>
          <a:lstStyle/>
          <a:p>
            <a:pPr indent="0" marL="0">
              <a:buNone/>
            </a:pPr>
            <a:r>
              <a:rPr lang="en-US" sz="2800" b="1" dirty="0">
                <a:solidFill>
                  <a:srgbClr val="F7FAFC"/>
                </a:solidFill>
                <a:latin typeface="Aptos Display" pitchFamily="34" charset="0"/>
                <a:ea typeface="Aptos Display" pitchFamily="34" charset="-122"/>
                <a:cs typeface="Aptos Display" pitchFamily="34" charset="-120"/>
              </a:rPr>
              <a:t>What we implemented</a:t>
            </a:r>
            <a:endParaRPr lang="en-US" sz="2800" dirty="0"/>
          </a:p>
        </p:txBody>
      </p:sp>
      <p:sp>
        <p:nvSpPr>
          <p:cNvPr id="3" name="Text 1"/>
          <p:cNvSpPr/>
          <p:nvPr/>
        </p:nvSpPr>
        <p:spPr>
          <a:xfrm>
            <a:off x="521208" y="868680"/>
            <a:ext cx="10972800" cy="310896"/>
          </a:xfrm>
          <a:prstGeom prst="rect">
            <a:avLst/>
          </a:prstGeom>
          <a:noFill/>
          <a:ln/>
        </p:spPr>
        <p:txBody>
          <a:bodyPr wrap="square" lIns="0" tIns="0" rIns="0" bIns="0" rtlCol="0" anchor="ctr"/>
          <a:lstStyle/>
          <a:p>
            <a:pPr indent="0" marL="0">
              <a:buNone/>
            </a:pPr>
            <a:r>
              <a:rPr lang="en-US" sz="1250" dirty="0">
                <a:solidFill>
                  <a:srgbClr val="A9B4C7"/>
                </a:solidFill>
              </a:rPr>
              <a:t>Major product modules in FYP-II</a:t>
            </a:r>
            <a:endParaRPr lang="en-US" sz="1250" dirty="0"/>
          </a:p>
        </p:txBody>
      </p:sp>
      <p:sp>
        <p:nvSpPr>
          <p:cNvPr id="4" name="Shape 2"/>
          <p:cNvSpPr/>
          <p:nvPr/>
        </p:nvSpPr>
        <p:spPr>
          <a:xfrm>
            <a:off x="10469880" y="338328"/>
            <a:ext cx="1078992" cy="274320"/>
          </a:xfrm>
          <a:prstGeom prst="roundRect">
            <a:avLst>
              <a:gd name="adj" fmla="val 16667"/>
            </a:avLst>
          </a:prstGeom>
          <a:solidFill>
            <a:srgbClr val="38BDF8">
              <a:alpha val="20000"/>
            </a:srgbClr>
          </a:solidFill>
          <a:ln w="12700">
            <a:solidFill>
              <a:srgbClr val="38BDF8">
                <a:alpha val="70000"/>
              </a:srgbClr>
            </a:solidFill>
            <a:prstDash val="solid"/>
          </a:ln>
        </p:spPr>
      </p:sp>
      <p:sp>
        <p:nvSpPr>
          <p:cNvPr id="5" name="Text 3"/>
          <p:cNvSpPr/>
          <p:nvPr/>
        </p:nvSpPr>
        <p:spPr>
          <a:xfrm>
            <a:off x="10543032" y="388620"/>
            <a:ext cx="932688" cy="155448"/>
          </a:xfrm>
          <a:prstGeom prst="rect">
            <a:avLst/>
          </a:prstGeom>
          <a:noFill/>
          <a:ln/>
        </p:spPr>
        <p:txBody>
          <a:bodyPr wrap="square" lIns="0" tIns="0" rIns="0" bIns="0" rtlCol="0" anchor="ctr"/>
          <a:lstStyle/>
          <a:p>
            <a:pPr algn="ctr" indent="0" marL="0">
              <a:buNone/>
            </a:pPr>
            <a:r>
              <a:rPr lang="en-US" sz="900" b="1" dirty="0">
                <a:solidFill>
                  <a:srgbClr val="38BDF8"/>
                </a:solidFill>
              </a:rPr>
              <a:t>FARIA</a:t>
            </a:r>
            <a:endParaRPr lang="en-US" sz="900" dirty="0"/>
          </a:p>
        </p:txBody>
      </p:sp>
      <p:sp>
        <p:nvSpPr>
          <p:cNvPr id="6" name="Shape 4"/>
          <p:cNvSpPr/>
          <p:nvPr/>
        </p:nvSpPr>
        <p:spPr>
          <a:xfrm>
            <a:off x="594360" y="1325880"/>
            <a:ext cx="3474720" cy="1691640"/>
          </a:xfrm>
          <a:prstGeom prst="roundRect">
            <a:avLst>
              <a:gd name="adj" fmla="val 3243"/>
            </a:avLst>
          </a:prstGeom>
          <a:solidFill>
            <a:srgbClr val="121A2D"/>
          </a:solidFill>
          <a:ln w="12700">
            <a:solidFill>
              <a:srgbClr val="2A3853"/>
            </a:solidFill>
            <a:prstDash val="solid"/>
          </a:ln>
        </p:spPr>
      </p:sp>
      <p:sp>
        <p:nvSpPr>
          <p:cNvPr id="7" name="Shape 5"/>
          <p:cNvSpPr/>
          <p:nvPr/>
        </p:nvSpPr>
        <p:spPr>
          <a:xfrm>
            <a:off x="594360" y="1325880"/>
            <a:ext cx="54864" cy="1691640"/>
          </a:xfrm>
          <a:prstGeom prst="rect">
            <a:avLst/>
          </a:prstGeom>
          <a:solidFill>
            <a:srgbClr val="A78BFA"/>
          </a:solidFill>
          <a:ln w="12700">
            <a:solidFill>
              <a:srgbClr val="A78BFA"/>
            </a:solidFill>
            <a:prstDash val="solid"/>
          </a:ln>
        </p:spPr>
      </p:sp>
      <p:sp>
        <p:nvSpPr>
          <p:cNvPr id="8" name="Text 6"/>
          <p:cNvSpPr/>
          <p:nvPr/>
        </p:nvSpPr>
        <p:spPr>
          <a:xfrm>
            <a:off x="795528" y="1481328"/>
            <a:ext cx="3154680" cy="292608"/>
          </a:xfrm>
          <a:prstGeom prst="rect">
            <a:avLst/>
          </a:prstGeom>
          <a:noFill/>
          <a:ln/>
        </p:spPr>
        <p:txBody>
          <a:bodyPr wrap="square" lIns="0" tIns="0" rIns="0" bIns="0" rtlCol="0" anchor="ctr"/>
          <a:lstStyle/>
          <a:p>
            <a:pPr indent="0" marL="0">
              <a:buNone/>
            </a:pPr>
            <a:r>
              <a:rPr lang="en-US" sz="1500" b="1" dirty="0">
                <a:solidFill>
                  <a:srgbClr val="F7FAFC"/>
                </a:solidFill>
              </a:rPr>
              <a:t>Web Interface</a:t>
            </a:r>
            <a:endParaRPr lang="en-US" sz="1500" dirty="0"/>
          </a:p>
        </p:txBody>
      </p:sp>
      <p:sp>
        <p:nvSpPr>
          <p:cNvPr id="9" name="Text 7"/>
          <p:cNvSpPr/>
          <p:nvPr/>
        </p:nvSpPr>
        <p:spPr>
          <a:xfrm>
            <a:off x="795528" y="1892808"/>
            <a:ext cx="3108960" cy="1005840"/>
          </a:xfrm>
          <a:prstGeom prst="rect">
            <a:avLst/>
          </a:prstGeom>
          <a:noFill/>
          <a:ln/>
        </p:spPr>
        <p:txBody>
          <a:bodyPr wrap="square" lIns="254" tIns="254" rIns="254" bIns="254" rtlCol="0" anchor="t">
            <a:normAutofit/>
          </a:bodyPr>
          <a:lstStyle/>
          <a:p>
            <a:pPr indent="0" marL="0">
              <a:buNone/>
            </a:pPr>
            <a:r>
              <a:rPr lang="en-US" sz="1100" dirty="0">
                <a:solidFill>
                  <a:srgbClr val="A9B4C7"/>
                </a:solidFill>
              </a:rPr>
              <a:t>Project creation, configuration, deployment views, lifecycle actions and technical evidence.</a:t>
            </a:r>
            <a:endParaRPr lang="en-US" sz="1100" dirty="0"/>
          </a:p>
        </p:txBody>
      </p:sp>
      <p:sp>
        <p:nvSpPr>
          <p:cNvPr id="10" name="Shape 8"/>
          <p:cNvSpPr/>
          <p:nvPr/>
        </p:nvSpPr>
        <p:spPr>
          <a:xfrm>
            <a:off x="4434840" y="1325880"/>
            <a:ext cx="3474720" cy="1691640"/>
          </a:xfrm>
          <a:prstGeom prst="roundRect">
            <a:avLst>
              <a:gd name="adj" fmla="val 3243"/>
            </a:avLst>
          </a:prstGeom>
          <a:solidFill>
            <a:srgbClr val="121A2D"/>
          </a:solidFill>
          <a:ln w="12700">
            <a:solidFill>
              <a:srgbClr val="2A3853"/>
            </a:solidFill>
            <a:prstDash val="solid"/>
          </a:ln>
        </p:spPr>
      </p:sp>
      <p:sp>
        <p:nvSpPr>
          <p:cNvPr id="11" name="Shape 9"/>
          <p:cNvSpPr/>
          <p:nvPr/>
        </p:nvSpPr>
        <p:spPr>
          <a:xfrm>
            <a:off x="4434840" y="1325880"/>
            <a:ext cx="54864" cy="1691640"/>
          </a:xfrm>
          <a:prstGeom prst="rect">
            <a:avLst/>
          </a:prstGeom>
          <a:solidFill>
            <a:srgbClr val="F59E0B"/>
          </a:solidFill>
          <a:ln w="12700">
            <a:solidFill>
              <a:srgbClr val="F59E0B"/>
            </a:solidFill>
            <a:prstDash val="solid"/>
          </a:ln>
        </p:spPr>
      </p:sp>
      <p:sp>
        <p:nvSpPr>
          <p:cNvPr id="12" name="Text 10"/>
          <p:cNvSpPr/>
          <p:nvPr/>
        </p:nvSpPr>
        <p:spPr>
          <a:xfrm>
            <a:off x="4636008" y="1481328"/>
            <a:ext cx="3154680" cy="292608"/>
          </a:xfrm>
          <a:prstGeom prst="rect">
            <a:avLst/>
          </a:prstGeom>
          <a:noFill/>
          <a:ln/>
        </p:spPr>
        <p:txBody>
          <a:bodyPr wrap="square" lIns="0" tIns="0" rIns="0" bIns="0" rtlCol="0" anchor="ctr"/>
          <a:lstStyle/>
          <a:p>
            <a:pPr indent="0" marL="0">
              <a:buNone/>
            </a:pPr>
            <a:r>
              <a:rPr lang="en-US" sz="1500" b="1" dirty="0">
                <a:solidFill>
                  <a:srgbClr val="F7FAFC"/>
                </a:solidFill>
              </a:rPr>
              <a:t>Backend Control Plane</a:t>
            </a:r>
            <a:endParaRPr lang="en-US" sz="1500" dirty="0"/>
          </a:p>
        </p:txBody>
      </p:sp>
      <p:sp>
        <p:nvSpPr>
          <p:cNvPr id="13" name="Text 11"/>
          <p:cNvSpPr/>
          <p:nvPr/>
        </p:nvSpPr>
        <p:spPr>
          <a:xfrm>
            <a:off x="4636008" y="1892808"/>
            <a:ext cx="3108960" cy="1005840"/>
          </a:xfrm>
          <a:prstGeom prst="rect">
            <a:avLst/>
          </a:prstGeom>
          <a:noFill/>
          <a:ln/>
        </p:spPr>
        <p:txBody>
          <a:bodyPr wrap="square" lIns="254" tIns="254" rIns="254" bIns="254" rtlCol="0" anchor="t">
            <a:normAutofit/>
          </a:bodyPr>
          <a:lstStyle/>
          <a:p>
            <a:pPr indent="0" marL="0">
              <a:buNone/>
            </a:pPr>
            <a:r>
              <a:rPr lang="en-US" sz="1100" dirty="0">
                <a:solidFill>
                  <a:srgbClr val="A9B4C7"/>
                </a:solidFill>
              </a:rPr>
              <a:t>Repository analysis, deployment contracts, orchestration, state transitions and failure handling.</a:t>
            </a:r>
            <a:endParaRPr lang="en-US" sz="1100" dirty="0"/>
          </a:p>
        </p:txBody>
      </p:sp>
      <p:sp>
        <p:nvSpPr>
          <p:cNvPr id="14" name="Shape 12"/>
          <p:cNvSpPr/>
          <p:nvPr/>
        </p:nvSpPr>
        <p:spPr>
          <a:xfrm>
            <a:off x="8275320" y="1325880"/>
            <a:ext cx="3474720" cy="1691640"/>
          </a:xfrm>
          <a:prstGeom prst="roundRect">
            <a:avLst>
              <a:gd name="adj" fmla="val 3243"/>
            </a:avLst>
          </a:prstGeom>
          <a:solidFill>
            <a:srgbClr val="121A2D"/>
          </a:solidFill>
          <a:ln w="12700">
            <a:solidFill>
              <a:srgbClr val="2A3853"/>
            </a:solidFill>
            <a:prstDash val="solid"/>
          </a:ln>
        </p:spPr>
      </p:sp>
      <p:sp>
        <p:nvSpPr>
          <p:cNvPr id="15" name="Shape 13"/>
          <p:cNvSpPr/>
          <p:nvPr/>
        </p:nvSpPr>
        <p:spPr>
          <a:xfrm>
            <a:off x="8275320" y="1325880"/>
            <a:ext cx="54864" cy="1691640"/>
          </a:xfrm>
          <a:prstGeom prst="rect">
            <a:avLst/>
          </a:prstGeom>
          <a:solidFill>
            <a:srgbClr val="38BDF8"/>
          </a:solidFill>
          <a:ln w="12700">
            <a:solidFill>
              <a:srgbClr val="38BDF8"/>
            </a:solidFill>
            <a:prstDash val="solid"/>
          </a:ln>
        </p:spPr>
      </p:sp>
      <p:sp>
        <p:nvSpPr>
          <p:cNvPr id="16" name="Text 14"/>
          <p:cNvSpPr/>
          <p:nvPr/>
        </p:nvSpPr>
        <p:spPr>
          <a:xfrm>
            <a:off x="8476488" y="1481328"/>
            <a:ext cx="3154680" cy="292608"/>
          </a:xfrm>
          <a:prstGeom prst="rect">
            <a:avLst/>
          </a:prstGeom>
          <a:noFill/>
          <a:ln/>
        </p:spPr>
        <p:txBody>
          <a:bodyPr wrap="square" lIns="0" tIns="0" rIns="0" bIns="0" rtlCol="0" anchor="ctr"/>
          <a:lstStyle/>
          <a:p>
            <a:pPr indent="0" marL="0">
              <a:buNone/>
            </a:pPr>
            <a:r>
              <a:rPr lang="en-US" sz="1500" b="1" dirty="0">
                <a:solidFill>
                  <a:srgbClr val="F7FAFC"/>
                </a:solidFill>
              </a:rPr>
              <a:t>Container Build System</a:t>
            </a:r>
            <a:endParaRPr lang="en-US" sz="1500" dirty="0"/>
          </a:p>
        </p:txBody>
      </p:sp>
      <p:sp>
        <p:nvSpPr>
          <p:cNvPr id="17" name="Text 15"/>
          <p:cNvSpPr/>
          <p:nvPr/>
        </p:nvSpPr>
        <p:spPr>
          <a:xfrm>
            <a:off x="8476488" y="1892808"/>
            <a:ext cx="3108960" cy="1005840"/>
          </a:xfrm>
          <a:prstGeom prst="rect">
            <a:avLst/>
          </a:prstGeom>
          <a:noFill/>
          <a:ln/>
        </p:spPr>
        <p:txBody>
          <a:bodyPr wrap="square" lIns="254" tIns="254" rIns="254" bIns="254" rtlCol="0" anchor="t">
            <a:normAutofit/>
          </a:bodyPr>
          <a:lstStyle/>
          <a:p>
            <a:pPr indent="0" marL="0">
              <a:buNone/>
            </a:pPr>
            <a:r>
              <a:rPr lang="en-US" sz="1100" dirty="0">
                <a:solidFill>
                  <a:srgbClr val="A9B4C7"/>
                </a:solidFill>
              </a:rPr>
              <a:t>Configuration-driven container build path with runtime validation and image publication.</a:t>
            </a:r>
            <a:endParaRPr lang="en-US" sz="1100" dirty="0"/>
          </a:p>
        </p:txBody>
      </p:sp>
      <p:sp>
        <p:nvSpPr>
          <p:cNvPr id="18" name="Shape 16"/>
          <p:cNvSpPr/>
          <p:nvPr/>
        </p:nvSpPr>
        <p:spPr>
          <a:xfrm>
            <a:off x="594360" y="3474720"/>
            <a:ext cx="3474720" cy="1691640"/>
          </a:xfrm>
          <a:prstGeom prst="roundRect">
            <a:avLst>
              <a:gd name="adj" fmla="val 3243"/>
            </a:avLst>
          </a:prstGeom>
          <a:solidFill>
            <a:srgbClr val="121A2D"/>
          </a:solidFill>
          <a:ln w="12700">
            <a:solidFill>
              <a:srgbClr val="2A3853"/>
            </a:solidFill>
            <a:prstDash val="solid"/>
          </a:ln>
        </p:spPr>
      </p:sp>
      <p:sp>
        <p:nvSpPr>
          <p:cNvPr id="19" name="Shape 17"/>
          <p:cNvSpPr/>
          <p:nvPr/>
        </p:nvSpPr>
        <p:spPr>
          <a:xfrm>
            <a:off x="594360" y="3474720"/>
            <a:ext cx="54864" cy="1691640"/>
          </a:xfrm>
          <a:prstGeom prst="rect">
            <a:avLst/>
          </a:prstGeom>
          <a:solidFill>
            <a:srgbClr val="22C55E"/>
          </a:solidFill>
          <a:ln w="12700">
            <a:solidFill>
              <a:srgbClr val="22C55E"/>
            </a:solidFill>
            <a:prstDash val="solid"/>
          </a:ln>
        </p:spPr>
      </p:sp>
      <p:sp>
        <p:nvSpPr>
          <p:cNvPr id="20" name="Text 18"/>
          <p:cNvSpPr/>
          <p:nvPr/>
        </p:nvSpPr>
        <p:spPr>
          <a:xfrm>
            <a:off x="795528" y="3630168"/>
            <a:ext cx="3154680" cy="292608"/>
          </a:xfrm>
          <a:prstGeom prst="rect">
            <a:avLst/>
          </a:prstGeom>
          <a:noFill/>
          <a:ln/>
        </p:spPr>
        <p:txBody>
          <a:bodyPr wrap="square" lIns="0" tIns="0" rIns="0" bIns="0" rtlCol="0" anchor="ctr"/>
          <a:lstStyle/>
          <a:p>
            <a:pPr indent="0" marL="0">
              <a:buNone/>
            </a:pPr>
            <a:r>
              <a:rPr lang="en-US" sz="1500" b="1" dirty="0">
                <a:solidFill>
                  <a:srgbClr val="F7FAFC"/>
                </a:solidFill>
              </a:rPr>
              <a:t>Cloud Infrastructure</a:t>
            </a:r>
            <a:endParaRPr lang="en-US" sz="1500" dirty="0"/>
          </a:p>
        </p:txBody>
      </p:sp>
      <p:sp>
        <p:nvSpPr>
          <p:cNvPr id="21" name="Text 19"/>
          <p:cNvSpPr/>
          <p:nvPr/>
        </p:nvSpPr>
        <p:spPr>
          <a:xfrm>
            <a:off x="795528" y="4041648"/>
            <a:ext cx="3108960" cy="1005840"/>
          </a:xfrm>
          <a:prstGeom prst="rect">
            <a:avLst/>
          </a:prstGeom>
          <a:noFill/>
          <a:ln/>
        </p:spPr>
        <p:txBody>
          <a:bodyPr wrap="square" lIns="254" tIns="254" rIns="254" bIns="254" rtlCol="0" anchor="t">
            <a:normAutofit/>
          </a:bodyPr>
          <a:lstStyle/>
          <a:p>
            <a:pPr indent="0" marL="0">
              <a:buNone/>
            </a:pPr>
            <a:r>
              <a:rPr lang="en-US" sz="1100" dirty="0">
                <a:solidFill>
                  <a:srgbClr val="A9B4C7"/>
                </a:solidFill>
              </a:rPr>
              <a:t>Terraform-managed AWS resources including ECS, load balancing, networking, IAM and storage.</a:t>
            </a:r>
            <a:endParaRPr lang="en-US" sz="1100" dirty="0"/>
          </a:p>
        </p:txBody>
      </p:sp>
      <p:sp>
        <p:nvSpPr>
          <p:cNvPr id="22" name="Shape 20"/>
          <p:cNvSpPr/>
          <p:nvPr/>
        </p:nvSpPr>
        <p:spPr>
          <a:xfrm>
            <a:off x="4434840" y="3474720"/>
            <a:ext cx="3474720" cy="1691640"/>
          </a:xfrm>
          <a:prstGeom prst="roundRect">
            <a:avLst>
              <a:gd name="adj" fmla="val 3243"/>
            </a:avLst>
          </a:prstGeom>
          <a:solidFill>
            <a:srgbClr val="121A2D"/>
          </a:solidFill>
          <a:ln w="12700">
            <a:solidFill>
              <a:srgbClr val="2A3853"/>
            </a:solidFill>
            <a:prstDash val="solid"/>
          </a:ln>
        </p:spPr>
      </p:sp>
      <p:sp>
        <p:nvSpPr>
          <p:cNvPr id="23" name="Shape 21"/>
          <p:cNvSpPr/>
          <p:nvPr/>
        </p:nvSpPr>
        <p:spPr>
          <a:xfrm>
            <a:off x="4434840" y="3474720"/>
            <a:ext cx="54864" cy="1691640"/>
          </a:xfrm>
          <a:prstGeom prst="rect">
            <a:avLst/>
          </a:prstGeom>
          <a:solidFill>
            <a:srgbClr val="06B6D4"/>
          </a:solidFill>
          <a:ln w="12700">
            <a:solidFill>
              <a:srgbClr val="06B6D4"/>
            </a:solidFill>
            <a:prstDash val="solid"/>
          </a:ln>
        </p:spPr>
      </p:sp>
      <p:sp>
        <p:nvSpPr>
          <p:cNvPr id="24" name="Text 22"/>
          <p:cNvSpPr/>
          <p:nvPr/>
        </p:nvSpPr>
        <p:spPr>
          <a:xfrm>
            <a:off x="4636008" y="3630168"/>
            <a:ext cx="3154680" cy="292608"/>
          </a:xfrm>
          <a:prstGeom prst="rect">
            <a:avLst/>
          </a:prstGeom>
          <a:noFill/>
          <a:ln/>
        </p:spPr>
        <p:txBody>
          <a:bodyPr wrap="square" lIns="0" tIns="0" rIns="0" bIns="0" rtlCol="0" anchor="ctr"/>
          <a:lstStyle/>
          <a:p>
            <a:pPr indent="0" marL="0">
              <a:buNone/>
            </a:pPr>
            <a:r>
              <a:rPr lang="en-US" sz="1500" b="1" dirty="0">
                <a:solidFill>
                  <a:srgbClr val="F7FAFC"/>
                </a:solidFill>
              </a:rPr>
              <a:t>Managed Data Services</a:t>
            </a:r>
            <a:endParaRPr lang="en-US" sz="1500" dirty="0"/>
          </a:p>
        </p:txBody>
      </p:sp>
      <p:sp>
        <p:nvSpPr>
          <p:cNvPr id="25" name="Text 23"/>
          <p:cNvSpPr/>
          <p:nvPr/>
        </p:nvSpPr>
        <p:spPr>
          <a:xfrm>
            <a:off x="4636008" y="4041648"/>
            <a:ext cx="3108960" cy="1005840"/>
          </a:xfrm>
          <a:prstGeom prst="rect">
            <a:avLst/>
          </a:prstGeom>
          <a:noFill/>
          <a:ln/>
        </p:spPr>
        <p:txBody>
          <a:bodyPr wrap="square" lIns="254" tIns="254" rIns="254" bIns="254" rtlCol="0" anchor="t">
            <a:normAutofit/>
          </a:bodyPr>
          <a:lstStyle/>
          <a:p>
            <a:pPr indent="0" marL="0">
              <a:buNone/>
            </a:pPr>
            <a:r>
              <a:rPr lang="en-US" sz="1100" dirty="0">
                <a:solidFill>
                  <a:srgbClr val="A9B4C7"/>
                </a:solidFill>
              </a:rPr>
              <a:t>Database selection, secret wiring and service-specific runtime configuration.</a:t>
            </a:r>
            <a:endParaRPr lang="en-US" sz="1100" dirty="0"/>
          </a:p>
        </p:txBody>
      </p:sp>
      <p:sp>
        <p:nvSpPr>
          <p:cNvPr id="26" name="Shape 24"/>
          <p:cNvSpPr/>
          <p:nvPr/>
        </p:nvSpPr>
        <p:spPr>
          <a:xfrm>
            <a:off x="8275320" y="3474720"/>
            <a:ext cx="3474720" cy="1691640"/>
          </a:xfrm>
          <a:prstGeom prst="roundRect">
            <a:avLst>
              <a:gd name="adj" fmla="val 3243"/>
            </a:avLst>
          </a:prstGeom>
          <a:solidFill>
            <a:srgbClr val="121A2D"/>
          </a:solidFill>
          <a:ln w="12700">
            <a:solidFill>
              <a:srgbClr val="2A3853"/>
            </a:solidFill>
            <a:prstDash val="solid"/>
          </a:ln>
        </p:spPr>
      </p:sp>
      <p:sp>
        <p:nvSpPr>
          <p:cNvPr id="27" name="Shape 25"/>
          <p:cNvSpPr/>
          <p:nvPr/>
        </p:nvSpPr>
        <p:spPr>
          <a:xfrm>
            <a:off x="8275320" y="3474720"/>
            <a:ext cx="54864" cy="1691640"/>
          </a:xfrm>
          <a:prstGeom prst="rect">
            <a:avLst/>
          </a:prstGeom>
          <a:solidFill>
            <a:srgbClr val="EF4444"/>
          </a:solidFill>
          <a:ln w="12700">
            <a:solidFill>
              <a:srgbClr val="EF4444"/>
            </a:solidFill>
            <a:prstDash val="solid"/>
          </a:ln>
        </p:spPr>
      </p:sp>
      <p:sp>
        <p:nvSpPr>
          <p:cNvPr id="28" name="Text 26"/>
          <p:cNvSpPr/>
          <p:nvPr/>
        </p:nvSpPr>
        <p:spPr>
          <a:xfrm>
            <a:off x="8476488" y="3630168"/>
            <a:ext cx="3154680" cy="292608"/>
          </a:xfrm>
          <a:prstGeom prst="rect">
            <a:avLst/>
          </a:prstGeom>
          <a:noFill/>
          <a:ln/>
        </p:spPr>
        <p:txBody>
          <a:bodyPr wrap="square" lIns="0" tIns="0" rIns="0" bIns="0" rtlCol="0" anchor="ctr"/>
          <a:lstStyle/>
          <a:p>
            <a:pPr indent="0" marL="0">
              <a:buNone/>
            </a:pPr>
            <a:r>
              <a:rPr lang="en-US" sz="1500" b="1" dirty="0">
                <a:solidFill>
                  <a:srgbClr val="F7FAFC"/>
                </a:solidFill>
              </a:rPr>
              <a:t>Platform Operations</a:t>
            </a:r>
            <a:endParaRPr lang="en-US" sz="1500" dirty="0"/>
          </a:p>
        </p:txBody>
      </p:sp>
      <p:sp>
        <p:nvSpPr>
          <p:cNvPr id="29" name="Text 27"/>
          <p:cNvSpPr/>
          <p:nvPr/>
        </p:nvSpPr>
        <p:spPr>
          <a:xfrm>
            <a:off x="8476488" y="4041648"/>
            <a:ext cx="3108960" cy="1005840"/>
          </a:xfrm>
          <a:prstGeom prst="rect">
            <a:avLst/>
          </a:prstGeom>
          <a:noFill/>
          <a:ln/>
        </p:spPr>
        <p:txBody>
          <a:bodyPr wrap="square" lIns="254" tIns="254" rIns="254" bIns="254" rtlCol="0" anchor="t">
            <a:normAutofit/>
          </a:bodyPr>
          <a:lstStyle/>
          <a:p>
            <a:pPr indent="0" marL="0">
              <a:buNone/>
            </a:pPr>
            <a:r>
              <a:rPr lang="en-US" sz="1100" dirty="0">
                <a:solidFill>
                  <a:srgbClr val="A9B4C7"/>
                </a:solidFill>
              </a:rPr>
              <a:t>Monitoring, AI-assisted troubleshooting, billing contracts, destroy and supporting lifecycle operations.</a:t>
            </a:r>
            <a:endParaRPr lang="en-US" sz="1100" dirty="0"/>
          </a:p>
        </p:txBody>
      </p:sp>
      <p:sp>
        <p:nvSpPr>
          <p:cNvPr id="25" name="Slide Number Placeholder 0"/>
          <p:cNvSpPr>
            <a:spLocks noGrp="1"/>
          </p:cNvSpPr>
          <p:nvPr>
            <p:ph type="sldNum" sz="quarter" idx="4294967295"/>
          </p:nvPr>
        </p:nvSpPr>
        <p:spPr>
          <a:xfrm>
            <a:off x="1138428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7C8AA5"/>
                </a:solidFill>
                <a:latin typeface="Aptos"/>
                <a:ea typeface="Aptos"/>
                <a:cs typeface="Aptos"/>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320040"/>
            <a:ext cx="11064240" cy="502920"/>
          </a:xfrm>
          <a:prstGeom prst="rect">
            <a:avLst/>
          </a:prstGeom>
          <a:noFill/>
          <a:ln/>
        </p:spPr>
        <p:txBody>
          <a:bodyPr wrap="square" lIns="0" tIns="0" rIns="0" bIns="0" rtlCol="0" anchor="ctr"/>
          <a:lstStyle/>
          <a:p>
            <a:pPr indent="0" marL="0">
              <a:buNone/>
            </a:pPr>
            <a:r>
              <a:rPr lang="en-US" sz="2800" b="1" dirty="0">
                <a:solidFill>
                  <a:srgbClr val="F7FAFC"/>
                </a:solidFill>
                <a:latin typeface="Aptos Display" pitchFamily="34" charset="0"/>
                <a:ea typeface="Aptos Display" pitchFamily="34" charset="-122"/>
                <a:cs typeface="Aptos Display" pitchFamily="34" charset="-120"/>
              </a:rPr>
              <a:t>Developer experience</a:t>
            </a:r>
            <a:endParaRPr lang="en-US" sz="2800" dirty="0"/>
          </a:p>
        </p:txBody>
      </p:sp>
      <p:sp>
        <p:nvSpPr>
          <p:cNvPr id="3" name="Text 1"/>
          <p:cNvSpPr/>
          <p:nvPr/>
        </p:nvSpPr>
        <p:spPr>
          <a:xfrm>
            <a:off x="521208" y="868680"/>
            <a:ext cx="10972800" cy="310896"/>
          </a:xfrm>
          <a:prstGeom prst="rect">
            <a:avLst/>
          </a:prstGeom>
          <a:noFill/>
          <a:ln/>
        </p:spPr>
        <p:txBody>
          <a:bodyPr wrap="square" lIns="0" tIns="0" rIns="0" bIns="0" rtlCol="0" anchor="ctr"/>
          <a:lstStyle/>
          <a:p>
            <a:pPr indent="0" marL="0">
              <a:buNone/>
            </a:pPr>
            <a:r>
              <a:rPr lang="en-US" sz="1250" dirty="0">
                <a:solidFill>
                  <a:srgbClr val="A9B4C7"/>
                </a:solidFill>
              </a:rPr>
              <a:t>The user sees one workflow; the platform coordinates the complexity behind it</a:t>
            </a:r>
            <a:endParaRPr lang="en-US" sz="1250" dirty="0"/>
          </a:p>
        </p:txBody>
      </p:sp>
      <p:sp>
        <p:nvSpPr>
          <p:cNvPr id="4" name="Shape 2"/>
          <p:cNvSpPr/>
          <p:nvPr/>
        </p:nvSpPr>
        <p:spPr>
          <a:xfrm>
            <a:off x="10469880" y="338328"/>
            <a:ext cx="1078992" cy="274320"/>
          </a:xfrm>
          <a:prstGeom prst="roundRect">
            <a:avLst>
              <a:gd name="adj" fmla="val 16667"/>
            </a:avLst>
          </a:prstGeom>
          <a:solidFill>
            <a:srgbClr val="38BDF8">
              <a:alpha val="20000"/>
            </a:srgbClr>
          </a:solidFill>
          <a:ln w="12700">
            <a:solidFill>
              <a:srgbClr val="38BDF8">
                <a:alpha val="70000"/>
              </a:srgbClr>
            </a:solidFill>
            <a:prstDash val="solid"/>
          </a:ln>
        </p:spPr>
      </p:sp>
      <p:sp>
        <p:nvSpPr>
          <p:cNvPr id="5" name="Text 3"/>
          <p:cNvSpPr/>
          <p:nvPr/>
        </p:nvSpPr>
        <p:spPr>
          <a:xfrm>
            <a:off x="10543032" y="388620"/>
            <a:ext cx="932688" cy="155448"/>
          </a:xfrm>
          <a:prstGeom prst="rect">
            <a:avLst/>
          </a:prstGeom>
          <a:noFill/>
          <a:ln/>
        </p:spPr>
        <p:txBody>
          <a:bodyPr wrap="square" lIns="0" tIns="0" rIns="0" bIns="0" rtlCol="0" anchor="ctr"/>
          <a:lstStyle/>
          <a:p>
            <a:pPr algn="ctr" indent="0" marL="0">
              <a:buNone/>
            </a:pPr>
            <a:r>
              <a:rPr lang="en-US" sz="900" b="1" dirty="0">
                <a:solidFill>
                  <a:srgbClr val="38BDF8"/>
                </a:solidFill>
              </a:rPr>
              <a:t>FARIA</a:t>
            </a:r>
            <a:endParaRPr lang="en-US" sz="900" dirty="0"/>
          </a:p>
        </p:txBody>
      </p:sp>
      <p:sp>
        <p:nvSpPr>
          <p:cNvPr id="6" name="Shape 4"/>
          <p:cNvSpPr/>
          <p:nvPr/>
        </p:nvSpPr>
        <p:spPr>
          <a:xfrm>
            <a:off x="1216152" y="1243584"/>
            <a:ext cx="502920" cy="502920"/>
          </a:xfrm>
          <a:prstGeom prst="ellipse">
            <a:avLst/>
          </a:prstGeom>
          <a:solidFill>
            <a:srgbClr val="A78BFA"/>
          </a:solidFill>
          <a:ln w="12700">
            <a:solidFill>
              <a:srgbClr val="A78BFA"/>
            </a:solidFill>
            <a:prstDash val="solid"/>
          </a:ln>
        </p:spPr>
      </p:sp>
      <p:sp>
        <p:nvSpPr>
          <p:cNvPr id="7" name="Text 5"/>
          <p:cNvSpPr/>
          <p:nvPr/>
        </p:nvSpPr>
        <p:spPr>
          <a:xfrm>
            <a:off x="1216152" y="1344168"/>
            <a:ext cx="502920" cy="182880"/>
          </a:xfrm>
          <a:prstGeom prst="rect">
            <a:avLst/>
          </a:prstGeom>
          <a:noFill/>
          <a:ln/>
        </p:spPr>
        <p:txBody>
          <a:bodyPr wrap="square" lIns="0" tIns="0" rIns="0" bIns="0" rtlCol="0" anchor="ctr"/>
          <a:lstStyle/>
          <a:p>
            <a:pPr algn="ctr" indent="0" marL="0">
              <a:buNone/>
            </a:pPr>
            <a:r>
              <a:rPr lang="en-US" sz="1100" b="1" dirty="0">
                <a:solidFill>
                  <a:srgbClr val="0B1020"/>
                </a:solidFill>
              </a:rPr>
              <a:t>1</a:t>
            </a:r>
            <a:endParaRPr lang="en-US" sz="1100" dirty="0"/>
          </a:p>
        </p:txBody>
      </p:sp>
      <p:sp>
        <p:nvSpPr>
          <p:cNvPr id="8" name="Shape 6"/>
          <p:cNvSpPr/>
          <p:nvPr/>
        </p:nvSpPr>
        <p:spPr>
          <a:xfrm>
            <a:off x="502920" y="1874520"/>
            <a:ext cx="1965960" cy="960120"/>
          </a:xfrm>
          <a:prstGeom prst="roundRect">
            <a:avLst>
              <a:gd name="adj" fmla="val 4762"/>
            </a:avLst>
          </a:prstGeom>
          <a:solidFill>
            <a:srgbClr val="172238"/>
          </a:solidFill>
          <a:ln w="12700">
            <a:solidFill>
              <a:srgbClr val="A78BFA"/>
            </a:solidFill>
            <a:prstDash val="solid"/>
          </a:ln>
        </p:spPr>
      </p:sp>
      <p:sp>
        <p:nvSpPr>
          <p:cNvPr id="9" name="Text 7"/>
          <p:cNvSpPr/>
          <p:nvPr/>
        </p:nvSpPr>
        <p:spPr>
          <a:xfrm>
            <a:off x="576072" y="1947672"/>
            <a:ext cx="1819656" cy="81381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Connect repository</a:t>
            </a:r>
            <a:endParaRPr lang="en-US" sz="1200" dirty="0"/>
          </a:p>
        </p:txBody>
      </p:sp>
      <p:sp>
        <p:nvSpPr>
          <p:cNvPr id="10" name="Shape 8"/>
          <p:cNvSpPr/>
          <p:nvPr/>
        </p:nvSpPr>
        <p:spPr>
          <a:xfrm>
            <a:off x="2496312" y="2350008"/>
            <a:ext cx="274320" cy="0"/>
          </a:xfrm>
          <a:prstGeom prst="line">
            <a:avLst/>
          </a:prstGeom>
          <a:noFill/>
          <a:ln w="12700">
            <a:solidFill>
              <a:srgbClr val="A9B4C7"/>
            </a:solidFill>
            <a:prstDash val="solid"/>
            <a:headEnd type="none"/>
            <a:tailEnd type="triangle"/>
          </a:ln>
        </p:spPr>
      </p:sp>
      <p:sp>
        <p:nvSpPr>
          <p:cNvPr id="11" name="Shape 9"/>
          <p:cNvSpPr/>
          <p:nvPr/>
        </p:nvSpPr>
        <p:spPr>
          <a:xfrm>
            <a:off x="3547872" y="1243584"/>
            <a:ext cx="502920" cy="502920"/>
          </a:xfrm>
          <a:prstGeom prst="ellipse">
            <a:avLst/>
          </a:prstGeom>
          <a:solidFill>
            <a:srgbClr val="38BDF8"/>
          </a:solidFill>
          <a:ln w="12700">
            <a:solidFill>
              <a:srgbClr val="38BDF8"/>
            </a:solidFill>
            <a:prstDash val="solid"/>
          </a:ln>
        </p:spPr>
      </p:sp>
      <p:sp>
        <p:nvSpPr>
          <p:cNvPr id="12" name="Text 10"/>
          <p:cNvSpPr/>
          <p:nvPr/>
        </p:nvSpPr>
        <p:spPr>
          <a:xfrm>
            <a:off x="3547872" y="1344168"/>
            <a:ext cx="502920" cy="182880"/>
          </a:xfrm>
          <a:prstGeom prst="rect">
            <a:avLst/>
          </a:prstGeom>
          <a:noFill/>
          <a:ln/>
        </p:spPr>
        <p:txBody>
          <a:bodyPr wrap="square" lIns="0" tIns="0" rIns="0" bIns="0" rtlCol="0" anchor="ctr"/>
          <a:lstStyle/>
          <a:p>
            <a:pPr algn="ctr" indent="0" marL="0">
              <a:buNone/>
            </a:pPr>
            <a:r>
              <a:rPr lang="en-US" sz="1100" b="1" dirty="0">
                <a:solidFill>
                  <a:srgbClr val="0B1020"/>
                </a:solidFill>
              </a:rPr>
              <a:t>2</a:t>
            </a:r>
            <a:endParaRPr lang="en-US" sz="1100" dirty="0"/>
          </a:p>
        </p:txBody>
      </p:sp>
      <p:sp>
        <p:nvSpPr>
          <p:cNvPr id="13" name="Shape 11"/>
          <p:cNvSpPr/>
          <p:nvPr/>
        </p:nvSpPr>
        <p:spPr>
          <a:xfrm>
            <a:off x="2834640" y="1874520"/>
            <a:ext cx="1965960" cy="960120"/>
          </a:xfrm>
          <a:prstGeom prst="roundRect">
            <a:avLst>
              <a:gd name="adj" fmla="val 4762"/>
            </a:avLst>
          </a:prstGeom>
          <a:solidFill>
            <a:srgbClr val="172238"/>
          </a:solidFill>
          <a:ln w="12700">
            <a:solidFill>
              <a:srgbClr val="38BDF8"/>
            </a:solidFill>
            <a:prstDash val="solid"/>
          </a:ln>
        </p:spPr>
      </p:sp>
      <p:sp>
        <p:nvSpPr>
          <p:cNvPr id="14" name="Text 12"/>
          <p:cNvSpPr/>
          <p:nvPr/>
        </p:nvSpPr>
        <p:spPr>
          <a:xfrm>
            <a:off x="2907792" y="1947672"/>
            <a:ext cx="1819656" cy="81381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Configure project</a:t>
            </a:r>
            <a:endParaRPr lang="en-US" sz="1200" dirty="0"/>
          </a:p>
        </p:txBody>
      </p:sp>
      <p:sp>
        <p:nvSpPr>
          <p:cNvPr id="15" name="Shape 13"/>
          <p:cNvSpPr/>
          <p:nvPr/>
        </p:nvSpPr>
        <p:spPr>
          <a:xfrm>
            <a:off x="4828032" y="2350008"/>
            <a:ext cx="274320" cy="0"/>
          </a:xfrm>
          <a:prstGeom prst="line">
            <a:avLst/>
          </a:prstGeom>
          <a:noFill/>
          <a:ln w="12700">
            <a:solidFill>
              <a:srgbClr val="A9B4C7"/>
            </a:solidFill>
            <a:prstDash val="solid"/>
            <a:headEnd type="none"/>
            <a:tailEnd type="triangle"/>
          </a:ln>
        </p:spPr>
      </p:sp>
      <p:sp>
        <p:nvSpPr>
          <p:cNvPr id="16" name="Shape 14"/>
          <p:cNvSpPr/>
          <p:nvPr/>
        </p:nvSpPr>
        <p:spPr>
          <a:xfrm>
            <a:off x="5879592" y="1243584"/>
            <a:ext cx="502920" cy="502920"/>
          </a:xfrm>
          <a:prstGeom prst="ellipse">
            <a:avLst/>
          </a:prstGeom>
          <a:solidFill>
            <a:srgbClr val="F59E0B"/>
          </a:solidFill>
          <a:ln w="12700">
            <a:solidFill>
              <a:srgbClr val="F59E0B"/>
            </a:solidFill>
            <a:prstDash val="solid"/>
          </a:ln>
        </p:spPr>
      </p:sp>
      <p:sp>
        <p:nvSpPr>
          <p:cNvPr id="17" name="Text 15"/>
          <p:cNvSpPr/>
          <p:nvPr/>
        </p:nvSpPr>
        <p:spPr>
          <a:xfrm>
            <a:off x="5879592" y="1344168"/>
            <a:ext cx="502920" cy="182880"/>
          </a:xfrm>
          <a:prstGeom prst="rect">
            <a:avLst/>
          </a:prstGeom>
          <a:noFill/>
          <a:ln/>
        </p:spPr>
        <p:txBody>
          <a:bodyPr wrap="square" lIns="0" tIns="0" rIns="0" bIns="0" rtlCol="0" anchor="ctr"/>
          <a:lstStyle/>
          <a:p>
            <a:pPr algn="ctr" indent="0" marL="0">
              <a:buNone/>
            </a:pPr>
            <a:r>
              <a:rPr lang="en-US" sz="1100" b="1" dirty="0">
                <a:solidFill>
                  <a:srgbClr val="0B1020"/>
                </a:solidFill>
              </a:rPr>
              <a:t>3</a:t>
            </a:r>
            <a:endParaRPr lang="en-US" sz="1100" dirty="0"/>
          </a:p>
        </p:txBody>
      </p:sp>
      <p:sp>
        <p:nvSpPr>
          <p:cNvPr id="18" name="Shape 16"/>
          <p:cNvSpPr/>
          <p:nvPr/>
        </p:nvSpPr>
        <p:spPr>
          <a:xfrm>
            <a:off x="5166360" y="1874520"/>
            <a:ext cx="1965960" cy="960120"/>
          </a:xfrm>
          <a:prstGeom prst="roundRect">
            <a:avLst>
              <a:gd name="adj" fmla="val 4762"/>
            </a:avLst>
          </a:prstGeom>
          <a:solidFill>
            <a:srgbClr val="172238"/>
          </a:solidFill>
          <a:ln w="12700">
            <a:solidFill>
              <a:srgbClr val="F59E0B"/>
            </a:solidFill>
            <a:prstDash val="solid"/>
          </a:ln>
        </p:spPr>
      </p:sp>
      <p:sp>
        <p:nvSpPr>
          <p:cNvPr id="19" name="Text 17"/>
          <p:cNvSpPr/>
          <p:nvPr/>
        </p:nvSpPr>
        <p:spPr>
          <a:xfrm>
            <a:off x="5239512" y="1947672"/>
            <a:ext cx="1819656" cy="81381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Deploy</a:t>
            </a:r>
            <a:endParaRPr lang="en-US" sz="1200" dirty="0"/>
          </a:p>
        </p:txBody>
      </p:sp>
      <p:sp>
        <p:nvSpPr>
          <p:cNvPr id="20" name="Shape 18"/>
          <p:cNvSpPr/>
          <p:nvPr/>
        </p:nvSpPr>
        <p:spPr>
          <a:xfrm>
            <a:off x="7159752" y="2350008"/>
            <a:ext cx="274320" cy="0"/>
          </a:xfrm>
          <a:prstGeom prst="line">
            <a:avLst/>
          </a:prstGeom>
          <a:noFill/>
          <a:ln w="12700">
            <a:solidFill>
              <a:srgbClr val="A9B4C7"/>
            </a:solidFill>
            <a:prstDash val="solid"/>
            <a:headEnd type="none"/>
            <a:tailEnd type="triangle"/>
          </a:ln>
        </p:spPr>
      </p:sp>
      <p:sp>
        <p:nvSpPr>
          <p:cNvPr id="21" name="Shape 19"/>
          <p:cNvSpPr/>
          <p:nvPr/>
        </p:nvSpPr>
        <p:spPr>
          <a:xfrm>
            <a:off x="8211312" y="1243584"/>
            <a:ext cx="502920" cy="502920"/>
          </a:xfrm>
          <a:prstGeom prst="ellipse">
            <a:avLst/>
          </a:prstGeom>
          <a:solidFill>
            <a:srgbClr val="22C55E"/>
          </a:solidFill>
          <a:ln w="12700">
            <a:solidFill>
              <a:srgbClr val="22C55E"/>
            </a:solidFill>
            <a:prstDash val="solid"/>
          </a:ln>
        </p:spPr>
      </p:sp>
      <p:sp>
        <p:nvSpPr>
          <p:cNvPr id="22" name="Text 20"/>
          <p:cNvSpPr/>
          <p:nvPr/>
        </p:nvSpPr>
        <p:spPr>
          <a:xfrm>
            <a:off x="8211312" y="1344168"/>
            <a:ext cx="502920" cy="182880"/>
          </a:xfrm>
          <a:prstGeom prst="rect">
            <a:avLst/>
          </a:prstGeom>
          <a:noFill/>
          <a:ln/>
        </p:spPr>
        <p:txBody>
          <a:bodyPr wrap="square" lIns="0" tIns="0" rIns="0" bIns="0" rtlCol="0" anchor="ctr"/>
          <a:lstStyle/>
          <a:p>
            <a:pPr algn="ctr" indent="0" marL="0">
              <a:buNone/>
            </a:pPr>
            <a:r>
              <a:rPr lang="en-US" sz="1100" b="1" dirty="0">
                <a:solidFill>
                  <a:srgbClr val="0B1020"/>
                </a:solidFill>
              </a:rPr>
              <a:t>4</a:t>
            </a:r>
            <a:endParaRPr lang="en-US" sz="1100" dirty="0"/>
          </a:p>
        </p:txBody>
      </p:sp>
      <p:sp>
        <p:nvSpPr>
          <p:cNvPr id="23" name="Shape 21"/>
          <p:cNvSpPr/>
          <p:nvPr/>
        </p:nvSpPr>
        <p:spPr>
          <a:xfrm>
            <a:off x="7498080" y="1874520"/>
            <a:ext cx="1965960" cy="960120"/>
          </a:xfrm>
          <a:prstGeom prst="roundRect">
            <a:avLst>
              <a:gd name="adj" fmla="val 4762"/>
            </a:avLst>
          </a:prstGeom>
          <a:solidFill>
            <a:srgbClr val="172238"/>
          </a:solidFill>
          <a:ln w="12700">
            <a:solidFill>
              <a:srgbClr val="22C55E"/>
            </a:solidFill>
            <a:prstDash val="solid"/>
          </a:ln>
        </p:spPr>
      </p:sp>
      <p:sp>
        <p:nvSpPr>
          <p:cNvPr id="24" name="Text 22"/>
          <p:cNvSpPr/>
          <p:nvPr/>
        </p:nvSpPr>
        <p:spPr>
          <a:xfrm>
            <a:off x="7571232" y="1947672"/>
            <a:ext cx="1819656" cy="81381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Verify live app</a:t>
            </a:r>
            <a:endParaRPr lang="en-US" sz="1200" dirty="0"/>
          </a:p>
        </p:txBody>
      </p:sp>
      <p:sp>
        <p:nvSpPr>
          <p:cNvPr id="25" name="Shape 23"/>
          <p:cNvSpPr/>
          <p:nvPr/>
        </p:nvSpPr>
        <p:spPr>
          <a:xfrm>
            <a:off x="9491472" y="2350008"/>
            <a:ext cx="274320" cy="0"/>
          </a:xfrm>
          <a:prstGeom prst="line">
            <a:avLst/>
          </a:prstGeom>
          <a:noFill/>
          <a:ln w="12700">
            <a:solidFill>
              <a:srgbClr val="A9B4C7"/>
            </a:solidFill>
            <a:prstDash val="solid"/>
            <a:headEnd type="none"/>
            <a:tailEnd type="triangle"/>
          </a:ln>
        </p:spPr>
      </p:sp>
      <p:sp>
        <p:nvSpPr>
          <p:cNvPr id="26" name="Shape 24"/>
          <p:cNvSpPr/>
          <p:nvPr/>
        </p:nvSpPr>
        <p:spPr>
          <a:xfrm>
            <a:off x="10543032" y="1243584"/>
            <a:ext cx="502920" cy="502920"/>
          </a:xfrm>
          <a:prstGeom prst="ellipse">
            <a:avLst/>
          </a:prstGeom>
          <a:solidFill>
            <a:srgbClr val="EF4444"/>
          </a:solidFill>
          <a:ln w="12700">
            <a:solidFill>
              <a:srgbClr val="EF4444"/>
            </a:solidFill>
            <a:prstDash val="solid"/>
          </a:ln>
        </p:spPr>
      </p:sp>
      <p:sp>
        <p:nvSpPr>
          <p:cNvPr id="27" name="Text 25"/>
          <p:cNvSpPr/>
          <p:nvPr/>
        </p:nvSpPr>
        <p:spPr>
          <a:xfrm>
            <a:off x="10543032" y="1344168"/>
            <a:ext cx="502920" cy="182880"/>
          </a:xfrm>
          <a:prstGeom prst="rect">
            <a:avLst/>
          </a:prstGeom>
          <a:noFill/>
          <a:ln/>
        </p:spPr>
        <p:txBody>
          <a:bodyPr wrap="square" lIns="0" tIns="0" rIns="0" bIns="0" rtlCol="0" anchor="ctr"/>
          <a:lstStyle/>
          <a:p>
            <a:pPr algn="ctr" indent="0" marL="0">
              <a:buNone/>
            </a:pPr>
            <a:r>
              <a:rPr lang="en-US" sz="1100" b="1" dirty="0">
                <a:solidFill>
                  <a:srgbClr val="0B1020"/>
                </a:solidFill>
              </a:rPr>
              <a:t>5</a:t>
            </a:r>
            <a:endParaRPr lang="en-US" sz="1100" dirty="0"/>
          </a:p>
        </p:txBody>
      </p:sp>
      <p:sp>
        <p:nvSpPr>
          <p:cNvPr id="28" name="Shape 26"/>
          <p:cNvSpPr/>
          <p:nvPr/>
        </p:nvSpPr>
        <p:spPr>
          <a:xfrm>
            <a:off x="9829800" y="1874520"/>
            <a:ext cx="1965960" cy="960120"/>
          </a:xfrm>
          <a:prstGeom prst="roundRect">
            <a:avLst>
              <a:gd name="adj" fmla="val 4762"/>
            </a:avLst>
          </a:prstGeom>
          <a:solidFill>
            <a:srgbClr val="172238"/>
          </a:solidFill>
          <a:ln w="12700">
            <a:solidFill>
              <a:srgbClr val="EF4444"/>
            </a:solidFill>
            <a:prstDash val="solid"/>
          </a:ln>
        </p:spPr>
      </p:sp>
      <p:sp>
        <p:nvSpPr>
          <p:cNvPr id="29" name="Text 27"/>
          <p:cNvSpPr/>
          <p:nvPr/>
        </p:nvSpPr>
        <p:spPr>
          <a:xfrm>
            <a:off x="9902952" y="1947672"/>
            <a:ext cx="1819656" cy="81381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Operate / Destroy</a:t>
            </a:r>
            <a:endParaRPr lang="en-US" sz="1200" dirty="0"/>
          </a:p>
        </p:txBody>
      </p:sp>
      <p:sp>
        <p:nvSpPr>
          <p:cNvPr id="30" name="Shape 28"/>
          <p:cNvSpPr/>
          <p:nvPr/>
        </p:nvSpPr>
        <p:spPr>
          <a:xfrm>
            <a:off x="685800" y="3337560"/>
            <a:ext cx="10789920" cy="1417320"/>
          </a:xfrm>
          <a:prstGeom prst="roundRect">
            <a:avLst/>
          </a:prstGeom>
          <a:solidFill>
            <a:srgbClr val="121A2D"/>
          </a:solidFill>
          <a:ln w="12700">
            <a:solidFill>
              <a:srgbClr val="2A3853"/>
            </a:solidFill>
            <a:prstDash val="solid"/>
          </a:ln>
        </p:spPr>
      </p:sp>
      <p:sp>
        <p:nvSpPr>
          <p:cNvPr id="31" name="Text 29"/>
          <p:cNvSpPr/>
          <p:nvPr/>
        </p:nvSpPr>
        <p:spPr>
          <a:xfrm>
            <a:off x="1005840" y="3703320"/>
            <a:ext cx="10149840" cy="694944"/>
          </a:xfrm>
          <a:prstGeom prst="rect">
            <a:avLst/>
          </a:prstGeom>
          <a:noFill/>
          <a:ln/>
        </p:spPr>
        <p:txBody>
          <a:bodyPr wrap="square" lIns="0" tIns="0" rIns="0" bIns="0" rtlCol="0" anchor="ctr">
            <a:normAutofit/>
          </a:bodyPr>
          <a:lstStyle/>
          <a:p>
            <a:pPr algn="ctr" indent="0" marL="0">
              <a:buNone/>
            </a:pPr>
            <a:r>
              <a:rPr lang="en-US" sz="1700" b="1" dirty="0">
                <a:solidFill>
                  <a:srgbClr val="F7FAFC"/>
                </a:solidFill>
              </a:rPr>
              <a:t>The user does not manually create containers, ECR repositories, ECS services, load balancers or Terraform resources. DeployGuard orchestrates these steps from the selected repository and configuration.</a:t>
            </a:r>
            <a:endParaRPr lang="en-US" sz="1700" dirty="0"/>
          </a:p>
        </p:txBody>
      </p:sp>
      <p:sp>
        <p:nvSpPr>
          <p:cNvPr id="25" name="Slide Number Placeholder 0"/>
          <p:cNvSpPr>
            <a:spLocks noGrp="1"/>
          </p:cNvSpPr>
          <p:nvPr>
            <p:ph type="sldNum" sz="quarter" idx="4294967295"/>
          </p:nvPr>
        </p:nvSpPr>
        <p:spPr>
          <a:xfrm>
            <a:off x="1138428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7C8AA5"/>
                </a:solidFill>
                <a:latin typeface="Aptos"/>
                <a:ea typeface="Aptos"/>
                <a:cs typeface="Aptos"/>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594360" y="960120"/>
            <a:ext cx="109728" cy="4480560"/>
          </a:xfrm>
          <a:prstGeom prst="rect">
            <a:avLst/>
          </a:prstGeom>
          <a:solidFill>
            <a:srgbClr val="F59E0B"/>
          </a:solidFill>
          <a:ln w="12700">
            <a:solidFill>
              <a:srgbClr val="F59E0B"/>
            </a:solidFill>
            <a:prstDash val="solid"/>
          </a:ln>
        </p:spPr>
      </p:sp>
      <p:sp>
        <p:nvSpPr>
          <p:cNvPr id="3" name="Text 1"/>
          <p:cNvSpPr/>
          <p:nvPr/>
        </p:nvSpPr>
        <p:spPr>
          <a:xfrm>
            <a:off x="914400" y="1143000"/>
            <a:ext cx="5943600" cy="320040"/>
          </a:xfrm>
          <a:prstGeom prst="rect">
            <a:avLst/>
          </a:prstGeom>
          <a:noFill/>
          <a:ln/>
        </p:spPr>
        <p:txBody>
          <a:bodyPr wrap="square" lIns="0" tIns="0" rIns="0" bIns="0" rtlCol="0" anchor="ctr"/>
          <a:lstStyle/>
          <a:p>
            <a:pPr indent="0" marL="0">
              <a:buNone/>
            </a:pPr>
            <a:r>
              <a:rPr lang="en-US" sz="1300" b="1" spc="180" kern="0" dirty="0">
                <a:solidFill>
                  <a:srgbClr val="F59E0B"/>
                </a:solidFill>
              </a:rPr>
              <a:t>TECHNICAL WALKTHROUGH</a:t>
            </a:r>
            <a:endParaRPr lang="en-US" sz="1300" dirty="0"/>
          </a:p>
        </p:txBody>
      </p:sp>
      <p:sp>
        <p:nvSpPr>
          <p:cNvPr id="4" name="Text 2"/>
          <p:cNvSpPr/>
          <p:nvPr/>
        </p:nvSpPr>
        <p:spPr>
          <a:xfrm>
            <a:off x="914400" y="1691640"/>
            <a:ext cx="10241280" cy="1325880"/>
          </a:xfrm>
          <a:prstGeom prst="rect">
            <a:avLst/>
          </a:prstGeom>
          <a:noFill/>
          <a:ln/>
        </p:spPr>
        <p:txBody>
          <a:bodyPr wrap="square" lIns="0" tIns="0" rIns="0" bIns="0" rtlCol="0" anchor="ctr">
            <a:normAutofit/>
          </a:bodyPr>
          <a:lstStyle/>
          <a:p>
            <a:pPr indent="0" marL="0">
              <a:buNone/>
            </a:pPr>
            <a:r>
              <a:rPr lang="en-US" sz="3600" b="1" dirty="0">
                <a:solidFill>
                  <a:srgbClr val="F7FAFC"/>
                </a:solidFill>
                <a:latin typeface="Aptos Display" pitchFamily="34" charset="0"/>
                <a:ea typeface="Aptos Display" pitchFamily="34" charset="-122"/>
                <a:cs typeface="Aptos Display" pitchFamily="34" charset="-120"/>
              </a:rPr>
              <a:t>How DeployGuard works internally</a:t>
            </a:r>
            <a:endParaRPr lang="en-US" sz="3600" dirty="0"/>
          </a:p>
        </p:txBody>
      </p:sp>
      <p:sp>
        <p:nvSpPr>
          <p:cNvPr id="5" name="Shape 3"/>
          <p:cNvSpPr/>
          <p:nvPr/>
        </p:nvSpPr>
        <p:spPr>
          <a:xfrm>
            <a:off x="10469880" y="338328"/>
            <a:ext cx="1078992" cy="274320"/>
          </a:xfrm>
          <a:prstGeom prst="roundRect">
            <a:avLst>
              <a:gd name="adj" fmla="val 16667"/>
            </a:avLst>
          </a:prstGeom>
          <a:solidFill>
            <a:srgbClr val="F59E0B">
              <a:alpha val="20000"/>
            </a:srgbClr>
          </a:solidFill>
          <a:ln w="12700">
            <a:solidFill>
              <a:srgbClr val="F59E0B">
                <a:alpha val="70000"/>
              </a:srgbClr>
            </a:solidFill>
            <a:prstDash val="solid"/>
          </a:ln>
        </p:spPr>
      </p:sp>
      <p:sp>
        <p:nvSpPr>
          <p:cNvPr id="6" name="Text 4"/>
          <p:cNvSpPr/>
          <p:nvPr/>
        </p:nvSpPr>
        <p:spPr>
          <a:xfrm>
            <a:off x="10543032" y="388620"/>
            <a:ext cx="932688" cy="155448"/>
          </a:xfrm>
          <a:prstGeom prst="rect">
            <a:avLst/>
          </a:prstGeom>
          <a:noFill/>
          <a:ln/>
        </p:spPr>
        <p:txBody>
          <a:bodyPr wrap="square" lIns="0" tIns="0" rIns="0" bIns="0" rtlCol="0" anchor="ctr"/>
          <a:lstStyle/>
          <a:p>
            <a:pPr algn="ctr" indent="0" marL="0">
              <a:buNone/>
            </a:pPr>
            <a:r>
              <a:rPr lang="en-US" sz="900" b="1" dirty="0">
                <a:solidFill>
                  <a:srgbClr val="F59E0B"/>
                </a:solidFill>
              </a:rPr>
              <a:t>HASSAN</a:t>
            </a:r>
            <a:endParaRPr lang="en-US" sz="900" dirty="0"/>
          </a:p>
        </p:txBody>
      </p:sp>
      <p:sp>
        <p:nvSpPr>
          <p:cNvPr id="7" name="Text 5"/>
          <p:cNvSpPr/>
          <p:nvPr/>
        </p:nvSpPr>
        <p:spPr>
          <a:xfrm>
            <a:off x="914400" y="3246120"/>
            <a:ext cx="9875520" cy="822960"/>
          </a:xfrm>
          <a:prstGeom prst="rect">
            <a:avLst/>
          </a:prstGeom>
          <a:noFill/>
          <a:ln/>
        </p:spPr>
        <p:txBody>
          <a:bodyPr wrap="square" lIns="0" tIns="0" rIns="0" bIns="0" rtlCol="0" anchor="ctr"/>
          <a:lstStyle/>
          <a:p>
            <a:pPr indent="0" marL="0">
              <a:buNone/>
            </a:pPr>
            <a:r>
              <a:rPr lang="en-US" sz="1800" dirty="0">
                <a:solidFill>
                  <a:srgbClr val="A9B4C7"/>
                </a:solidFill>
              </a:rPr>
              <a:t>From this point: architecture, deployment pipeline, security, AWS, databases, failures, verification and lifecycle.</a:t>
            </a:r>
            <a:endParaRPr lang="en-US" sz="1800" dirty="0"/>
          </a:p>
        </p:txBody>
      </p:sp>
      <p:sp>
        <p:nvSpPr>
          <p:cNvPr id="25" name="Slide Number Placeholder 0"/>
          <p:cNvSpPr>
            <a:spLocks noGrp="1"/>
          </p:cNvSpPr>
          <p:nvPr>
            <p:ph type="sldNum" sz="quarter" idx="4294967295"/>
          </p:nvPr>
        </p:nvSpPr>
        <p:spPr>
          <a:xfrm>
            <a:off x="1138428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7C8AA5"/>
                </a:solidFill>
                <a:latin typeface="Aptos"/>
                <a:ea typeface="Aptos"/>
                <a:cs typeface="Aptos"/>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320040"/>
            <a:ext cx="11064240" cy="502920"/>
          </a:xfrm>
          <a:prstGeom prst="rect">
            <a:avLst/>
          </a:prstGeom>
          <a:noFill/>
          <a:ln/>
        </p:spPr>
        <p:txBody>
          <a:bodyPr wrap="square" lIns="0" tIns="0" rIns="0" bIns="0" rtlCol="0" anchor="ctr"/>
          <a:lstStyle/>
          <a:p>
            <a:pPr indent="0" marL="0">
              <a:buNone/>
            </a:pPr>
            <a:r>
              <a:rPr lang="en-US" sz="2800" b="1" dirty="0">
                <a:solidFill>
                  <a:srgbClr val="F7FAFC"/>
                </a:solidFill>
                <a:latin typeface="Aptos Display" pitchFamily="34" charset="0"/>
                <a:ea typeface="Aptos Display" pitchFamily="34" charset="-122"/>
                <a:cs typeface="Aptos Display" pitchFamily="34" charset="-120"/>
              </a:rPr>
              <a:t>System architecture</a:t>
            </a:r>
            <a:endParaRPr lang="en-US" sz="2800" dirty="0"/>
          </a:p>
        </p:txBody>
      </p:sp>
      <p:sp>
        <p:nvSpPr>
          <p:cNvPr id="3" name="Text 1"/>
          <p:cNvSpPr/>
          <p:nvPr/>
        </p:nvSpPr>
        <p:spPr>
          <a:xfrm>
            <a:off x="521208" y="868680"/>
            <a:ext cx="10972800" cy="310896"/>
          </a:xfrm>
          <a:prstGeom prst="rect">
            <a:avLst/>
          </a:prstGeom>
          <a:noFill/>
          <a:ln/>
        </p:spPr>
        <p:txBody>
          <a:bodyPr wrap="square" lIns="0" tIns="0" rIns="0" bIns="0" rtlCol="0" anchor="ctr"/>
          <a:lstStyle/>
          <a:p>
            <a:pPr indent="0" marL="0">
              <a:buNone/>
            </a:pPr>
            <a:r>
              <a:rPr lang="en-US" sz="1250" dirty="0">
                <a:solidFill>
                  <a:srgbClr val="A9B4C7"/>
                </a:solidFill>
              </a:rPr>
              <a:t>Separation of concerns across UI, control plane, build, infrastructure and runtime</a:t>
            </a:r>
            <a:endParaRPr lang="en-US" sz="1250" dirty="0"/>
          </a:p>
        </p:txBody>
      </p:sp>
      <p:sp>
        <p:nvSpPr>
          <p:cNvPr id="4" name="Shape 2"/>
          <p:cNvSpPr/>
          <p:nvPr/>
        </p:nvSpPr>
        <p:spPr>
          <a:xfrm>
            <a:off x="10469880" y="338328"/>
            <a:ext cx="1078992" cy="274320"/>
          </a:xfrm>
          <a:prstGeom prst="roundRect">
            <a:avLst>
              <a:gd name="adj" fmla="val 16667"/>
            </a:avLst>
          </a:prstGeom>
          <a:solidFill>
            <a:srgbClr val="F59E0B">
              <a:alpha val="20000"/>
            </a:srgbClr>
          </a:solidFill>
          <a:ln w="12700">
            <a:solidFill>
              <a:srgbClr val="F59E0B">
                <a:alpha val="70000"/>
              </a:srgbClr>
            </a:solidFill>
            <a:prstDash val="solid"/>
          </a:ln>
        </p:spPr>
      </p:sp>
      <p:sp>
        <p:nvSpPr>
          <p:cNvPr id="5" name="Text 3"/>
          <p:cNvSpPr/>
          <p:nvPr/>
        </p:nvSpPr>
        <p:spPr>
          <a:xfrm>
            <a:off x="10543032" y="388620"/>
            <a:ext cx="932688" cy="155448"/>
          </a:xfrm>
          <a:prstGeom prst="rect">
            <a:avLst/>
          </a:prstGeom>
          <a:noFill/>
          <a:ln/>
        </p:spPr>
        <p:txBody>
          <a:bodyPr wrap="square" lIns="0" tIns="0" rIns="0" bIns="0" rtlCol="0" anchor="ctr"/>
          <a:lstStyle/>
          <a:p>
            <a:pPr algn="ctr" indent="0" marL="0">
              <a:buNone/>
            </a:pPr>
            <a:r>
              <a:rPr lang="en-US" sz="900" b="1" dirty="0">
                <a:solidFill>
                  <a:srgbClr val="F59E0B"/>
                </a:solidFill>
              </a:rPr>
              <a:t>HASSAN</a:t>
            </a:r>
            <a:endParaRPr lang="en-US" sz="900" dirty="0"/>
          </a:p>
        </p:txBody>
      </p:sp>
      <p:sp>
        <p:nvSpPr>
          <p:cNvPr id="6" name="Shape 4"/>
          <p:cNvSpPr/>
          <p:nvPr/>
        </p:nvSpPr>
        <p:spPr>
          <a:xfrm>
            <a:off x="457200" y="1828800"/>
            <a:ext cx="1600200" cy="914400"/>
          </a:xfrm>
          <a:prstGeom prst="roundRect">
            <a:avLst>
              <a:gd name="adj" fmla="val 5000"/>
            </a:avLst>
          </a:prstGeom>
          <a:solidFill>
            <a:srgbClr val="172238"/>
          </a:solidFill>
          <a:ln w="12700">
            <a:solidFill>
              <a:srgbClr val="A78BFA"/>
            </a:solidFill>
            <a:prstDash val="solid"/>
          </a:ln>
        </p:spPr>
      </p:sp>
      <p:sp>
        <p:nvSpPr>
          <p:cNvPr id="7" name="Text 5"/>
          <p:cNvSpPr/>
          <p:nvPr/>
        </p:nvSpPr>
        <p:spPr>
          <a:xfrm>
            <a:off x="530352" y="1901952"/>
            <a:ext cx="1453896" cy="76809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Frontend</a:t>
            </a:r>
            <a:endParaRPr lang="en-US" sz="1200" dirty="0"/>
          </a:p>
        </p:txBody>
      </p:sp>
      <p:sp>
        <p:nvSpPr>
          <p:cNvPr id="8" name="Shape 6"/>
          <p:cNvSpPr/>
          <p:nvPr/>
        </p:nvSpPr>
        <p:spPr>
          <a:xfrm>
            <a:off x="2514600" y="1828800"/>
            <a:ext cx="1691640" cy="914400"/>
          </a:xfrm>
          <a:prstGeom prst="roundRect">
            <a:avLst>
              <a:gd name="adj" fmla="val 5000"/>
            </a:avLst>
          </a:prstGeom>
          <a:solidFill>
            <a:srgbClr val="172238"/>
          </a:solidFill>
          <a:ln w="12700">
            <a:solidFill>
              <a:srgbClr val="F59E0B"/>
            </a:solidFill>
            <a:prstDash val="solid"/>
          </a:ln>
        </p:spPr>
      </p:sp>
      <p:sp>
        <p:nvSpPr>
          <p:cNvPr id="9" name="Text 7"/>
          <p:cNvSpPr/>
          <p:nvPr/>
        </p:nvSpPr>
        <p:spPr>
          <a:xfrm>
            <a:off x="2587752" y="1901952"/>
            <a:ext cx="1545336" cy="76809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Backend</a:t>
            </a:r>
            <a:endParaRPr lang="en-US" sz="1200" dirty="0"/>
          </a:p>
          <a:p>
            <a:pPr algn="ctr" indent="0" marL="0">
              <a:buNone/>
            </a:pPr>
            <a:r>
              <a:rPr lang="en-US" sz="1200" b="1" dirty="0">
                <a:solidFill>
                  <a:srgbClr val="F7FAFC"/>
                </a:solidFill>
              </a:rPr>
              <a:t>Control Plane</a:t>
            </a:r>
            <a:endParaRPr lang="en-US" sz="1200" dirty="0"/>
          </a:p>
        </p:txBody>
      </p:sp>
      <p:sp>
        <p:nvSpPr>
          <p:cNvPr id="10" name="Shape 8"/>
          <p:cNvSpPr/>
          <p:nvPr/>
        </p:nvSpPr>
        <p:spPr>
          <a:xfrm>
            <a:off x="4663440" y="1828800"/>
            <a:ext cx="1600200" cy="914400"/>
          </a:xfrm>
          <a:prstGeom prst="roundRect">
            <a:avLst>
              <a:gd name="adj" fmla="val 5000"/>
            </a:avLst>
          </a:prstGeom>
          <a:solidFill>
            <a:srgbClr val="172238"/>
          </a:solidFill>
          <a:ln w="12700">
            <a:solidFill>
              <a:srgbClr val="38BDF8"/>
            </a:solidFill>
            <a:prstDash val="solid"/>
          </a:ln>
        </p:spPr>
      </p:sp>
      <p:sp>
        <p:nvSpPr>
          <p:cNvPr id="11" name="Text 9"/>
          <p:cNvSpPr/>
          <p:nvPr/>
        </p:nvSpPr>
        <p:spPr>
          <a:xfrm>
            <a:off x="4736592" y="1901952"/>
            <a:ext cx="1453896" cy="76809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Build</a:t>
            </a:r>
            <a:endParaRPr lang="en-US" sz="1200" dirty="0"/>
          </a:p>
          <a:p>
            <a:pPr algn="ctr" indent="0" marL="0">
              <a:buNone/>
            </a:pPr>
            <a:r>
              <a:rPr lang="en-US" sz="1200" b="1" dirty="0">
                <a:solidFill>
                  <a:srgbClr val="F7FAFC"/>
                </a:solidFill>
              </a:rPr>
              <a:t>Worker</a:t>
            </a:r>
            <a:endParaRPr lang="en-US" sz="1200" dirty="0"/>
          </a:p>
        </p:txBody>
      </p:sp>
      <p:sp>
        <p:nvSpPr>
          <p:cNvPr id="12" name="Shape 10"/>
          <p:cNvSpPr/>
          <p:nvPr/>
        </p:nvSpPr>
        <p:spPr>
          <a:xfrm>
            <a:off x="6720840" y="1828800"/>
            <a:ext cx="1600200" cy="914400"/>
          </a:xfrm>
          <a:prstGeom prst="roundRect">
            <a:avLst>
              <a:gd name="adj" fmla="val 5000"/>
            </a:avLst>
          </a:prstGeom>
          <a:solidFill>
            <a:srgbClr val="172238"/>
          </a:solidFill>
          <a:ln w="12700">
            <a:solidFill>
              <a:srgbClr val="06B6D4"/>
            </a:solidFill>
            <a:prstDash val="solid"/>
          </a:ln>
        </p:spPr>
      </p:sp>
      <p:sp>
        <p:nvSpPr>
          <p:cNvPr id="13" name="Text 11"/>
          <p:cNvSpPr/>
          <p:nvPr/>
        </p:nvSpPr>
        <p:spPr>
          <a:xfrm>
            <a:off x="6793992" y="1901952"/>
            <a:ext cx="1453896" cy="76809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Image</a:t>
            </a:r>
            <a:endParaRPr lang="en-US" sz="1200" dirty="0"/>
          </a:p>
          <a:p>
            <a:pPr algn="ctr" indent="0" marL="0">
              <a:buNone/>
            </a:pPr>
            <a:r>
              <a:rPr lang="en-US" sz="1200" b="1" dirty="0">
                <a:solidFill>
                  <a:srgbClr val="F7FAFC"/>
                </a:solidFill>
              </a:rPr>
              <a:t>Registry</a:t>
            </a:r>
            <a:endParaRPr lang="en-US" sz="1200" dirty="0"/>
          </a:p>
        </p:txBody>
      </p:sp>
      <p:sp>
        <p:nvSpPr>
          <p:cNvPr id="14" name="Shape 12"/>
          <p:cNvSpPr/>
          <p:nvPr/>
        </p:nvSpPr>
        <p:spPr>
          <a:xfrm>
            <a:off x="8778240" y="1828800"/>
            <a:ext cx="1600200" cy="914400"/>
          </a:xfrm>
          <a:prstGeom prst="roundRect">
            <a:avLst>
              <a:gd name="adj" fmla="val 5000"/>
            </a:avLst>
          </a:prstGeom>
          <a:solidFill>
            <a:srgbClr val="172238"/>
          </a:solidFill>
          <a:ln w="12700">
            <a:solidFill>
              <a:srgbClr val="FBBF24"/>
            </a:solidFill>
            <a:prstDash val="solid"/>
          </a:ln>
        </p:spPr>
      </p:sp>
      <p:sp>
        <p:nvSpPr>
          <p:cNvPr id="15" name="Text 13"/>
          <p:cNvSpPr/>
          <p:nvPr/>
        </p:nvSpPr>
        <p:spPr>
          <a:xfrm>
            <a:off x="8851392" y="1901952"/>
            <a:ext cx="1453896" cy="76809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Terraform</a:t>
            </a:r>
            <a:endParaRPr lang="en-US" sz="1200" dirty="0"/>
          </a:p>
        </p:txBody>
      </p:sp>
      <p:sp>
        <p:nvSpPr>
          <p:cNvPr id="16" name="Shape 14"/>
          <p:cNvSpPr/>
          <p:nvPr/>
        </p:nvSpPr>
        <p:spPr>
          <a:xfrm>
            <a:off x="10744200" y="1828800"/>
            <a:ext cx="960120" cy="914400"/>
          </a:xfrm>
          <a:prstGeom prst="roundRect">
            <a:avLst>
              <a:gd name="adj" fmla="val 5000"/>
            </a:avLst>
          </a:prstGeom>
          <a:solidFill>
            <a:srgbClr val="172238"/>
          </a:solidFill>
          <a:ln w="12700">
            <a:solidFill>
              <a:srgbClr val="22C55E"/>
            </a:solidFill>
            <a:prstDash val="solid"/>
          </a:ln>
        </p:spPr>
      </p:sp>
      <p:sp>
        <p:nvSpPr>
          <p:cNvPr id="17" name="Text 15"/>
          <p:cNvSpPr/>
          <p:nvPr/>
        </p:nvSpPr>
        <p:spPr>
          <a:xfrm>
            <a:off x="10817352" y="1901952"/>
            <a:ext cx="813816" cy="76809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AWS</a:t>
            </a:r>
            <a:endParaRPr lang="en-US" sz="1200" dirty="0"/>
          </a:p>
        </p:txBody>
      </p:sp>
      <p:sp>
        <p:nvSpPr>
          <p:cNvPr id="18" name="Shape 16"/>
          <p:cNvSpPr/>
          <p:nvPr/>
        </p:nvSpPr>
        <p:spPr>
          <a:xfrm>
            <a:off x="2057400" y="2286000"/>
            <a:ext cx="411480" cy="0"/>
          </a:xfrm>
          <a:prstGeom prst="line">
            <a:avLst/>
          </a:prstGeom>
          <a:noFill/>
          <a:ln w="12700">
            <a:solidFill>
              <a:srgbClr val="A9B4C7"/>
            </a:solidFill>
            <a:prstDash val="solid"/>
            <a:headEnd type="none"/>
            <a:tailEnd type="triangle"/>
          </a:ln>
        </p:spPr>
      </p:sp>
      <p:sp>
        <p:nvSpPr>
          <p:cNvPr id="19" name="Shape 17"/>
          <p:cNvSpPr/>
          <p:nvPr/>
        </p:nvSpPr>
        <p:spPr>
          <a:xfrm>
            <a:off x="4206240" y="2286000"/>
            <a:ext cx="411480" cy="0"/>
          </a:xfrm>
          <a:prstGeom prst="line">
            <a:avLst/>
          </a:prstGeom>
          <a:noFill/>
          <a:ln w="12700">
            <a:solidFill>
              <a:srgbClr val="A9B4C7"/>
            </a:solidFill>
            <a:prstDash val="solid"/>
            <a:headEnd type="none"/>
            <a:tailEnd type="triangle"/>
          </a:ln>
        </p:spPr>
      </p:sp>
      <p:sp>
        <p:nvSpPr>
          <p:cNvPr id="20" name="Shape 18"/>
          <p:cNvSpPr/>
          <p:nvPr/>
        </p:nvSpPr>
        <p:spPr>
          <a:xfrm>
            <a:off x="6263640" y="2286000"/>
            <a:ext cx="411480" cy="0"/>
          </a:xfrm>
          <a:prstGeom prst="line">
            <a:avLst/>
          </a:prstGeom>
          <a:noFill/>
          <a:ln w="12700">
            <a:solidFill>
              <a:srgbClr val="A9B4C7"/>
            </a:solidFill>
            <a:prstDash val="solid"/>
            <a:headEnd type="none"/>
            <a:tailEnd type="triangle"/>
          </a:ln>
        </p:spPr>
      </p:sp>
      <p:sp>
        <p:nvSpPr>
          <p:cNvPr id="21" name="Shape 19"/>
          <p:cNvSpPr/>
          <p:nvPr/>
        </p:nvSpPr>
        <p:spPr>
          <a:xfrm>
            <a:off x="8321040" y="2286000"/>
            <a:ext cx="411480" cy="0"/>
          </a:xfrm>
          <a:prstGeom prst="line">
            <a:avLst/>
          </a:prstGeom>
          <a:noFill/>
          <a:ln w="12700">
            <a:solidFill>
              <a:srgbClr val="A9B4C7"/>
            </a:solidFill>
            <a:prstDash val="solid"/>
            <a:headEnd type="none"/>
            <a:tailEnd type="triangle"/>
          </a:ln>
        </p:spPr>
      </p:sp>
      <p:sp>
        <p:nvSpPr>
          <p:cNvPr id="22" name="Shape 20"/>
          <p:cNvSpPr/>
          <p:nvPr/>
        </p:nvSpPr>
        <p:spPr>
          <a:xfrm>
            <a:off x="10378440" y="2286000"/>
            <a:ext cx="320040" cy="0"/>
          </a:xfrm>
          <a:prstGeom prst="line">
            <a:avLst/>
          </a:prstGeom>
          <a:noFill/>
          <a:ln w="12700">
            <a:solidFill>
              <a:srgbClr val="A9B4C7"/>
            </a:solidFill>
            <a:prstDash val="solid"/>
            <a:headEnd type="none"/>
            <a:tailEnd type="triangle"/>
          </a:ln>
        </p:spPr>
      </p:sp>
      <p:sp>
        <p:nvSpPr>
          <p:cNvPr id="23" name="Shape 21"/>
          <p:cNvSpPr/>
          <p:nvPr/>
        </p:nvSpPr>
        <p:spPr>
          <a:xfrm>
            <a:off x="640080" y="3657600"/>
            <a:ext cx="3337560" cy="1508760"/>
          </a:xfrm>
          <a:prstGeom prst="roundRect">
            <a:avLst>
              <a:gd name="adj" fmla="val 3636"/>
            </a:avLst>
          </a:prstGeom>
          <a:solidFill>
            <a:srgbClr val="121A2D"/>
          </a:solidFill>
          <a:ln w="12700">
            <a:solidFill>
              <a:srgbClr val="2A3853"/>
            </a:solidFill>
            <a:prstDash val="solid"/>
          </a:ln>
        </p:spPr>
      </p:sp>
      <p:sp>
        <p:nvSpPr>
          <p:cNvPr id="24" name="Shape 22"/>
          <p:cNvSpPr/>
          <p:nvPr/>
        </p:nvSpPr>
        <p:spPr>
          <a:xfrm>
            <a:off x="640080" y="3657600"/>
            <a:ext cx="54864" cy="1508760"/>
          </a:xfrm>
          <a:prstGeom prst="rect">
            <a:avLst/>
          </a:prstGeom>
          <a:solidFill>
            <a:srgbClr val="A78BFA"/>
          </a:solidFill>
          <a:ln w="12700">
            <a:solidFill>
              <a:srgbClr val="A78BFA"/>
            </a:solidFill>
            <a:prstDash val="solid"/>
          </a:ln>
        </p:spPr>
      </p:sp>
      <p:sp>
        <p:nvSpPr>
          <p:cNvPr id="25" name="Text 23"/>
          <p:cNvSpPr/>
          <p:nvPr/>
        </p:nvSpPr>
        <p:spPr>
          <a:xfrm>
            <a:off x="841248" y="3813048"/>
            <a:ext cx="3017520" cy="292608"/>
          </a:xfrm>
          <a:prstGeom prst="rect">
            <a:avLst/>
          </a:prstGeom>
          <a:noFill/>
          <a:ln/>
        </p:spPr>
        <p:txBody>
          <a:bodyPr wrap="square" lIns="0" tIns="0" rIns="0" bIns="0" rtlCol="0" anchor="ctr"/>
          <a:lstStyle/>
          <a:p>
            <a:pPr indent="0" marL="0">
              <a:buNone/>
            </a:pPr>
            <a:r>
              <a:rPr lang="en-US" sz="1500" b="1" dirty="0">
                <a:solidFill>
                  <a:srgbClr val="F7FAFC"/>
                </a:solidFill>
              </a:rPr>
              <a:t>Persistent platform state</a:t>
            </a:r>
            <a:endParaRPr lang="en-US" sz="1500" dirty="0"/>
          </a:p>
        </p:txBody>
      </p:sp>
      <p:sp>
        <p:nvSpPr>
          <p:cNvPr id="26" name="Text 24"/>
          <p:cNvSpPr/>
          <p:nvPr/>
        </p:nvSpPr>
        <p:spPr>
          <a:xfrm>
            <a:off x="841248" y="4224528"/>
            <a:ext cx="2971800" cy="822960"/>
          </a:xfrm>
          <a:prstGeom prst="rect">
            <a:avLst/>
          </a:prstGeom>
          <a:noFill/>
          <a:ln/>
        </p:spPr>
        <p:txBody>
          <a:bodyPr wrap="square" lIns="254" tIns="254" rIns="254" bIns="254" rtlCol="0" anchor="t">
            <a:normAutofit/>
          </a:bodyPr>
          <a:lstStyle/>
          <a:p>
            <a:pPr indent="0" marL="0">
              <a:buNone/>
            </a:pPr>
            <a:r>
              <a:rPr lang="en-US" sz="1100" dirty="0">
                <a:solidFill>
                  <a:srgbClr val="A9B4C7"/>
                </a:solidFill>
              </a:rPr>
              <a:t>Projects, services, deployment operations, runtime configuration revisions, evidence and status.</a:t>
            </a:r>
            <a:endParaRPr lang="en-US" sz="1100" dirty="0"/>
          </a:p>
        </p:txBody>
      </p:sp>
      <p:sp>
        <p:nvSpPr>
          <p:cNvPr id="27" name="Shape 25"/>
          <p:cNvSpPr/>
          <p:nvPr/>
        </p:nvSpPr>
        <p:spPr>
          <a:xfrm>
            <a:off x="4434840" y="3657600"/>
            <a:ext cx="3337560" cy="1508760"/>
          </a:xfrm>
          <a:prstGeom prst="roundRect">
            <a:avLst>
              <a:gd name="adj" fmla="val 3636"/>
            </a:avLst>
          </a:prstGeom>
          <a:solidFill>
            <a:srgbClr val="121A2D"/>
          </a:solidFill>
          <a:ln w="12700">
            <a:solidFill>
              <a:srgbClr val="2A3853"/>
            </a:solidFill>
            <a:prstDash val="solid"/>
          </a:ln>
        </p:spPr>
      </p:sp>
      <p:sp>
        <p:nvSpPr>
          <p:cNvPr id="28" name="Shape 26"/>
          <p:cNvSpPr/>
          <p:nvPr/>
        </p:nvSpPr>
        <p:spPr>
          <a:xfrm>
            <a:off x="4434840" y="3657600"/>
            <a:ext cx="54864" cy="1508760"/>
          </a:xfrm>
          <a:prstGeom prst="rect">
            <a:avLst/>
          </a:prstGeom>
          <a:solidFill>
            <a:srgbClr val="F59E0B"/>
          </a:solidFill>
          <a:ln w="12700">
            <a:solidFill>
              <a:srgbClr val="F59E0B"/>
            </a:solidFill>
            <a:prstDash val="solid"/>
          </a:ln>
        </p:spPr>
      </p:sp>
      <p:sp>
        <p:nvSpPr>
          <p:cNvPr id="29" name="Text 27"/>
          <p:cNvSpPr/>
          <p:nvPr/>
        </p:nvSpPr>
        <p:spPr>
          <a:xfrm>
            <a:off x="4636008" y="3813048"/>
            <a:ext cx="3017520" cy="292608"/>
          </a:xfrm>
          <a:prstGeom prst="rect">
            <a:avLst/>
          </a:prstGeom>
          <a:noFill/>
          <a:ln/>
        </p:spPr>
        <p:txBody>
          <a:bodyPr wrap="square" lIns="0" tIns="0" rIns="0" bIns="0" rtlCol="0" anchor="ctr"/>
          <a:lstStyle/>
          <a:p>
            <a:pPr indent="0" marL="0">
              <a:buNone/>
            </a:pPr>
            <a:r>
              <a:rPr lang="en-US" sz="1500" b="1" dirty="0">
                <a:solidFill>
                  <a:srgbClr val="F7FAFC"/>
                </a:solidFill>
              </a:rPr>
              <a:t>Execution authority</a:t>
            </a:r>
            <a:endParaRPr lang="en-US" sz="1500" dirty="0"/>
          </a:p>
        </p:txBody>
      </p:sp>
      <p:sp>
        <p:nvSpPr>
          <p:cNvPr id="30" name="Text 28"/>
          <p:cNvSpPr/>
          <p:nvPr/>
        </p:nvSpPr>
        <p:spPr>
          <a:xfrm>
            <a:off x="4636008" y="4224528"/>
            <a:ext cx="2971800" cy="822960"/>
          </a:xfrm>
          <a:prstGeom prst="rect">
            <a:avLst/>
          </a:prstGeom>
          <a:noFill/>
          <a:ln/>
        </p:spPr>
        <p:txBody>
          <a:bodyPr wrap="square" lIns="254" tIns="254" rIns="254" bIns="254" rtlCol="0" anchor="t">
            <a:normAutofit/>
          </a:bodyPr>
          <a:lstStyle/>
          <a:p>
            <a:pPr indent="0" marL="0">
              <a:buNone/>
            </a:pPr>
            <a:r>
              <a:rPr lang="en-US" sz="1100" dirty="0">
                <a:solidFill>
                  <a:srgbClr val="A9B4C7"/>
                </a:solidFill>
              </a:rPr>
              <a:t>Build system creates the container image. Terraform is the infrastructure-provisioning authority.</a:t>
            </a:r>
            <a:endParaRPr lang="en-US" sz="1100" dirty="0"/>
          </a:p>
        </p:txBody>
      </p:sp>
      <p:sp>
        <p:nvSpPr>
          <p:cNvPr id="31" name="Shape 29"/>
          <p:cNvSpPr/>
          <p:nvPr/>
        </p:nvSpPr>
        <p:spPr>
          <a:xfrm>
            <a:off x="8229600" y="3657600"/>
            <a:ext cx="3337560" cy="1508760"/>
          </a:xfrm>
          <a:prstGeom prst="roundRect">
            <a:avLst>
              <a:gd name="adj" fmla="val 3636"/>
            </a:avLst>
          </a:prstGeom>
          <a:solidFill>
            <a:srgbClr val="121A2D"/>
          </a:solidFill>
          <a:ln w="12700">
            <a:solidFill>
              <a:srgbClr val="2A3853"/>
            </a:solidFill>
            <a:prstDash val="solid"/>
          </a:ln>
        </p:spPr>
      </p:sp>
      <p:sp>
        <p:nvSpPr>
          <p:cNvPr id="32" name="Shape 30"/>
          <p:cNvSpPr/>
          <p:nvPr/>
        </p:nvSpPr>
        <p:spPr>
          <a:xfrm>
            <a:off x="8229600" y="3657600"/>
            <a:ext cx="54864" cy="1508760"/>
          </a:xfrm>
          <a:prstGeom prst="rect">
            <a:avLst/>
          </a:prstGeom>
          <a:solidFill>
            <a:srgbClr val="22C55E"/>
          </a:solidFill>
          <a:ln w="12700">
            <a:solidFill>
              <a:srgbClr val="22C55E"/>
            </a:solidFill>
            <a:prstDash val="solid"/>
          </a:ln>
        </p:spPr>
      </p:sp>
      <p:sp>
        <p:nvSpPr>
          <p:cNvPr id="33" name="Text 31"/>
          <p:cNvSpPr/>
          <p:nvPr/>
        </p:nvSpPr>
        <p:spPr>
          <a:xfrm>
            <a:off x="8430768" y="3813048"/>
            <a:ext cx="3017520" cy="292608"/>
          </a:xfrm>
          <a:prstGeom prst="rect">
            <a:avLst/>
          </a:prstGeom>
          <a:noFill/>
          <a:ln/>
        </p:spPr>
        <p:txBody>
          <a:bodyPr wrap="square" lIns="0" tIns="0" rIns="0" bIns="0" rtlCol="0" anchor="ctr"/>
          <a:lstStyle/>
          <a:p>
            <a:pPr indent="0" marL="0">
              <a:buNone/>
            </a:pPr>
            <a:r>
              <a:rPr lang="en-US" sz="1500" b="1" dirty="0">
                <a:solidFill>
                  <a:srgbClr val="F7FAFC"/>
                </a:solidFill>
              </a:rPr>
              <a:t>Runtime authority</a:t>
            </a:r>
            <a:endParaRPr lang="en-US" sz="1500" dirty="0"/>
          </a:p>
        </p:txBody>
      </p:sp>
      <p:sp>
        <p:nvSpPr>
          <p:cNvPr id="34" name="Text 32"/>
          <p:cNvSpPr/>
          <p:nvPr/>
        </p:nvSpPr>
        <p:spPr>
          <a:xfrm>
            <a:off x="8430768" y="4224528"/>
            <a:ext cx="2971800" cy="822960"/>
          </a:xfrm>
          <a:prstGeom prst="rect">
            <a:avLst/>
          </a:prstGeom>
          <a:noFill/>
          <a:ln/>
        </p:spPr>
        <p:txBody>
          <a:bodyPr wrap="square" lIns="254" tIns="254" rIns="254" bIns="254" rtlCol="0" anchor="t">
            <a:normAutofit/>
          </a:bodyPr>
          <a:lstStyle/>
          <a:p>
            <a:pPr indent="0" marL="0">
              <a:buNone/>
            </a:pPr>
            <a:r>
              <a:rPr lang="en-US" sz="1100" dirty="0">
                <a:solidFill>
                  <a:srgbClr val="A9B4C7"/>
                </a:solidFill>
              </a:rPr>
              <a:t>AWS ECS runs the image; load balancer and health checks determine when the application is usable.</a:t>
            </a:r>
            <a:endParaRPr lang="en-US" sz="1100" dirty="0"/>
          </a:p>
        </p:txBody>
      </p:sp>
      <p:sp>
        <p:nvSpPr>
          <p:cNvPr id="25" name="Slide Number Placeholder 0"/>
          <p:cNvSpPr>
            <a:spLocks noGrp="1"/>
          </p:cNvSpPr>
          <p:nvPr>
            <p:ph type="sldNum" sz="quarter" idx="4294967295"/>
          </p:nvPr>
        </p:nvSpPr>
        <p:spPr>
          <a:xfrm>
            <a:off x="1138428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7C8AA5"/>
                </a:solidFill>
                <a:latin typeface="Aptos"/>
                <a:ea typeface="Aptos"/>
                <a:cs typeface="Aptos"/>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320040"/>
            <a:ext cx="11064240" cy="502920"/>
          </a:xfrm>
          <a:prstGeom prst="rect">
            <a:avLst/>
          </a:prstGeom>
          <a:noFill/>
          <a:ln/>
        </p:spPr>
        <p:txBody>
          <a:bodyPr wrap="square" lIns="0" tIns="0" rIns="0" bIns="0" rtlCol="0" anchor="ctr"/>
          <a:lstStyle/>
          <a:p>
            <a:pPr indent="0" marL="0">
              <a:buNone/>
            </a:pPr>
            <a:r>
              <a:rPr lang="en-US" sz="2800" b="1" dirty="0">
                <a:solidFill>
                  <a:srgbClr val="F7FAFC"/>
                </a:solidFill>
                <a:latin typeface="Aptos Display" pitchFamily="34" charset="0"/>
                <a:ea typeface="Aptos Display" pitchFamily="34" charset="-122"/>
                <a:cs typeface="Aptos Display" pitchFamily="34" charset="-120"/>
              </a:rPr>
              <a:t>Application lifecycle</a:t>
            </a:r>
            <a:endParaRPr lang="en-US" sz="2800" dirty="0"/>
          </a:p>
        </p:txBody>
      </p:sp>
      <p:sp>
        <p:nvSpPr>
          <p:cNvPr id="3" name="Text 1"/>
          <p:cNvSpPr/>
          <p:nvPr/>
        </p:nvSpPr>
        <p:spPr>
          <a:xfrm>
            <a:off x="521208" y="868680"/>
            <a:ext cx="10972800" cy="310896"/>
          </a:xfrm>
          <a:prstGeom prst="rect">
            <a:avLst/>
          </a:prstGeom>
          <a:noFill/>
          <a:ln/>
        </p:spPr>
        <p:txBody>
          <a:bodyPr wrap="square" lIns="0" tIns="0" rIns="0" bIns="0" rtlCol="0" anchor="ctr"/>
          <a:lstStyle/>
          <a:p>
            <a:pPr indent="0" marL="0">
              <a:buNone/>
            </a:pPr>
            <a:r>
              <a:rPr lang="en-US" sz="1250" dirty="0">
                <a:solidFill>
                  <a:srgbClr val="A9B4C7"/>
                </a:solidFill>
              </a:rPr>
              <a:t>Deployment is the primary path; the other actions support the deployed application</a:t>
            </a:r>
            <a:endParaRPr lang="en-US" sz="1250" dirty="0"/>
          </a:p>
        </p:txBody>
      </p:sp>
      <p:sp>
        <p:nvSpPr>
          <p:cNvPr id="4" name="Shape 2"/>
          <p:cNvSpPr/>
          <p:nvPr/>
        </p:nvSpPr>
        <p:spPr>
          <a:xfrm>
            <a:off x="10469880" y="338328"/>
            <a:ext cx="1078992" cy="274320"/>
          </a:xfrm>
          <a:prstGeom prst="roundRect">
            <a:avLst>
              <a:gd name="adj" fmla="val 16667"/>
            </a:avLst>
          </a:prstGeom>
          <a:solidFill>
            <a:srgbClr val="F59E0B">
              <a:alpha val="20000"/>
            </a:srgbClr>
          </a:solidFill>
          <a:ln w="12700">
            <a:solidFill>
              <a:srgbClr val="F59E0B">
                <a:alpha val="70000"/>
              </a:srgbClr>
            </a:solidFill>
            <a:prstDash val="solid"/>
          </a:ln>
        </p:spPr>
      </p:sp>
      <p:sp>
        <p:nvSpPr>
          <p:cNvPr id="5" name="Text 3"/>
          <p:cNvSpPr/>
          <p:nvPr/>
        </p:nvSpPr>
        <p:spPr>
          <a:xfrm>
            <a:off x="10543032" y="388620"/>
            <a:ext cx="932688" cy="155448"/>
          </a:xfrm>
          <a:prstGeom prst="rect">
            <a:avLst/>
          </a:prstGeom>
          <a:noFill/>
          <a:ln/>
        </p:spPr>
        <p:txBody>
          <a:bodyPr wrap="square" lIns="0" tIns="0" rIns="0" bIns="0" rtlCol="0" anchor="ctr"/>
          <a:lstStyle/>
          <a:p>
            <a:pPr algn="ctr" indent="0" marL="0">
              <a:buNone/>
            </a:pPr>
            <a:r>
              <a:rPr lang="en-US" sz="900" b="1" dirty="0">
                <a:solidFill>
                  <a:srgbClr val="F59E0B"/>
                </a:solidFill>
              </a:rPr>
              <a:t>HASSAN</a:t>
            </a:r>
            <a:endParaRPr lang="en-US" sz="900" dirty="0"/>
          </a:p>
        </p:txBody>
      </p:sp>
      <p:sp>
        <p:nvSpPr>
          <p:cNvPr id="6" name="Shape 4"/>
          <p:cNvSpPr/>
          <p:nvPr/>
        </p:nvSpPr>
        <p:spPr>
          <a:xfrm>
            <a:off x="640080" y="1417320"/>
            <a:ext cx="5669280" cy="4206240"/>
          </a:xfrm>
          <a:prstGeom prst="roundRect">
            <a:avLst>
              <a:gd name="adj" fmla="val 1739"/>
            </a:avLst>
          </a:prstGeom>
          <a:solidFill>
            <a:srgbClr val="2B2110"/>
          </a:solidFill>
          <a:ln w="12700">
            <a:solidFill>
              <a:srgbClr val="F59E0B"/>
            </a:solidFill>
            <a:prstDash val="solid"/>
          </a:ln>
        </p:spPr>
      </p:sp>
      <p:sp>
        <p:nvSpPr>
          <p:cNvPr id="7" name="Shape 5"/>
          <p:cNvSpPr/>
          <p:nvPr/>
        </p:nvSpPr>
        <p:spPr>
          <a:xfrm>
            <a:off x="896112" y="1673352"/>
            <a:ext cx="1417320" cy="274320"/>
          </a:xfrm>
          <a:prstGeom prst="roundRect">
            <a:avLst>
              <a:gd name="adj" fmla="val 16667"/>
            </a:avLst>
          </a:prstGeom>
          <a:solidFill>
            <a:srgbClr val="F59E0B">
              <a:alpha val="20000"/>
            </a:srgbClr>
          </a:solidFill>
          <a:ln w="12700">
            <a:solidFill>
              <a:srgbClr val="F59E0B">
                <a:alpha val="70000"/>
              </a:srgbClr>
            </a:solidFill>
            <a:prstDash val="solid"/>
          </a:ln>
        </p:spPr>
      </p:sp>
      <p:sp>
        <p:nvSpPr>
          <p:cNvPr id="8" name="Text 6"/>
          <p:cNvSpPr/>
          <p:nvPr/>
        </p:nvSpPr>
        <p:spPr>
          <a:xfrm>
            <a:off x="969264" y="1723644"/>
            <a:ext cx="1271016" cy="155448"/>
          </a:xfrm>
          <a:prstGeom prst="rect">
            <a:avLst/>
          </a:prstGeom>
          <a:noFill/>
          <a:ln/>
        </p:spPr>
        <p:txBody>
          <a:bodyPr wrap="square" lIns="0" tIns="0" rIns="0" bIns="0" rtlCol="0" anchor="ctr"/>
          <a:lstStyle/>
          <a:p>
            <a:pPr algn="ctr" indent="0" marL="0">
              <a:buNone/>
            </a:pPr>
            <a:r>
              <a:rPr lang="en-US" sz="900" b="1" dirty="0">
                <a:solidFill>
                  <a:srgbClr val="F59E0B"/>
                </a:solidFill>
              </a:rPr>
              <a:t>PRIMARY FEATURE</a:t>
            </a:r>
            <a:endParaRPr lang="en-US" sz="900" dirty="0"/>
          </a:p>
        </p:txBody>
      </p:sp>
      <p:sp>
        <p:nvSpPr>
          <p:cNvPr id="9" name="Text 7"/>
          <p:cNvSpPr/>
          <p:nvPr/>
        </p:nvSpPr>
        <p:spPr>
          <a:xfrm>
            <a:off x="896112" y="2148840"/>
            <a:ext cx="5074920" cy="685800"/>
          </a:xfrm>
          <a:prstGeom prst="rect">
            <a:avLst/>
          </a:prstGeom>
          <a:noFill/>
          <a:ln/>
        </p:spPr>
        <p:txBody>
          <a:bodyPr wrap="square" lIns="0" tIns="0" rIns="0" bIns="0" rtlCol="0" anchor="ctr"/>
          <a:lstStyle/>
          <a:p>
            <a:pPr indent="0" marL="0">
              <a:buNone/>
            </a:pPr>
            <a:r>
              <a:rPr lang="en-US" sz="4000" b="1" dirty="0">
                <a:solidFill>
                  <a:srgbClr val="FBBF24"/>
                </a:solidFill>
                <a:latin typeface="Aptos Display" pitchFamily="34" charset="0"/>
                <a:ea typeface="Aptos Display" pitchFamily="34" charset="-122"/>
                <a:cs typeface="Aptos Display" pitchFamily="34" charset="-120"/>
              </a:rPr>
              <a:t>DEPLOY</a:t>
            </a:r>
            <a:endParaRPr lang="en-US" sz="4000" dirty="0"/>
          </a:p>
        </p:txBody>
      </p:sp>
      <p:sp>
        <p:nvSpPr>
          <p:cNvPr id="10" name="Text 8"/>
          <p:cNvSpPr/>
          <p:nvPr/>
        </p:nvSpPr>
        <p:spPr>
          <a:xfrm>
            <a:off x="914400" y="2999232"/>
            <a:ext cx="4937760" cy="1188720"/>
          </a:xfrm>
          <a:prstGeom prst="rect">
            <a:avLst/>
          </a:prstGeom>
          <a:noFill/>
          <a:ln/>
        </p:spPr>
        <p:txBody>
          <a:bodyPr wrap="square" lIns="0" tIns="0" rIns="0" bIns="0" rtlCol="0" anchor="ctr">
            <a:normAutofit/>
          </a:bodyPr>
          <a:lstStyle/>
          <a:p>
            <a:pPr indent="0" marL="0">
              <a:buNone/>
            </a:pPr>
            <a:r>
              <a:rPr lang="en-US" sz="1700" b="1" dirty="0">
                <a:solidFill>
                  <a:srgbClr val="F7FAFC"/>
                </a:solidFill>
              </a:rPr>
              <a:t>Repository → build specification → container image → security validation → ECR → Terraform → ECS → health verification → LIVE</a:t>
            </a:r>
            <a:endParaRPr lang="en-US" sz="1700" dirty="0"/>
          </a:p>
        </p:txBody>
      </p:sp>
      <p:sp>
        <p:nvSpPr>
          <p:cNvPr id="11" name="Text 9"/>
          <p:cNvSpPr/>
          <p:nvPr/>
        </p:nvSpPr>
        <p:spPr>
          <a:xfrm>
            <a:off x="914400" y="4663440"/>
            <a:ext cx="4846320" cy="502920"/>
          </a:xfrm>
          <a:prstGeom prst="rect">
            <a:avLst/>
          </a:prstGeom>
          <a:noFill/>
          <a:ln/>
        </p:spPr>
        <p:txBody>
          <a:bodyPr wrap="square" lIns="0" tIns="0" rIns="0" bIns="0" rtlCol="0" anchor="ctr"/>
          <a:lstStyle/>
          <a:p>
            <a:pPr indent="0" marL="0">
              <a:buNone/>
            </a:pPr>
            <a:r>
              <a:rPr lang="en-US" sz="1300" dirty="0">
                <a:solidFill>
                  <a:srgbClr val="A9B4C7"/>
                </a:solidFill>
              </a:rPr>
              <a:t>This is the main workflow we designed, implemented and certify end to end.</a:t>
            </a:r>
            <a:endParaRPr lang="en-US" sz="1300" dirty="0"/>
          </a:p>
        </p:txBody>
      </p:sp>
      <p:sp>
        <p:nvSpPr>
          <p:cNvPr id="12" name="Shape 10"/>
          <p:cNvSpPr/>
          <p:nvPr/>
        </p:nvSpPr>
        <p:spPr>
          <a:xfrm>
            <a:off x="6720840" y="1417320"/>
            <a:ext cx="4800600" cy="1143000"/>
          </a:xfrm>
          <a:prstGeom prst="roundRect">
            <a:avLst>
              <a:gd name="adj" fmla="val 4800"/>
            </a:avLst>
          </a:prstGeom>
          <a:solidFill>
            <a:srgbClr val="121A2D"/>
          </a:solidFill>
          <a:ln w="12700">
            <a:solidFill>
              <a:srgbClr val="2A3853"/>
            </a:solidFill>
            <a:prstDash val="solid"/>
          </a:ln>
        </p:spPr>
      </p:sp>
      <p:sp>
        <p:nvSpPr>
          <p:cNvPr id="13" name="Shape 11"/>
          <p:cNvSpPr/>
          <p:nvPr/>
        </p:nvSpPr>
        <p:spPr>
          <a:xfrm>
            <a:off x="6720840" y="1417320"/>
            <a:ext cx="54864" cy="1143000"/>
          </a:xfrm>
          <a:prstGeom prst="rect">
            <a:avLst/>
          </a:prstGeom>
          <a:solidFill>
            <a:srgbClr val="38BDF8"/>
          </a:solidFill>
          <a:ln w="12700">
            <a:solidFill>
              <a:srgbClr val="38BDF8"/>
            </a:solidFill>
            <a:prstDash val="solid"/>
          </a:ln>
        </p:spPr>
      </p:sp>
      <p:sp>
        <p:nvSpPr>
          <p:cNvPr id="14" name="Text 12"/>
          <p:cNvSpPr/>
          <p:nvPr/>
        </p:nvSpPr>
        <p:spPr>
          <a:xfrm>
            <a:off x="6922008" y="1572768"/>
            <a:ext cx="4480560" cy="292608"/>
          </a:xfrm>
          <a:prstGeom prst="rect">
            <a:avLst/>
          </a:prstGeom>
          <a:noFill/>
          <a:ln/>
        </p:spPr>
        <p:txBody>
          <a:bodyPr wrap="square" lIns="0" tIns="0" rIns="0" bIns="0" rtlCol="0" anchor="ctr"/>
          <a:lstStyle/>
          <a:p>
            <a:pPr indent="0" marL="0">
              <a:buNone/>
            </a:pPr>
            <a:r>
              <a:rPr lang="en-US" sz="1400" b="1" dirty="0">
                <a:solidFill>
                  <a:srgbClr val="F7FAFC"/>
                </a:solidFill>
              </a:rPr>
              <a:t>Redeploy</a:t>
            </a:r>
            <a:endParaRPr lang="en-US" sz="1400" dirty="0"/>
          </a:p>
        </p:txBody>
      </p:sp>
      <p:sp>
        <p:nvSpPr>
          <p:cNvPr id="15" name="Text 13"/>
          <p:cNvSpPr/>
          <p:nvPr/>
        </p:nvSpPr>
        <p:spPr>
          <a:xfrm>
            <a:off x="6922008" y="1984248"/>
            <a:ext cx="4434840" cy="457200"/>
          </a:xfrm>
          <a:prstGeom prst="rect">
            <a:avLst/>
          </a:prstGeom>
          <a:noFill/>
          <a:ln/>
        </p:spPr>
        <p:txBody>
          <a:bodyPr wrap="square" lIns="254" tIns="254" rIns="254" bIns="254" rtlCol="0" anchor="t">
            <a:normAutofit/>
          </a:bodyPr>
          <a:lstStyle/>
          <a:p>
            <a:pPr indent="0" marL="0">
              <a:buNone/>
            </a:pPr>
            <a:r>
              <a:rPr lang="en-US" sz="1050" dirty="0">
                <a:solidFill>
                  <a:srgbClr val="A9B4C7"/>
                </a:solidFill>
              </a:rPr>
              <a:t>Launch a newer application revision using the same controlled platform pipeline.</a:t>
            </a:r>
            <a:endParaRPr lang="en-US" sz="1050" dirty="0"/>
          </a:p>
        </p:txBody>
      </p:sp>
      <p:sp>
        <p:nvSpPr>
          <p:cNvPr id="16" name="Shape 14"/>
          <p:cNvSpPr/>
          <p:nvPr/>
        </p:nvSpPr>
        <p:spPr>
          <a:xfrm>
            <a:off x="6720840" y="2834640"/>
            <a:ext cx="4800600" cy="1143000"/>
          </a:xfrm>
          <a:prstGeom prst="roundRect">
            <a:avLst>
              <a:gd name="adj" fmla="val 4800"/>
            </a:avLst>
          </a:prstGeom>
          <a:solidFill>
            <a:srgbClr val="121A2D"/>
          </a:solidFill>
          <a:ln w="12700">
            <a:solidFill>
              <a:srgbClr val="2A3853"/>
            </a:solidFill>
            <a:prstDash val="solid"/>
          </a:ln>
        </p:spPr>
      </p:sp>
      <p:sp>
        <p:nvSpPr>
          <p:cNvPr id="17" name="Shape 15"/>
          <p:cNvSpPr/>
          <p:nvPr/>
        </p:nvSpPr>
        <p:spPr>
          <a:xfrm>
            <a:off x="6720840" y="2834640"/>
            <a:ext cx="54864" cy="1143000"/>
          </a:xfrm>
          <a:prstGeom prst="rect">
            <a:avLst/>
          </a:prstGeom>
          <a:solidFill>
            <a:srgbClr val="A78BFA"/>
          </a:solidFill>
          <a:ln w="12700">
            <a:solidFill>
              <a:srgbClr val="A78BFA"/>
            </a:solidFill>
            <a:prstDash val="solid"/>
          </a:ln>
        </p:spPr>
      </p:sp>
      <p:sp>
        <p:nvSpPr>
          <p:cNvPr id="18" name="Text 16"/>
          <p:cNvSpPr/>
          <p:nvPr/>
        </p:nvSpPr>
        <p:spPr>
          <a:xfrm>
            <a:off x="6922008" y="2990088"/>
            <a:ext cx="4480560" cy="292608"/>
          </a:xfrm>
          <a:prstGeom prst="rect">
            <a:avLst/>
          </a:prstGeom>
          <a:noFill/>
          <a:ln/>
        </p:spPr>
        <p:txBody>
          <a:bodyPr wrap="square" lIns="0" tIns="0" rIns="0" bIns="0" rtlCol="0" anchor="ctr"/>
          <a:lstStyle/>
          <a:p>
            <a:pPr indent="0" marL="0">
              <a:buNone/>
            </a:pPr>
            <a:r>
              <a:rPr lang="en-US" sz="1400" b="1" dirty="0">
                <a:solidFill>
                  <a:srgbClr val="F7FAFC"/>
                </a:solidFill>
              </a:rPr>
              <a:t>Rollback</a:t>
            </a:r>
            <a:endParaRPr lang="en-US" sz="1400" dirty="0"/>
          </a:p>
        </p:txBody>
      </p:sp>
      <p:sp>
        <p:nvSpPr>
          <p:cNvPr id="19" name="Text 17"/>
          <p:cNvSpPr/>
          <p:nvPr/>
        </p:nvSpPr>
        <p:spPr>
          <a:xfrm>
            <a:off x="6922008" y="3401568"/>
            <a:ext cx="4434840" cy="457200"/>
          </a:xfrm>
          <a:prstGeom prst="rect">
            <a:avLst/>
          </a:prstGeom>
          <a:noFill/>
          <a:ln/>
        </p:spPr>
        <p:txBody>
          <a:bodyPr wrap="square" lIns="254" tIns="254" rIns="254" bIns="254" rtlCol="0" anchor="t">
            <a:normAutofit/>
          </a:bodyPr>
          <a:lstStyle/>
          <a:p>
            <a:pPr indent="0" marL="0">
              <a:buNone/>
            </a:pPr>
            <a:r>
              <a:rPr lang="en-US" sz="1050" dirty="0">
                <a:solidFill>
                  <a:srgbClr val="A9B4C7"/>
                </a:solidFill>
              </a:rPr>
              <a:t>Restore a previously known deployment state without treating it as a new build.</a:t>
            </a:r>
            <a:endParaRPr lang="en-US" sz="1050" dirty="0"/>
          </a:p>
        </p:txBody>
      </p:sp>
      <p:sp>
        <p:nvSpPr>
          <p:cNvPr id="20" name="Shape 18"/>
          <p:cNvSpPr/>
          <p:nvPr/>
        </p:nvSpPr>
        <p:spPr>
          <a:xfrm>
            <a:off x="6720840" y="4251960"/>
            <a:ext cx="4800600" cy="1371600"/>
          </a:xfrm>
          <a:prstGeom prst="roundRect">
            <a:avLst>
              <a:gd name="adj" fmla="val 4000"/>
            </a:avLst>
          </a:prstGeom>
          <a:solidFill>
            <a:srgbClr val="121A2D"/>
          </a:solidFill>
          <a:ln w="12700">
            <a:solidFill>
              <a:srgbClr val="2A3853"/>
            </a:solidFill>
            <a:prstDash val="solid"/>
          </a:ln>
        </p:spPr>
      </p:sp>
      <p:sp>
        <p:nvSpPr>
          <p:cNvPr id="21" name="Shape 19"/>
          <p:cNvSpPr/>
          <p:nvPr/>
        </p:nvSpPr>
        <p:spPr>
          <a:xfrm>
            <a:off x="6720840" y="4251960"/>
            <a:ext cx="54864" cy="1371600"/>
          </a:xfrm>
          <a:prstGeom prst="rect">
            <a:avLst/>
          </a:prstGeom>
          <a:solidFill>
            <a:srgbClr val="EF4444"/>
          </a:solidFill>
          <a:ln w="12700">
            <a:solidFill>
              <a:srgbClr val="EF4444"/>
            </a:solidFill>
            <a:prstDash val="solid"/>
          </a:ln>
        </p:spPr>
      </p:sp>
      <p:sp>
        <p:nvSpPr>
          <p:cNvPr id="22" name="Text 20"/>
          <p:cNvSpPr/>
          <p:nvPr/>
        </p:nvSpPr>
        <p:spPr>
          <a:xfrm>
            <a:off x="6922008" y="4407408"/>
            <a:ext cx="4480560" cy="292608"/>
          </a:xfrm>
          <a:prstGeom prst="rect">
            <a:avLst/>
          </a:prstGeom>
          <a:noFill/>
          <a:ln/>
        </p:spPr>
        <p:txBody>
          <a:bodyPr wrap="square" lIns="0" tIns="0" rIns="0" bIns="0" rtlCol="0" anchor="ctr"/>
          <a:lstStyle/>
          <a:p>
            <a:pPr indent="0" marL="0">
              <a:buNone/>
            </a:pPr>
            <a:r>
              <a:rPr lang="en-US" sz="1400" b="1" dirty="0">
                <a:solidFill>
                  <a:srgbClr val="F7FAFC"/>
                </a:solidFill>
              </a:rPr>
              <a:t>Destroy</a:t>
            </a:r>
            <a:endParaRPr lang="en-US" sz="1400" dirty="0"/>
          </a:p>
        </p:txBody>
      </p:sp>
      <p:sp>
        <p:nvSpPr>
          <p:cNvPr id="23" name="Text 21"/>
          <p:cNvSpPr/>
          <p:nvPr/>
        </p:nvSpPr>
        <p:spPr>
          <a:xfrm>
            <a:off x="6922008" y="4818888"/>
            <a:ext cx="4434840" cy="685800"/>
          </a:xfrm>
          <a:prstGeom prst="rect">
            <a:avLst/>
          </a:prstGeom>
          <a:noFill/>
          <a:ln/>
        </p:spPr>
        <p:txBody>
          <a:bodyPr wrap="square" lIns="254" tIns="254" rIns="254" bIns="254" rtlCol="0" anchor="t">
            <a:normAutofit/>
          </a:bodyPr>
          <a:lstStyle/>
          <a:p>
            <a:pPr indent="0" marL="0">
              <a:buNone/>
            </a:pPr>
            <a:r>
              <a:rPr lang="en-US" sz="1050" dirty="0">
                <a:solidFill>
                  <a:srgbClr val="A9B4C7"/>
                </a:solidFill>
              </a:rPr>
              <a:t>Remove project-scoped deployed resources cleanly while preserving shared platform infrastructure.</a:t>
            </a:r>
            <a:endParaRPr lang="en-US" sz="1050" dirty="0"/>
          </a:p>
        </p:txBody>
      </p:sp>
      <p:sp>
        <p:nvSpPr>
          <p:cNvPr id="25" name="Slide Number Placeholder 0"/>
          <p:cNvSpPr>
            <a:spLocks noGrp="1"/>
          </p:cNvSpPr>
          <p:nvPr>
            <p:ph type="sldNum" sz="quarter" idx="4294967295"/>
          </p:nvPr>
        </p:nvSpPr>
        <p:spPr>
          <a:xfrm>
            <a:off x="1138428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7C8AA5"/>
                </a:solidFill>
                <a:latin typeface="Aptos"/>
                <a:ea typeface="Aptos"/>
                <a:cs typeface="Aptos"/>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320040"/>
            <a:ext cx="11064240" cy="502920"/>
          </a:xfrm>
          <a:prstGeom prst="rect">
            <a:avLst/>
          </a:prstGeom>
          <a:noFill/>
          <a:ln/>
        </p:spPr>
        <p:txBody>
          <a:bodyPr wrap="square" lIns="0" tIns="0" rIns="0" bIns="0" rtlCol="0" anchor="ctr"/>
          <a:lstStyle/>
          <a:p>
            <a:pPr indent="0" marL="0">
              <a:buNone/>
            </a:pPr>
            <a:r>
              <a:rPr lang="en-US" sz="2800" b="1" dirty="0">
                <a:solidFill>
                  <a:srgbClr val="F7FAFC"/>
                </a:solidFill>
                <a:latin typeface="Aptos Display" pitchFamily="34" charset="0"/>
                <a:ea typeface="Aptos Display" pitchFamily="34" charset="-122"/>
                <a:cs typeface="Aptos Display" pitchFamily="34" charset="-120"/>
              </a:rPr>
              <a:t>1. Source analysis and canonical build target</a:t>
            </a:r>
            <a:endParaRPr lang="en-US" sz="2800" dirty="0"/>
          </a:p>
        </p:txBody>
      </p:sp>
      <p:sp>
        <p:nvSpPr>
          <p:cNvPr id="3" name="Text 1"/>
          <p:cNvSpPr/>
          <p:nvPr/>
        </p:nvSpPr>
        <p:spPr>
          <a:xfrm>
            <a:off x="521208" y="868680"/>
            <a:ext cx="10972800" cy="310896"/>
          </a:xfrm>
          <a:prstGeom prst="rect">
            <a:avLst/>
          </a:prstGeom>
          <a:noFill/>
          <a:ln/>
        </p:spPr>
        <p:txBody>
          <a:bodyPr wrap="square" lIns="0" tIns="0" rIns="0" bIns="0" rtlCol="0" anchor="ctr"/>
          <a:lstStyle/>
          <a:p>
            <a:pPr indent="0" marL="0">
              <a:buNone/>
            </a:pPr>
            <a:r>
              <a:rPr lang="en-US" sz="1250" dirty="0">
                <a:solidFill>
                  <a:srgbClr val="A9B4C7"/>
                </a:solidFill>
              </a:rPr>
              <a:t>DeployGuard first determines exactly what should be built</a:t>
            </a:r>
            <a:endParaRPr lang="en-US" sz="1250" dirty="0"/>
          </a:p>
        </p:txBody>
      </p:sp>
      <p:sp>
        <p:nvSpPr>
          <p:cNvPr id="4" name="Shape 2"/>
          <p:cNvSpPr/>
          <p:nvPr/>
        </p:nvSpPr>
        <p:spPr>
          <a:xfrm>
            <a:off x="10469880" y="338328"/>
            <a:ext cx="1078992" cy="274320"/>
          </a:xfrm>
          <a:prstGeom prst="roundRect">
            <a:avLst>
              <a:gd name="adj" fmla="val 16667"/>
            </a:avLst>
          </a:prstGeom>
          <a:solidFill>
            <a:srgbClr val="F59E0B">
              <a:alpha val="20000"/>
            </a:srgbClr>
          </a:solidFill>
          <a:ln w="12700">
            <a:solidFill>
              <a:srgbClr val="F59E0B">
                <a:alpha val="70000"/>
              </a:srgbClr>
            </a:solidFill>
            <a:prstDash val="solid"/>
          </a:ln>
        </p:spPr>
      </p:sp>
      <p:sp>
        <p:nvSpPr>
          <p:cNvPr id="5" name="Text 3"/>
          <p:cNvSpPr/>
          <p:nvPr/>
        </p:nvSpPr>
        <p:spPr>
          <a:xfrm>
            <a:off x="10543032" y="388620"/>
            <a:ext cx="932688" cy="155448"/>
          </a:xfrm>
          <a:prstGeom prst="rect">
            <a:avLst/>
          </a:prstGeom>
          <a:noFill/>
          <a:ln/>
        </p:spPr>
        <p:txBody>
          <a:bodyPr wrap="square" lIns="0" tIns="0" rIns="0" bIns="0" rtlCol="0" anchor="ctr"/>
          <a:lstStyle/>
          <a:p>
            <a:pPr algn="ctr" indent="0" marL="0">
              <a:buNone/>
            </a:pPr>
            <a:r>
              <a:rPr lang="en-US" sz="900" b="1" dirty="0">
                <a:solidFill>
                  <a:srgbClr val="F59E0B"/>
                </a:solidFill>
              </a:rPr>
              <a:t>HASSAN</a:t>
            </a:r>
            <a:endParaRPr lang="en-US" sz="900" dirty="0"/>
          </a:p>
        </p:txBody>
      </p:sp>
      <p:sp>
        <p:nvSpPr>
          <p:cNvPr id="6" name="Shape 4"/>
          <p:cNvSpPr/>
          <p:nvPr/>
        </p:nvSpPr>
        <p:spPr>
          <a:xfrm>
            <a:off x="594360" y="1874520"/>
            <a:ext cx="1965960" cy="914400"/>
          </a:xfrm>
          <a:prstGeom prst="roundRect">
            <a:avLst>
              <a:gd name="adj" fmla="val 5000"/>
            </a:avLst>
          </a:prstGeom>
          <a:solidFill>
            <a:srgbClr val="172238"/>
          </a:solidFill>
          <a:ln w="12700">
            <a:solidFill>
              <a:srgbClr val="A78BFA"/>
            </a:solidFill>
            <a:prstDash val="solid"/>
          </a:ln>
        </p:spPr>
      </p:sp>
      <p:sp>
        <p:nvSpPr>
          <p:cNvPr id="7" name="Text 5"/>
          <p:cNvSpPr/>
          <p:nvPr/>
        </p:nvSpPr>
        <p:spPr>
          <a:xfrm>
            <a:off x="667512" y="1947672"/>
            <a:ext cx="1819656" cy="76809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Exact source</a:t>
            </a:r>
            <a:endParaRPr lang="en-US" sz="1200" dirty="0"/>
          </a:p>
          <a:p>
            <a:pPr algn="ctr" indent="0" marL="0">
              <a:buNone/>
            </a:pPr>
            <a:r>
              <a:rPr lang="en-US" sz="1200" b="1" dirty="0">
                <a:solidFill>
                  <a:srgbClr val="F7FAFC"/>
                </a:solidFill>
              </a:rPr>
              <a:t>commit</a:t>
            </a:r>
            <a:endParaRPr lang="en-US" sz="1200" dirty="0"/>
          </a:p>
        </p:txBody>
      </p:sp>
      <p:sp>
        <p:nvSpPr>
          <p:cNvPr id="8" name="Shape 6"/>
          <p:cNvSpPr/>
          <p:nvPr/>
        </p:nvSpPr>
        <p:spPr>
          <a:xfrm>
            <a:off x="2606040" y="2331720"/>
            <a:ext cx="457200" cy="0"/>
          </a:xfrm>
          <a:prstGeom prst="line">
            <a:avLst/>
          </a:prstGeom>
          <a:noFill/>
          <a:ln w="12700">
            <a:solidFill>
              <a:srgbClr val="A9B4C7"/>
            </a:solidFill>
            <a:prstDash val="solid"/>
            <a:headEnd type="none"/>
            <a:tailEnd type="triangle"/>
          </a:ln>
        </p:spPr>
      </p:sp>
      <p:sp>
        <p:nvSpPr>
          <p:cNvPr id="9" name="Shape 7"/>
          <p:cNvSpPr/>
          <p:nvPr/>
        </p:nvSpPr>
        <p:spPr>
          <a:xfrm>
            <a:off x="3108960" y="1874520"/>
            <a:ext cx="2057400" cy="914400"/>
          </a:xfrm>
          <a:prstGeom prst="roundRect">
            <a:avLst>
              <a:gd name="adj" fmla="val 5000"/>
            </a:avLst>
          </a:prstGeom>
          <a:solidFill>
            <a:srgbClr val="172238"/>
          </a:solidFill>
          <a:ln w="12700">
            <a:solidFill>
              <a:srgbClr val="38BDF8"/>
            </a:solidFill>
            <a:prstDash val="solid"/>
          </a:ln>
        </p:spPr>
      </p:sp>
      <p:sp>
        <p:nvSpPr>
          <p:cNvPr id="10" name="Text 8"/>
          <p:cNvSpPr/>
          <p:nvPr/>
        </p:nvSpPr>
        <p:spPr>
          <a:xfrm>
            <a:off x="3182112" y="1947672"/>
            <a:ext cx="1911096" cy="76809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Repository</a:t>
            </a:r>
            <a:endParaRPr lang="en-US" sz="1200" dirty="0"/>
          </a:p>
          <a:p>
            <a:pPr algn="ctr" indent="0" marL="0">
              <a:buNone/>
            </a:pPr>
            <a:r>
              <a:rPr lang="en-US" sz="1200" b="1" dirty="0">
                <a:solidFill>
                  <a:srgbClr val="F7FAFC"/>
                </a:solidFill>
              </a:rPr>
              <a:t>inspection</a:t>
            </a:r>
            <a:endParaRPr lang="en-US" sz="1200" dirty="0"/>
          </a:p>
        </p:txBody>
      </p:sp>
      <p:sp>
        <p:nvSpPr>
          <p:cNvPr id="11" name="Shape 9"/>
          <p:cNvSpPr/>
          <p:nvPr/>
        </p:nvSpPr>
        <p:spPr>
          <a:xfrm>
            <a:off x="5212080" y="2331720"/>
            <a:ext cx="457200" cy="0"/>
          </a:xfrm>
          <a:prstGeom prst="line">
            <a:avLst/>
          </a:prstGeom>
          <a:noFill/>
          <a:ln w="12700">
            <a:solidFill>
              <a:srgbClr val="A9B4C7"/>
            </a:solidFill>
            <a:prstDash val="solid"/>
            <a:headEnd type="none"/>
            <a:tailEnd type="triangle"/>
          </a:ln>
        </p:spPr>
      </p:sp>
      <p:sp>
        <p:nvSpPr>
          <p:cNvPr id="12" name="Shape 10"/>
          <p:cNvSpPr/>
          <p:nvPr/>
        </p:nvSpPr>
        <p:spPr>
          <a:xfrm>
            <a:off x="5715000" y="1508760"/>
            <a:ext cx="2514600" cy="1645920"/>
          </a:xfrm>
          <a:prstGeom prst="roundRect">
            <a:avLst>
              <a:gd name="adj" fmla="val 2778"/>
            </a:avLst>
          </a:prstGeom>
          <a:solidFill>
            <a:srgbClr val="172238"/>
          </a:solidFill>
          <a:ln w="12700">
            <a:solidFill>
              <a:srgbClr val="F59E0B"/>
            </a:solidFill>
            <a:prstDash val="solid"/>
          </a:ln>
        </p:spPr>
      </p:sp>
      <p:sp>
        <p:nvSpPr>
          <p:cNvPr id="13" name="Text 11"/>
          <p:cNvSpPr/>
          <p:nvPr/>
        </p:nvSpPr>
        <p:spPr>
          <a:xfrm>
            <a:off x="5788152" y="1581912"/>
            <a:ext cx="2368296" cy="149961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Canonical</a:t>
            </a:r>
            <a:endParaRPr lang="en-US" sz="1200" dirty="0"/>
          </a:p>
          <a:p>
            <a:pPr algn="ctr" indent="0" marL="0">
              <a:buNone/>
            </a:pPr>
            <a:r>
              <a:rPr lang="en-US" sz="1200" b="1" dirty="0">
                <a:solidFill>
                  <a:srgbClr val="F7FAFC"/>
                </a:solidFill>
              </a:rPr>
              <a:t>Build Target</a:t>
            </a:r>
            <a:endParaRPr lang="en-US" sz="1200" dirty="0"/>
          </a:p>
        </p:txBody>
      </p:sp>
      <p:sp>
        <p:nvSpPr>
          <p:cNvPr id="14" name="Shape 12"/>
          <p:cNvSpPr/>
          <p:nvPr/>
        </p:nvSpPr>
        <p:spPr>
          <a:xfrm>
            <a:off x="8275320" y="2331720"/>
            <a:ext cx="457200" cy="0"/>
          </a:xfrm>
          <a:prstGeom prst="line">
            <a:avLst/>
          </a:prstGeom>
          <a:noFill/>
          <a:ln w="12700">
            <a:solidFill>
              <a:srgbClr val="A9B4C7"/>
            </a:solidFill>
            <a:prstDash val="solid"/>
            <a:headEnd type="none"/>
            <a:tailEnd type="triangle"/>
          </a:ln>
        </p:spPr>
      </p:sp>
      <p:sp>
        <p:nvSpPr>
          <p:cNvPr id="15" name="Shape 13"/>
          <p:cNvSpPr/>
          <p:nvPr/>
        </p:nvSpPr>
        <p:spPr>
          <a:xfrm>
            <a:off x="8778240" y="1874520"/>
            <a:ext cx="2697480" cy="914400"/>
          </a:xfrm>
          <a:prstGeom prst="roundRect">
            <a:avLst>
              <a:gd name="adj" fmla="val 5000"/>
            </a:avLst>
          </a:prstGeom>
          <a:solidFill>
            <a:srgbClr val="172238"/>
          </a:solidFill>
          <a:ln w="12700">
            <a:solidFill>
              <a:srgbClr val="22C55E"/>
            </a:solidFill>
            <a:prstDash val="solid"/>
          </a:ln>
        </p:spPr>
      </p:sp>
      <p:sp>
        <p:nvSpPr>
          <p:cNvPr id="16" name="Text 14"/>
          <p:cNvSpPr/>
          <p:nvPr/>
        </p:nvSpPr>
        <p:spPr>
          <a:xfrm>
            <a:off x="8851392" y="1947672"/>
            <a:ext cx="2551176" cy="76809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Sealed deployment</a:t>
            </a:r>
            <a:endParaRPr lang="en-US" sz="1200" dirty="0"/>
          </a:p>
          <a:p>
            <a:pPr algn="ctr" indent="0" marL="0">
              <a:buNone/>
            </a:pPr>
            <a:r>
              <a:rPr lang="en-US" sz="1200" b="1" dirty="0">
                <a:solidFill>
                  <a:srgbClr val="F7FAFC"/>
                </a:solidFill>
              </a:rPr>
              <a:t>input</a:t>
            </a:r>
            <a:endParaRPr lang="en-US" sz="1200" dirty="0"/>
          </a:p>
        </p:txBody>
      </p:sp>
      <p:sp>
        <p:nvSpPr>
          <p:cNvPr id="17" name="Shape 15"/>
          <p:cNvSpPr/>
          <p:nvPr/>
        </p:nvSpPr>
        <p:spPr>
          <a:xfrm>
            <a:off x="731520" y="3931920"/>
            <a:ext cx="1417320" cy="310896"/>
          </a:xfrm>
          <a:prstGeom prst="roundRect">
            <a:avLst/>
          </a:prstGeom>
          <a:solidFill>
            <a:srgbClr val="F59E0B">
              <a:alpha val="18000"/>
            </a:srgbClr>
          </a:solidFill>
          <a:ln w="12700">
            <a:solidFill>
              <a:srgbClr val="F59E0B">
                <a:alpha val="70000"/>
              </a:srgbClr>
            </a:solidFill>
            <a:prstDash val="solid"/>
          </a:ln>
        </p:spPr>
      </p:sp>
      <p:sp>
        <p:nvSpPr>
          <p:cNvPr id="18" name="Text 16"/>
          <p:cNvSpPr/>
          <p:nvPr/>
        </p:nvSpPr>
        <p:spPr>
          <a:xfrm>
            <a:off x="786384" y="3995928"/>
            <a:ext cx="1307592" cy="155448"/>
          </a:xfrm>
          <a:prstGeom prst="rect">
            <a:avLst/>
          </a:prstGeom>
          <a:noFill/>
          <a:ln/>
        </p:spPr>
        <p:txBody>
          <a:bodyPr wrap="square" lIns="0" tIns="0" rIns="0" bIns="0" rtlCol="0" anchor="ctr"/>
          <a:lstStyle/>
          <a:p>
            <a:pPr algn="ctr" indent="0" marL="0">
              <a:buNone/>
            </a:pPr>
            <a:r>
              <a:rPr lang="en-US" sz="950" b="1" dirty="0">
                <a:solidFill>
                  <a:srgbClr val="F59E0B"/>
                </a:solidFill>
              </a:rPr>
              <a:t>serviceDirectory</a:t>
            </a:r>
            <a:endParaRPr lang="en-US" sz="950" dirty="0"/>
          </a:p>
        </p:txBody>
      </p:sp>
      <p:sp>
        <p:nvSpPr>
          <p:cNvPr id="19" name="Text 17"/>
          <p:cNvSpPr/>
          <p:nvPr/>
        </p:nvSpPr>
        <p:spPr>
          <a:xfrm>
            <a:off x="2304288" y="3986784"/>
            <a:ext cx="1920240" cy="201168"/>
          </a:xfrm>
          <a:prstGeom prst="rect">
            <a:avLst/>
          </a:prstGeom>
          <a:noFill/>
          <a:ln/>
        </p:spPr>
        <p:txBody>
          <a:bodyPr wrap="square" lIns="0" tIns="0" rIns="0" bIns="0" rtlCol="0" anchor="ctr"/>
          <a:lstStyle/>
          <a:p>
            <a:pPr indent="0" marL="0">
              <a:buNone/>
            </a:pPr>
            <a:r>
              <a:rPr lang="en-US" sz="1050" dirty="0">
                <a:solidFill>
                  <a:srgbClr val="A9B4C7"/>
                </a:solidFill>
              </a:rPr>
              <a:t>selected service location</a:t>
            </a:r>
            <a:endParaRPr lang="en-US" sz="1050" dirty="0"/>
          </a:p>
        </p:txBody>
      </p:sp>
      <p:sp>
        <p:nvSpPr>
          <p:cNvPr id="20" name="Shape 18"/>
          <p:cNvSpPr/>
          <p:nvPr/>
        </p:nvSpPr>
        <p:spPr>
          <a:xfrm>
            <a:off x="4389120" y="3931920"/>
            <a:ext cx="1417320" cy="310896"/>
          </a:xfrm>
          <a:prstGeom prst="roundRect">
            <a:avLst/>
          </a:prstGeom>
          <a:solidFill>
            <a:srgbClr val="F59E0B">
              <a:alpha val="18000"/>
            </a:srgbClr>
          </a:solidFill>
          <a:ln w="12700">
            <a:solidFill>
              <a:srgbClr val="F59E0B">
                <a:alpha val="70000"/>
              </a:srgbClr>
            </a:solidFill>
            <a:prstDash val="solid"/>
          </a:ln>
        </p:spPr>
      </p:sp>
      <p:sp>
        <p:nvSpPr>
          <p:cNvPr id="21" name="Text 19"/>
          <p:cNvSpPr/>
          <p:nvPr/>
        </p:nvSpPr>
        <p:spPr>
          <a:xfrm>
            <a:off x="4443984" y="3995928"/>
            <a:ext cx="1307592" cy="155448"/>
          </a:xfrm>
          <a:prstGeom prst="rect">
            <a:avLst/>
          </a:prstGeom>
          <a:noFill/>
          <a:ln/>
        </p:spPr>
        <p:txBody>
          <a:bodyPr wrap="square" lIns="0" tIns="0" rIns="0" bIns="0" rtlCol="0" anchor="ctr"/>
          <a:lstStyle/>
          <a:p>
            <a:pPr algn="ctr" indent="0" marL="0">
              <a:buNone/>
            </a:pPr>
            <a:r>
              <a:rPr lang="en-US" sz="950" b="1" dirty="0">
                <a:solidFill>
                  <a:srgbClr val="F59E0B"/>
                </a:solidFill>
              </a:rPr>
              <a:t>workspaceRoot</a:t>
            </a:r>
            <a:endParaRPr lang="en-US" sz="950" dirty="0"/>
          </a:p>
        </p:txBody>
      </p:sp>
      <p:sp>
        <p:nvSpPr>
          <p:cNvPr id="22" name="Text 20"/>
          <p:cNvSpPr/>
          <p:nvPr/>
        </p:nvSpPr>
        <p:spPr>
          <a:xfrm>
            <a:off x="5961888" y="3986784"/>
            <a:ext cx="1920240" cy="201168"/>
          </a:xfrm>
          <a:prstGeom prst="rect">
            <a:avLst/>
          </a:prstGeom>
          <a:noFill/>
          <a:ln/>
        </p:spPr>
        <p:txBody>
          <a:bodyPr wrap="square" lIns="0" tIns="0" rIns="0" bIns="0" rtlCol="0" anchor="ctr"/>
          <a:lstStyle/>
          <a:p>
            <a:pPr indent="0" marL="0">
              <a:buNone/>
            </a:pPr>
            <a:r>
              <a:rPr lang="en-US" sz="1050" dirty="0">
                <a:solidFill>
                  <a:srgbClr val="A9B4C7"/>
                </a:solidFill>
              </a:rPr>
              <a:t>repository/workspace boundary</a:t>
            </a:r>
            <a:endParaRPr lang="en-US" sz="1050" dirty="0"/>
          </a:p>
        </p:txBody>
      </p:sp>
      <p:sp>
        <p:nvSpPr>
          <p:cNvPr id="23" name="Shape 21"/>
          <p:cNvSpPr/>
          <p:nvPr/>
        </p:nvSpPr>
        <p:spPr>
          <a:xfrm>
            <a:off x="8046720" y="3931920"/>
            <a:ext cx="1417320" cy="310896"/>
          </a:xfrm>
          <a:prstGeom prst="roundRect">
            <a:avLst/>
          </a:prstGeom>
          <a:solidFill>
            <a:srgbClr val="F59E0B">
              <a:alpha val="18000"/>
            </a:srgbClr>
          </a:solidFill>
          <a:ln w="12700">
            <a:solidFill>
              <a:srgbClr val="F59E0B">
                <a:alpha val="70000"/>
              </a:srgbClr>
            </a:solidFill>
            <a:prstDash val="solid"/>
          </a:ln>
        </p:spPr>
      </p:sp>
      <p:sp>
        <p:nvSpPr>
          <p:cNvPr id="24" name="Text 22"/>
          <p:cNvSpPr/>
          <p:nvPr/>
        </p:nvSpPr>
        <p:spPr>
          <a:xfrm>
            <a:off x="8101584" y="3995928"/>
            <a:ext cx="1307592" cy="155448"/>
          </a:xfrm>
          <a:prstGeom prst="rect">
            <a:avLst/>
          </a:prstGeom>
          <a:noFill/>
          <a:ln/>
        </p:spPr>
        <p:txBody>
          <a:bodyPr wrap="square" lIns="0" tIns="0" rIns="0" bIns="0" rtlCol="0" anchor="ctr"/>
          <a:lstStyle/>
          <a:p>
            <a:pPr algn="ctr" indent="0" marL="0">
              <a:buNone/>
            </a:pPr>
            <a:r>
              <a:rPr lang="en-US" sz="950" b="1" dirty="0">
                <a:solidFill>
                  <a:srgbClr val="F59E0B"/>
                </a:solidFill>
              </a:rPr>
              <a:t>package manager</a:t>
            </a:r>
            <a:endParaRPr lang="en-US" sz="950" dirty="0"/>
          </a:p>
        </p:txBody>
      </p:sp>
      <p:sp>
        <p:nvSpPr>
          <p:cNvPr id="25" name="Text 23"/>
          <p:cNvSpPr/>
          <p:nvPr/>
        </p:nvSpPr>
        <p:spPr>
          <a:xfrm>
            <a:off x="9619488" y="3986784"/>
            <a:ext cx="1920240" cy="201168"/>
          </a:xfrm>
          <a:prstGeom prst="rect">
            <a:avLst/>
          </a:prstGeom>
          <a:noFill/>
          <a:ln/>
        </p:spPr>
        <p:txBody>
          <a:bodyPr wrap="square" lIns="0" tIns="0" rIns="0" bIns="0" rtlCol="0" anchor="ctr"/>
          <a:lstStyle/>
          <a:p>
            <a:pPr indent="0" marL="0">
              <a:buNone/>
            </a:pPr>
            <a:r>
              <a:rPr lang="en-US" sz="1050" dirty="0">
                <a:solidFill>
                  <a:srgbClr val="A9B4C7"/>
                </a:solidFill>
              </a:rPr>
              <a:t>deterministic dependency path</a:t>
            </a:r>
            <a:endParaRPr lang="en-US" sz="1050" dirty="0"/>
          </a:p>
        </p:txBody>
      </p:sp>
      <p:sp>
        <p:nvSpPr>
          <p:cNvPr id="26" name="Shape 24"/>
          <p:cNvSpPr/>
          <p:nvPr/>
        </p:nvSpPr>
        <p:spPr>
          <a:xfrm>
            <a:off x="731520" y="4846320"/>
            <a:ext cx="1417320" cy="310896"/>
          </a:xfrm>
          <a:prstGeom prst="roundRect">
            <a:avLst/>
          </a:prstGeom>
          <a:solidFill>
            <a:srgbClr val="F59E0B">
              <a:alpha val="18000"/>
            </a:srgbClr>
          </a:solidFill>
          <a:ln w="12700">
            <a:solidFill>
              <a:srgbClr val="F59E0B">
                <a:alpha val="70000"/>
              </a:srgbClr>
            </a:solidFill>
            <a:prstDash val="solid"/>
          </a:ln>
        </p:spPr>
      </p:sp>
      <p:sp>
        <p:nvSpPr>
          <p:cNvPr id="27" name="Text 25"/>
          <p:cNvSpPr/>
          <p:nvPr/>
        </p:nvSpPr>
        <p:spPr>
          <a:xfrm>
            <a:off x="786384" y="4910328"/>
            <a:ext cx="1307592" cy="155448"/>
          </a:xfrm>
          <a:prstGeom prst="rect">
            <a:avLst/>
          </a:prstGeom>
          <a:noFill/>
          <a:ln/>
        </p:spPr>
        <p:txBody>
          <a:bodyPr wrap="square" lIns="0" tIns="0" rIns="0" bIns="0" rtlCol="0" anchor="ctr"/>
          <a:lstStyle/>
          <a:p>
            <a:pPr algn="ctr" indent="0" marL="0">
              <a:buNone/>
            </a:pPr>
            <a:r>
              <a:rPr lang="en-US" sz="950" b="1" dirty="0">
                <a:solidFill>
                  <a:srgbClr val="F59E0B"/>
                </a:solidFill>
              </a:rPr>
              <a:t>build/start intent</a:t>
            </a:r>
            <a:endParaRPr lang="en-US" sz="950" dirty="0"/>
          </a:p>
        </p:txBody>
      </p:sp>
      <p:sp>
        <p:nvSpPr>
          <p:cNvPr id="28" name="Text 26"/>
          <p:cNvSpPr/>
          <p:nvPr/>
        </p:nvSpPr>
        <p:spPr>
          <a:xfrm>
            <a:off x="2304288" y="4901184"/>
            <a:ext cx="1920240" cy="201168"/>
          </a:xfrm>
          <a:prstGeom prst="rect">
            <a:avLst/>
          </a:prstGeom>
          <a:noFill/>
          <a:ln/>
        </p:spPr>
        <p:txBody>
          <a:bodyPr wrap="square" lIns="0" tIns="0" rIns="0" bIns="0" rtlCol="0" anchor="ctr"/>
          <a:lstStyle/>
          <a:p>
            <a:pPr indent="0" marL="0">
              <a:buNone/>
            </a:pPr>
            <a:r>
              <a:rPr lang="en-US" sz="1050" dirty="0">
                <a:solidFill>
                  <a:srgbClr val="A9B4C7"/>
                </a:solidFill>
              </a:rPr>
              <a:t>execution metadata where required</a:t>
            </a:r>
            <a:endParaRPr lang="en-US" sz="1050" dirty="0"/>
          </a:p>
        </p:txBody>
      </p:sp>
      <p:sp>
        <p:nvSpPr>
          <p:cNvPr id="29" name="Shape 27"/>
          <p:cNvSpPr/>
          <p:nvPr/>
        </p:nvSpPr>
        <p:spPr>
          <a:xfrm>
            <a:off x="4389120" y="4846320"/>
            <a:ext cx="1417320" cy="310896"/>
          </a:xfrm>
          <a:prstGeom prst="roundRect">
            <a:avLst/>
          </a:prstGeom>
          <a:solidFill>
            <a:srgbClr val="F59E0B">
              <a:alpha val="18000"/>
            </a:srgbClr>
          </a:solidFill>
          <a:ln w="12700">
            <a:solidFill>
              <a:srgbClr val="F59E0B">
                <a:alpha val="70000"/>
              </a:srgbClr>
            </a:solidFill>
            <a:prstDash val="solid"/>
          </a:ln>
        </p:spPr>
      </p:sp>
      <p:sp>
        <p:nvSpPr>
          <p:cNvPr id="30" name="Text 28"/>
          <p:cNvSpPr/>
          <p:nvPr/>
        </p:nvSpPr>
        <p:spPr>
          <a:xfrm>
            <a:off x="4443984" y="4910328"/>
            <a:ext cx="1307592" cy="155448"/>
          </a:xfrm>
          <a:prstGeom prst="rect">
            <a:avLst/>
          </a:prstGeom>
          <a:noFill/>
          <a:ln/>
        </p:spPr>
        <p:txBody>
          <a:bodyPr wrap="square" lIns="0" tIns="0" rIns="0" bIns="0" rtlCol="0" anchor="ctr"/>
          <a:lstStyle/>
          <a:p>
            <a:pPr algn="ctr" indent="0" marL="0">
              <a:buNone/>
            </a:pPr>
            <a:r>
              <a:rPr lang="en-US" sz="950" b="1" dirty="0">
                <a:solidFill>
                  <a:srgbClr val="F59E0B"/>
                </a:solidFill>
              </a:rPr>
              <a:t>fingerprint</a:t>
            </a:r>
            <a:endParaRPr lang="en-US" sz="950" dirty="0"/>
          </a:p>
        </p:txBody>
      </p:sp>
      <p:sp>
        <p:nvSpPr>
          <p:cNvPr id="31" name="Text 29"/>
          <p:cNvSpPr/>
          <p:nvPr/>
        </p:nvSpPr>
        <p:spPr>
          <a:xfrm>
            <a:off x="5961888" y="4901184"/>
            <a:ext cx="1920240" cy="201168"/>
          </a:xfrm>
          <a:prstGeom prst="rect">
            <a:avLst/>
          </a:prstGeom>
          <a:noFill/>
          <a:ln/>
        </p:spPr>
        <p:txBody>
          <a:bodyPr wrap="square" lIns="0" tIns="0" rIns="0" bIns="0" rtlCol="0" anchor="ctr"/>
          <a:lstStyle/>
          <a:p>
            <a:pPr indent="0" marL="0">
              <a:buNone/>
            </a:pPr>
            <a:r>
              <a:rPr lang="en-US" sz="1050" dirty="0">
                <a:solidFill>
                  <a:srgbClr val="A9B4C7"/>
                </a:solidFill>
              </a:rPr>
              <a:t>stable identity for the target</a:t>
            </a:r>
            <a:endParaRPr lang="en-US" sz="1050" dirty="0"/>
          </a:p>
        </p:txBody>
      </p:sp>
      <p:sp>
        <p:nvSpPr>
          <p:cNvPr id="25" name="Slide Number Placeholder 0"/>
          <p:cNvSpPr>
            <a:spLocks noGrp="1"/>
          </p:cNvSpPr>
          <p:nvPr>
            <p:ph type="sldNum" sz="quarter" idx="4294967295"/>
          </p:nvPr>
        </p:nvSpPr>
        <p:spPr>
          <a:xfrm>
            <a:off x="1138428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7C8AA5"/>
                </a:solidFill>
                <a:latin typeface="Aptos"/>
                <a:ea typeface="Aptos"/>
                <a:cs typeface="Aptos"/>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320040"/>
            <a:ext cx="11064240" cy="502920"/>
          </a:xfrm>
          <a:prstGeom prst="rect">
            <a:avLst/>
          </a:prstGeom>
          <a:noFill/>
          <a:ln/>
        </p:spPr>
        <p:txBody>
          <a:bodyPr wrap="square" lIns="0" tIns="0" rIns="0" bIns="0" rtlCol="0" anchor="ctr"/>
          <a:lstStyle/>
          <a:p>
            <a:pPr indent="0" marL="0">
              <a:buNone/>
            </a:pPr>
            <a:r>
              <a:rPr lang="en-US" sz="2800" b="1" dirty="0">
                <a:solidFill>
                  <a:srgbClr val="F7FAFC"/>
                </a:solidFill>
                <a:latin typeface="Aptos Display" pitchFamily="34" charset="0"/>
                <a:ea typeface="Aptos Display" pitchFamily="34" charset="-122"/>
                <a:cs typeface="Aptos Display" pitchFamily="34" charset="-120"/>
              </a:rPr>
              <a:t>2. Containerization pipeline</a:t>
            </a:r>
            <a:endParaRPr lang="en-US" sz="2800" dirty="0"/>
          </a:p>
        </p:txBody>
      </p:sp>
      <p:sp>
        <p:nvSpPr>
          <p:cNvPr id="3" name="Text 1"/>
          <p:cNvSpPr/>
          <p:nvPr/>
        </p:nvSpPr>
        <p:spPr>
          <a:xfrm>
            <a:off x="521208" y="868680"/>
            <a:ext cx="10972800" cy="310896"/>
          </a:xfrm>
          <a:prstGeom prst="rect">
            <a:avLst/>
          </a:prstGeom>
          <a:noFill/>
          <a:ln/>
        </p:spPr>
        <p:txBody>
          <a:bodyPr wrap="square" lIns="0" tIns="0" rIns="0" bIns="0" rtlCol="0" anchor="ctr"/>
          <a:lstStyle/>
          <a:p>
            <a:pPr indent="0" marL="0">
              <a:buNone/>
            </a:pPr>
            <a:r>
              <a:rPr lang="en-US" sz="1250" dirty="0">
                <a:solidFill>
                  <a:srgbClr val="A9B4C7"/>
                </a:solidFill>
              </a:rPr>
              <a:t>Configuration-driven build logic turns the selected source into a validated OCI/Docker image</a:t>
            </a:r>
            <a:endParaRPr lang="en-US" sz="1250" dirty="0"/>
          </a:p>
        </p:txBody>
      </p:sp>
      <p:sp>
        <p:nvSpPr>
          <p:cNvPr id="4" name="Shape 2"/>
          <p:cNvSpPr/>
          <p:nvPr/>
        </p:nvSpPr>
        <p:spPr>
          <a:xfrm>
            <a:off x="10469880" y="338328"/>
            <a:ext cx="1078992" cy="274320"/>
          </a:xfrm>
          <a:prstGeom prst="roundRect">
            <a:avLst>
              <a:gd name="adj" fmla="val 16667"/>
            </a:avLst>
          </a:prstGeom>
          <a:solidFill>
            <a:srgbClr val="F59E0B">
              <a:alpha val="20000"/>
            </a:srgbClr>
          </a:solidFill>
          <a:ln w="12700">
            <a:solidFill>
              <a:srgbClr val="F59E0B">
                <a:alpha val="70000"/>
              </a:srgbClr>
            </a:solidFill>
            <a:prstDash val="solid"/>
          </a:ln>
        </p:spPr>
      </p:sp>
      <p:sp>
        <p:nvSpPr>
          <p:cNvPr id="5" name="Text 3"/>
          <p:cNvSpPr/>
          <p:nvPr/>
        </p:nvSpPr>
        <p:spPr>
          <a:xfrm>
            <a:off x="10543032" y="388620"/>
            <a:ext cx="932688" cy="155448"/>
          </a:xfrm>
          <a:prstGeom prst="rect">
            <a:avLst/>
          </a:prstGeom>
          <a:noFill/>
          <a:ln/>
        </p:spPr>
        <p:txBody>
          <a:bodyPr wrap="square" lIns="0" tIns="0" rIns="0" bIns="0" rtlCol="0" anchor="ctr"/>
          <a:lstStyle/>
          <a:p>
            <a:pPr algn="ctr" indent="0" marL="0">
              <a:buNone/>
            </a:pPr>
            <a:r>
              <a:rPr lang="en-US" sz="900" b="1" dirty="0">
                <a:solidFill>
                  <a:srgbClr val="F59E0B"/>
                </a:solidFill>
              </a:rPr>
              <a:t>HASSAN</a:t>
            </a:r>
            <a:endParaRPr lang="en-US" sz="900" dirty="0"/>
          </a:p>
        </p:txBody>
      </p:sp>
      <p:sp>
        <p:nvSpPr>
          <p:cNvPr id="6" name="Shape 4"/>
          <p:cNvSpPr/>
          <p:nvPr/>
        </p:nvSpPr>
        <p:spPr>
          <a:xfrm>
            <a:off x="502920" y="1828800"/>
            <a:ext cx="1965960" cy="868680"/>
          </a:xfrm>
          <a:prstGeom prst="roundRect">
            <a:avLst>
              <a:gd name="adj" fmla="val 5263"/>
            </a:avLst>
          </a:prstGeom>
          <a:solidFill>
            <a:srgbClr val="172238"/>
          </a:solidFill>
          <a:ln w="12700">
            <a:solidFill>
              <a:srgbClr val="A78BFA"/>
            </a:solidFill>
            <a:prstDash val="solid"/>
          </a:ln>
        </p:spPr>
      </p:sp>
      <p:sp>
        <p:nvSpPr>
          <p:cNvPr id="7" name="Text 5"/>
          <p:cNvSpPr/>
          <p:nvPr/>
        </p:nvSpPr>
        <p:spPr>
          <a:xfrm>
            <a:off x="576072" y="1901952"/>
            <a:ext cx="1819656" cy="72237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Build Target</a:t>
            </a:r>
            <a:endParaRPr lang="en-US" sz="1200" dirty="0"/>
          </a:p>
        </p:txBody>
      </p:sp>
      <p:sp>
        <p:nvSpPr>
          <p:cNvPr id="8" name="Shape 6"/>
          <p:cNvSpPr/>
          <p:nvPr/>
        </p:nvSpPr>
        <p:spPr>
          <a:xfrm>
            <a:off x="2496312" y="2267712"/>
            <a:ext cx="292608" cy="0"/>
          </a:xfrm>
          <a:prstGeom prst="line">
            <a:avLst/>
          </a:prstGeom>
          <a:noFill/>
          <a:ln w="12700">
            <a:solidFill>
              <a:srgbClr val="A9B4C7"/>
            </a:solidFill>
            <a:prstDash val="solid"/>
            <a:headEnd type="none"/>
            <a:tailEnd type="triangle"/>
          </a:ln>
        </p:spPr>
      </p:sp>
      <p:sp>
        <p:nvSpPr>
          <p:cNvPr id="9" name="Shape 7"/>
          <p:cNvSpPr/>
          <p:nvPr/>
        </p:nvSpPr>
        <p:spPr>
          <a:xfrm>
            <a:off x="2834640" y="1828800"/>
            <a:ext cx="1965960" cy="868680"/>
          </a:xfrm>
          <a:prstGeom prst="roundRect">
            <a:avLst>
              <a:gd name="adj" fmla="val 5263"/>
            </a:avLst>
          </a:prstGeom>
          <a:solidFill>
            <a:srgbClr val="172238"/>
          </a:solidFill>
          <a:ln w="12700">
            <a:solidFill>
              <a:srgbClr val="F59E0B"/>
            </a:solidFill>
            <a:prstDash val="solid"/>
          </a:ln>
        </p:spPr>
      </p:sp>
      <p:sp>
        <p:nvSpPr>
          <p:cNvPr id="10" name="Text 8"/>
          <p:cNvSpPr/>
          <p:nvPr/>
        </p:nvSpPr>
        <p:spPr>
          <a:xfrm>
            <a:off x="2907792" y="1901952"/>
            <a:ext cx="1819656" cy="72237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Build Plan</a:t>
            </a:r>
            <a:endParaRPr lang="en-US" sz="1200" dirty="0"/>
          </a:p>
        </p:txBody>
      </p:sp>
      <p:sp>
        <p:nvSpPr>
          <p:cNvPr id="11" name="Shape 9"/>
          <p:cNvSpPr/>
          <p:nvPr/>
        </p:nvSpPr>
        <p:spPr>
          <a:xfrm>
            <a:off x="4828032" y="2267712"/>
            <a:ext cx="292608" cy="0"/>
          </a:xfrm>
          <a:prstGeom prst="line">
            <a:avLst/>
          </a:prstGeom>
          <a:noFill/>
          <a:ln w="12700">
            <a:solidFill>
              <a:srgbClr val="A9B4C7"/>
            </a:solidFill>
            <a:prstDash val="solid"/>
            <a:headEnd type="none"/>
            <a:tailEnd type="triangle"/>
          </a:ln>
        </p:spPr>
      </p:sp>
      <p:sp>
        <p:nvSpPr>
          <p:cNvPr id="12" name="Shape 10"/>
          <p:cNvSpPr/>
          <p:nvPr/>
        </p:nvSpPr>
        <p:spPr>
          <a:xfrm>
            <a:off x="5166360" y="1828800"/>
            <a:ext cx="1965960" cy="868680"/>
          </a:xfrm>
          <a:prstGeom prst="roundRect">
            <a:avLst>
              <a:gd name="adj" fmla="val 5263"/>
            </a:avLst>
          </a:prstGeom>
          <a:solidFill>
            <a:srgbClr val="172238"/>
          </a:solidFill>
          <a:ln w="12700">
            <a:solidFill>
              <a:srgbClr val="38BDF8"/>
            </a:solidFill>
            <a:prstDash val="solid"/>
          </a:ln>
        </p:spPr>
      </p:sp>
      <p:sp>
        <p:nvSpPr>
          <p:cNvPr id="13" name="Text 11"/>
          <p:cNvSpPr/>
          <p:nvPr/>
        </p:nvSpPr>
        <p:spPr>
          <a:xfrm>
            <a:off x="5239512" y="1901952"/>
            <a:ext cx="1819656" cy="72237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Container Build</a:t>
            </a:r>
            <a:endParaRPr lang="en-US" sz="1200" dirty="0"/>
          </a:p>
        </p:txBody>
      </p:sp>
      <p:sp>
        <p:nvSpPr>
          <p:cNvPr id="14" name="Shape 12"/>
          <p:cNvSpPr/>
          <p:nvPr/>
        </p:nvSpPr>
        <p:spPr>
          <a:xfrm>
            <a:off x="7159752" y="2267712"/>
            <a:ext cx="292608" cy="0"/>
          </a:xfrm>
          <a:prstGeom prst="line">
            <a:avLst/>
          </a:prstGeom>
          <a:noFill/>
          <a:ln w="12700">
            <a:solidFill>
              <a:srgbClr val="A9B4C7"/>
            </a:solidFill>
            <a:prstDash val="solid"/>
            <a:headEnd type="none"/>
            <a:tailEnd type="triangle"/>
          </a:ln>
        </p:spPr>
      </p:sp>
      <p:sp>
        <p:nvSpPr>
          <p:cNvPr id="15" name="Shape 13"/>
          <p:cNvSpPr/>
          <p:nvPr/>
        </p:nvSpPr>
        <p:spPr>
          <a:xfrm>
            <a:off x="7498080" y="1828800"/>
            <a:ext cx="1965960" cy="868680"/>
          </a:xfrm>
          <a:prstGeom prst="roundRect">
            <a:avLst>
              <a:gd name="adj" fmla="val 5263"/>
            </a:avLst>
          </a:prstGeom>
          <a:solidFill>
            <a:srgbClr val="172238"/>
          </a:solidFill>
          <a:ln w="12700">
            <a:solidFill>
              <a:srgbClr val="22C55E"/>
            </a:solidFill>
            <a:prstDash val="solid"/>
          </a:ln>
        </p:spPr>
      </p:sp>
      <p:sp>
        <p:nvSpPr>
          <p:cNvPr id="16" name="Text 14"/>
          <p:cNvSpPr/>
          <p:nvPr/>
        </p:nvSpPr>
        <p:spPr>
          <a:xfrm>
            <a:off x="7571232" y="1901952"/>
            <a:ext cx="1819656" cy="72237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Runtime Check</a:t>
            </a:r>
            <a:endParaRPr lang="en-US" sz="1200" dirty="0"/>
          </a:p>
        </p:txBody>
      </p:sp>
      <p:sp>
        <p:nvSpPr>
          <p:cNvPr id="17" name="Shape 15"/>
          <p:cNvSpPr/>
          <p:nvPr/>
        </p:nvSpPr>
        <p:spPr>
          <a:xfrm>
            <a:off x="9491472" y="2267712"/>
            <a:ext cx="292608" cy="0"/>
          </a:xfrm>
          <a:prstGeom prst="line">
            <a:avLst/>
          </a:prstGeom>
          <a:noFill/>
          <a:ln w="12700">
            <a:solidFill>
              <a:srgbClr val="A9B4C7"/>
            </a:solidFill>
            <a:prstDash val="solid"/>
            <a:headEnd type="none"/>
            <a:tailEnd type="triangle"/>
          </a:ln>
        </p:spPr>
      </p:sp>
      <p:sp>
        <p:nvSpPr>
          <p:cNvPr id="18" name="Shape 16"/>
          <p:cNvSpPr/>
          <p:nvPr/>
        </p:nvSpPr>
        <p:spPr>
          <a:xfrm>
            <a:off x="9829800" y="1828800"/>
            <a:ext cx="1965960" cy="868680"/>
          </a:xfrm>
          <a:prstGeom prst="roundRect">
            <a:avLst>
              <a:gd name="adj" fmla="val 5263"/>
            </a:avLst>
          </a:prstGeom>
          <a:solidFill>
            <a:srgbClr val="172238"/>
          </a:solidFill>
          <a:ln w="12700">
            <a:solidFill>
              <a:srgbClr val="06B6D4"/>
            </a:solidFill>
            <a:prstDash val="solid"/>
          </a:ln>
        </p:spPr>
      </p:sp>
      <p:sp>
        <p:nvSpPr>
          <p:cNvPr id="19" name="Text 17"/>
          <p:cNvSpPr/>
          <p:nvPr/>
        </p:nvSpPr>
        <p:spPr>
          <a:xfrm>
            <a:off x="9902952" y="1901952"/>
            <a:ext cx="1819656" cy="72237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Immutable Image</a:t>
            </a:r>
            <a:endParaRPr lang="en-US" sz="1200" dirty="0"/>
          </a:p>
        </p:txBody>
      </p:sp>
      <p:sp>
        <p:nvSpPr>
          <p:cNvPr id="20" name="Shape 18"/>
          <p:cNvSpPr/>
          <p:nvPr/>
        </p:nvSpPr>
        <p:spPr>
          <a:xfrm>
            <a:off x="731520" y="3337560"/>
            <a:ext cx="3337560" cy="1645920"/>
          </a:xfrm>
          <a:prstGeom prst="roundRect">
            <a:avLst>
              <a:gd name="adj" fmla="val 3333"/>
            </a:avLst>
          </a:prstGeom>
          <a:solidFill>
            <a:srgbClr val="121A2D"/>
          </a:solidFill>
          <a:ln w="12700">
            <a:solidFill>
              <a:srgbClr val="2A3853"/>
            </a:solidFill>
            <a:prstDash val="solid"/>
          </a:ln>
        </p:spPr>
      </p:sp>
      <p:sp>
        <p:nvSpPr>
          <p:cNvPr id="21" name="Shape 19"/>
          <p:cNvSpPr/>
          <p:nvPr/>
        </p:nvSpPr>
        <p:spPr>
          <a:xfrm>
            <a:off x="731520" y="3337560"/>
            <a:ext cx="54864" cy="1645920"/>
          </a:xfrm>
          <a:prstGeom prst="rect">
            <a:avLst/>
          </a:prstGeom>
          <a:solidFill>
            <a:srgbClr val="F59E0B"/>
          </a:solidFill>
          <a:ln w="12700">
            <a:solidFill>
              <a:srgbClr val="F59E0B"/>
            </a:solidFill>
            <a:prstDash val="solid"/>
          </a:ln>
        </p:spPr>
      </p:sp>
      <p:sp>
        <p:nvSpPr>
          <p:cNvPr id="22" name="Text 20"/>
          <p:cNvSpPr/>
          <p:nvPr/>
        </p:nvSpPr>
        <p:spPr>
          <a:xfrm>
            <a:off x="932688" y="3493008"/>
            <a:ext cx="3017520" cy="292608"/>
          </a:xfrm>
          <a:prstGeom prst="rect">
            <a:avLst/>
          </a:prstGeom>
          <a:noFill/>
          <a:ln/>
        </p:spPr>
        <p:txBody>
          <a:bodyPr wrap="square" lIns="0" tIns="0" rIns="0" bIns="0" rtlCol="0" anchor="ctr"/>
          <a:lstStyle/>
          <a:p>
            <a:pPr indent="0" marL="0">
              <a:buNone/>
            </a:pPr>
            <a:r>
              <a:rPr lang="en-US" sz="1500" b="1" dirty="0">
                <a:solidFill>
                  <a:srgbClr val="F7FAFC"/>
                </a:solidFill>
              </a:rPr>
              <a:t>What the backend controls</a:t>
            </a:r>
            <a:endParaRPr lang="en-US" sz="1500" dirty="0"/>
          </a:p>
        </p:txBody>
      </p:sp>
      <p:sp>
        <p:nvSpPr>
          <p:cNvPr id="23" name="Text 21"/>
          <p:cNvSpPr/>
          <p:nvPr/>
        </p:nvSpPr>
        <p:spPr>
          <a:xfrm>
            <a:off x="932688" y="3904488"/>
            <a:ext cx="2971800" cy="960120"/>
          </a:xfrm>
          <a:prstGeom prst="rect">
            <a:avLst/>
          </a:prstGeom>
          <a:noFill/>
          <a:ln/>
        </p:spPr>
        <p:txBody>
          <a:bodyPr wrap="square" lIns="254" tIns="254" rIns="254" bIns="254" rtlCol="0" anchor="t">
            <a:normAutofit/>
          </a:bodyPr>
          <a:lstStyle/>
          <a:p>
            <a:pPr indent="0" marL="0">
              <a:buNone/>
            </a:pPr>
            <a:r>
              <a:rPr lang="en-US" sz="1120" dirty="0">
                <a:solidFill>
                  <a:srgbClr val="A9B4C7"/>
                </a:solidFill>
              </a:rPr>
              <a:t>Source identity, selected service, build context, dependency boundaries, execution metadata and allowed fallback behavior.</a:t>
            </a:r>
            <a:endParaRPr lang="en-US" sz="1120" dirty="0"/>
          </a:p>
        </p:txBody>
      </p:sp>
      <p:sp>
        <p:nvSpPr>
          <p:cNvPr id="24" name="Shape 22"/>
          <p:cNvSpPr/>
          <p:nvPr/>
        </p:nvSpPr>
        <p:spPr>
          <a:xfrm>
            <a:off x="4434840" y="3337560"/>
            <a:ext cx="3337560" cy="1645920"/>
          </a:xfrm>
          <a:prstGeom prst="roundRect">
            <a:avLst>
              <a:gd name="adj" fmla="val 3333"/>
            </a:avLst>
          </a:prstGeom>
          <a:solidFill>
            <a:srgbClr val="121A2D"/>
          </a:solidFill>
          <a:ln w="12700">
            <a:solidFill>
              <a:srgbClr val="2A3853"/>
            </a:solidFill>
            <a:prstDash val="solid"/>
          </a:ln>
        </p:spPr>
      </p:sp>
      <p:sp>
        <p:nvSpPr>
          <p:cNvPr id="25" name="Shape 23"/>
          <p:cNvSpPr/>
          <p:nvPr/>
        </p:nvSpPr>
        <p:spPr>
          <a:xfrm>
            <a:off x="4434840" y="3337560"/>
            <a:ext cx="54864" cy="1645920"/>
          </a:xfrm>
          <a:prstGeom prst="rect">
            <a:avLst/>
          </a:prstGeom>
          <a:solidFill>
            <a:srgbClr val="38BDF8"/>
          </a:solidFill>
          <a:ln w="12700">
            <a:solidFill>
              <a:srgbClr val="38BDF8"/>
            </a:solidFill>
            <a:prstDash val="solid"/>
          </a:ln>
        </p:spPr>
      </p:sp>
      <p:sp>
        <p:nvSpPr>
          <p:cNvPr id="26" name="Text 24"/>
          <p:cNvSpPr/>
          <p:nvPr/>
        </p:nvSpPr>
        <p:spPr>
          <a:xfrm>
            <a:off x="4636008" y="3493008"/>
            <a:ext cx="3017520" cy="292608"/>
          </a:xfrm>
          <a:prstGeom prst="rect">
            <a:avLst/>
          </a:prstGeom>
          <a:noFill/>
          <a:ln/>
        </p:spPr>
        <p:txBody>
          <a:bodyPr wrap="square" lIns="0" tIns="0" rIns="0" bIns="0" rtlCol="0" anchor="ctr"/>
          <a:lstStyle/>
          <a:p>
            <a:pPr indent="0" marL="0">
              <a:buNone/>
            </a:pPr>
            <a:r>
              <a:rPr lang="en-US" sz="1500" b="1" dirty="0">
                <a:solidFill>
                  <a:srgbClr val="F7FAFC"/>
                </a:solidFill>
              </a:rPr>
              <a:t>What the build worker does</a:t>
            </a:r>
            <a:endParaRPr lang="en-US" sz="1500" dirty="0"/>
          </a:p>
        </p:txBody>
      </p:sp>
      <p:sp>
        <p:nvSpPr>
          <p:cNvPr id="27" name="Text 25"/>
          <p:cNvSpPr/>
          <p:nvPr/>
        </p:nvSpPr>
        <p:spPr>
          <a:xfrm>
            <a:off x="4636008" y="3904488"/>
            <a:ext cx="2971800" cy="960120"/>
          </a:xfrm>
          <a:prstGeom prst="rect">
            <a:avLst/>
          </a:prstGeom>
          <a:noFill/>
          <a:ln/>
        </p:spPr>
        <p:txBody>
          <a:bodyPr wrap="square" lIns="254" tIns="254" rIns="254" bIns="254" rtlCol="0" anchor="t">
            <a:normAutofit/>
          </a:bodyPr>
          <a:lstStyle/>
          <a:p>
            <a:pPr indent="0" marL="0">
              <a:buNone/>
            </a:pPr>
            <a:r>
              <a:rPr lang="en-US" sz="1120" dirty="0">
                <a:solidFill>
                  <a:srgbClr val="A9B4C7"/>
                </a:solidFill>
              </a:rPr>
              <a:t>Resolves build steps, executes the container build, validates the produced image and returns a publishable artifact.</a:t>
            </a:r>
            <a:endParaRPr lang="en-US" sz="1120" dirty="0"/>
          </a:p>
        </p:txBody>
      </p:sp>
      <p:sp>
        <p:nvSpPr>
          <p:cNvPr id="28" name="Shape 26"/>
          <p:cNvSpPr/>
          <p:nvPr/>
        </p:nvSpPr>
        <p:spPr>
          <a:xfrm>
            <a:off x="8138160" y="3337560"/>
            <a:ext cx="3337560" cy="1645920"/>
          </a:xfrm>
          <a:prstGeom prst="roundRect">
            <a:avLst>
              <a:gd name="adj" fmla="val 3333"/>
            </a:avLst>
          </a:prstGeom>
          <a:solidFill>
            <a:srgbClr val="121A2D"/>
          </a:solidFill>
          <a:ln w="12700">
            <a:solidFill>
              <a:srgbClr val="2A3853"/>
            </a:solidFill>
            <a:prstDash val="solid"/>
          </a:ln>
        </p:spPr>
      </p:sp>
      <p:sp>
        <p:nvSpPr>
          <p:cNvPr id="29" name="Shape 27"/>
          <p:cNvSpPr/>
          <p:nvPr/>
        </p:nvSpPr>
        <p:spPr>
          <a:xfrm>
            <a:off x="8138160" y="3337560"/>
            <a:ext cx="54864" cy="1645920"/>
          </a:xfrm>
          <a:prstGeom prst="rect">
            <a:avLst/>
          </a:prstGeom>
          <a:solidFill>
            <a:srgbClr val="22C55E"/>
          </a:solidFill>
          <a:ln w="12700">
            <a:solidFill>
              <a:srgbClr val="22C55E"/>
            </a:solidFill>
            <a:prstDash val="solid"/>
          </a:ln>
        </p:spPr>
      </p:sp>
      <p:sp>
        <p:nvSpPr>
          <p:cNvPr id="30" name="Text 28"/>
          <p:cNvSpPr/>
          <p:nvPr/>
        </p:nvSpPr>
        <p:spPr>
          <a:xfrm>
            <a:off x="8339328" y="3493008"/>
            <a:ext cx="3017520" cy="292608"/>
          </a:xfrm>
          <a:prstGeom prst="rect">
            <a:avLst/>
          </a:prstGeom>
          <a:noFill/>
          <a:ln/>
        </p:spPr>
        <p:txBody>
          <a:bodyPr wrap="square" lIns="0" tIns="0" rIns="0" bIns="0" rtlCol="0" anchor="ctr"/>
          <a:lstStyle/>
          <a:p>
            <a:pPr indent="0" marL="0">
              <a:buNone/>
            </a:pPr>
            <a:r>
              <a:rPr lang="en-US" sz="1500" b="1" dirty="0">
                <a:solidFill>
                  <a:srgbClr val="F7FAFC"/>
                </a:solidFill>
              </a:rPr>
              <a:t>What reaches production</a:t>
            </a:r>
            <a:endParaRPr lang="en-US" sz="1500" dirty="0"/>
          </a:p>
        </p:txBody>
      </p:sp>
      <p:sp>
        <p:nvSpPr>
          <p:cNvPr id="31" name="Text 29"/>
          <p:cNvSpPr/>
          <p:nvPr/>
        </p:nvSpPr>
        <p:spPr>
          <a:xfrm>
            <a:off x="8339328" y="3904488"/>
            <a:ext cx="2971800" cy="960120"/>
          </a:xfrm>
          <a:prstGeom prst="rect">
            <a:avLst/>
          </a:prstGeom>
          <a:noFill/>
          <a:ln/>
        </p:spPr>
        <p:txBody>
          <a:bodyPr wrap="square" lIns="254" tIns="254" rIns="254" bIns="254" rtlCol="0" anchor="t">
            <a:normAutofit/>
          </a:bodyPr>
          <a:lstStyle/>
          <a:p>
            <a:pPr indent="0" marL="0">
              <a:buNone/>
            </a:pPr>
            <a:r>
              <a:rPr lang="en-US" sz="1120" dirty="0">
                <a:solidFill>
                  <a:srgbClr val="A9B4C7"/>
                </a:solidFill>
              </a:rPr>
              <a:t>Only an image that passes the runtime checks and subsequent security/publishing gates is allowed into deployment.</a:t>
            </a:r>
            <a:endParaRPr lang="en-US" sz="1120" dirty="0"/>
          </a:p>
        </p:txBody>
      </p:sp>
      <p:sp>
        <p:nvSpPr>
          <p:cNvPr id="25" name="Slide Number Placeholder 0"/>
          <p:cNvSpPr>
            <a:spLocks noGrp="1"/>
          </p:cNvSpPr>
          <p:nvPr>
            <p:ph type="sldNum" sz="quarter" idx="4294967295"/>
          </p:nvPr>
        </p:nvSpPr>
        <p:spPr>
          <a:xfrm>
            <a:off x="1138428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7C8AA5"/>
                </a:solidFill>
                <a:latin typeface="Aptos"/>
                <a:ea typeface="Aptos"/>
                <a:cs typeface="Aptos"/>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320040"/>
            <a:ext cx="11064240" cy="502920"/>
          </a:xfrm>
          <a:prstGeom prst="rect">
            <a:avLst/>
          </a:prstGeom>
          <a:noFill/>
          <a:ln/>
        </p:spPr>
        <p:txBody>
          <a:bodyPr wrap="square" lIns="0" tIns="0" rIns="0" bIns="0" rtlCol="0" anchor="ctr"/>
          <a:lstStyle/>
          <a:p>
            <a:pPr indent="0" marL="0">
              <a:buNone/>
            </a:pPr>
            <a:r>
              <a:rPr lang="en-US" sz="2800" b="1" dirty="0">
                <a:solidFill>
                  <a:srgbClr val="F7FAFC"/>
                </a:solidFill>
                <a:latin typeface="Aptos Display" pitchFamily="34" charset="0"/>
                <a:ea typeface="Aptos Display" pitchFamily="34" charset="-122"/>
                <a:cs typeface="Aptos Display" pitchFamily="34" charset="-120"/>
              </a:rPr>
              <a:t>3. Runtime configuration contract</a:t>
            </a:r>
            <a:endParaRPr lang="en-US" sz="2800" dirty="0"/>
          </a:p>
        </p:txBody>
      </p:sp>
      <p:sp>
        <p:nvSpPr>
          <p:cNvPr id="3" name="Text 1"/>
          <p:cNvSpPr/>
          <p:nvPr/>
        </p:nvSpPr>
        <p:spPr>
          <a:xfrm>
            <a:off x="521208" y="868680"/>
            <a:ext cx="10972800" cy="310896"/>
          </a:xfrm>
          <a:prstGeom prst="rect">
            <a:avLst/>
          </a:prstGeom>
          <a:noFill/>
          <a:ln/>
        </p:spPr>
        <p:txBody>
          <a:bodyPr wrap="square" lIns="0" tIns="0" rIns="0" bIns="0" rtlCol="0" anchor="ctr"/>
          <a:lstStyle/>
          <a:p>
            <a:pPr indent="0" marL="0">
              <a:buNone/>
            </a:pPr>
            <a:r>
              <a:rPr lang="en-US" sz="1250" dirty="0">
                <a:solidFill>
                  <a:srgbClr val="A9B4C7"/>
                </a:solidFill>
              </a:rPr>
              <a:t>Build configuration and runtime configuration are handled separately</a:t>
            </a:r>
            <a:endParaRPr lang="en-US" sz="1250" dirty="0"/>
          </a:p>
        </p:txBody>
      </p:sp>
      <p:sp>
        <p:nvSpPr>
          <p:cNvPr id="4" name="Shape 2"/>
          <p:cNvSpPr/>
          <p:nvPr/>
        </p:nvSpPr>
        <p:spPr>
          <a:xfrm>
            <a:off x="10469880" y="338328"/>
            <a:ext cx="1078992" cy="274320"/>
          </a:xfrm>
          <a:prstGeom prst="roundRect">
            <a:avLst>
              <a:gd name="adj" fmla="val 16667"/>
            </a:avLst>
          </a:prstGeom>
          <a:solidFill>
            <a:srgbClr val="F59E0B">
              <a:alpha val="20000"/>
            </a:srgbClr>
          </a:solidFill>
          <a:ln w="12700">
            <a:solidFill>
              <a:srgbClr val="F59E0B">
                <a:alpha val="70000"/>
              </a:srgbClr>
            </a:solidFill>
            <a:prstDash val="solid"/>
          </a:ln>
        </p:spPr>
      </p:sp>
      <p:sp>
        <p:nvSpPr>
          <p:cNvPr id="5" name="Text 3"/>
          <p:cNvSpPr/>
          <p:nvPr/>
        </p:nvSpPr>
        <p:spPr>
          <a:xfrm>
            <a:off x="10543032" y="388620"/>
            <a:ext cx="932688" cy="155448"/>
          </a:xfrm>
          <a:prstGeom prst="rect">
            <a:avLst/>
          </a:prstGeom>
          <a:noFill/>
          <a:ln/>
        </p:spPr>
        <p:txBody>
          <a:bodyPr wrap="square" lIns="0" tIns="0" rIns="0" bIns="0" rtlCol="0" anchor="ctr"/>
          <a:lstStyle/>
          <a:p>
            <a:pPr algn="ctr" indent="0" marL="0">
              <a:buNone/>
            </a:pPr>
            <a:r>
              <a:rPr lang="en-US" sz="900" b="1" dirty="0">
                <a:solidFill>
                  <a:srgbClr val="F59E0B"/>
                </a:solidFill>
              </a:rPr>
              <a:t>HASSAN</a:t>
            </a:r>
            <a:endParaRPr lang="en-US" sz="900" dirty="0"/>
          </a:p>
        </p:txBody>
      </p:sp>
      <p:sp>
        <p:nvSpPr>
          <p:cNvPr id="6" name="Shape 4"/>
          <p:cNvSpPr/>
          <p:nvPr/>
        </p:nvSpPr>
        <p:spPr>
          <a:xfrm>
            <a:off x="640080" y="1371600"/>
            <a:ext cx="5212080" cy="4389120"/>
          </a:xfrm>
          <a:prstGeom prst="roundRect">
            <a:avLst>
              <a:gd name="adj" fmla="val 1250"/>
            </a:avLst>
          </a:prstGeom>
          <a:solidFill>
            <a:srgbClr val="121A2D"/>
          </a:solidFill>
          <a:ln w="12700">
            <a:solidFill>
              <a:srgbClr val="2A3853"/>
            </a:solidFill>
            <a:prstDash val="solid"/>
          </a:ln>
        </p:spPr>
      </p:sp>
      <p:sp>
        <p:nvSpPr>
          <p:cNvPr id="7" name="Shape 5"/>
          <p:cNvSpPr/>
          <p:nvPr/>
        </p:nvSpPr>
        <p:spPr>
          <a:xfrm>
            <a:off x="640080" y="1371600"/>
            <a:ext cx="54864" cy="4389120"/>
          </a:xfrm>
          <a:prstGeom prst="rect">
            <a:avLst/>
          </a:prstGeom>
          <a:solidFill>
            <a:srgbClr val="38BDF8"/>
          </a:solidFill>
          <a:ln w="12700">
            <a:solidFill>
              <a:srgbClr val="38BDF8"/>
            </a:solidFill>
            <a:prstDash val="solid"/>
          </a:ln>
        </p:spPr>
      </p:sp>
      <p:sp>
        <p:nvSpPr>
          <p:cNvPr id="8" name="Text 6"/>
          <p:cNvSpPr/>
          <p:nvPr/>
        </p:nvSpPr>
        <p:spPr>
          <a:xfrm>
            <a:off x="841248" y="1527048"/>
            <a:ext cx="4892040" cy="292608"/>
          </a:xfrm>
          <a:prstGeom prst="rect">
            <a:avLst/>
          </a:prstGeom>
          <a:noFill/>
          <a:ln/>
        </p:spPr>
        <p:txBody>
          <a:bodyPr wrap="square" lIns="0" tIns="0" rIns="0" bIns="0" rtlCol="0" anchor="ctr"/>
          <a:lstStyle/>
          <a:p>
            <a:pPr indent="0" marL="0">
              <a:buNone/>
            </a:pPr>
            <a:r>
              <a:rPr lang="en-US" sz="2000" b="1" dirty="0">
                <a:solidFill>
                  <a:srgbClr val="F7FAFC"/>
                </a:solidFill>
              </a:rPr>
              <a:t>BUILD CONTRACT</a:t>
            </a:r>
            <a:endParaRPr lang="en-US" sz="2000" dirty="0"/>
          </a:p>
        </p:txBody>
      </p:sp>
      <p:sp>
        <p:nvSpPr>
          <p:cNvPr id="9" name="Text 7"/>
          <p:cNvSpPr/>
          <p:nvPr/>
        </p:nvSpPr>
        <p:spPr>
          <a:xfrm>
            <a:off x="841248" y="1938528"/>
            <a:ext cx="4846320" cy="3703320"/>
          </a:xfrm>
          <a:prstGeom prst="rect">
            <a:avLst/>
          </a:prstGeom>
          <a:noFill/>
          <a:ln/>
        </p:spPr>
        <p:txBody>
          <a:bodyPr wrap="square" lIns="254" tIns="254" rIns="254" bIns="254" rtlCol="0" anchor="t">
            <a:normAutofit/>
          </a:bodyPr>
          <a:lstStyle/>
          <a:p>
            <a:pPr indent="0" marL="0">
              <a:buNone/>
            </a:pPr>
            <a:r>
              <a:rPr lang="en-US" sz="1700" dirty="0">
                <a:solidFill>
                  <a:srgbClr val="A9B4C7"/>
                </a:solidFill>
              </a:rPr>
              <a:t>Defines what source/service is built, where its dependency boundary is, package/build execution information, strategy and fingerprint.</a:t>
            </a:r>
            <a:endParaRPr lang="en-US" sz="1700" dirty="0"/>
          </a:p>
        </p:txBody>
      </p:sp>
      <p:sp>
        <p:nvSpPr>
          <p:cNvPr id="10" name="Shape 8"/>
          <p:cNvSpPr/>
          <p:nvPr/>
        </p:nvSpPr>
        <p:spPr>
          <a:xfrm>
            <a:off x="6309360" y="1371600"/>
            <a:ext cx="5212080" cy="4389120"/>
          </a:xfrm>
          <a:prstGeom prst="roundRect">
            <a:avLst>
              <a:gd name="adj" fmla="val 1250"/>
            </a:avLst>
          </a:prstGeom>
          <a:solidFill>
            <a:srgbClr val="121A2D"/>
          </a:solidFill>
          <a:ln w="12700">
            <a:solidFill>
              <a:srgbClr val="2A3853"/>
            </a:solidFill>
            <a:prstDash val="solid"/>
          </a:ln>
        </p:spPr>
      </p:sp>
      <p:sp>
        <p:nvSpPr>
          <p:cNvPr id="11" name="Shape 9"/>
          <p:cNvSpPr/>
          <p:nvPr/>
        </p:nvSpPr>
        <p:spPr>
          <a:xfrm>
            <a:off x="6309360" y="1371600"/>
            <a:ext cx="54864" cy="4389120"/>
          </a:xfrm>
          <a:prstGeom prst="rect">
            <a:avLst/>
          </a:prstGeom>
          <a:solidFill>
            <a:srgbClr val="22C55E"/>
          </a:solidFill>
          <a:ln w="12700">
            <a:solidFill>
              <a:srgbClr val="22C55E"/>
            </a:solidFill>
            <a:prstDash val="solid"/>
          </a:ln>
        </p:spPr>
      </p:sp>
      <p:sp>
        <p:nvSpPr>
          <p:cNvPr id="12" name="Text 10"/>
          <p:cNvSpPr/>
          <p:nvPr/>
        </p:nvSpPr>
        <p:spPr>
          <a:xfrm>
            <a:off x="6510528" y="1527048"/>
            <a:ext cx="4892040" cy="292608"/>
          </a:xfrm>
          <a:prstGeom prst="rect">
            <a:avLst/>
          </a:prstGeom>
          <a:noFill/>
          <a:ln/>
        </p:spPr>
        <p:txBody>
          <a:bodyPr wrap="square" lIns="0" tIns="0" rIns="0" bIns="0" rtlCol="0" anchor="ctr"/>
          <a:lstStyle/>
          <a:p>
            <a:pPr indent="0" marL="0">
              <a:buNone/>
            </a:pPr>
            <a:r>
              <a:rPr lang="en-US" sz="2000" b="1" dirty="0">
                <a:solidFill>
                  <a:srgbClr val="F7FAFC"/>
                </a:solidFill>
              </a:rPr>
              <a:t>RUNTIME CONTRACT</a:t>
            </a:r>
            <a:endParaRPr lang="en-US" sz="2000" dirty="0"/>
          </a:p>
        </p:txBody>
      </p:sp>
      <p:sp>
        <p:nvSpPr>
          <p:cNvPr id="13" name="Text 11"/>
          <p:cNvSpPr/>
          <p:nvPr/>
        </p:nvSpPr>
        <p:spPr>
          <a:xfrm>
            <a:off x="6510528" y="1938528"/>
            <a:ext cx="4846320" cy="3703320"/>
          </a:xfrm>
          <a:prstGeom prst="rect">
            <a:avLst/>
          </a:prstGeom>
          <a:noFill/>
          <a:ln/>
        </p:spPr>
        <p:txBody>
          <a:bodyPr wrap="square" lIns="254" tIns="254" rIns="254" bIns="254" rtlCol="0" anchor="t">
            <a:normAutofit/>
          </a:bodyPr>
          <a:lstStyle/>
          <a:p>
            <a:pPr indent="0" marL="0">
              <a:buNone/>
            </a:pPr>
            <a:r>
              <a:rPr lang="en-US" sz="1700" dirty="0">
                <a:solidFill>
                  <a:srgbClr val="A9B4C7"/>
                </a:solidFill>
              </a:rPr>
              <a:t>Defines runtime values such as PORT, HOST, environment variables, secret references, database configuration, service bindings and application entrypoint.</a:t>
            </a:r>
            <a:endParaRPr lang="en-US" sz="1700" dirty="0"/>
          </a:p>
        </p:txBody>
      </p:sp>
      <p:sp>
        <p:nvSpPr>
          <p:cNvPr id="14" name="Text 12"/>
          <p:cNvSpPr/>
          <p:nvPr/>
        </p:nvSpPr>
        <p:spPr>
          <a:xfrm>
            <a:off x="1234440" y="5074920"/>
            <a:ext cx="9692640" cy="384048"/>
          </a:xfrm>
          <a:prstGeom prst="rect">
            <a:avLst/>
          </a:prstGeom>
          <a:noFill/>
          <a:ln/>
        </p:spPr>
        <p:txBody>
          <a:bodyPr wrap="square" lIns="0" tIns="0" rIns="0" bIns="0" rtlCol="0" anchor="ctr"/>
          <a:lstStyle/>
          <a:p>
            <a:pPr algn="ctr" indent="0" marL="0">
              <a:buNone/>
            </a:pPr>
            <a:r>
              <a:rPr lang="en-US" sz="1300" b="1" dirty="0">
                <a:solidFill>
                  <a:srgbClr val="FBBF24"/>
                </a:solidFill>
              </a:rPr>
              <a:t>Separation prevents build-time assumptions from silently becoming runtime infrastructure assumptions.</a:t>
            </a:r>
            <a:endParaRPr lang="en-US" sz="1300" dirty="0"/>
          </a:p>
        </p:txBody>
      </p:sp>
      <p:sp>
        <p:nvSpPr>
          <p:cNvPr id="25" name="Slide Number Placeholder 0"/>
          <p:cNvSpPr>
            <a:spLocks noGrp="1"/>
          </p:cNvSpPr>
          <p:nvPr>
            <p:ph type="sldNum" sz="quarter" idx="4294967295"/>
          </p:nvPr>
        </p:nvSpPr>
        <p:spPr>
          <a:xfrm>
            <a:off x="1138428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7C8AA5"/>
                </a:solidFill>
                <a:latin typeface="Aptos"/>
                <a:ea typeface="Aptos"/>
                <a:cs typeface="Aptos"/>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02920" y="320040"/>
            <a:ext cx="11064240" cy="502920"/>
          </a:xfrm>
          <a:prstGeom prst="rect">
            <a:avLst/>
          </a:prstGeom>
          <a:noFill/>
          <a:ln/>
        </p:spPr>
        <p:txBody>
          <a:bodyPr wrap="square" lIns="0" tIns="0" rIns="0" bIns="0" rtlCol="0" anchor="ctr"/>
          <a:lstStyle/>
          <a:p>
            <a:pPr indent="0" marL="0">
              <a:buNone/>
            </a:pPr>
            <a:r>
              <a:rPr lang="en-US" sz="2800" b="1" dirty="0">
                <a:solidFill>
                  <a:srgbClr val="F7FAFC"/>
                </a:solidFill>
                <a:latin typeface="Aptos Display" pitchFamily="34" charset="0"/>
                <a:ea typeface="Aptos Display" pitchFamily="34" charset="-122"/>
                <a:cs typeface="Aptos Display" pitchFamily="34" charset="-120"/>
              </a:rPr>
              <a:t>4. Security gate and immutable image publication</a:t>
            </a:r>
            <a:endParaRPr lang="en-US" sz="2800" dirty="0"/>
          </a:p>
        </p:txBody>
      </p:sp>
      <p:sp>
        <p:nvSpPr>
          <p:cNvPr id="3" name="Text 1"/>
          <p:cNvSpPr/>
          <p:nvPr/>
        </p:nvSpPr>
        <p:spPr>
          <a:xfrm>
            <a:off x="521208" y="868680"/>
            <a:ext cx="10972800" cy="310896"/>
          </a:xfrm>
          <a:prstGeom prst="rect">
            <a:avLst/>
          </a:prstGeom>
          <a:noFill/>
          <a:ln/>
        </p:spPr>
        <p:txBody>
          <a:bodyPr wrap="square" lIns="0" tIns="0" rIns="0" bIns="0" rtlCol="0" anchor="ctr"/>
          <a:lstStyle/>
          <a:p>
            <a:pPr indent="0" marL="0">
              <a:buNone/>
            </a:pPr>
            <a:r>
              <a:rPr lang="en-US" sz="1250" dirty="0">
                <a:solidFill>
                  <a:srgbClr val="A9B4C7"/>
                </a:solidFill>
              </a:rPr>
              <a:t>A built image is not automatically considered deployable</a:t>
            </a:r>
            <a:endParaRPr lang="en-US" sz="1250" dirty="0"/>
          </a:p>
        </p:txBody>
      </p:sp>
      <p:sp>
        <p:nvSpPr>
          <p:cNvPr id="4" name="Shape 2"/>
          <p:cNvSpPr/>
          <p:nvPr/>
        </p:nvSpPr>
        <p:spPr>
          <a:xfrm>
            <a:off x="10469880" y="338328"/>
            <a:ext cx="1078992" cy="274320"/>
          </a:xfrm>
          <a:prstGeom prst="roundRect">
            <a:avLst>
              <a:gd name="adj" fmla="val 16667"/>
            </a:avLst>
          </a:prstGeom>
          <a:solidFill>
            <a:srgbClr val="F59E0B">
              <a:alpha val="20000"/>
            </a:srgbClr>
          </a:solidFill>
          <a:ln w="12700">
            <a:solidFill>
              <a:srgbClr val="F59E0B">
                <a:alpha val="70000"/>
              </a:srgbClr>
            </a:solidFill>
            <a:prstDash val="solid"/>
          </a:ln>
        </p:spPr>
      </p:sp>
      <p:sp>
        <p:nvSpPr>
          <p:cNvPr id="5" name="Text 3"/>
          <p:cNvSpPr/>
          <p:nvPr/>
        </p:nvSpPr>
        <p:spPr>
          <a:xfrm>
            <a:off x="10543032" y="388620"/>
            <a:ext cx="932688" cy="155448"/>
          </a:xfrm>
          <a:prstGeom prst="rect">
            <a:avLst/>
          </a:prstGeom>
          <a:noFill/>
          <a:ln/>
        </p:spPr>
        <p:txBody>
          <a:bodyPr wrap="square" lIns="0" tIns="0" rIns="0" bIns="0" rtlCol="0" anchor="ctr"/>
          <a:lstStyle/>
          <a:p>
            <a:pPr algn="ctr" indent="0" marL="0">
              <a:buNone/>
            </a:pPr>
            <a:r>
              <a:rPr lang="en-US" sz="900" b="1" dirty="0">
                <a:solidFill>
                  <a:srgbClr val="F59E0B"/>
                </a:solidFill>
              </a:rPr>
              <a:t>HASSAN</a:t>
            </a:r>
            <a:endParaRPr lang="en-US" sz="900" dirty="0"/>
          </a:p>
        </p:txBody>
      </p:sp>
      <p:sp>
        <p:nvSpPr>
          <p:cNvPr id="6" name="Shape 4"/>
          <p:cNvSpPr/>
          <p:nvPr/>
        </p:nvSpPr>
        <p:spPr>
          <a:xfrm>
            <a:off x="640080" y="1417320"/>
            <a:ext cx="5074920" cy="1572768"/>
          </a:xfrm>
          <a:prstGeom prst="roundRect">
            <a:avLst>
              <a:gd name="adj" fmla="val 3488"/>
            </a:avLst>
          </a:prstGeom>
          <a:solidFill>
            <a:srgbClr val="121A2D"/>
          </a:solidFill>
          <a:ln w="12700">
            <a:solidFill>
              <a:srgbClr val="2A3853"/>
            </a:solidFill>
            <a:prstDash val="solid"/>
          </a:ln>
        </p:spPr>
      </p:sp>
      <p:sp>
        <p:nvSpPr>
          <p:cNvPr id="7" name="Shape 5"/>
          <p:cNvSpPr/>
          <p:nvPr/>
        </p:nvSpPr>
        <p:spPr>
          <a:xfrm>
            <a:off x="640080" y="1417320"/>
            <a:ext cx="54864" cy="1572768"/>
          </a:xfrm>
          <a:prstGeom prst="rect">
            <a:avLst/>
          </a:prstGeom>
          <a:solidFill>
            <a:srgbClr val="38BDF8"/>
          </a:solidFill>
          <a:ln w="12700">
            <a:solidFill>
              <a:srgbClr val="38BDF8"/>
            </a:solidFill>
            <a:prstDash val="solid"/>
          </a:ln>
        </p:spPr>
      </p:sp>
      <p:sp>
        <p:nvSpPr>
          <p:cNvPr id="8" name="Text 6"/>
          <p:cNvSpPr/>
          <p:nvPr/>
        </p:nvSpPr>
        <p:spPr>
          <a:xfrm>
            <a:off x="841248" y="1572768"/>
            <a:ext cx="4754880" cy="292608"/>
          </a:xfrm>
          <a:prstGeom prst="rect">
            <a:avLst/>
          </a:prstGeom>
          <a:noFill/>
          <a:ln/>
        </p:spPr>
        <p:txBody>
          <a:bodyPr wrap="square" lIns="0" tIns="0" rIns="0" bIns="0" rtlCol="0" anchor="ctr"/>
          <a:lstStyle/>
          <a:p>
            <a:pPr indent="0" marL="0">
              <a:buNone/>
            </a:pPr>
            <a:r>
              <a:rPr lang="en-US" sz="1600" b="1" dirty="0">
                <a:solidFill>
                  <a:srgbClr val="F7FAFC"/>
                </a:solidFill>
              </a:rPr>
              <a:t>Runtime validation</a:t>
            </a:r>
            <a:endParaRPr lang="en-US" sz="1600" dirty="0"/>
          </a:p>
        </p:txBody>
      </p:sp>
      <p:sp>
        <p:nvSpPr>
          <p:cNvPr id="9" name="Text 7"/>
          <p:cNvSpPr/>
          <p:nvPr/>
        </p:nvSpPr>
        <p:spPr>
          <a:xfrm>
            <a:off x="841248" y="1984248"/>
            <a:ext cx="4709160" cy="886968"/>
          </a:xfrm>
          <a:prstGeom prst="rect">
            <a:avLst/>
          </a:prstGeom>
          <a:noFill/>
          <a:ln/>
        </p:spPr>
        <p:txBody>
          <a:bodyPr wrap="square" lIns="254" tIns="254" rIns="254" bIns="254" rtlCol="0" anchor="t">
            <a:normAutofit/>
          </a:bodyPr>
          <a:lstStyle/>
          <a:p>
            <a:pPr indent="0" marL="0">
              <a:buNone/>
            </a:pPr>
            <a:r>
              <a:rPr lang="en-US" sz="1220" dirty="0">
                <a:solidFill>
                  <a:srgbClr val="A9B4C7"/>
                </a:solidFill>
              </a:rPr>
              <a:t>Does the image satisfy the expected container runtime contract?</a:t>
            </a:r>
            <a:endParaRPr lang="en-US" sz="1220" dirty="0"/>
          </a:p>
        </p:txBody>
      </p:sp>
      <p:sp>
        <p:nvSpPr>
          <p:cNvPr id="10" name="Shape 8"/>
          <p:cNvSpPr/>
          <p:nvPr/>
        </p:nvSpPr>
        <p:spPr>
          <a:xfrm>
            <a:off x="6172200" y="1417320"/>
            <a:ext cx="5074920" cy="1572768"/>
          </a:xfrm>
          <a:prstGeom prst="roundRect">
            <a:avLst>
              <a:gd name="adj" fmla="val 3488"/>
            </a:avLst>
          </a:prstGeom>
          <a:solidFill>
            <a:srgbClr val="121A2D"/>
          </a:solidFill>
          <a:ln w="12700">
            <a:solidFill>
              <a:srgbClr val="2A3853"/>
            </a:solidFill>
            <a:prstDash val="solid"/>
          </a:ln>
        </p:spPr>
      </p:sp>
      <p:sp>
        <p:nvSpPr>
          <p:cNvPr id="11" name="Shape 9"/>
          <p:cNvSpPr/>
          <p:nvPr/>
        </p:nvSpPr>
        <p:spPr>
          <a:xfrm>
            <a:off x="6172200" y="1417320"/>
            <a:ext cx="54864" cy="1572768"/>
          </a:xfrm>
          <a:prstGeom prst="rect">
            <a:avLst/>
          </a:prstGeom>
          <a:solidFill>
            <a:srgbClr val="EF4444"/>
          </a:solidFill>
          <a:ln w="12700">
            <a:solidFill>
              <a:srgbClr val="EF4444"/>
            </a:solidFill>
            <a:prstDash val="solid"/>
          </a:ln>
        </p:spPr>
      </p:sp>
      <p:sp>
        <p:nvSpPr>
          <p:cNvPr id="12" name="Text 10"/>
          <p:cNvSpPr/>
          <p:nvPr/>
        </p:nvSpPr>
        <p:spPr>
          <a:xfrm>
            <a:off x="6373368" y="1572768"/>
            <a:ext cx="4754880" cy="292608"/>
          </a:xfrm>
          <a:prstGeom prst="rect">
            <a:avLst/>
          </a:prstGeom>
          <a:noFill/>
          <a:ln/>
        </p:spPr>
        <p:txBody>
          <a:bodyPr wrap="square" lIns="0" tIns="0" rIns="0" bIns="0" rtlCol="0" anchor="ctr"/>
          <a:lstStyle/>
          <a:p>
            <a:pPr indent="0" marL="0">
              <a:buNone/>
            </a:pPr>
            <a:r>
              <a:rPr lang="en-US" sz="1600" b="1" dirty="0">
                <a:solidFill>
                  <a:srgbClr val="F7FAFC"/>
                </a:solidFill>
              </a:rPr>
              <a:t>Security scan</a:t>
            </a:r>
            <a:endParaRPr lang="en-US" sz="1600" dirty="0"/>
          </a:p>
        </p:txBody>
      </p:sp>
      <p:sp>
        <p:nvSpPr>
          <p:cNvPr id="13" name="Text 11"/>
          <p:cNvSpPr/>
          <p:nvPr/>
        </p:nvSpPr>
        <p:spPr>
          <a:xfrm>
            <a:off x="6373368" y="1984248"/>
            <a:ext cx="4709160" cy="886968"/>
          </a:xfrm>
          <a:prstGeom prst="rect">
            <a:avLst/>
          </a:prstGeom>
          <a:noFill/>
          <a:ln/>
        </p:spPr>
        <p:txBody>
          <a:bodyPr wrap="square" lIns="254" tIns="254" rIns="254" bIns="254" rtlCol="0" anchor="t">
            <a:normAutofit/>
          </a:bodyPr>
          <a:lstStyle/>
          <a:p>
            <a:pPr indent="0" marL="0">
              <a:buNone/>
            </a:pPr>
            <a:r>
              <a:rPr lang="en-US" sz="1220" dirty="0">
                <a:solidFill>
                  <a:srgbClr val="A9B4C7"/>
                </a:solidFill>
              </a:rPr>
              <a:t>Policy-relevant vulnerabilities are checked before release.</a:t>
            </a:r>
            <a:endParaRPr lang="en-US" sz="1220" dirty="0"/>
          </a:p>
        </p:txBody>
      </p:sp>
      <p:sp>
        <p:nvSpPr>
          <p:cNvPr id="14" name="Shape 12"/>
          <p:cNvSpPr/>
          <p:nvPr/>
        </p:nvSpPr>
        <p:spPr>
          <a:xfrm>
            <a:off x="640080" y="3474720"/>
            <a:ext cx="5074920" cy="1572768"/>
          </a:xfrm>
          <a:prstGeom prst="roundRect">
            <a:avLst>
              <a:gd name="adj" fmla="val 3488"/>
            </a:avLst>
          </a:prstGeom>
          <a:solidFill>
            <a:srgbClr val="121A2D"/>
          </a:solidFill>
          <a:ln w="12700">
            <a:solidFill>
              <a:srgbClr val="2A3853"/>
            </a:solidFill>
            <a:prstDash val="solid"/>
          </a:ln>
        </p:spPr>
      </p:sp>
      <p:sp>
        <p:nvSpPr>
          <p:cNvPr id="15" name="Shape 13"/>
          <p:cNvSpPr/>
          <p:nvPr/>
        </p:nvSpPr>
        <p:spPr>
          <a:xfrm>
            <a:off x="640080" y="3474720"/>
            <a:ext cx="54864" cy="1572768"/>
          </a:xfrm>
          <a:prstGeom prst="rect">
            <a:avLst/>
          </a:prstGeom>
          <a:solidFill>
            <a:srgbClr val="06B6D4"/>
          </a:solidFill>
          <a:ln w="12700">
            <a:solidFill>
              <a:srgbClr val="06B6D4"/>
            </a:solidFill>
            <a:prstDash val="solid"/>
          </a:ln>
        </p:spPr>
      </p:sp>
      <p:sp>
        <p:nvSpPr>
          <p:cNvPr id="16" name="Text 14"/>
          <p:cNvSpPr/>
          <p:nvPr/>
        </p:nvSpPr>
        <p:spPr>
          <a:xfrm>
            <a:off x="841248" y="3630168"/>
            <a:ext cx="4754880" cy="292608"/>
          </a:xfrm>
          <a:prstGeom prst="rect">
            <a:avLst/>
          </a:prstGeom>
          <a:noFill/>
          <a:ln/>
        </p:spPr>
        <p:txBody>
          <a:bodyPr wrap="square" lIns="0" tIns="0" rIns="0" bIns="0" rtlCol="0" anchor="ctr"/>
          <a:lstStyle/>
          <a:p>
            <a:pPr indent="0" marL="0">
              <a:buNone/>
            </a:pPr>
            <a:r>
              <a:rPr lang="en-US" sz="1600" b="1" dirty="0">
                <a:solidFill>
                  <a:srgbClr val="F7FAFC"/>
                </a:solidFill>
              </a:rPr>
              <a:t>Registry publication</a:t>
            </a:r>
            <a:endParaRPr lang="en-US" sz="1600" dirty="0"/>
          </a:p>
        </p:txBody>
      </p:sp>
      <p:sp>
        <p:nvSpPr>
          <p:cNvPr id="17" name="Text 15"/>
          <p:cNvSpPr/>
          <p:nvPr/>
        </p:nvSpPr>
        <p:spPr>
          <a:xfrm>
            <a:off x="841248" y="4041648"/>
            <a:ext cx="4709160" cy="886968"/>
          </a:xfrm>
          <a:prstGeom prst="rect">
            <a:avLst/>
          </a:prstGeom>
          <a:noFill/>
          <a:ln/>
        </p:spPr>
        <p:txBody>
          <a:bodyPr wrap="square" lIns="254" tIns="254" rIns="254" bIns="254" rtlCol="0" anchor="t">
            <a:normAutofit/>
          </a:bodyPr>
          <a:lstStyle/>
          <a:p>
            <a:pPr indent="0" marL="0">
              <a:buNone/>
            </a:pPr>
            <a:r>
              <a:rPr lang="en-US" sz="1220" dirty="0">
                <a:solidFill>
                  <a:srgbClr val="A9B4C7"/>
                </a:solidFill>
              </a:rPr>
              <a:t>Approved image is pushed to the project’s ECR repository.</a:t>
            </a:r>
            <a:endParaRPr lang="en-US" sz="1220" dirty="0"/>
          </a:p>
        </p:txBody>
      </p:sp>
      <p:sp>
        <p:nvSpPr>
          <p:cNvPr id="18" name="Shape 16"/>
          <p:cNvSpPr/>
          <p:nvPr/>
        </p:nvSpPr>
        <p:spPr>
          <a:xfrm>
            <a:off x="6172200" y="3474720"/>
            <a:ext cx="5074920" cy="1572768"/>
          </a:xfrm>
          <a:prstGeom prst="roundRect">
            <a:avLst>
              <a:gd name="adj" fmla="val 3488"/>
            </a:avLst>
          </a:prstGeom>
          <a:solidFill>
            <a:srgbClr val="121A2D"/>
          </a:solidFill>
          <a:ln w="12700">
            <a:solidFill>
              <a:srgbClr val="2A3853"/>
            </a:solidFill>
            <a:prstDash val="solid"/>
          </a:ln>
        </p:spPr>
      </p:sp>
      <p:sp>
        <p:nvSpPr>
          <p:cNvPr id="19" name="Shape 17"/>
          <p:cNvSpPr/>
          <p:nvPr/>
        </p:nvSpPr>
        <p:spPr>
          <a:xfrm>
            <a:off x="6172200" y="3474720"/>
            <a:ext cx="54864" cy="1572768"/>
          </a:xfrm>
          <a:prstGeom prst="rect">
            <a:avLst/>
          </a:prstGeom>
          <a:solidFill>
            <a:srgbClr val="22C55E"/>
          </a:solidFill>
          <a:ln w="12700">
            <a:solidFill>
              <a:srgbClr val="22C55E"/>
            </a:solidFill>
            <a:prstDash val="solid"/>
          </a:ln>
        </p:spPr>
      </p:sp>
      <p:sp>
        <p:nvSpPr>
          <p:cNvPr id="20" name="Text 18"/>
          <p:cNvSpPr/>
          <p:nvPr/>
        </p:nvSpPr>
        <p:spPr>
          <a:xfrm>
            <a:off x="6373368" y="3630168"/>
            <a:ext cx="4754880" cy="292608"/>
          </a:xfrm>
          <a:prstGeom prst="rect">
            <a:avLst/>
          </a:prstGeom>
          <a:noFill/>
          <a:ln/>
        </p:spPr>
        <p:txBody>
          <a:bodyPr wrap="square" lIns="0" tIns="0" rIns="0" bIns="0" rtlCol="0" anchor="ctr"/>
          <a:lstStyle/>
          <a:p>
            <a:pPr indent="0" marL="0">
              <a:buNone/>
            </a:pPr>
            <a:r>
              <a:rPr lang="en-US" sz="1600" b="1" dirty="0">
                <a:solidFill>
                  <a:srgbClr val="F7FAFC"/>
                </a:solidFill>
              </a:rPr>
              <a:t>Digest identity</a:t>
            </a:r>
            <a:endParaRPr lang="en-US" sz="1600" dirty="0"/>
          </a:p>
        </p:txBody>
      </p:sp>
      <p:sp>
        <p:nvSpPr>
          <p:cNvPr id="21" name="Text 19"/>
          <p:cNvSpPr/>
          <p:nvPr/>
        </p:nvSpPr>
        <p:spPr>
          <a:xfrm>
            <a:off x="6373368" y="4041648"/>
            <a:ext cx="4709160" cy="886968"/>
          </a:xfrm>
          <a:prstGeom prst="rect">
            <a:avLst/>
          </a:prstGeom>
          <a:noFill/>
          <a:ln/>
        </p:spPr>
        <p:txBody>
          <a:bodyPr wrap="square" lIns="254" tIns="254" rIns="254" bIns="254" rtlCol="0" anchor="t">
            <a:normAutofit/>
          </a:bodyPr>
          <a:lstStyle/>
          <a:p>
            <a:pPr indent="0" marL="0">
              <a:buNone/>
            </a:pPr>
            <a:r>
              <a:rPr lang="en-US" sz="1220" dirty="0">
                <a:solidFill>
                  <a:srgbClr val="A9B4C7"/>
                </a:solidFill>
              </a:rPr>
              <a:t>Deployment uses immutable image identity rather than a moving tag.</a:t>
            </a:r>
            <a:endParaRPr lang="en-US" sz="1220" dirty="0"/>
          </a:p>
        </p:txBody>
      </p:sp>
      <p:sp>
        <p:nvSpPr>
          <p:cNvPr id="25" name="Slide Number Placeholder 0"/>
          <p:cNvSpPr>
            <a:spLocks noGrp="1"/>
          </p:cNvSpPr>
          <p:nvPr>
            <p:ph type="sldNum" sz="quarter" idx="4294967295"/>
          </p:nvPr>
        </p:nvSpPr>
        <p:spPr>
          <a:xfrm>
            <a:off x="1138428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7C8AA5"/>
                </a:solidFill>
                <a:latin typeface="Aptos"/>
                <a:ea typeface="Aptos"/>
                <a:cs typeface="Aptos"/>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02920" y="320040"/>
            <a:ext cx="11064240" cy="502920"/>
          </a:xfrm>
          <a:prstGeom prst="rect">
            <a:avLst/>
          </a:prstGeom>
          <a:noFill/>
          <a:ln/>
        </p:spPr>
        <p:txBody>
          <a:bodyPr wrap="square" lIns="0" tIns="0" rIns="0" bIns="0" rtlCol="0" anchor="ctr"/>
          <a:lstStyle/>
          <a:p>
            <a:pPr indent="0" marL="0">
              <a:buNone/>
            </a:pPr>
            <a:r>
              <a:rPr lang="en-US" sz="2800" b="1" dirty="0">
                <a:solidFill>
                  <a:srgbClr val="F7FAFC"/>
                </a:solidFill>
                <a:latin typeface="Aptos Display" pitchFamily="34" charset="0"/>
                <a:ea typeface="Aptos Display" pitchFamily="34" charset="-122"/>
                <a:cs typeface="Aptos Display" pitchFamily="34" charset="-120"/>
              </a:rPr>
              <a:t>5. Infrastructure provisioning with Terraform</a:t>
            </a:r>
            <a:endParaRPr lang="en-US" sz="2800" dirty="0"/>
          </a:p>
        </p:txBody>
      </p:sp>
      <p:sp>
        <p:nvSpPr>
          <p:cNvPr id="3" name="Text 1"/>
          <p:cNvSpPr/>
          <p:nvPr/>
        </p:nvSpPr>
        <p:spPr>
          <a:xfrm>
            <a:off x="521208" y="868680"/>
            <a:ext cx="10972800" cy="310896"/>
          </a:xfrm>
          <a:prstGeom prst="rect">
            <a:avLst/>
          </a:prstGeom>
          <a:noFill/>
          <a:ln/>
        </p:spPr>
        <p:txBody>
          <a:bodyPr wrap="square" lIns="0" tIns="0" rIns="0" bIns="0" rtlCol="0" anchor="ctr"/>
          <a:lstStyle/>
          <a:p>
            <a:pPr indent="0" marL="0">
              <a:buNone/>
            </a:pPr>
            <a:r>
              <a:rPr lang="en-US" sz="1250" dirty="0">
                <a:solidFill>
                  <a:srgbClr val="A9B4C7"/>
                </a:solidFill>
              </a:rPr>
              <a:t>Terraform remains the single authority for project infrastructure</a:t>
            </a:r>
            <a:endParaRPr lang="en-US" sz="1250" dirty="0"/>
          </a:p>
        </p:txBody>
      </p:sp>
      <p:sp>
        <p:nvSpPr>
          <p:cNvPr id="4" name="Shape 2"/>
          <p:cNvSpPr/>
          <p:nvPr/>
        </p:nvSpPr>
        <p:spPr>
          <a:xfrm>
            <a:off x="10469880" y="338328"/>
            <a:ext cx="1078992" cy="274320"/>
          </a:xfrm>
          <a:prstGeom prst="roundRect">
            <a:avLst>
              <a:gd name="adj" fmla="val 16667"/>
            </a:avLst>
          </a:prstGeom>
          <a:solidFill>
            <a:srgbClr val="F59E0B">
              <a:alpha val="20000"/>
            </a:srgbClr>
          </a:solidFill>
          <a:ln w="12700">
            <a:solidFill>
              <a:srgbClr val="F59E0B">
                <a:alpha val="70000"/>
              </a:srgbClr>
            </a:solidFill>
            <a:prstDash val="solid"/>
          </a:ln>
        </p:spPr>
      </p:sp>
      <p:sp>
        <p:nvSpPr>
          <p:cNvPr id="5" name="Text 3"/>
          <p:cNvSpPr/>
          <p:nvPr/>
        </p:nvSpPr>
        <p:spPr>
          <a:xfrm>
            <a:off x="10543032" y="388620"/>
            <a:ext cx="932688" cy="155448"/>
          </a:xfrm>
          <a:prstGeom prst="rect">
            <a:avLst/>
          </a:prstGeom>
          <a:noFill/>
          <a:ln/>
        </p:spPr>
        <p:txBody>
          <a:bodyPr wrap="square" lIns="0" tIns="0" rIns="0" bIns="0" rtlCol="0" anchor="ctr"/>
          <a:lstStyle/>
          <a:p>
            <a:pPr algn="ctr" indent="0" marL="0">
              <a:buNone/>
            </a:pPr>
            <a:r>
              <a:rPr lang="en-US" sz="900" b="1" dirty="0">
                <a:solidFill>
                  <a:srgbClr val="F59E0B"/>
                </a:solidFill>
              </a:rPr>
              <a:t>HASSAN</a:t>
            </a:r>
            <a:endParaRPr lang="en-US" sz="900" dirty="0"/>
          </a:p>
        </p:txBody>
      </p:sp>
      <p:sp>
        <p:nvSpPr>
          <p:cNvPr id="6" name="Shape 4"/>
          <p:cNvSpPr/>
          <p:nvPr/>
        </p:nvSpPr>
        <p:spPr>
          <a:xfrm>
            <a:off x="685800" y="1508760"/>
            <a:ext cx="1828800" cy="822960"/>
          </a:xfrm>
          <a:prstGeom prst="roundRect">
            <a:avLst>
              <a:gd name="adj" fmla="val 5556"/>
            </a:avLst>
          </a:prstGeom>
          <a:solidFill>
            <a:srgbClr val="172238"/>
          </a:solidFill>
          <a:ln w="12700">
            <a:solidFill>
              <a:srgbClr val="F59E0B"/>
            </a:solidFill>
            <a:prstDash val="solid"/>
          </a:ln>
        </p:spPr>
      </p:sp>
      <p:sp>
        <p:nvSpPr>
          <p:cNvPr id="7" name="Text 5"/>
          <p:cNvSpPr/>
          <p:nvPr/>
        </p:nvSpPr>
        <p:spPr>
          <a:xfrm>
            <a:off x="758952" y="1581912"/>
            <a:ext cx="1682496" cy="6766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Deployment</a:t>
            </a:r>
            <a:endParaRPr lang="en-US" sz="1200" dirty="0"/>
          </a:p>
          <a:p>
            <a:pPr algn="ctr" indent="0" marL="0">
              <a:buNone/>
            </a:pPr>
            <a:r>
              <a:rPr lang="en-US" sz="1200" b="1" dirty="0">
                <a:solidFill>
                  <a:srgbClr val="F7FAFC"/>
                </a:solidFill>
              </a:rPr>
              <a:t>Specification</a:t>
            </a:r>
            <a:endParaRPr lang="en-US" sz="1200" dirty="0"/>
          </a:p>
        </p:txBody>
      </p:sp>
      <p:sp>
        <p:nvSpPr>
          <p:cNvPr id="8" name="Shape 6"/>
          <p:cNvSpPr/>
          <p:nvPr/>
        </p:nvSpPr>
        <p:spPr>
          <a:xfrm>
            <a:off x="2560320" y="1920240"/>
            <a:ext cx="411480" cy="0"/>
          </a:xfrm>
          <a:prstGeom prst="line">
            <a:avLst/>
          </a:prstGeom>
          <a:noFill/>
          <a:ln w="12700">
            <a:solidFill>
              <a:srgbClr val="A9B4C7"/>
            </a:solidFill>
            <a:prstDash val="solid"/>
            <a:headEnd type="none"/>
            <a:tailEnd type="triangle"/>
          </a:ln>
        </p:spPr>
      </p:sp>
      <p:sp>
        <p:nvSpPr>
          <p:cNvPr id="9" name="Shape 7"/>
          <p:cNvSpPr/>
          <p:nvPr/>
        </p:nvSpPr>
        <p:spPr>
          <a:xfrm>
            <a:off x="3017520" y="1508760"/>
            <a:ext cx="1828800" cy="822960"/>
          </a:xfrm>
          <a:prstGeom prst="roundRect">
            <a:avLst>
              <a:gd name="adj" fmla="val 5556"/>
            </a:avLst>
          </a:prstGeom>
          <a:solidFill>
            <a:srgbClr val="172238"/>
          </a:solidFill>
          <a:ln w="12700">
            <a:solidFill>
              <a:srgbClr val="FBBF24"/>
            </a:solidFill>
            <a:prstDash val="solid"/>
          </a:ln>
        </p:spPr>
      </p:sp>
      <p:sp>
        <p:nvSpPr>
          <p:cNvPr id="10" name="Text 8"/>
          <p:cNvSpPr/>
          <p:nvPr/>
        </p:nvSpPr>
        <p:spPr>
          <a:xfrm>
            <a:off x="3090672" y="1581912"/>
            <a:ext cx="1682496" cy="6766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Terraform</a:t>
            </a:r>
            <a:endParaRPr lang="en-US" sz="1200" dirty="0"/>
          </a:p>
          <a:p>
            <a:pPr algn="ctr" indent="0" marL="0">
              <a:buNone/>
            </a:pPr>
            <a:r>
              <a:rPr lang="en-US" sz="1200" b="1" dirty="0">
                <a:solidFill>
                  <a:srgbClr val="F7FAFC"/>
                </a:solidFill>
              </a:rPr>
              <a:t>Plan / Apply</a:t>
            </a:r>
            <a:endParaRPr lang="en-US" sz="1200" dirty="0"/>
          </a:p>
        </p:txBody>
      </p:sp>
      <p:sp>
        <p:nvSpPr>
          <p:cNvPr id="11" name="Shape 9"/>
          <p:cNvSpPr/>
          <p:nvPr/>
        </p:nvSpPr>
        <p:spPr>
          <a:xfrm>
            <a:off x="4892040" y="1920240"/>
            <a:ext cx="411480" cy="0"/>
          </a:xfrm>
          <a:prstGeom prst="line">
            <a:avLst/>
          </a:prstGeom>
          <a:noFill/>
          <a:ln w="12700">
            <a:solidFill>
              <a:srgbClr val="A9B4C7"/>
            </a:solidFill>
            <a:prstDash val="solid"/>
            <a:headEnd type="none"/>
            <a:tailEnd type="triangle"/>
          </a:ln>
        </p:spPr>
      </p:sp>
      <p:sp>
        <p:nvSpPr>
          <p:cNvPr id="12" name="Shape 10"/>
          <p:cNvSpPr/>
          <p:nvPr/>
        </p:nvSpPr>
        <p:spPr>
          <a:xfrm>
            <a:off x="5349240" y="1508760"/>
            <a:ext cx="1828800" cy="822960"/>
          </a:xfrm>
          <a:prstGeom prst="roundRect">
            <a:avLst>
              <a:gd name="adj" fmla="val 5556"/>
            </a:avLst>
          </a:prstGeom>
          <a:solidFill>
            <a:srgbClr val="172238"/>
          </a:solidFill>
          <a:ln w="12700">
            <a:solidFill>
              <a:srgbClr val="38BDF8"/>
            </a:solidFill>
            <a:prstDash val="solid"/>
          </a:ln>
        </p:spPr>
      </p:sp>
      <p:sp>
        <p:nvSpPr>
          <p:cNvPr id="13" name="Text 11"/>
          <p:cNvSpPr/>
          <p:nvPr/>
        </p:nvSpPr>
        <p:spPr>
          <a:xfrm>
            <a:off x="5422392" y="1581912"/>
            <a:ext cx="1682496" cy="6766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AWS APIs</a:t>
            </a:r>
            <a:endParaRPr lang="en-US" sz="1200" dirty="0"/>
          </a:p>
        </p:txBody>
      </p:sp>
      <p:sp>
        <p:nvSpPr>
          <p:cNvPr id="14" name="Shape 12"/>
          <p:cNvSpPr/>
          <p:nvPr/>
        </p:nvSpPr>
        <p:spPr>
          <a:xfrm>
            <a:off x="7223760" y="1920240"/>
            <a:ext cx="411480" cy="0"/>
          </a:xfrm>
          <a:prstGeom prst="line">
            <a:avLst/>
          </a:prstGeom>
          <a:noFill/>
          <a:ln w="12700">
            <a:solidFill>
              <a:srgbClr val="A9B4C7"/>
            </a:solidFill>
            <a:prstDash val="solid"/>
            <a:headEnd type="none"/>
            <a:tailEnd type="triangle"/>
          </a:ln>
        </p:spPr>
      </p:sp>
      <p:sp>
        <p:nvSpPr>
          <p:cNvPr id="15" name="Shape 13"/>
          <p:cNvSpPr/>
          <p:nvPr/>
        </p:nvSpPr>
        <p:spPr>
          <a:xfrm>
            <a:off x="7680960" y="1508760"/>
            <a:ext cx="3566160" cy="822960"/>
          </a:xfrm>
          <a:prstGeom prst="roundRect">
            <a:avLst>
              <a:gd name="adj" fmla="val 5556"/>
            </a:avLst>
          </a:prstGeom>
          <a:solidFill>
            <a:srgbClr val="172238"/>
          </a:solidFill>
          <a:ln w="12700">
            <a:solidFill>
              <a:srgbClr val="22C55E"/>
            </a:solidFill>
            <a:prstDash val="solid"/>
          </a:ln>
        </p:spPr>
      </p:sp>
      <p:sp>
        <p:nvSpPr>
          <p:cNvPr id="16" name="Text 14"/>
          <p:cNvSpPr/>
          <p:nvPr/>
        </p:nvSpPr>
        <p:spPr>
          <a:xfrm>
            <a:off x="7754112" y="1581912"/>
            <a:ext cx="3419856" cy="6766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Project Infrastructure</a:t>
            </a:r>
            <a:endParaRPr lang="en-US" sz="1200" dirty="0"/>
          </a:p>
        </p:txBody>
      </p:sp>
      <p:sp>
        <p:nvSpPr>
          <p:cNvPr id="17" name="Shape 15"/>
          <p:cNvSpPr/>
          <p:nvPr/>
        </p:nvSpPr>
        <p:spPr>
          <a:xfrm>
            <a:off x="822960" y="3246120"/>
            <a:ext cx="2423160" cy="310896"/>
          </a:xfrm>
          <a:prstGeom prst="roundRect">
            <a:avLst/>
          </a:prstGeom>
          <a:solidFill>
            <a:srgbClr val="22C55E">
              <a:alpha val="18000"/>
            </a:srgbClr>
          </a:solidFill>
          <a:ln w="12700">
            <a:solidFill>
              <a:srgbClr val="22C55E">
                <a:alpha val="70000"/>
              </a:srgbClr>
            </a:solidFill>
            <a:prstDash val="solid"/>
          </a:ln>
        </p:spPr>
      </p:sp>
      <p:sp>
        <p:nvSpPr>
          <p:cNvPr id="18" name="Text 16"/>
          <p:cNvSpPr/>
          <p:nvPr/>
        </p:nvSpPr>
        <p:spPr>
          <a:xfrm>
            <a:off x="877824" y="3310128"/>
            <a:ext cx="2313432" cy="155448"/>
          </a:xfrm>
          <a:prstGeom prst="rect">
            <a:avLst/>
          </a:prstGeom>
          <a:noFill/>
          <a:ln/>
        </p:spPr>
        <p:txBody>
          <a:bodyPr wrap="square" lIns="0" tIns="0" rIns="0" bIns="0" rtlCol="0" anchor="ctr"/>
          <a:lstStyle/>
          <a:p>
            <a:pPr algn="ctr" indent="0" marL="0">
              <a:buNone/>
            </a:pPr>
            <a:r>
              <a:rPr lang="en-US" sz="950" b="1" dirty="0">
                <a:solidFill>
                  <a:srgbClr val="22C55E"/>
                </a:solidFill>
              </a:rPr>
              <a:t>ECS task/service</a:t>
            </a:r>
            <a:endParaRPr lang="en-US" sz="950" dirty="0"/>
          </a:p>
        </p:txBody>
      </p:sp>
      <p:sp>
        <p:nvSpPr>
          <p:cNvPr id="19" name="Shape 17"/>
          <p:cNvSpPr/>
          <p:nvPr/>
        </p:nvSpPr>
        <p:spPr>
          <a:xfrm>
            <a:off x="3611880" y="3246120"/>
            <a:ext cx="2423160" cy="310896"/>
          </a:xfrm>
          <a:prstGeom prst="roundRect">
            <a:avLst/>
          </a:prstGeom>
          <a:solidFill>
            <a:srgbClr val="38BDF8">
              <a:alpha val="18000"/>
            </a:srgbClr>
          </a:solidFill>
          <a:ln w="12700">
            <a:solidFill>
              <a:srgbClr val="38BDF8">
                <a:alpha val="70000"/>
              </a:srgbClr>
            </a:solidFill>
            <a:prstDash val="solid"/>
          </a:ln>
        </p:spPr>
      </p:sp>
      <p:sp>
        <p:nvSpPr>
          <p:cNvPr id="20" name="Text 18"/>
          <p:cNvSpPr/>
          <p:nvPr/>
        </p:nvSpPr>
        <p:spPr>
          <a:xfrm>
            <a:off x="3666744" y="3310128"/>
            <a:ext cx="2313432" cy="155448"/>
          </a:xfrm>
          <a:prstGeom prst="rect">
            <a:avLst/>
          </a:prstGeom>
          <a:noFill/>
          <a:ln/>
        </p:spPr>
        <p:txBody>
          <a:bodyPr wrap="square" lIns="0" tIns="0" rIns="0" bIns="0" rtlCol="0" anchor="ctr"/>
          <a:lstStyle/>
          <a:p>
            <a:pPr algn="ctr" indent="0" marL="0">
              <a:buNone/>
            </a:pPr>
            <a:r>
              <a:rPr lang="en-US" sz="950" b="1" dirty="0">
                <a:solidFill>
                  <a:srgbClr val="38BDF8"/>
                </a:solidFill>
              </a:rPr>
              <a:t>Load balancer / target group</a:t>
            </a:r>
            <a:endParaRPr lang="en-US" sz="950" dirty="0"/>
          </a:p>
        </p:txBody>
      </p:sp>
      <p:sp>
        <p:nvSpPr>
          <p:cNvPr id="21" name="Shape 19"/>
          <p:cNvSpPr/>
          <p:nvPr/>
        </p:nvSpPr>
        <p:spPr>
          <a:xfrm>
            <a:off x="6400800" y="3246120"/>
            <a:ext cx="2423160" cy="310896"/>
          </a:xfrm>
          <a:prstGeom prst="roundRect">
            <a:avLst/>
          </a:prstGeom>
          <a:solidFill>
            <a:srgbClr val="F59E0B">
              <a:alpha val="18000"/>
            </a:srgbClr>
          </a:solidFill>
          <a:ln w="12700">
            <a:solidFill>
              <a:srgbClr val="F59E0B">
                <a:alpha val="70000"/>
              </a:srgbClr>
            </a:solidFill>
            <a:prstDash val="solid"/>
          </a:ln>
        </p:spPr>
      </p:sp>
      <p:sp>
        <p:nvSpPr>
          <p:cNvPr id="22" name="Text 20"/>
          <p:cNvSpPr/>
          <p:nvPr/>
        </p:nvSpPr>
        <p:spPr>
          <a:xfrm>
            <a:off x="6455664" y="3310128"/>
            <a:ext cx="2313432" cy="155448"/>
          </a:xfrm>
          <a:prstGeom prst="rect">
            <a:avLst/>
          </a:prstGeom>
          <a:noFill/>
          <a:ln/>
        </p:spPr>
        <p:txBody>
          <a:bodyPr wrap="square" lIns="0" tIns="0" rIns="0" bIns="0" rtlCol="0" anchor="ctr"/>
          <a:lstStyle/>
          <a:p>
            <a:pPr algn="ctr" indent="0" marL="0">
              <a:buNone/>
            </a:pPr>
            <a:r>
              <a:rPr lang="en-US" sz="950" b="1" dirty="0">
                <a:solidFill>
                  <a:srgbClr val="F59E0B"/>
                </a:solidFill>
              </a:rPr>
              <a:t>Security groups</a:t>
            </a:r>
            <a:endParaRPr lang="en-US" sz="950" dirty="0"/>
          </a:p>
        </p:txBody>
      </p:sp>
      <p:sp>
        <p:nvSpPr>
          <p:cNvPr id="23" name="Shape 21"/>
          <p:cNvSpPr/>
          <p:nvPr/>
        </p:nvSpPr>
        <p:spPr>
          <a:xfrm>
            <a:off x="9189720" y="3246120"/>
            <a:ext cx="2423160" cy="310896"/>
          </a:xfrm>
          <a:prstGeom prst="roundRect">
            <a:avLst/>
          </a:prstGeom>
          <a:solidFill>
            <a:srgbClr val="A78BFA">
              <a:alpha val="18000"/>
            </a:srgbClr>
          </a:solidFill>
          <a:ln w="12700">
            <a:solidFill>
              <a:srgbClr val="A78BFA">
                <a:alpha val="70000"/>
              </a:srgbClr>
            </a:solidFill>
            <a:prstDash val="solid"/>
          </a:ln>
        </p:spPr>
      </p:sp>
      <p:sp>
        <p:nvSpPr>
          <p:cNvPr id="24" name="Text 22"/>
          <p:cNvSpPr/>
          <p:nvPr/>
        </p:nvSpPr>
        <p:spPr>
          <a:xfrm>
            <a:off x="9244584" y="3310128"/>
            <a:ext cx="2313432" cy="155448"/>
          </a:xfrm>
          <a:prstGeom prst="rect">
            <a:avLst/>
          </a:prstGeom>
          <a:noFill/>
          <a:ln/>
        </p:spPr>
        <p:txBody>
          <a:bodyPr wrap="square" lIns="0" tIns="0" rIns="0" bIns="0" rtlCol="0" anchor="ctr"/>
          <a:lstStyle/>
          <a:p>
            <a:pPr algn="ctr" indent="0" marL="0">
              <a:buNone/>
            </a:pPr>
            <a:r>
              <a:rPr lang="en-US" sz="950" b="1" dirty="0">
                <a:solidFill>
                  <a:srgbClr val="A78BFA"/>
                </a:solidFill>
              </a:rPr>
              <a:t>CloudWatch logs</a:t>
            </a:r>
            <a:endParaRPr lang="en-US" sz="950" dirty="0"/>
          </a:p>
        </p:txBody>
      </p:sp>
      <p:sp>
        <p:nvSpPr>
          <p:cNvPr id="25" name="Shape 23"/>
          <p:cNvSpPr/>
          <p:nvPr/>
        </p:nvSpPr>
        <p:spPr>
          <a:xfrm>
            <a:off x="822960" y="3886200"/>
            <a:ext cx="2423160" cy="310896"/>
          </a:xfrm>
          <a:prstGeom prst="roundRect">
            <a:avLst/>
          </a:prstGeom>
          <a:solidFill>
            <a:srgbClr val="22C55E">
              <a:alpha val="18000"/>
            </a:srgbClr>
          </a:solidFill>
          <a:ln w="12700">
            <a:solidFill>
              <a:srgbClr val="22C55E">
                <a:alpha val="70000"/>
              </a:srgbClr>
            </a:solidFill>
            <a:prstDash val="solid"/>
          </a:ln>
        </p:spPr>
      </p:sp>
      <p:sp>
        <p:nvSpPr>
          <p:cNvPr id="26" name="Text 24"/>
          <p:cNvSpPr/>
          <p:nvPr/>
        </p:nvSpPr>
        <p:spPr>
          <a:xfrm>
            <a:off x="877824" y="3950208"/>
            <a:ext cx="2313432" cy="155448"/>
          </a:xfrm>
          <a:prstGeom prst="rect">
            <a:avLst/>
          </a:prstGeom>
          <a:noFill/>
          <a:ln/>
        </p:spPr>
        <p:txBody>
          <a:bodyPr wrap="square" lIns="0" tIns="0" rIns="0" bIns="0" rtlCol="0" anchor="ctr"/>
          <a:lstStyle/>
          <a:p>
            <a:pPr algn="ctr" indent="0" marL="0">
              <a:buNone/>
            </a:pPr>
            <a:r>
              <a:rPr lang="en-US" sz="950" b="1" dirty="0">
                <a:solidFill>
                  <a:srgbClr val="22C55E"/>
                </a:solidFill>
              </a:rPr>
              <a:t>IAM execution role</a:t>
            </a:r>
            <a:endParaRPr lang="en-US" sz="950" dirty="0"/>
          </a:p>
        </p:txBody>
      </p:sp>
      <p:sp>
        <p:nvSpPr>
          <p:cNvPr id="27" name="Shape 25"/>
          <p:cNvSpPr/>
          <p:nvPr/>
        </p:nvSpPr>
        <p:spPr>
          <a:xfrm>
            <a:off x="3611880" y="3886200"/>
            <a:ext cx="2423160" cy="310896"/>
          </a:xfrm>
          <a:prstGeom prst="roundRect">
            <a:avLst/>
          </a:prstGeom>
          <a:solidFill>
            <a:srgbClr val="38BDF8">
              <a:alpha val="18000"/>
            </a:srgbClr>
          </a:solidFill>
          <a:ln w="12700">
            <a:solidFill>
              <a:srgbClr val="38BDF8">
                <a:alpha val="70000"/>
              </a:srgbClr>
            </a:solidFill>
            <a:prstDash val="solid"/>
          </a:ln>
        </p:spPr>
      </p:sp>
      <p:sp>
        <p:nvSpPr>
          <p:cNvPr id="28" name="Text 26"/>
          <p:cNvSpPr/>
          <p:nvPr/>
        </p:nvSpPr>
        <p:spPr>
          <a:xfrm>
            <a:off x="3666744" y="3950208"/>
            <a:ext cx="2313432" cy="155448"/>
          </a:xfrm>
          <a:prstGeom prst="rect">
            <a:avLst/>
          </a:prstGeom>
          <a:noFill/>
          <a:ln/>
        </p:spPr>
        <p:txBody>
          <a:bodyPr wrap="square" lIns="0" tIns="0" rIns="0" bIns="0" rtlCol="0" anchor="ctr"/>
          <a:lstStyle/>
          <a:p>
            <a:pPr algn="ctr" indent="0" marL="0">
              <a:buNone/>
            </a:pPr>
            <a:r>
              <a:rPr lang="en-US" sz="950" b="1" dirty="0">
                <a:solidFill>
                  <a:srgbClr val="38BDF8"/>
                </a:solidFill>
              </a:rPr>
              <a:t>Secrets wiring</a:t>
            </a:r>
            <a:endParaRPr lang="en-US" sz="950" dirty="0"/>
          </a:p>
        </p:txBody>
      </p:sp>
      <p:sp>
        <p:nvSpPr>
          <p:cNvPr id="29" name="Shape 27"/>
          <p:cNvSpPr/>
          <p:nvPr/>
        </p:nvSpPr>
        <p:spPr>
          <a:xfrm>
            <a:off x="6400800" y="3886200"/>
            <a:ext cx="2423160" cy="310896"/>
          </a:xfrm>
          <a:prstGeom prst="roundRect">
            <a:avLst/>
          </a:prstGeom>
          <a:solidFill>
            <a:srgbClr val="F59E0B">
              <a:alpha val="18000"/>
            </a:srgbClr>
          </a:solidFill>
          <a:ln w="12700">
            <a:solidFill>
              <a:srgbClr val="F59E0B">
                <a:alpha val="70000"/>
              </a:srgbClr>
            </a:solidFill>
            <a:prstDash val="solid"/>
          </a:ln>
        </p:spPr>
      </p:sp>
      <p:sp>
        <p:nvSpPr>
          <p:cNvPr id="30" name="Text 28"/>
          <p:cNvSpPr/>
          <p:nvPr/>
        </p:nvSpPr>
        <p:spPr>
          <a:xfrm>
            <a:off x="6455664" y="3950208"/>
            <a:ext cx="2313432" cy="155448"/>
          </a:xfrm>
          <a:prstGeom prst="rect">
            <a:avLst/>
          </a:prstGeom>
          <a:noFill/>
          <a:ln/>
        </p:spPr>
        <p:txBody>
          <a:bodyPr wrap="square" lIns="0" tIns="0" rIns="0" bIns="0" rtlCol="0" anchor="ctr"/>
          <a:lstStyle/>
          <a:p>
            <a:pPr algn="ctr" indent="0" marL="0">
              <a:buNone/>
            </a:pPr>
            <a:r>
              <a:rPr lang="en-US" sz="950" b="1" dirty="0">
                <a:solidFill>
                  <a:srgbClr val="F59E0B"/>
                </a:solidFill>
              </a:rPr>
              <a:t>EFS when required</a:t>
            </a:r>
            <a:endParaRPr lang="en-US" sz="950" dirty="0"/>
          </a:p>
        </p:txBody>
      </p:sp>
      <p:sp>
        <p:nvSpPr>
          <p:cNvPr id="31" name="Shape 29"/>
          <p:cNvSpPr/>
          <p:nvPr/>
        </p:nvSpPr>
        <p:spPr>
          <a:xfrm>
            <a:off x="9189720" y="3886200"/>
            <a:ext cx="2423160" cy="310896"/>
          </a:xfrm>
          <a:prstGeom prst="roundRect">
            <a:avLst/>
          </a:prstGeom>
          <a:solidFill>
            <a:srgbClr val="A78BFA">
              <a:alpha val="18000"/>
            </a:srgbClr>
          </a:solidFill>
          <a:ln w="12700">
            <a:solidFill>
              <a:srgbClr val="A78BFA">
                <a:alpha val="70000"/>
              </a:srgbClr>
            </a:solidFill>
            <a:prstDash val="solid"/>
          </a:ln>
        </p:spPr>
      </p:sp>
      <p:sp>
        <p:nvSpPr>
          <p:cNvPr id="32" name="Text 30"/>
          <p:cNvSpPr/>
          <p:nvPr/>
        </p:nvSpPr>
        <p:spPr>
          <a:xfrm>
            <a:off x="9244584" y="3950208"/>
            <a:ext cx="2313432" cy="155448"/>
          </a:xfrm>
          <a:prstGeom prst="rect">
            <a:avLst/>
          </a:prstGeom>
          <a:noFill/>
          <a:ln/>
        </p:spPr>
        <p:txBody>
          <a:bodyPr wrap="square" lIns="0" tIns="0" rIns="0" bIns="0" rtlCol="0" anchor="ctr"/>
          <a:lstStyle/>
          <a:p>
            <a:pPr algn="ctr" indent="0" marL="0">
              <a:buNone/>
            </a:pPr>
            <a:r>
              <a:rPr lang="en-US" sz="950" b="1" dirty="0">
                <a:solidFill>
                  <a:srgbClr val="A78BFA"/>
                </a:solidFill>
              </a:rPr>
              <a:t>Service discovery / DNS</a:t>
            </a:r>
            <a:endParaRPr lang="en-US" sz="950" dirty="0"/>
          </a:p>
        </p:txBody>
      </p:sp>
      <p:sp>
        <p:nvSpPr>
          <p:cNvPr id="33" name="Text 31"/>
          <p:cNvSpPr/>
          <p:nvPr/>
        </p:nvSpPr>
        <p:spPr>
          <a:xfrm>
            <a:off x="822960" y="4937760"/>
            <a:ext cx="2286000" cy="274320"/>
          </a:xfrm>
          <a:prstGeom prst="rect">
            <a:avLst/>
          </a:prstGeom>
          <a:noFill/>
          <a:ln/>
        </p:spPr>
        <p:txBody>
          <a:bodyPr wrap="square" lIns="0" tIns="0" rIns="0" bIns="0" rtlCol="0" anchor="ctr"/>
          <a:lstStyle/>
          <a:p>
            <a:pPr indent="0" marL="0">
              <a:buNone/>
            </a:pPr>
            <a:r>
              <a:rPr lang="en-US" sz="1400" b="1" dirty="0">
                <a:solidFill>
                  <a:srgbClr val="F7FAFC"/>
                </a:solidFill>
              </a:rPr>
              <a:t>Why one authority?</a:t>
            </a:r>
            <a:endParaRPr lang="en-US" sz="1400" dirty="0"/>
          </a:p>
        </p:txBody>
      </p:sp>
      <p:sp>
        <p:nvSpPr>
          <p:cNvPr id="34" name="Text 32"/>
          <p:cNvSpPr/>
          <p:nvPr/>
        </p:nvSpPr>
        <p:spPr>
          <a:xfrm>
            <a:off x="2560320" y="4892040"/>
            <a:ext cx="8641080" cy="548640"/>
          </a:xfrm>
          <a:prstGeom prst="rect">
            <a:avLst/>
          </a:prstGeom>
          <a:noFill/>
          <a:ln/>
        </p:spPr>
        <p:txBody>
          <a:bodyPr wrap="square" lIns="0" tIns="0" rIns="0" bIns="0" rtlCol="0" anchor="ctr"/>
          <a:lstStyle/>
          <a:p>
            <a:pPr indent="0" marL="0">
              <a:buNone/>
            </a:pPr>
            <a:r>
              <a:rPr lang="en-US" sz="1300" dirty="0">
                <a:solidFill>
                  <a:srgbClr val="A9B4C7"/>
                </a:solidFill>
              </a:rPr>
              <a:t>The backend does not create the same infrastructure in parallel through direct SDK calls. This protects Terraform state and keeps lifecycle ownership deterministic.</a:t>
            </a:r>
            <a:endParaRPr lang="en-US" sz="1300" dirty="0"/>
          </a:p>
        </p:txBody>
      </p:sp>
      <p:sp>
        <p:nvSpPr>
          <p:cNvPr id="25" name="Slide Number Placeholder 0"/>
          <p:cNvSpPr>
            <a:spLocks noGrp="1"/>
          </p:cNvSpPr>
          <p:nvPr>
            <p:ph type="sldNum" sz="quarter" idx="4294967295"/>
          </p:nvPr>
        </p:nvSpPr>
        <p:spPr>
          <a:xfrm>
            <a:off x="1138428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7C8AA5"/>
                </a:solidFill>
                <a:latin typeface="Aptos"/>
                <a:ea typeface="Aptos"/>
                <a:cs typeface="Aptos"/>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02920" y="320040"/>
            <a:ext cx="11064240" cy="502920"/>
          </a:xfrm>
          <a:prstGeom prst="rect">
            <a:avLst/>
          </a:prstGeom>
          <a:noFill/>
          <a:ln/>
        </p:spPr>
        <p:txBody>
          <a:bodyPr wrap="square" lIns="0" tIns="0" rIns="0" bIns="0" rtlCol="0" anchor="ctr"/>
          <a:lstStyle/>
          <a:p>
            <a:pPr indent="0" marL="0">
              <a:buNone/>
            </a:pPr>
            <a:r>
              <a:rPr lang="en-US" sz="2800" b="1" dirty="0">
                <a:solidFill>
                  <a:srgbClr val="F7FAFC"/>
                </a:solidFill>
                <a:latin typeface="Aptos Display" pitchFamily="34" charset="0"/>
                <a:ea typeface="Aptos Display" pitchFamily="34" charset="-122"/>
                <a:cs typeface="Aptos Display" pitchFamily="34" charset="-120"/>
              </a:rPr>
              <a:t>6. AWS runtime and traffic path</a:t>
            </a:r>
            <a:endParaRPr lang="en-US" sz="2800" dirty="0"/>
          </a:p>
        </p:txBody>
      </p:sp>
      <p:sp>
        <p:nvSpPr>
          <p:cNvPr id="3" name="Text 1"/>
          <p:cNvSpPr/>
          <p:nvPr/>
        </p:nvSpPr>
        <p:spPr>
          <a:xfrm>
            <a:off x="521208" y="868680"/>
            <a:ext cx="10972800" cy="310896"/>
          </a:xfrm>
          <a:prstGeom prst="rect">
            <a:avLst/>
          </a:prstGeom>
          <a:noFill/>
          <a:ln/>
        </p:spPr>
        <p:txBody>
          <a:bodyPr wrap="square" lIns="0" tIns="0" rIns="0" bIns="0" rtlCol="0" anchor="ctr"/>
          <a:lstStyle/>
          <a:p>
            <a:pPr indent="0" marL="0">
              <a:buNone/>
            </a:pPr>
            <a:r>
              <a:rPr lang="en-US" sz="1250" dirty="0">
                <a:solidFill>
                  <a:srgbClr val="A9B4C7"/>
                </a:solidFill>
              </a:rPr>
              <a:t>How a successful deployment becomes a reachable application</a:t>
            </a:r>
            <a:endParaRPr lang="en-US" sz="1250" dirty="0"/>
          </a:p>
        </p:txBody>
      </p:sp>
      <p:sp>
        <p:nvSpPr>
          <p:cNvPr id="4" name="Shape 2"/>
          <p:cNvSpPr/>
          <p:nvPr/>
        </p:nvSpPr>
        <p:spPr>
          <a:xfrm>
            <a:off x="10469880" y="338328"/>
            <a:ext cx="1078992" cy="274320"/>
          </a:xfrm>
          <a:prstGeom prst="roundRect">
            <a:avLst>
              <a:gd name="adj" fmla="val 16667"/>
            </a:avLst>
          </a:prstGeom>
          <a:solidFill>
            <a:srgbClr val="F59E0B">
              <a:alpha val="20000"/>
            </a:srgbClr>
          </a:solidFill>
          <a:ln w="12700">
            <a:solidFill>
              <a:srgbClr val="F59E0B">
                <a:alpha val="70000"/>
              </a:srgbClr>
            </a:solidFill>
            <a:prstDash val="solid"/>
          </a:ln>
        </p:spPr>
      </p:sp>
      <p:sp>
        <p:nvSpPr>
          <p:cNvPr id="5" name="Text 3"/>
          <p:cNvSpPr/>
          <p:nvPr/>
        </p:nvSpPr>
        <p:spPr>
          <a:xfrm>
            <a:off x="10543032" y="388620"/>
            <a:ext cx="932688" cy="155448"/>
          </a:xfrm>
          <a:prstGeom prst="rect">
            <a:avLst/>
          </a:prstGeom>
          <a:noFill/>
          <a:ln/>
        </p:spPr>
        <p:txBody>
          <a:bodyPr wrap="square" lIns="0" tIns="0" rIns="0" bIns="0" rtlCol="0" anchor="ctr"/>
          <a:lstStyle/>
          <a:p>
            <a:pPr algn="ctr" indent="0" marL="0">
              <a:buNone/>
            </a:pPr>
            <a:r>
              <a:rPr lang="en-US" sz="900" b="1" dirty="0">
                <a:solidFill>
                  <a:srgbClr val="F59E0B"/>
                </a:solidFill>
              </a:rPr>
              <a:t>HASSAN</a:t>
            </a:r>
            <a:endParaRPr lang="en-US" sz="900" dirty="0"/>
          </a:p>
        </p:txBody>
      </p:sp>
      <p:sp>
        <p:nvSpPr>
          <p:cNvPr id="6" name="Shape 4"/>
          <p:cNvSpPr/>
          <p:nvPr/>
        </p:nvSpPr>
        <p:spPr>
          <a:xfrm>
            <a:off x="502920" y="1828800"/>
            <a:ext cx="1874520" cy="868680"/>
          </a:xfrm>
          <a:prstGeom prst="roundRect">
            <a:avLst>
              <a:gd name="adj" fmla="val 5263"/>
            </a:avLst>
          </a:prstGeom>
          <a:solidFill>
            <a:srgbClr val="172238"/>
          </a:solidFill>
          <a:ln w="12700">
            <a:solidFill>
              <a:srgbClr val="A78BFA"/>
            </a:solidFill>
            <a:prstDash val="solid"/>
          </a:ln>
        </p:spPr>
      </p:sp>
      <p:sp>
        <p:nvSpPr>
          <p:cNvPr id="7" name="Text 5"/>
          <p:cNvSpPr/>
          <p:nvPr/>
        </p:nvSpPr>
        <p:spPr>
          <a:xfrm>
            <a:off x="576072" y="1901952"/>
            <a:ext cx="1728216" cy="72237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Client</a:t>
            </a:r>
            <a:endParaRPr lang="en-US" sz="1200" dirty="0"/>
          </a:p>
        </p:txBody>
      </p:sp>
      <p:sp>
        <p:nvSpPr>
          <p:cNvPr id="8" name="Shape 6"/>
          <p:cNvSpPr/>
          <p:nvPr/>
        </p:nvSpPr>
        <p:spPr>
          <a:xfrm>
            <a:off x="2404872" y="2267712"/>
            <a:ext cx="338328" cy="0"/>
          </a:xfrm>
          <a:prstGeom prst="line">
            <a:avLst/>
          </a:prstGeom>
          <a:noFill/>
          <a:ln w="12700">
            <a:solidFill>
              <a:srgbClr val="A9B4C7"/>
            </a:solidFill>
            <a:prstDash val="solid"/>
            <a:headEnd type="none"/>
            <a:tailEnd type="triangle"/>
          </a:ln>
        </p:spPr>
      </p:sp>
      <p:sp>
        <p:nvSpPr>
          <p:cNvPr id="9" name="Shape 7"/>
          <p:cNvSpPr/>
          <p:nvPr/>
        </p:nvSpPr>
        <p:spPr>
          <a:xfrm>
            <a:off x="2788920" y="1828800"/>
            <a:ext cx="1874520" cy="868680"/>
          </a:xfrm>
          <a:prstGeom prst="roundRect">
            <a:avLst>
              <a:gd name="adj" fmla="val 5263"/>
            </a:avLst>
          </a:prstGeom>
          <a:solidFill>
            <a:srgbClr val="172238"/>
          </a:solidFill>
          <a:ln w="12700">
            <a:solidFill>
              <a:srgbClr val="F59E0B"/>
            </a:solidFill>
            <a:prstDash val="solid"/>
          </a:ln>
        </p:spPr>
      </p:sp>
      <p:sp>
        <p:nvSpPr>
          <p:cNvPr id="10" name="Text 8"/>
          <p:cNvSpPr/>
          <p:nvPr/>
        </p:nvSpPr>
        <p:spPr>
          <a:xfrm>
            <a:off x="2862072" y="1901952"/>
            <a:ext cx="1728216" cy="72237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ALB</a:t>
            </a:r>
            <a:endParaRPr lang="en-US" sz="1200" dirty="0"/>
          </a:p>
        </p:txBody>
      </p:sp>
      <p:sp>
        <p:nvSpPr>
          <p:cNvPr id="11" name="Shape 9"/>
          <p:cNvSpPr/>
          <p:nvPr/>
        </p:nvSpPr>
        <p:spPr>
          <a:xfrm>
            <a:off x="4690872" y="2267712"/>
            <a:ext cx="338328" cy="0"/>
          </a:xfrm>
          <a:prstGeom prst="line">
            <a:avLst/>
          </a:prstGeom>
          <a:noFill/>
          <a:ln w="12700">
            <a:solidFill>
              <a:srgbClr val="A9B4C7"/>
            </a:solidFill>
            <a:prstDash val="solid"/>
            <a:headEnd type="none"/>
            <a:tailEnd type="triangle"/>
          </a:ln>
        </p:spPr>
      </p:sp>
      <p:sp>
        <p:nvSpPr>
          <p:cNvPr id="12" name="Shape 10"/>
          <p:cNvSpPr/>
          <p:nvPr/>
        </p:nvSpPr>
        <p:spPr>
          <a:xfrm>
            <a:off x="5074920" y="1828800"/>
            <a:ext cx="1874520" cy="868680"/>
          </a:xfrm>
          <a:prstGeom prst="roundRect">
            <a:avLst>
              <a:gd name="adj" fmla="val 5263"/>
            </a:avLst>
          </a:prstGeom>
          <a:solidFill>
            <a:srgbClr val="172238"/>
          </a:solidFill>
          <a:ln w="12700">
            <a:solidFill>
              <a:srgbClr val="38BDF8"/>
            </a:solidFill>
            <a:prstDash val="solid"/>
          </a:ln>
        </p:spPr>
      </p:sp>
      <p:sp>
        <p:nvSpPr>
          <p:cNvPr id="13" name="Text 11"/>
          <p:cNvSpPr/>
          <p:nvPr/>
        </p:nvSpPr>
        <p:spPr>
          <a:xfrm>
            <a:off x="5148072" y="1901952"/>
            <a:ext cx="1728216" cy="72237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Target Group</a:t>
            </a:r>
            <a:endParaRPr lang="en-US" sz="1200" dirty="0"/>
          </a:p>
        </p:txBody>
      </p:sp>
      <p:sp>
        <p:nvSpPr>
          <p:cNvPr id="14" name="Shape 12"/>
          <p:cNvSpPr/>
          <p:nvPr/>
        </p:nvSpPr>
        <p:spPr>
          <a:xfrm>
            <a:off x="6976872" y="2267712"/>
            <a:ext cx="338328" cy="0"/>
          </a:xfrm>
          <a:prstGeom prst="line">
            <a:avLst/>
          </a:prstGeom>
          <a:noFill/>
          <a:ln w="12700">
            <a:solidFill>
              <a:srgbClr val="A9B4C7"/>
            </a:solidFill>
            <a:prstDash val="solid"/>
            <a:headEnd type="none"/>
            <a:tailEnd type="triangle"/>
          </a:ln>
        </p:spPr>
      </p:sp>
      <p:sp>
        <p:nvSpPr>
          <p:cNvPr id="15" name="Shape 13"/>
          <p:cNvSpPr/>
          <p:nvPr/>
        </p:nvSpPr>
        <p:spPr>
          <a:xfrm>
            <a:off x="7360920" y="1828800"/>
            <a:ext cx="1874520" cy="868680"/>
          </a:xfrm>
          <a:prstGeom prst="roundRect">
            <a:avLst>
              <a:gd name="adj" fmla="val 5263"/>
            </a:avLst>
          </a:prstGeom>
          <a:solidFill>
            <a:srgbClr val="172238"/>
          </a:solidFill>
          <a:ln w="12700">
            <a:solidFill>
              <a:srgbClr val="22C55E"/>
            </a:solidFill>
            <a:prstDash val="solid"/>
          </a:ln>
        </p:spPr>
      </p:sp>
      <p:sp>
        <p:nvSpPr>
          <p:cNvPr id="16" name="Text 14"/>
          <p:cNvSpPr/>
          <p:nvPr/>
        </p:nvSpPr>
        <p:spPr>
          <a:xfrm>
            <a:off x="7434072" y="1901952"/>
            <a:ext cx="1728216" cy="72237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ECS Service</a:t>
            </a:r>
            <a:endParaRPr lang="en-US" sz="1200" dirty="0"/>
          </a:p>
        </p:txBody>
      </p:sp>
      <p:sp>
        <p:nvSpPr>
          <p:cNvPr id="17" name="Shape 15"/>
          <p:cNvSpPr/>
          <p:nvPr/>
        </p:nvSpPr>
        <p:spPr>
          <a:xfrm>
            <a:off x="9262872" y="2267712"/>
            <a:ext cx="338328" cy="0"/>
          </a:xfrm>
          <a:prstGeom prst="line">
            <a:avLst/>
          </a:prstGeom>
          <a:noFill/>
          <a:ln w="12700">
            <a:solidFill>
              <a:srgbClr val="A9B4C7"/>
            </a:solidFill>
            <a:prstDash val="solid"/>
            <a:headEnd type="none"/>
            <a:tailEnd type="triangle"/>
          </a:ln>
        </p:spPr>
      </p:sp>
      <p:sp>
        <p:nvSpPr>
          <p:cNvPr id="18" name="Shape 16"/>
          <p:cNvSpPr/>
          <p:nvPr/>
        </p:nvSpPr>
        <p:spPr>
          <a:xfrm>
            <a:off x="9646920" y="1828800"/>
            <a:ext cx="1874520" cy="868680"/>
          </a:xfrm>
          <a:prstGeom prst="roundRect">
            <a:avLst>
              <a:gd name="adj" fmla="val 5263"/>
            </a:avLst>
          </a:prstGeom>
          <a:solidFill>
            <a:srgbClr val="172238"/>
          </a:solidFill>
          <a:ln w="12700">
            <a:solidFill>
              <a:srgbClr val="06B6D4"/>
            </a:solidFill>
            <a:prstDash val="solid"/>
          </a:ln>
        </p:spPr>
      </p:sp>
      <p:sp>
        <p:nvSpPr>
          <p:cNvPr id="19" name="Text 17"/>
          <p:cNvSpPr/>
          <p:nvPr/>
        </p:nvSpPr>
        <p:spPr>
          <a:xfrm>
            <a:off x="9720072" y="1901952"/>
            <a:ext cx="1728216" cy="72237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Task / Container</a:t>
            </a:r>
            <a:endParaRPr lang="en-US" sz="1200" dirty="0"/>
          </a:p>
        </p:txBody>
      </p:sp>
      <p:sp>
        <p:nvSpPr>
          <p:cNvPr id="20" name="Shape 18"/>
          <p:cNvSpPr/>
          <p:nvPr/>
        </p:nvSpPr>
        <p:spPr>
          <a:xfrm>
            <a:off x="731520" y="3337560"/>
            <a:ext cx="3383280" cy="1600200"/>
          </a:xfrm>
          <a:prstGeom prst="roundRect">
            <a:avLst>
              <a:gd name="adj" fmla="val 3429"/>
            </a:avLst>
          </a:prstGeom>
          <a:solidFill>
            <a:srgbClr val="121A2D"/>
          </a:solidFill>
          <a:ln w="12700">
            <a:solidFill>
              <a:srgbClr val="2A3853"/>
            </a:solidFill>
            <a:prstDash val="solid"/>
          </a:ln>
        </p:spPr>
      </p:sp>
      <p:sp>
        <p:nvSpPr>
          <p:cNvPr id="21" name="Shape 19"/>
          <p:cNvSpPr/>
          <p:nvPr/>
        </p:nvSpPr>
        <p:spPr>
          <a:xfrm>
            <a:off x="731520" y="3337560"/>
            <a:ext cx="54864" cy="1600200"/>
          </a:xfrm>
          <a:prstGeom prst="rect">
            <a:avLst/>
          </a:prstGeom>
          <a:solidFill>
            <a:srgbClr val="EF4444"/>
          </a:solidFill>
          <a:ln w="12700">
            <a:solidFill>
              <a:srgbClr val="EF4444"/>
            </a:solidFill>
            <a:prstDash val="solid"/>
          </a:ln>
        </p:spPr>
      </p:sp>
      <p:sp>
        <p:nvSpPr>
          <p:cNvPr id="22" name="Text 20"/>
          <p:cNvSpPr/>
          <p:nvPr/>
        </p:nvSpPr>
        <p:spPr>
          <a:xfrm>
            <a:off x="932688" y="3493008"/>
            <a:ext cx="3063240" cy="292608"/>
          </a:xfrm>
          <a:prstGeom prst="rect">
            <a:avLst/>
          </a:prstGeom>
          <a:noFill/>
          <a:ln/>
        </p:spPr>
        <p:txBody>
          <a:bodyPr wrap="square" lIns="0" tIns="0" rIns="0" bIns="0" rtlCol="0" anchor="ctr"/>
          <a:lstStyle/>
          <a:p>
            <a:pPr indent="0" marL="0">
              <a:buNone/>
            </a:pPr>
            <a:r>
              <a:rPr lang="en-US" sz="1500" b="1" dirty="0">
                <a:solidFill>
                  <a:srgbClr val="F7FAFC"/>
                </a:solidFill>
              </a:rPr>
              <a:t>Network boundary</a:t>
            </a:r>
            <a:endParaRPr lang="en-US" sz="1500" dirty="0"/>
          </a:p>
        </p:txBody>
      </p:sp>
      <p:sp>
        <p:nvSpPr>
          <p:cNvPr id="23" name="Text 21"/>
          <p:cNvSpPr/>
          <p:nvPr/>
        </p:nvSpPr>
        <p:spPr>
          <a:xfrm>
            <a:off x="932688" y="3904488"/>
            <a:ext cx="3017520" cy="914400"/>
          </a:xfrm>
          <a:prstGeom prst="rect">
            <a:avLst/>
          </a:prstGeom>
          <a:noFill/>
          <a:ln/>
        </p:spPr>
        <p:txBody>
          <a:bodyPr wrap="square" lIns="254" tIns="254" rIns="254" bIns="254" rtlCol="0" anchor="t">
            <a:normAutofit/>
          </a:bodyPr>
          <a:lstStyle/>
          <a:p>
            <a:pPr indent="0" marL="0">
              <a:buNone/>
            </a:pPr>
            <a:r>
              <a:rPr lang="en-US" sz="1150" dirty="0">
                <a:solidFill>
                  <a:srgbClr val="A9B4C7"/>
                </a:solidFill>
              </a:rPr>
              <a:t>Security groups restrict traffic between the load balancer and the running task.</a:t>
            </a:r>
            <a:endParaRPr lang="en-US" sz="1150" dirty="0"/>
          </a:p>
        </p:txBody>
      </p:sp>
      <p:sp>
        <p:nvSpPr>
          <p:cNvPr id="24" name="Shape 22"/>
          <p:cNvSpPr/>
          <p:nvPr/>
        </p:nvSpPr>
        <p:spPr>
          <a:xfrm>
            <a:off x="4434840" y="3337560"/>
            <a:ext cx="3383280" cy="1600200"/>
          </a:xfrm>
          <a:prstGeom prst="roundRect">
            <a:avLst>
              <a:gd name="adj" fmla="val 3429"/>
            </a:avLst>
          </a:prstGeom>
          <a:solidFill>
            <a:srgbClr val="121A2D"/>
          </a:solidFill>
          <a:ln w="12700">
            <a:solidFill>
              <a:srgbClr val="2A3853"/>
            </a:solidFill>
            <a:prstDash val="solid"/>
          </a:ln>
        </p:spPr>
      </p:sp>
      <p:sp>
        <p:nvSpPr>
          <p:cNvPr id="25" name="Shape 23"/>
          <p:cNvSpPr/>
          <p:nvPr/>
        </p:nvSpPr>
        <p:spPr>
          <a:xfrm>
            <a:off x="4434840" y="3337560"/>
            <a:ext cx="54864" cy="1600200"/>
          </a:xfrm>
          <a:prstGeom prst="rect">
            <a:avLst/>
          </a:prstGeom>
          <a:solidFill>
            <a:srgbClr val="22C55E"/>
          </a:solidFill>
          <a:ln w="12700">
            <a:solidFill>
              <a:srgbClr val="22C55E"/>
            </a:solidFill>
            <a:prstDash val="solid"/>
          </a:ln>
        </p:spPr>
      </p:sp>
      <p:sp>
        <p:nvSpPr>
          <p:cNvPr id="26" name="Text 24"/>
          <p:cNvSpPr/>
          <p:nvPr/>
        </p:nvSpPr>
        <p:spPr>
          <a:xfrm>
            <a:off x="4636008" y="3493008"/>
            <a:ext cx="3063240" cy="292608"/>
          </a:xfrm>
          <a:prstGeom prst="rect">
            <a:avLst/>
          </a:prstGeom>
          <a:noFill/>
          <a:ln/>
        </p:spPr>
        <p:txBody>
          <a:bodyPr wrap="square" lIns="0" tIns="0" rIns="0" bIns="0" rtlCol="0" anchor="ctr"/>
          <a:lstStyle/>
          <a:p>
            <a:pPr indent="0" marL="0">
              <a:buNone/>
            </a:pPr>
            <a:r>
              <a:rPr lang="en-US" sz="1500" b="1" dirty="0">
                <a:solidFill>
                  <a:srgbClr val="F7FAFC"/>
                </a:solidFill>
              </a:rPr>
              <a:t>Health boundary</a:t>
            </a:r>
            <a:endParaRPr lang="en-US" sz="1500" dirty="0"/>
          </a:p>
        </p:txBody>
      </p:sp>
      <p:sp>
        <p:nvSpPr>
          <p:cNvPr id="27" name="Text 25"/>
          <p:cNvSpPr/>
          <p:nvPr/>
        </p:nvSpPr>
        <p:spPr>
          <a:xfrm>
            <a:off x="4636008" y="3904488"/>
            <a:ext cx="3017520" cy="914400"/>
          </a:xfrm>
          <a:prstGeom prst="rect">
            <a:avLst/>
          </a:prstGeom>
          <a:noFill/>
          <a:ln/>
        </p:spPr>
        <p:txBody>
          <a:bodyPr wrap="square" lIns="254" tIns="254" rIns="254" bIns="254" rtlCol="0" anchor="t">
            <a:normAutofit/>
          </a:bodyPr>
          <a:lstStyle/>
          <a:p>
            <a:pPr indent="0" marL="0">
              <a:buNone/>
            </a:pPr>
            <a:r>
              <a:rPr lang="en-US" sz="1150" dirty="0">
                <a:solidFill>
                  <a:srgbClr val="A9B4C7"/>
                </a:solidFill>
              </a:rPr>
              <a:t>The service is not considered ready only because a task started; health must be confirmed.</a:t>
            </a:r>
            <a:endParaRPr lang="en-US" sz="1150" dirty="0"/>
          </a:p>
        </p:txBody>
      </p:sp>
      <p:sp>
        <p:nvSpPr>
          <p:cNvPr id="28" name="Shape 26"/>
          <p:cNvSpPr/>
          <p:nvPr/>
        </p:nvSpPr>
        <p:spPr>
          <a:xfrm>
            <a:off x="8138160" y="3337560"/>
            <a:ext cx="3383280" cy="1600200"/>
          </a:xfrm>
          <a:prstGeom prst="roundRect">
            <a:avLst>
              <a:gd name="adj" fmla="val 3429"/>
            </a:avLst>
          </a:prstGeom>
          <a:solidFill>
            <a:srgbClr val="121A2D"/>
          </a:solidFill>
          <a:ln w="12700">
            <a:solidFill>
              <a:srgbClr val="2A3853"/>
            </a:solidFill>
            <a:prstDash val="solid"/>
          </a:ln>
        </p:spPr>
      </p:sp>
      <p:sp>
        <p:nvSpPr>
          <p:cNvPr id="29" name="Shape 27"/>
          <p:cNvSpPr/>
          <p:nvPr/>
        </p:nvSpPr>
        <p:spPr>
          <a:xfrm>
            <a:off x="8138160" y="3337560"/>
            <a:ext cx="54864" cy="1600200"/>
          </a:xfrm>
          <a:prstGeom prst="rect">
            <a:avLst/>
          </a:prstGeom>
          <a:solidFill>
            <a:srgbClr val="38BDF8"/>
          </a:solidFill>
          <a:ln w="12700">
            <a:solidFill>
              <a:srgbClr val="38BDF8"/>
            </a:solidFill>
            <a:prstDash val="solid"/>
          </a:ln>
        </p:spPr>
      </p:sp>
      <p:sp>
        <p:nvSpPr>
          <p:cNvPr id="30" name="Text 28"/>
          <p:cNvSpPr/>
          <p:nvPr/>
        </p:nvSpPr>
        <p:spPr>
          <a:xfrm>
            <a:off x="8339328" y="3493008"/>
            <a:ext cx="3063240" cy="292608"/>
          </a:xfrm>
          <a:prstGeom prst="rect">
            <a:avLst/>
          </a:prstGeom>
          <a:noFill/>
          <a:ln/>
        </p:spPr>
        <p:txBody>
          <a:bodyPr wrap="square" lIns="0" tIns="0" rIns="0" bIns="0" rtlCol="0" anchor="ctr"/>
          <a:lstStyle/>
          <a:p>
            <a:pPr indent="0" marL="0">
              <a:buNone/>
            </a:pPr>
            <a:r>
              <a:rPr lang="en-US" sz="1500" b="1" dirty="0">
                <a:solidFill>
                  <a:srgbClr val="F7FAFC"/>
                </a:solidFill>
              </a:rPr>
              <a:t>Entrypoint authority</a:t>
            </a:r>
            <a:endParaRPr lang="en-US" sz="1500" dirty="0"/>
          </a:p>
        </p:txBody>
      </p:sp>
      <p:sp>
        <p:nvSpPr>
          <p:cNvPr id="31" name="Text 29"/>
          <p:cNvSpPr/>
          <p:nvPr/>
        </p:nvSpPr>
        <p:spPr>
          <a:xfrm>
            <a:off x="8339328" y="3904488"/>
            <a:ext cx="3017520" cy="914400"/>
          </a:xfrm>
          <a:prstGeom prst="rect">
            <a:avLst/>
          </a:prstGeom>
          <a:noFill/>
          <a:ln/>
        </p:spPr>
        <p:txBody>
          <a:bodyPr wrap="square" lIns="254" tIns="254" rIns="254" bIns="254" rtlCol="0" anchor="t">
            <a:normAutofit/>
          </a:bodyPr>
          <a:lstStyle/>
          <a:p>
            <a:pPr indent="0" marL="0">
              <a:buNone/>
            </a:pPr>
            <a:r>
              <a:rPr lang="en-US" sz="1150" dirty="0">
                <a:solidFill>
                  <a:srgbClr val="A9B4C7"/>
                </a:solidFill>
              </a:rPr>
              <a:t>The configured application entrypoint determines the public application URL exposed to the user.</a:t>
            </a:r>
            <a:endParaRPr lang="en-US" sz="1150" dirty="0"/>
          </a:p>
        </p:txBody>
      </p:sp>
      <p:sp>
        <p:nvSpPr>
          <p:cNvPr id="25" name="Slide Number Placeholder 0"/>
          <p:cNvSpPr>
            <a:spLocks noGrp="1"/>
          </p:cNvSpPr>
          <p:nvPr>
            <p:ph type="sldNum" sz="quarter" idx="4294967295"/>
          </p:nvPr>
        </p:nvSpPr>
        <p:spPr>
          <a:xfrm>
            <a:off x="1138428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7C8AA5"/>
                </a:solidFill>
                <a:latin typeface="Aptos"/>
                <a:ea typeface="Aptos"/>
                <a:cs typeface="Aptos"/>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02920" y="320040"/>
            <a:ext cx="11064240" cy="502920"/>
          </a:xfrm>
          <a:prstGeom prst="rect">
            <a:avLst/>
          </a:prstGeom>
          <a:noFill/>
          <a:ln/>
        </p:spPr>
        <p:txBody>
          <a:bodyPr wrap="square" lIns="0" tIns="0" rIns="0" bIns="0" rtlCol="0" anchor="ctr"/>
          <a:lstStyle/>
          <a:p>
            <a:pPr indent="0" marL="0">
              <a:buNone/>
            </a:pPr>
            <a:r>
              <a:rPr lang="en-US" sz="2800" b="1" dirty="0">
                <a:solidFill>
                  <a:srgbClr val="F7FAFC"/>
                </a:solidFill>
                <a:latin typeface="Aptos Display" pitchFamily="34" charset="0"/>
                <a:ea typeface="Aptos Display" pitchFamily="34" charset="-122"/>
                <a:cs typeface="Aptos Display" pitchFamily="34" charset="-120"/>
              </a:rPr>
              <a:t>7. AWS identity model</a:t>
            </a:r>
            <a:endParaRPr lang="en-US" sz="2800" dirty="0"/>
          </a:p>
        </p:txBody>
      </p:sp>
      <p:sp>
        <p:nvSpPr>
          <p:cNvPr id="3" name="Text 1"/>
          <p:cNvSpPr/>
          <p:nvPr/>
        </p:nvSpPr>
        <p:spPr>
          <a:xfrm>
            <a:off x="521208" y="868680"/>
            <a:ext cx="10972800" cy="310896"/>
          </a:xfrm>
          <a:prstGeom prst="rect">
            <a:avLst/>
          </a:prstGeom>
          <a:noFill/>
          <a:ln/>
        </p:spPr>
        <p:txBody>
          <a:bodyPr wrap="square" lIns="0" tIns="0" rIns="0" bIns="0" rtlCol="0" anchor="ctr"/>
          <a:lstStyle/>
          <a:p>
            <a:pPr indent="0" marL="0">
              <a:buNone/>
            </a:pPr>
            <a:r>
              <a:rPr lang="en-US" sz="1250" dirty="0">
                <a:solidFill>
                  <a:srgbClr val="A9B4C7"/>
                </a:solidFill>
              </a:rPr>
              <a:t>Different responsibilities use different identities</a:t>
            </a:r>
            <a:endParaRPr lang="en-US" sz="1250" dirty="0"/>
          </a:p>
        </p:txBody>
      </p:sp>
      <p:sp>
        <p:nvSpPr>
          <p:cNvPr id="4" name="Shape 2"/>
          <p:cNvSpPr/>
          <p:nvPr/>
        </p:nvSpPr>
        <p:spPr>
          <a:xfrm>
            <a:off x="10469880" y="338328"/>
            <a:ext cx="1078992" cy="274320"/>
          </a:xfrm>
          <a:prstGeom prst="roundRect">
            <a:avLst>
              <a:gd name="adj" fmla="val 16667"/>
            </a:avLst>
          </a:prstGeom>
          <a:solidFill>
            <a:srgbClr val="F59E0B">
              <a:alpha val="20000"/>
            </a:srgbClr>
          </a:solidFill>
          <a:ln w="12700">
            <a:solidFill>
              <a:srgbClr val="F59E0B">
                <a:alpha val="70000"/>
              </a:srgbClr>
            </a:solidFill>
            <a:prstDash val="solid"/>
          </a:ln>
        </p:spPr>
      </p:sp>
      <p:sp>
        <p:nvSpPr>
          <p:cNvPr id="5" name="Text 3"/>
          <p:cNvSpPr/>
          <p:nvPr/>
        </p:nvSpPr>
        <p:spPr>
          <a:xfrm>
            <a:off x="10543032" y="388620"/>
            <a:ext cx="932688" cy="155448"/>
          </a:xfrm>
          <a:prstGeom prst="rect">
            <a:avLst/>
          </a:prstGeom>
          <a:noFill/>
          <a:ln/>
        </p:spPr>
        <p:txBody>
          <a:bodyPr wrap="square" lIns="0" tIns="0" rIns="0" bIns="0" rtlCol="0" anchor="ctr"/>
          <a:lstStyle/>
          <a:p>
            <a:pPr algn="ctr" indent="0" marL="0">
              <a:buNone/>
            </a:pPr>
            <a:r>
              <a:rPr lang="en-US" sz="900" b="1" dirty="0">
                <a:solidFill>
                  <a:srgbClr val="F59E0B"/>
                </a:solidFill>
              </a:rPr>
              <a:t>HASSAN</a:t>
            </a:r>
            <a:endParaRPr lang="en-US" sz="900" dirty="0"/>
          </a:p>
        </p:txBody>
      </p:sp>
      <p:sp>
        <p:nvSpPr>
          <p:cNvPr id="6" name="Shape 4"/>
          <p:cNvSpPr/>
          <p:nvPr/>
        </p:nvSpPr>
        <p:spPr>
          <a:xfrm>
            <a:off x="594360" y="1325880"/>
            <a:ext cx="3474720" cy="3611880"/>
          </a:xfrm>
          <a:prstGeom prst="roundRect">
            <a:avLst>
              <a:gd name="adj" fmla="val 1579"/>
            </a:avLst>
          </a:prstGeom>
          <a:solidFill>
            <a:srgbClr val="121A2D"/>
          </a:solidFill>
          <a:ln w="12700">
            <a:solidFill>
              <a:srgbClr val="2A3853"/>
            </a:solidFill>
            <a:prstDash val="solid"/>
          </a:ln>
        </p:spPr>
      </p:sp>
      <p:sp>
        <p:nvSpPr>
          <p:cNvPr id="7" name="Shape 5"/>
          <p:cNvSpPr/>
          <p:nvPr/>
        </p:nvSpPr>
        <p:spPr>
          <a:xfrm>
            <a:off x="594360" y="1325880"/>
            <a:ext cx="54864" cy="3611880"/>
          </a:xfrm>
          <a:prstGeom prst="rect">
            <a:avLst/>
          </a:prstGeom>
          <a:solidFill>
            <a:srgbClr val="A78BFA"/>
          </a:solidFill>
          <a:ln w="12700">
            <a:solidFill>
              <a:srgbClr val="A78BFA"/>
            </a:solidFill>
            <a:prstDash val="solid"/>
          </a:ln>
        </p:spPr>
      </p:sp>
      <p:sp>
        <p:nvSpPr>
          <p:cNvPr id="8" name="Text 6"/>
          <p:cNvSpPr/>
          <p:nvPr/>
        </p:nvSpPr>
        <p:spPr>
          <a:xfrm>
            <a:off x="795528" y="1481328"/>
            <a:ext cx="3154680" cy="292608"/>
          </a:xfrm>
          <a:prstGeom prst="rect">
            <a:avLst/>
          </a:prstGeom>
          <a:noFill/>
          <a:ln/>
        </p:spPr>
        <p:txBody>
          <a:bodyPr wrap="square" lIns="0" tIns="0" rIns="0" bIns="0" rtlCol="0" anchor="ctr"/>
          <a:lstStyle/>
          <a:p>
            <a:pPr indent="0" marL="0">
              <a:buNone/>
            </a:pPr>
            <a:r>
              <a:rPr lang="en-US" sz="1800" b="1" dirty="0">
                <a:solidFill>
                  <a:srgbClr val="F7FAFC"/>
                </a:solidFill>
              </a:rPr>
              <a:t>Controller identity</a:t>
            </a:r>
            <a:endParaRPr lang="en-US" sz="1800" dirty="0"/>
          </a:p>
        </p:txBody>
      </p:sp>
      <p:sp>
        <p:nvSpPr>
          <p:cNvPr id="9" name="Text 7"/>
          <p:cNvSpPr/>
          <p:nvPr/>
        </p:nvSpPr>
        <p:spPr>
          <a:xfrm>
            <a:off x="795528" y="1892808"/>
            <a:ext cx="3108960" cy="2926080"/>
          </a:xfrm>
          <a:prstGeom prst="rect">
            <a:avLst/>
          </a:prstGeom>
          <a:noFill/>
          <a:ln/>
        </p:spPr>
        <p:txBody>
          <a:bodyPr wrap="square" lIns="254" tIns="254" rIns="254" bIns="254" rtlCol="0" anchor="t">
            <a:normAutofit/>
          </a:bodyPr>
          <a:lstStyle/>
          <a:p>
            <a:pPr indent="0" marL="0">
              <a:buNone/>
            </a:pPr>
            <a:r>
              <a:rPr lang="en-US" sz="1400" dirty="0">
                <a:solidFill>
                  <a:srgbClr val="A9B4C7"/>
                </a:solidFill>
              </a:rPr>
              <a:t>Backend-side AWS identity used for account verification, state access and required control-plane reads. Normal runtime should not mutate core IAM.</a:t>
            </a:r>
            <a:endParaRPr lang="en-US" sz="1400" dirty="0"/>
          </a:p>
        </p:txBody>
      </p:sp>
      <p:sp>
        <p:nvSpPr>
          <p:cNvPr id="10" name="Shape 8"/>
          <p:cNvSpPr/>
          <p:nvPr/>
        </p:nvSpPr>
        <p:spPr>
          <a:xfrm>
            <a:off x="4370832" y="1325880"/>
            <a:ext cx="3474720" cy="3611880"/>
          </a:xfrm>
          <a:prstGeom prst="roundRect">
            <a:avLst>
              <a:gd name="adj" fmla="val 1579"/>
            </a:avLst>
          </a:prstGeom>
          <a:solidFill>
            <a:srgbClr val="121A2D"/>
          </a:solidFill>
          <a:ln w="12700">
            <a:solidFill>
              <a:srgbClr val="2A3853"/>
            </a:solidFill>
            <a:prstDash val="solid"/>
          </a:ln>
        </p:spPr>
      </p:sp>
      <p:sp>
        <p:nvSpPr>
          <p:cNvPr id="11" name="Shape 9"/>
          <p:cNvSpPr/>
          <p:nvPr/>
        </p:nvSpPr>
        <p:spPr>
          <a:xfrm>
            <a:off x="4370832" y="1325880"/>
            <a:ext cx="54864" cy="3611880"/>
          </a:xfrm>
          <a:prstGeom prst="rect">
            <a:avLst/>
          </a:prstGeom>
          <a:solidFill>
            <a:srgbClr val="F59E0B"/>
          </a:solidFill>
          <a:ln w="12700">
            <a:solidFill>
              <a:srgbClr val="F59E0B"/>
            </a:solidFill>
            <a:prstDash val="solid"/>
          </a:ln>
        </p:spPr>
      </p:sp>
      <p:sp>
        <p:nvSpPr>
          <p:cNvPr id="12" name="Text 10"/>
          <p:cNvSpPr/>
          <p:nvPr/>
        </p:nvSpPr>
        <p:spPr>
          <a:xfrm>
            <a:off x="4572000" y="1481328"/>
            <a:ext cx="3154680" cy="292608"/>
          </a:xfrm>
          <a:prstGeom prst="rect">
            <a:avLst/>
          </a:prstGeom>
          <a:noFill/>
          <a:ln/>
        </p:spPr>
        <p:txBody>
          <a:bodyPr wrap="square" lIns="0" tIns="0" rIns="0" bIns="0" rtlCol="0" anchor="ctr"/>
          <a:lstStyle/>
          <a:p>
            <a:pPr indent="0" marL="0">
              <a:buNone/>
            </a:pPr>
            <a:r>
              <a:rPr lang="en-US" sz="1800" b="1" dirty="0">
                <a:solidFill>
                  <a:srgbClr val="F7FAFC"/>
                </a:solidFill>
              </a:rPr>
              <a:t>GitHub Actions OIDC role</a:t>
            </a:r>
            <a:endParaRPr lang="en-US" sz="1800" dirty="0"/>
          </a:p>
        </p:txBody>
      </p:sp>
      <p:sp>
        <p:nvSpPr>
          <p:cNvPr id="13" name="Text 11"/>
          <p:cNvSpPr/>
          <p:nvPr/>
        </p:nvSpPr>
        <p:spPr>
          <a:xfrm>
            <a:off x="4572000" y="1892808"/>
            <a:ext cx="3108960" cy="2926080"/>
          </a:xfrm>
          <a:prstGeom prst="rect">
            <a:avLst/>
          </a:prstGeom>
          <a:noFill/>
          <a:ln/>
        </p:spPr>
        <p:txBody>
          <a:bodyPr wrap="square" lIns="254" tIns="254" rIns="254" bIns="254" rtlCol="0" anchor="t">
            <a:normAutofit/>
          </a:bodyPr>
          <a:lstStyle/>
          <a:p>
            <a:pPr indent="0" marL="0">
              <a:buNone/>
            </a:pPr>
            <a:r>
              <a:rPr lang="en-US" sz="1400" dirty="0">
                <a:solidFill>
                  <a:srgbClr val="A9B4C7"/>
                </a:solidFill>
              </a:rPr>
              <a:t>Short-lived workflow identity used by the deployment workflow for ECR, Terraform and AWS deployment capabilities.</a:t>
            </a:r>
            <a:endParaRPr lang="en-US" sz="1400" dirty="0"/>
          </a:p>
        </p:txBody>
      </p:sp>
      <p:sp>
        <p:nvSpPr>
          <p:cNvPr id="14" name="Shape 12"/>
          <p:cNvSpPr/>
          <p:nvPr/>
        </p:nvSpPr>
        <p:spPr>
          <a:xfrm>
            <a:off x="8147304" y="1325880"/>
            <a:ext cx="3474720" cy="3611880"/>
          </a:xfrm>
          <a:prstGeom prst="roundRect">
            <a:avLst>
              <a:gd name="adj" fmla="val 1579"/>
            </a:avLst>
          </a:prstGeom>
          <a:solidFill>
            <a:srgbClr val="121A2D"/>
          </a:solidFill>
          <a:ln w="12700">
            <a:solidFill>
              <a:srgbClr val="2A3853"/>
            </a:solidFill>
            <a:prstDash val="solid"/>
          </a:ln>
        </p:spPr>
      </p:sp>
      <p:sp>
        <p:nvSpPr>
          <p:cNvPr id="15" name="Shape 13"/>
          <p:cNvSpPr/>
          <p:nvPr/>
        </p:nvSpPr>
        <p:spPr>
          <a:xfrm>
            <a:off x="8147304" y="1325880"/>
            <a:ext cx="54864" cy="3611880"/>
          </a:xfrm>
          <a:prstGeom prst="rect">
            <a:avLst/>
          </a:prstGeom>
          <a:solidFill>
            <a:srgbClr val="22C55E"/>
          </a:solidFill>
          <a:ln w="12700">
            <a:solidFill>
              <a:srgbClr val="22C55E"/>
            </a:solidFill>
            <a:prstDash val="solid"/>
          </a:ln>
        </p:spPr>
      </p:sp>
      <p:sp>
        <p:nvSpPr>
          <p:cNvPr id="16" name="Text 14"/>
          <p:cNvSpPr/>
          <p:nvPr/>
        </p:nvSpPr>
        <p:spPr>
          <a:xfrm>
            <a:off x="8348472" y="1481328"/>
            <a:ext cx="3154680" cy="292608"/>
          </a:xfrm>
          <a:prstGeom prst="rect">
            <a:avLst/>
          </a:prstGeom>
          <a:noFill/>
          <a:ln/>
        </p:spPr>
        <p:txBody>
          <a:bodyPr wrap="square" lIns="0" tIns="0" rIns="0" bIns="0" rtlCol="0" anchor="ctr"/>
          <a:lstStyle/>
          <a:p>
            <a:pPr indent="0" marL="0">
              <a:buNone/>
            </a:pPr>
            <a:r>
              <a:rPr lang="en-US" sz="1800" b="1" dirty="0">
                <a:solidFill>
                  <a:srgbClr val="F7FAFC"/>
                </a:solidFill>
              </a:rPr>
              <a:t>ECS execution/runtime role</a:t>
            </a:r>
            <a:endParaRPr lang="en-US" sz="1800" dirty="0"/>
          </a:p>
        </p:txBody>
      </p:sp>
      <p:sp>
        <p:nvSpPr>
          <p:cNvPr id="17" name="Text 15"/>
          <p:cNvSpPr/>
          <p:nvPr/>
        </p:nvSpPr>
        <p:spPr>
          <a:xfrm>
            <a:off x="8348472" y="1892808"/>
            <a:ext cx="3108960" cy="2926080"/>
          </a:xfrm>
          <a:prstGeom prst="rect">
            <a:avLst/>
          </a:prstGeom>
          <a:noFill/>
          <a:ln/>
        </p:spPr>
        <p:txBody>
          <a:bodyPr wrap="square" lIns="254" tIns="254" rIns="254" bIns="254" rtlCol="0" anchor="t">
            <a:normAutofit/>
          </a:bodyPr>
          <a:lstStyle/>
          <a:p>
            <a:pPr indent="0" marL="0">
              <a:buNone/>
            </a:pPr>
            <a:r>
              <a:rPr lang="en-US" sz="1400" dirty="0">
                <a:solidFill>
                  <a:srgbClr val="A9B4C7"/>
                </a:solidFill>
              </a:rPr>
              <a:t>Project-scoped identity attached to the running workload for image pull, logging, secrets and explicitly required runtime access.</a:t>
            </a:r>
            <a:endParaRPr lang="en-US" sz="1400" dirty="0"/>
          </a:p>
        </p:txBody>
      </p:sp>
      <p:sp>
        <p:nvSpPr>
          <p:cNvPr id="18" name="Text 16"/>
          <p:cNvSpPr/>
          <p:nvPr/>
        </p:nvSpPr>
        <p:spPr>
          <a:xfrm>
            <a:off x="914400" y="5257800"/>
            <a:ext cx="10241280" cy="411480"/>
          </a:xfrm>
          <a:prstGeom prst="rect">
            <a:avLst/>
          </a:prstGeom>
          <a:noFill/>
          <a:ln/>
        </p:spPr>
        <p:txBody>
          <a:bodyPr wrap="square" lIns="0" tIns="0" rIns="0" bIns="0" rtlCol="0" anchor="ctr"/>
          <a:lstStyle/>
          <a:p>
            <a:pPr algn="ctr" indent="0" marL="0">
              <a:buNone/>
            </a:pPr>
            <a:r>
              <a:rPr lang="en-US" sz="1400" b="1" dirty="0">
                <a:solidFill>
                  <a:srgbClr val="FBBF24"/>
                </a:solidFill>
              </a:rPr>
              <a:t>Separation limits blast radius and makes permission failures diagnosable by stage.</a:t>
            </a:r>
            <a:endParaRPr lang="en-US" sz="1400" dirty="0"/>
          </a:p>
        </p:txBody>
      </p:sp>
      <p:sp>
        <p:nvSpPr>
          <p:cNvPr id="25" name="Slide Number Placeholder 0"/>
          <p:cNvSpPr>
            <a:spLocks noGrp="1"/>
          </p:cNvSpPr>
          <p:nvPr>
            <p:ph type="sldNum" sz="quarter" idx="4294967295"/>
          </p:nvPr>
        </p:nvSpPr>
        <p:spPr>
          <a:xfrm>
            <a:off x="1138428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7C8AA5"/>
                </a:solidFill>
                <a:latin typeface="Aptos"/>
                <a:ea typeface="Aptos"/>
                <a:cs typeface="Aptos"/>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02920" y="320040"/>
            <a:ext cx="11064240" cy="502920"/>
          </a:xfrm>
          <a:prstGeom prst="rect">
            <a:avLst/>
          </a:prstGeom>
          <a:noFill/>
          <a:ln/>
        </p:spPr>
        <p:txBody>
          <a:bodyPr wrap="square" lIns="0" tIns="0" rIns="0" bIns="0" rtlCol="0" anchor="ctr"/>
          <a:lstStyle/>
          <a:p>
            <a:pPr indent="0" marL="0">
              <a:buNone/>
            </a:pPr>
            <a:r>
              <a:rPr lang="en-US" sz="2800" b="1" dirty="0">
                <a:solidFill>
                  <a:srgbClr val="F7FAFC"/>
                </a:solidFill>
                <a:latin typeface="Aptos Display" pitchFamily="34" charset="0"/>
                <a:ea typeface="Aptos Display" pitchFamily="34" charset="-122"/>
                <a:cs typeface="Aptos Display" pitchFamily="34" charset="-120"/>
              </a:rPr>
              <a:t>8. Managed database integration</a:t>
            </a:r>
            <a:endParaRPr lang="en-US" sz="2800" dirty="0"/>
          </a:p>
        </p:txBody>
      </p:sp>
      <p:sp>
        <p:nvSpPr>
          <p:cNvPr id="3" name="Text 1"/>
          <p:cNvSpPr/>
          <p:nvPr/>
        </p:nvSpPr>
        <p:spPr>
          <a:xfrm>
            <a:off x="521208" y="868680"/>
            <a:ext cx="10972800" cy="310896"/>
          </a:xfrm>
          <a:prstGeom prst="rect">
            <a:avLst/>
          </a:prstGeom>
          <a:noFill/>
          <a:ln/>
        </p:spPr>
        <p:txBody>
          <a:bodyPr wrap="square" lIns="0" tIns="0" rIns="0" bIns="0" rtlCol="0" anchor="ctr"/>
          <a:lstStyle/>
          <a:p>
            <a:pPr indent="0" marL="0">
              <a:buNone/>
            </a:pPr>
            <a:r>
              <a:rPr lang="en-US" sz="1250" dirty="0">
                <a:solidFill>
                  <a:srgbClr val="A9B4C7"/>
                </a:solidFill>
              </a:rPr>
              <a:t>Database configuration is attached to the selected service without overwriting user-owned configuration</a:t>
            </a:r>
            <a:endParaRPr lang="en-US" sz="1250" dirty="0"/>
          </a:p>
        </p:txBody>
      </p:sp>
      <p:sp>
        <p:nvSpPr>
          <p:cNvPr id="4" name="Shape 2"/>
          <p:cNvSpPr/>
          <p:nvPr/>
        </p:nvSpPr>
        <p:spPr>
          <a:xfrm>
            <a:off x="10469880" y="338328"/>
            <a:ext cx="1078992" cy="274320"/>
          </a:xfrm>
          <a:prstGeom prst="roundRect">
            <a:avLst>
              <a:gd name="adj" fmla="val 16667"/>
            </a:avLst>
          </a:prstGeom>
          <a:solidFill>
            <a:srgbClr val="F59E0B">
              <a:alpha val="20000"/>
            </a:srgbClr>
          </a:solidFill>
          <a:ln w="12700">
            <a:solidFill>
              <a:srgbClr val="F59E0B">
                <a:alpha val="70000"/>
              </a:srgbClr>
            </a:solidFill>
            <a:prstDash val="solid"/>
          </a:ln>
        </p:spPr>
      </p:sp>
      <p:sp>
        <p:nvSpPr>
          <p:cNvPr id="5" name="Text 3"/>
          <p:cNvSpPr/>
          <p:nvPr/>
        </p:nvSpPr>
        <p:spPr>
          <a:xfrm>
            <a:off x="10543032" y="388620"/>
            <a:ext cx="932688" cy="155448"/>
          </a:xfrm>
          <a:prstGeom prst="rect">
            <a:avLst/>
          </a:prstGeom>
          <a:noFill/>
          <a:ln/>
        </p:spPr>
        <p:txBody>
          <a:bodyPr wrap="square" lIns="0" tIns="0" rIns="0" bIns="0" rtlCol="0" anchor="ctr"/>
          <a:lstStyle/>
          <a:p>
            <a:pPr algn="ctr" indent="0" marL="0">
              <a:buNone/>
            </a:pPr>
            <a:r>
              <a:rPr lang="en-US" sz="900" b="1" dirty="0">
                <a:solidFill>
                  <a:srgbClr val="F59E0B"/>
                </a:solidFill>
              </a:rPr>
              <a:t>HASSAN</a:t>
            </a:r>
            <a:endParaRPr lang="en-US" sz="900" dirty="0"/>
          </a:p>
        </p:txBody>
      </p:sp>
      <p:sp>
        <p:nvSpPr>
          <p:cNvPr id="6" name="Shape 4"/>
          <p:cNvSpPr/>
          <p:nvPr/>
        </p:nvSpPr>
        <p:spPr>
          <a:xfrm>
            <a:off x="640080" y="1737360"/>
            <a:ext cx="2148840" cy="868680"/>
          </a:xfrm>
          <a:prstGeom prst="roundRect">
            <a:avLst>
              <a:gd name="adj" fmla="val 5263"/>
            </a:avLst>
          </a:prstGeom>
          <a:solidFill>
            <a:srgbClr val="172238"/>
          </a:solidFill>
          <a:ln w="12700">
            <a:solidFill>
              <a:srgbClr val="38BDF8"/>
            </a:solidFill>
            <a:prstDash val="solid"/>
          </a:ln>
        </p:spPr>
      </p:sp>
      <p:sp>
        <p:nvSpPr>
          <p:cNvPr id="7" name="Text 5"/>
          <p:cNvSpPr/>
          <p:nvPr/>
        </p:nvSpPr>
        <p:spPr>
          <a:xfrm>
            <a:off x="713232" y="1810512"/>
            <a:ext cx="2002536" cy="72237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Service Runtime</a:t>
            </a:r>
            <a:endParaRPr lang="en-US" sz="1200" dirty="0"/>
          </a:p>
        </p:txBody>
      </p:sp>
      <p:sp>
        <p:nvSpPr>
          <p:cNvPr id="8" name="Shape 6"/>
          <p:cNvSpPr/>
          <p:nvPr/>
        </p:nvSpPr>
        <p:spPr>
          <a:xfrm>
            <a:off x="2834640" y="2167128"/>
            <a:ext cx="502920" cy="0"/>
          </a:xfrm>
          <a:prstGeom prst="line">
            <a:avLst/>
          </a:prstGeom>
          <a:noFill/>
          <a:ln w="12700">
            <a:solidFill>
              <a:srgbClr val="A9B4C7"/>
            </a:solidFill>
            <a:prstDash val="solid"/>
            <a:headEnd type="none"/>
            <a:tailEnd type="triangle"/>
          </a:ln>
        </p:spPr>
      </p:sp>
      <p:sp>
        <p:nvSpPr>
          <p:cNvPr id="9" name="Shape 7"/>
          <p:cNvSpPr/>
          <p:nvPr/>
        </p:nvSpPr>
        <p:spPr>
          <a:xfrm>
            <a:off x="3383280" y="1737360"/>
            <a:ext cx="2240280" cy="868680"/>
          </a:xfrm>
          <a:prstGeom prst="roundRect">
            <a:avLst>
              <a:gd name="adj" fmla="val 5263"/>
            </a:avLst>
          </a:prstGeom>
          <a:solidFill>
            <a:srgbClr val="172238"/>
          </a:solidFill>
          <a:ln w="12700">
            <a:solidFill>
              <a:srgbClr val="06B6D4"/>
            </a:solidFill>
            <a:prstDash val="solid"/>
          </a:ln>
        </p:spPr>
      </p:sp>
      <p:sp>
        <p:nvSpPr>
          <p:cNvPr id="10" name="Text 8"/>
          <p:cNvSpPr/>
          <p:nvPr/>
        </p:nvSpPr>
        <p:spPr>
          <a:xfrm>
            <a:off x="3456432" y="1810512"/>
            <a:ext cx="2093976" cy="72237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Database Contract</a:t>
            </a:r>
            <a:endParaRPr lang="en-US" sz="1200" dirty="0"/>
          </a:p>
        </p:txBody>
      </p:sp>
      <p:sp>
        <p:nvSpPr>
          <p:cNvPr id="11" name="Shape 9"/>
          <p:cNvSpPr/>
          <p:nvPr/>
        </p:nvSpPr>
        <p:spPr>
          <a:xfrm>
            <a:off x="5669280" y="2167128"/>
            <a:ext cx="502920" cy="0"/>
          </a:xfrm>
          <a:prstGeom prst="line">
            <a:avLst/>
          </a:prstGeom>
          <a:noFill/>
          <a:ln w="12700">
            <a:solidFill>
              <a:srgbClr val="A9B4C7"/>
            </a:solidFill>
            <a:prstDash val="solid"/>
            <a:headEnd type="none"/>
            <a:tailEnd type="triangle"/>
          </a:ln>
        </p:spPr>
      </p:sp>
      <p:sp>
        <p:nvSpPr>
          <p:cNvPr id="12" name="Shape 10"/>
          <p:cNvSpPr/>
          <p:nvPr/>
        </p:nvSpPr>
        <p:spPr>
          <a:xfrm>
            <a:off x="6217920" y="1737360"/>
            <a:ext cx="2240280" cy="868680"/>
          </a:xfrm>
          <a:prstGeom prst="roundRect">
            <a:avLst>
              <a:gd name="adj" fmla="val 5263"/>
            </a:avLst>
          </a:prstGeom>
          <a:solidFill>
            <a:srgbClr val="172238"/>
          </a:solidFill>
          <a:ln w="12700">
            <a:solidFill>
              <a:srgbClr val="A78BFA"/>
            </a:solidFill>
            <a:prstDash val="solid"/>
          </a:ln>
        </p:spPr>
      </p:sp>
      <p:sp>
        <p:nvSpPr>
          <p:cNvPr id="13" name="Text 11"/>
          <p:cNvSpPr/>
          <p:nvPr/>
        </p:nvSpPr>
        <p:spPr>
          <a:xfrm>
            <a:off x="6291072" y="1810512"/>
            <a:ext cx="2093976" cy="72237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Secrets / ENV</a:t>
            </a:r>
            <a:endParaRPr lang="en-US" sz="1200" dirty="0"/>
          </a:p>
        </p:txBody>
      </p:sp>
      <p:sp>
        <p:nvSpPr>
          <p:cNvPr id="14" name="Shape 12"/>
          <p:cNvSpPr/>
          <p:nvPr/>
        </p:nvSpPr>
        <p:spPr>
          <a:xfrm>
            <a:off x="8503920" y="2167128"/>
            <a:ext cx="502920" cy="0"/>
          </a:xfrm>
          <a:prstGeom prst="line">
            <a:avLst/>
          </a:prstGeom>
          <a:noFill/>
          <a:ln w="12700">
            <a:solidFill>
              <a:srgbClr val="A9B4C7"/>
            </a:solidFill>
            <a:prstDash val="solid"/>
            <a:headEnd type="none"/>
            <a:tailEnd type="triangle"/>
          </a:ln>
        </p:spPr>
      </p:sp>
      <p:sp>
        <p:nvSpPr>
          <p:cNvPr id="15" name="Shape 13"/>
          <p:cNvSpPr/>
          <p:nvPr/>
        </p:nvSpPr>
        <p:spPr>
          <a:xfrm>
            <a:off x="9052560" y="1737360"/>
            <a:ext cx="2331720" cy="868680"/>
          </a:xfrm>
          <a:prstGeom prst="roundRect">
            <a:avLst>
              <a:gd name="adj" fmla="val 5263"/>
            </a:avLst>
          </a:prstGeom>
          <a:solidFill>
            <a:srgbClr val="172238"/>
          </a:solidFill>
          <a:ln w="12700">
            <a:solidFill>
              <a:srgbClr val="22C55E"/>
            </a:solidFill>
            <a:prstDash val="solid"/>
          </a:ln>
        </p:spPr>
      </p:sp>
      <p:sp>
        <p:nvSpPr>
          <p:cNvPr id="16" name="Text 14"/>
          <p:cNvSpPr/>
          <p:nvPr/>
        </p:nvSpPr>
        <p:spPr>
          <a:xfrm>
            <a:off x="9125712" y="1810512"/>
            <a:ext cx="2185416" cy="72237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Runtime Wiring</a:t>
            </a:r>
            <a:endParaRPr lang="en-US" sz="1200" dirty="0"/>
          </a:p>
        </p:txBody>
      </p:sp>
      <p:sp>
        <p:nvSpPr>
          <p:cNvPr id="17" name="Shape 15"/>
          <p:cNvSpPr/>
          <p:nvPr/>
        </p:nvSpPr>
        <p:spPr>
          <a:xfrm>
            <a:off x="731520" y="3246120"/>
            <a:ext cx="3383280" cy="1554480"/>
          </a:xfrm>
          <a:prstGeom prst="roundRect">
            <a:avLst>
              <a:gd name="adj" fmla="val 3529"/>
            </a:avLst>
          </a:prstGeom>
          <a:solidFill>
            <a:srgbClr val="121A2D"/>
          </a:solidFill>
          <a:ln w="12700">
            <a:solidFill>
              <a:srgbClr val="2A3853"/>
            </a:solidFill>
            <a:prstDash val="solid"/>
          </a:ln>
        </p:spPr>
      </p:sp>
      <p:sp>
        <p:nvSpPr>
          <p:cNvPr id="18" name="Shape 16"/>
          <p:cNvSpPr/>
          <p:nvPr/>
        </p:nvSpPr>
        <p:spPr>
          <a:xfrm>
            <a:off x="731520" y="3246120"/>
            <a:ext cx="54864" cy="1554480"/>
          </a:xfrm>
          <a:prstGeom prst="rect">
            <a:avLst/>
          </a:prstGeom>
          <a:solidFill>
            <a:srgbClr val="38BDF8"/>
          </a:solidFill>
          <a:ln w="12700">
            <a:solidFill>
              <a:srgbClr val="38BDF8"/>
            </a:solidFill>
            <a:prstDash val="solid"/>
          </a:ln>
        </p:spPr>
      </p:sp>
      <p:sp>
        <p:nvSpPr>
          <p:cNvPr id="19" name="Text 17"/>
          <p:cNvSpPr/>
          <p:nvPr/>
        </p:nvSpPr>
        <p:spPr>
          <a:xfrm>
            <a:off x="932688" y="3401568"/>
            <a:ext cx="3063240" cy="292608"/>
          </a:xfrm>
          <a:prstGeom prst="rect">
            <a:avLst/>
          </a:prstGeom>
          <a:noFill/>
          <a:ln/>
        </p:spPr>
        <p:txBody>
          <a:bodyPr wrap="square" lIns="0" tIns="0" rIns="0" bIns="0" rtlCol="0" anchor="ctr"/>
          <a:lstStyle/>
          <a:p>
            <a:pPr indent="0" marL="0">
              <a:buNone/>
            </a:pPr>
            <a:r>
              <a:rPr lang="en-US" sz="1500" b="1" dirty="0">
                <a:solidFill>
                  <a:srgbClr val="F7FAFC"/>
                </a:solidFill>
              </a:rPr>
              <a:t>No managed database</a:t>
            </a:r>
            <a:endParaRPr lang="en-US" sz="1500" dirty="0"/>
          </a:p>
        </p:txBody>
      </p:sp>
      <p:sp>
        <p:nvSpPr>
          <p:cNvPr id="20" name="Text 18"/>
          <p:cNvSpPr/>
          <p:nvPr/>
        </p:nvSpPr>
        <p:spPr>
          <a:xfrm>
            <a:off x="932688" y="3813048"/>
            <a:ext cx="3017520" cy="868680"/>
          </a:xfrm>
          <a:prstGeom prst="rect">
            <a:avLst/>
          </a:prstGeom>
          <a:noFill/>
          <a:ln/>
        </p:spPr>
        <p:txBody>
          <a:bodyPr wrap="square" lIns="254" tIns="254" rIns="254" bIns="254" rtlCol="0" anchor="t">
            <a:normAutofit/>
          </a:bodyPr>
          <a:lstStyle/>
          <a:p>
            <a:pPr indent="0" marL="0">
              <a:buNone/>
            </a:pPr>
            <a:r>
              <a:rPr lang="en-US" sz="1130" dirty="0">
                <a:solidFill>
                  <a:srgbClr val="A9B4C7"/>
                </a:solidFill>
              </a:rPr>
              <a:t>Existing application database environment remains user-owned; DeployGuard does not create database resources.</a:t>
            </a:r>
            <a:endParaRPr lang="en-US" sz="1130" dirty="0"/>
          </a:p>
        </p:txBody>
      </p:sp>
      <p:sp>
        <p:nvSpPr>
          <p:cNvPr id="21" name="Shape 19"/>
          <p:cNvSpPr/>
          <p:nvPr/>
        </p:nvSpPr>
        <p:spPr>
          <a:xfrm>
            <a:off x="4434840" y="3246120"/>
            <a:ext cx="3383280" cy="1554480"/>
          </a:xfrm>
          <a:prstGeom prst="roundRect">
            <a:avLst>
              <a:gd name="adj" fmla="val 3529"/>
            </a:avLst>
          </a:prstGeom>
          <a:solidFill>
            <a:srgbClr val="121A2D"/>
          </a:solidFill>
          <a:ln w="12700">
            <a:solidFill>
              <a:srgbClr val="2A3853"/>
            </a:solidFill>
            <a:prstDash val="solid"/>
          </a:ln>
        </p:spPr>
      </p:sp>
      <p:sp>
        <p:nvSpPr>
          <p:cNvPr id="22" name="Shape 20"/>
          <p:cNvSpPr/>
          <p:nvPr/>
        </p:nvSpPr>
        <p:spPr>
          <a:xfrm>
            <a:off x="4434840" y="3246120"/>
            <a:ext cx="54864" cy="1554480"/>
          </a:xfrm>
          <a:prstGeom prst="rect">
            <a:avLst/>
          </a:prstGeom>
          <a:solidFill>
            <a:srgbClr val="22C55E"/>
          </a:solidFill>
          <a:ln w="12700">
            <a:solidFill>
              <a:srgbClr val="22C55E"/>
            </a:solidFill>
            <a:prstDash val="solid"/>
          </a:ln>
        </p:spPr>
      </p:sp>
      <p:sp>
        <p:nvSpPr>
          <p:cNvPr id="23" name="Text 21"/>
          <p:cNvSpPr/>
          <p:nvPr/>
        </p:nvSpPr>
        <p:spPr>
          <a:xfrm>
            <a:off x="4636008" y="3401568"/>
            <a:ext cx="3063240" cy="292608"/>
          </a:xfrm>
          <a:prstGeom prst="rect">
            <a:avLst/>
          </a:prstGeom>
          <a:noFill/>
          <a:ln/>
        </p:spPr>
        <p:txBody>
          <a:bodyPr wrap="square" lIns="0" tIns="0" rIns="0" bIns="0" rtlCol="0" anchor="ctr"/>
          <a:lstStyle/>
          <a:p>
            <a:pPr indent="0" marL="0">
              <a:buNone/>
            </a:pPr>
            <a:r>
              <a:rPr lang="en-US" sz="1500" b="1" dirty="0">
                <a:solidFill>
                  <a:srgbClr val="F7FAFC"/>
                </a:solidFill>
              </a:rPr>
              <a:t>Managed database</a:t>
            </a:r>
            <a:endParaRPr lang="en-US" sz="1500" dirty="0"/>
          </a:p>
        </p:txBody>
      </p:sp>
      <p:sp>
        <p:nvSpPr>
          <p:cNvPr id="24" name="Text 22"/>
          <p:cNvSpPr/>
          <p:nvPr/>
        </p:nvSpPr>
        <p:spPr>
          <a:xfrm>
            <a:off x="4636008" y="3813048"/>
            <a:ext cx="3017520" cy="868680"/>
          </a:xfrm>
          <a:prstGeom prst="rect">
            <a:avLst/>
          </a:prstGeom>
          <a:noFill/>
          <a:ln/>
        </p:spPr>
        <p:txBody>
          <a:bodyPr wrap="square" lIns="254" tIns="254" rIns="254" bIns="254" rtlCol="0" anchor="t">
            <a:normAutofit/>
          </a:bodyPr>
          <a:lstStyle/>
          <a:p>
            <a:pPr indent="0" marL="0">
              <a:buNone/>
            </a:pPr>
            <a:r>
              <a:rPr lang="en-US" sz="1130" dirty="0">
                <a:solidFill>
                  <a:srgbClr val="A9B4C7"/>
                </a:solidFill>
              </a:rPr>
              <a:t>The selected database is bound to one service with a defined runtime contract and secret references.</a:t>
            </a:r>
            <a:endParaRPr lang="en-US" sz="1130" dirty="0"/>
          </a:p>
        </p:txBody>
      </p:sp>
      <p:sp>
        <p:nvSpPr>
          <p:cNvPr id="25" name="Shape 23"/>
          <p:cNvSpPr/>
          <p:nvPr/>
        </p:nvSpPr>
        <p:spPr>
          <a:xfrm>
            <a:off x="8138160" y="3246120"/>
            <a:ext cx="3383280" cy="1554480"/>
          </a:xfrm>
          <a:prstGeom prst="roundRect">
            <a:avLst>
              <a:gd name="adj" fmla="val 3529"/>
            </a:avLst>
          </a:prstGeom>
          <a:solidFill>
            <a:srgbClr val="121A2D"/>
          </a:solidFill>
          <a:ln w="12700">
            <a:solidFill>
              <a:srgbClr val="2A3853"/>
            </a:solidFill>
            <a:prstDash val="solid"/>
          </a:ln>
        </p:spPr>
      </p:sp>
      <p:sp>
        <p:nvSpPr>
          <p:cNvPr id="26" name="Shape 24"/>
          <p:cNvSpPr/>
          <p:nvPr/>
        </p:nvSpPr>
        <p:spPr>
          <a:xfrm>
            <a:off x="8138160" y="3246120"/>
            <a:ext cx="54864" cy="1554480"/>
          </a:xfrm>
          <a:prstGeom prst="rect">
            <a:avLst/>
          </a:prstGeom>
          <a:solidFill>
            <a:srgbClr val="EF4444"/>
          </a:solidFill>
          <a:ln w="12700">
            <a:solidFill>
              <a:srgbClr val="EF4444"/>
            </a:solidFill>
            <a:prstDash val="solid"/>
          </a:ln>
        </p:spPr>
      </p:sp>
      <p:sp>
        <p:nvSpPr>
          <p:cNvPr id="27" name="Text 25"/>
          <p:cNvSpPr/>
          <p:nvPr/>
        </p:nvSpPr>
        <p:spPr>
          <a:xfrm>
            <a:off x="8339328" y="3401568"/>
            <a:ext cx="3063240" cy="292608"/>
          </a:xfrm>
          <a:prstGeom prst="rect">
            <a:avLst/>
          </a:prstGeom>
          <a:noFill/>
          <a:ln/>
        </p:spPr>
        <p:txBody>
          <a:bodyPr wrap="square" lIns="0" tIns="0" rIns="0" bIns="0" rtlCol="0" anchor="ctr"/>
          <a:lstStyle/>
          <a:p>
            <a:pPr indent="0" marL="0">
              <a:buNone/>
            </a:pPr>
            <a:r>
              <a:rPr lang="en-US" sz="1500" b="1" dirty="0">
                <a:solidFill>
                  <a:srgbClr val="F7FAFC"/>
                </a:solidFill>
              </a:rPr>
              <a:t>Conflict handling</a:t>
            </a:r>
            <a:endParaRPr lang="en-US" sz="1500" dirty="0"/>
          </a:p>
        </p:txBody>
      </p:sp>
      <p:sp>
        <p:nvSpPr>
          <p:cNvPr id="28" name="Text 26"/>
          <p:cNvSpPr/>
          <p:nvPr/>
        </p:nvSpPr>
        <p:spPr>
          <a:xfrm>
            <a:off x="8339328" y="3813048"/>
            <a:ext cx="3017520" cy="868680"/>
          </a:xfrm>
          <a:prstGeom prst="rect">
            <a:avLst/>
          </a:prstGeom>
          <a:noFill/>
          <a:ln/>
        </p:spPr>
        <p:txBody>
          <a:bodyPr wrap="square" lIns="254" tIns="254" rIns="254" bIns="254" rtlCol="0" anchor="t">
            <a:normAutofit/>
          </a:bodyPr>
          <a:lstStyle/>
          <a:p>
            <a:pPr indent="0" marL="0">
              <a:buNone/>
            </a:pPr>
            <a:r>
              <a:rPr lang="en-US" sz="1130" dirty="0">
                <a:solidFill>
                  <a:srgbClr val="A9B4C7"/>
                </a:solidFill>
              </a:rPr>
              <a:t>Conflicting injected aliases are rejected before provisioning instead of silently overwriting application settings.</a:t>
            </a:r>
            <a:endParaRPr lang="en-US" sz="1130" dirty="0"/>
          </a:p>
        </p:txBody>
      </p:sp>
      <p:sp>
        <p:nvSpPr>
          <p:cNvPr id="25" name="Slide Number Placeholder 0"/>
          <p:cNvSpPr>
            <a:spLocks noGrp="1"/>
          </p:cNvSpPr>
          <p:nvPr>
            <p:ph type="sldNum" sz="quarter" idx="4294967295"/>
          </p:nvPr>
        </p:nvSpPr>
        <p:spPr>
          <a:xfrm>
            <a:off x="1138428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7C8AA5"/>
                </a:solidFill>
                <a:latin typeface="Aptos"/>
                <a:ea typeface="Aptos"/>
                <a:cs typeface="Aptos"/>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02920" y="320040"/>
            <a:ext cx="11064240" cy="502920"/>
          </a:xfrm>
          <a:prstGeom prst="rect">
            <a:avLst/>
          </a:prstGeom>
          <a:noFill/>
          <a:ln/>
        </p:spPr>
        <p:txBody>
          <a:bodyPr wrap="square" lIns="0" tIns="0" rIns="0" bIns="0" rtlCol="0" anchor="ctr"/>
          <a:lstStyle/>
          <a:p>
            <a:pPr indent="0" marL="0">
              <a:buNone/>
            </a:pPr>
            <a:r>
              <a:rPr lang="en-US" sz="2800" b="1" dirty="0">
                <a:solidFill>
                  <a:srgbClr val="F7FAFC"/>
                </a:solidFill>
                <a:latin typeface="Aptos Display" pitchFamily="34" charset="0"/>
                <a:ea typeface="Aptos Display" pitchFamily="34" charset="-122"/>
                <a:cs typeface="Aptos Display" pitchFamily="34" charset="-120"/>
              </a:rPr>
              <a:t>9. Failure handling and AI troubleshooting</a:t>
            </a:r>
            <a:endParaRPr lang="en-US" sz="2800" dirty="0"/>
          </a:p>
        </p:txBody>
      </p:sp>
      <p:sp>
        <p:nvSpPr>
          <p:cNvPr id="3" name="Text 1"/>
          <p:cNvSpPr/>
          <p:nvPr/>
        </p:nvSpPr>
        <p:spPr>
          <a:xfrm>
            <a:off x="521208" y="868680"/>
            <a:ext cx="10972800" cy="310896"/>
          </a:xfrm>
          <a:prstGeom prst="rect">
            <a:avLst/>
          </a:prstGeom>
          <a:noFill/>
          <a:ln/>
        </p:spPr>
        <p:txBody>
          <a:bodyPr wrap="square" lIns="0" tIns="0" rIns="0" bIns="0" rtlCol="0" anchor="ctr"/>
          <a:lstStyle/>
          <a:p>
            <a:pPr indent="0" marL="0">
              <a:buNone/>
            </a:pPr>
            <a:r>
              <a:rPr lang="en-US" sz="1250" dirty="0">
                <a:solidFill>
                  <a:srgbClr val="A9B4C7"/>
                </a:solidFill>
              </a:rPr>
              <a:t>Every terminal failure should produce structured, sanitized evidence</a:t>
            </a:r>
            <a:endParaRPr lang="en-US" sz="1250" dirty="0"/>
          </a:p>
        </p:txBody>
      </p:sp>
      <p:sp>
        <p:nvSpPr>
          <p:cNvPr id="4" name="Shape 2"/>
          <p:cNvSpPr/>
          <p:nvPr/>
        </p:nvSpPr>
        <p:spPr>
          <a:xfrm>
            <a:off x="10469880" y="338328"/>
            <a:ext cx="1078992" cy="274320"/>
          </a:xfrm>
          <a:prstGeom prst="roundRect">
            <a:avLst>
              <a:gd name="adj" fmla="val 16667"/>
            </a:avLst>
          </a:prstGeom>
          <a:solidFill>
            <a:srgbClr val="F59E0B">
              <a:alpha val="20000"/>
            </a:srgbClr>
          </a:solidFill>
          <a:ln w="12700">
            <a:solidFill>
              <a:srgbClr val="F59E0B">
                <a:alpha val="70000"/>
              </a:srgbClr>
            </a:solidFill>
            <a:prstDash val="solid"/>
          </a:ln>
        </p:spPr>
      </p:sp>
      <p:sp>
        <p:nvSpPr>
          <p:cNvPr id="5" name="Text 3"/>
          <p:cNvSpPr/>
          <p:nvPr/>
        </p:nvSpPr>
        <p:spPr>
          <a:xfrm>
            <a:off x="10543032" y="388620"/>
            <a:ext cx="932688" cy="155448"/>
          </a:xfrm>
          <a:prstGeom prst="rect">
            <a:avLst/>
          </a:prstGeom>
          <a:noFill/>
          <a:ln/>
        </p:spPr>
        <p:txBody>
          <a:bodyPr wrap="square" lIns="0" tIns="0" rIns="0" bIns="0" rtlCol="0" anchor="ctr"/>
          <a:lstStyle/>
          <a:p>
            <a:pPr algn="ctr" indent="0" marL="0">
              <a:buNone/>
            </a:pPr>
            <a:r>
              <a:rPr lang="en-US" sz="900" b="1" dirty="0">
                <a:solidFill>
                  <a:srgbClr val="F59E0B"/>
                </a:solidFill>
              </a:rPr>
              <a:t>HASSAN</a:t>
            </a:r>
            <a:endParaRPr lang="en-US" sz="900" dirty="0"/>
          </a:p>
        </p:txBody>
      </p:sp>
      <p:sp>
        <p:nvSpPr>
          <p:cNvPr id="6" name="Shape 4"/>
          <p:cNvSpPr/>
          <p:nvPr/>
        </p:nvSpPr>
        <p:spPr>
          <a:xfrm>
            <a:off x="640080" y="1600200"/>
            <a:ext cx="1828800" cy="822960"/>
          </a:xfrm>
          <a:prstGeom prst="roundRect">
            <a:avLst>
              <a:gd name="adj" fmla="val 5556"/>
            </a:avLst>
          </a:prstGeom>
          <a:solidFill>
            <a:srgbClr val="172238"/>
          </a:solidFill>
          <a:ln w="12700">
            <a:solidFill>
              <a:srgbClr val="EF4444"/>
            </a:solidFill>
            <a:prstDash val="solid"/>
          </a:ln>
        </p:spPr>
      </p:sp>
      <p:sp>
        <p:nvSpPr>
          <p:cNvPr id="7" name="Text 5"/>
          <p:cNvSpPr/>
          <p:nvPr/>
        </p:nvSpPr>
        <p:spPr>
          <a:xfrm>
            <a:off x="713232" y="1673352"/>
            <a:ext cx="1682496" cy="6766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Stage Failure</a:t>
            </a:r>
            <a:endParaRPr lang="en-US" sz="1200" dirty="0"/>
          </a:p>
        </p:txBody>
      </p:sp>
      <p:sp>
        <p:nvSpPr>
          <p:cNvPr id="8" name="Shape 6"/>
          <p:cNvSpPr/>
          <p:nvPr/>
        </p:nvSpPr>
        <p:spPr>
          <a:xfrm>
            <a:off x="2514600" y="2011680"/>
            <a:ext cx="411480" cy="0"/>
          </a:xfrm>
          <a:prstGeom prst="line">
            <a:avLst/>
          </a:prstGeom>
          <a:noFill/>
          <a:ln w="12700">
            <a:solidFill>
              <a:srgbClr val="A9B4C7"/>
            </a:solidFill>
            <a:prstDash val="solid"/>
            <a:headEnd type="none"/>
            <a:tailEnd type="triangle"/>
          </a:ln>
        </p:spPr>
      </p:sp>
      <p:sp>
        <p:nvSpPr>
          <p:cNvPr id="9" name="Shape 7"/>
          <p:cNvSpPr/>
          <p:nvPr/>
        </p:nvSpPr>
        <p:spPr>
          <a:xfrm>
            <a:off x="2971800" y="1600200"/>
            <a:ext cx="1828800" cy="822960"/>
          </a:xfrm>
          <a:prstGeom prst="roundRect">
            <a:avLst>
              <a:gd name="adj" fmla="val 5556"/>
            </a:avLst>
          </a:prstGeom>
          <a:solidFill>
            <a:srgbClr val="172238"/>
          </a:solidFill>
          <a:ln w="12700">
            <a:solidFill>
              <a:srgbClr val="F59E0B"/>
            </a:solidFill>
            <a:prstDash val="solid"/>
          </a:ln>
        </p:spPr>
      </p:sp>
      <p:sp>
        <p:nvSpPr>
          <p:cNvPr id="10" name="Text 8"/>
          <p:cNvSpPr/>
          <p:nvPr/>
        </p:nvSpPr>
        <p:spPr>
          <a:xfrm>
            <a:off x="3044952" y="1673352"/>
            <a:ext cx="1682496" cy="6766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Central Capture</a:t>
            </a:r>
            <a:endParaRPr lang="en-US" sz="1200" dirty="0"/>
          </a:p>
        </p:txBody>
      </p:sp>
      <p:sp>
        <p:nvSpPr>
          <p:cNvPr id="11" name="Shape 9"/>
          <p:cNvSpPr/>
          <p:nvPr/>
        </p:nvSpPr>
        <p:spPr>
          <a:xfrm>
            <a:off x="4846320" y="2011680"/>
            <a:ext cx="411480" cy="0"/>
          </a:xfrm>
          <a:prstGeom prst="line">
            <a:avLst/>
          </a:prstGeom>
          <a:noFill/>
          <a:ln w="12700">
            <a:solidFill>
              <a:srgbClr val="A9B4C7"/>
            </a:solidFill>
            <a:prstDash val="solid"/>
            <a:headEnd type="none"/>
            <a:tailEnd type="triangle"/>
          </a:ln>
        </p:spPr>
      </p:sp>
      <p:sp>
        <p:nvSpPr>
          <p:cNvPr id="12" name="Shape 10"/>
          <p:cNvSpPr/>
          <p:nvPr/>
        </p:nvSpPr>
        <p:spPr>
          <a:xfrm>
            <a:off x="5303520" y="1600200"/>
            <a:ext cx="1828800" cy="822960"/>
          </a:xfrm>
          <a:prstGeom prst="roundRect">
            <a:avLst>
              <a:gd name="adj" fmla="val 5556"/>
            </a:avLst>
          </a:prstGeom>
          <a:solidFill>
            <a:srgbClr val="172238"/>
          </a:solidFill>
          <a:ln w="12700">
            <a:solidFill>
              <a:srgbClr val="38BDF8"/>
            </a:solidFill>
            <a:prstDash val="solid"/>
          </a:ln>
        </p:spPr>
      </p:sp>
      <p:sp>
        <p:nvSpPr>
          <p:cNvPr id="13" name="Text 11"/>
          <p:cNvSpPr/>
          <p:nvPr/>
        </p:nvSpPr>
        <p:spPr>
          <a:xfrm>
            <a:off x="5376672" y="1673352"/>
            <a:ext cx="1682496" cy="6766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Sanitized Evidence</a:t>
            </a:r>
            <a:endParaRPr lang="en-US" sz="1200" dirty="0"/>
          </a:p>
        </p:txBody>
      </p:sp>
      <p:sp>
        <p:nvSpPr>
          <p:cNvPr id="14" name="Shape 12"/>
          <p:cNvSpPr/>
          <p:nvPr/>
        </p:nvSpPr>
        <p:spPr>
          <a:xfrm>
            <a:off x="7178040" y="2011680"/>
            <a:ext cx="411480" cy="0"/>
          </a:xfrm>
          <a:prstGeom prst="line">
            <a:avLst/>
          </a:prstGeom>
          <a:noFill/>
          <a:ln w="12700">
            <a:solidFill>
              <a:srgbClr val="A9B4C7"/>
            </a:solidFill>
            <a:prstDash val="solid"/>
            <a:headEnd type="none"/>
            <a:tailEnd type="triangle"/>
          </a:ln>
        </p:spPr>
      </p:sp>
      <p:sp>
        <p:nvSpPr>
          <p:cNvPr id="15" name="Shape 13"/>
          <p:cNvSpPr/>
          <p:nvPr/>
        </p:nvSpPr>
        <p:spPr>
          <a:xfrm>
            <a:off x="7635240" y="1600200"/>
            <a:ext cx="1828800" cy="822960"/>
          </a:xfrm>
          <a:prstGeom prst="roundRect">
            <a:avLst>
              <a:gd name="adj" fmla="val 5556"/>
            </a:avLst>
          </a:prstGeom>
          <a:solidFill>
            <a:srgbClr val="172238"/>
          </a:solidFill>
          <a:ln w="12700">
            <a:solidFill>
              <a:srgbClr val="A78BFA"/>
            </a:solidFill>
            <a:prstDash val="solid"/>
          </a:ln>
        </p:spPr>
      </p:sp>
      <p:sp>
        <p:nvSpPr>
          <p:cNvPr id="16" name="Text 14"/>
          <p:cNvSpPr/>
          <p:nvPr/>
        </p:nvSpPr>
        <p:spPr>
          <a:xfrm>
            <a:off x="7708392" y="1673352"/>
            <a:ext cx="1682496" cy="6766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Diagnosis</a:t>
            </a:r>
            <a:endParaRPr lang="en-US" sz="1200" dirty="0"/>
          </a:p>
        </p:txBody>
      </p:sp>
      <p:sp>
        <p:nvSpPr>
          <p:cNvPr id="17" name="Shape 15"/>
          <p:cNvSpPr/>
          <p:nvPr/>
        </p:nvSpPr>
        <p:spPr>
          <a:xfrm>
            <a:off x="9509760" y="2011680"/>
            <a:ext cx="411480" cy="0"/>
          </a:xfrm>
          <a:prstGeom prst="line">
            <a:avLst/>
          </a:prstGeom>
          <a:noFill/>
          <a:ln w="12700">
            <a:solidFill>
              <a:srgbClr val="A9B4C7"/>
            </a:solidFill>
            <a:prstDash val="solid"/>
            <a:headEnd type="none"/>
            <a:tailEnd type="triangle"/>
          </a:ln>
        </p:spPr>
      </p:sp>
      <p:sp>
        <p:nvSpPr>
          <p:cNvPr id="18" name="Shape 16"/>
          <p:cNvSpPr/>
          <p:nvPr/>
        </p:nvSpPr>
        <p:spPr>
          <a:xfrm>
            <a:off x="9966960" y="1600200"/>
            <a:ext cx="1554480" cy="822960"/>
          </a:xfrm>
          <a:prstGeom prst="roundRect">
            <a:avLst>
              <a:gd name="adj" fmla="val 5556"/>
            </a:avLst>
          </a:prstGeom>
          <a:solidFill>
            <a:srgbClr val="172238"/>
          </a:solidFill>
          <a:ln w="12700">
            <a:solidFill>
              <a:srgbClr val="22C55E"/>
            </a:solidFill>
            <a:prstDash val="solid"/>
          </a:ln>
        </p:spPr>
      </p:sp>
      <p:sp>
        <p:nvSpPr>
          <p:cNvPr id="19" name="Text 17"/>
          <p:cNvSpPr/>
          <p:nvPr/>
        </p:nvSpPr>
        <p:spPr>
          <a:xfrm>
            <a:off x="10040112" y="1673352"/>
            <a:ext cx="1408176" cy="6766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UI / AI</a:t>
            </a:r>
            <a:endParaRPr lang="en-US" sz="1200" dirty="0"/>
          </a:p>
        </p:txBody>
      </p:sp>
      <p:sp>
        <p:nvSpPr>
          <p:cNvPr id="20" name="Shape 18"/>
          <p:cNvSpPr/>
          <p:nvPr/>
        </p:nvSpPr>
        <p:spPr>
          <a:xfrm>
            <a:off x="731520" y="3383280"/>
            <a:ext cx="2331720" cy="310896"/>
          </a:xfrm>
          <a:prstGeom prst="roundRect">
            <a:avLst/>
          </a:prstGeom>
          <a:solidFill>
            <a:srgbClr val="EF4444">
              <a:alpha val="18000"/>
            </a:srgbClr>
          </a:solidFill>
          <a:ln w="12700">
            <a:solidFill>
              <a:srgbClr val="EF4444">
                <a:alpha val="70000"/>
              </a:srgbClr>
            </a:solidFill>
            <a:prstDash val="solid"/>
          </a:ln>
        </p:spPr>
      </p:sp>
      <p:sp>
        <p:nvSpPr>
          <p:cNvPr id="21" name="Text 19"/>
          <p:cNvSpPr/>
          <p:nvPr/>
        </p:nvSpPr>
        <p:spPr>
          <a:xfrm>
            <a:off x="786384" y="3447288"/>
            <a:ext cx="2221992" cy="155448"/>
          </a:xfrm>
          <a:prstGeom prst="rect">
            <a:avLst/>
          </a:prstGeom>
          <a:noFill/>
          <a:ln/>
        </p:spPr>
        <p:txBody>
          <a:bodyPr wrap="square" lIns="0" tIns="0" rIns="0" bIns="0" rtlCol="0" anchor="ctr"/>
          <a:lstStyle/>
          <a:p>
            <a:pPr algn="ctr" indent="0" marL="0">
              <a:buNone/>
            </a:pPr>
            <a:r>
              <a:rPr lang="en-US" sz="950" b="1" dirty="0">
                <a:solidFill>
                  <a:srgbClr val="EF4444"/>
                </a:solidFill>
              </a:rPr>
              <a:t>failure code</a:t>
            </a:r>
            <a:endParaRPr lang="en-US" sz="950" dirty="0"/>
          </a:p>
        </p:txBody>
      </p:sp>
      <p:sp>
        <p:nvSpPr>
          <p:cNvPr id="22" name="Shape 20"/>
          <p:cNvSpPr/>
          <p:nvPr/>
        </p:nvSpPr>
        <p:spPr>
          <a:xfrm>
            <a:off x="3474720" y="3383280"/>
            <a:ext cx="2331720" cy="310896"/>
          </a:xfrm>
          <a:prstGeom prst="roundRect">
            <a:avLst/>
          </a:prstGeom>
          <a:solidFill>
            <a:srgbClr val="F59E0B">
              <a:alpha val="18000"/>
            </a:srgbClr>
          </a:solidFill>
          <a:ln w="12700">
            <a:solidFill>
              <a:srgbClr val="F59E0B">
                <a:alpha val="70000"/>
              </a:srgbClr>
            </a:solidFill>
            <a:prstDash val="solid"/>
          </a:ln>
        </p:spPr>
      </p:sp>
      <p:sp>
        <p:nvSpPr>
          <p:cNvPr id="23" name="Text 21"/>
          <p:cNvSpPr/>
          <p:nvPr/>
        </p:nvSpPr>
        <p:spPr>
          <a:xfrm>
            <a:off x="3529584" y="3447288"/>
            <a:ext cx="2221992" cy="155448"/>
          </a:xfrm>
          <a:prstGeom prst="rect">
            <a:avLst/>
          </a:prstGeom>
          <a:noFill/>
          <a:ln/>
        </p:spPr>
        <p:txBody>
          <a:bodyPr wrap="square" lIns="0" tIns="0" rIns="0" bIns="0" rtlCol="0" anchor="ctr"/>
          <a:lstStyle/>
          <a:p>
            <a:pPr algn="ctr" indent="0" marL="0">
              <a:buNone/>
            </a:pPr>
            <a:r>
              <a:rPr lang="en-US" sz="950" b="1" dirty="0">
                <a:solidFill>
                  <a:srgbClr val="F59E0B"/>
                </a:solidFill>
              </a:rPr>
              <a:t>pipeline stage</a:t>
            </a:r>
            <a:endParaRPr lang="en-US" sz="950" dirty="0"/>
          </a:p>
        </p:txBody>
      </p:sp>
      <p:sp>
        <p:nvSpPr>
          <p:cNvPr id="24" name="Shape 22"/>
          <p:cNvSpPr/>
          <p:nvPr/>
        </p:nvSpPr>
        <p:spPr>
          <a:xfrm>
            <a:off x="6217920" y="3383280"/>
            <a:ext cx="2331720" cy="310896"/>
          </a:xfrm>
          <a:prstGeom prst="roundRect">
            <a:avLst/>
          </a:prstGeom>
          <a:solidFill>
            <a:srgbClr val="38BDF8">
              <a:alpha val="18000"/>
            </a:srgbClr>
          </a:solidFill>
          <a:ln w="12700">
            <a:solidFill>
              <a:srgbClr val="38BDF8">
                <a:alpha val="70000"/>
              </a:srgbClr>
            </a:solidFill>
            <a:prstDash val="solid"/>
          </a:ln>
        </p:spPr>
      </p:sp>
      <p:sp>
        <p:nvSpPr>
          <p:cNvPr id="25" name="Text 23"/>
          <p:cNvSpPr/>
          <p:nvPr/>
        </p:nvSpPr>
        <p:spPr>
          <a:xfrm>
            <a:off x="6272784" y="3447288"/>
            <a:ext cx="2221992" cy="155448"/>
          </a:xfrm>
          <a:prstGeom prst="rect">
            <a:avLst/>
          </a:prstGeom>
          <a:noFill/>
          <a:ln/>
        </p:spPr>
        <p:txBody>
          <a:bodyPr wrap="square" lIns="0" tIns="0" rIns="0" bIns="0" rtlCol="0" anchor="ctr"/>
          <a:lstStyle/>
          <a:p>
            <a:pPr algn="ctr" indent="0" marL="0">
              <a:buNone/>
            </a:pPr>
            <a:r>
              <a:rPr lang="en-US" sz="950" b="1" dirty="0">
                <a:solidFill>
                  <a:srgbClr val="38BDF8"/>
                </a:solidFill>
              </a:rPr>
              <a:t>service</a:t>
            </a:r>
            <a:endParaRPr lang="en-US" sz="950" dirty="0"/>
          </a:p>
        </p:txBody>
      </p:sp>
      <p:sp>
        <p:nvSpPr>
          <p:cNvPr id="26" name="Shape 24"/>
          <p:cNvSpPr/>
          <p:nvPr/>
        </p:nvSpPr>
        <p:spPr>
          <a:xfrm>
            <a:off x="8961120" y="3383280"/>
            <a:ext cx="2331720" cy="310896"/>
          </a:xfrm>
          <a:prstGeom prst="roundRect">
            <a:avLst/>
          </a:prstGeom>
          <a:solidFill>
            <a:srgbClr val="A78BFA">
              <a:alpha val="18000"/>
            </a:srgbClr>
          </a:solidFill>
          <a:ln w="12700">
            <a:solidFill>
              <a:srgbClr val="A78BFA">
                <a:alpha val="70000"/>
              </a:srgbClr>
            </a:solidFill>
            <a:prstDash val="solid"/>
          </a:ln>
        </p:spPr>
      </p:sp>
      <p:sp>
        <p:nvSpPr>
          <p:cNvPr id="27" name="Text 25"/>
          <p:cNvSpPr/>
          <p:nvPr/>
        </p:nvSpPr>
        <p:spPr>
          <a:xfrm>
            <a:off x="9015984" y="3447288"/>
            <a:ext cx="2221992" cy="155448"/>
          </a:xfrm>
          <a:prstGeom prst="rect">
            <a:avLst/>
          </a:prstGeom>
          <a:noFill/>
          <a:ln/>
        </p:spPr>
        <p:txBody>
          <a:bodyPr wrap="square" lIns="0" tIns="0" rIns="0" bIns="0" rtlCol="0" anchor="ctr"/>
          <a:lstStyle/>
          <a:p>
            <a:pPr algn="ctr" indent="0" marL="0">
              <a:buNone/>
            </a:pPr>
            <a:r>
              <a:rPr lang="en-US" sz="950" b="1" dirty="0">
                <a:solidFill>
                  <a:srgbClr val="A78BFA"/>
                </a:solidFill>
              </a:rPr>
              <a:t>operation/project</a:t>
            </a:r>
            <a:endParaRPr lang="en-US" sz="950" dirty="0"/>
          </a:p>
        </p:txBody>
      </p:sp>
      <p:sp>
        <p:nvSpPr>
          <p:cNvPr id="28" name="Shape 26"/>
          <p:cNvSpPr/>
          <p:nvPr/>
        </p:nvSpPr>
        <p:spPr>
          <a:xfrm>
            <a:off x="731520" y="4005072"/>
            <a:ext cx="2331720" cy="310896"/>
          </a:xfrm>
          <a:prstGeom prst="roundRect">
            <a:avLst/>
          </a:prstGeom>
          <a:solidFill>
            <a:srgbClr val="EF4444">
              <a:alpha val="18000"/>
            </a:srgbClr>
          </a:solidFill>
          <a:ln w="12700">
            <a:solidFill>
              <a:srgbClr val="EF4444">
                <a:alpha val="70000"/>
              </a:srgbClr>
            </a:solidFill>
            <a:prstDash val="solid"/>
          </a:ln>
        </p:spPr>
      </p:sp>
      <p:sp>
        <p:nvSpPr>
          <p:cNvPr id="29" name="Text 27"/>
          <p:cNvSpPr/>
          <p:nvPr/>
        </p:nvSpPr>
        <p:spPr>
          <a:xfrm>
            <a:off x="786384" y="4069080"/>
            <a:ext cx="2221992" cy="155448"/>
          </a:xfrm>
          <a:prstGeom prst="rect">
            <a:avLst/>
          </a:prstGeom>
          <a:noFill/>
          <a:ln/>
        </p:spPr>
        <p:txBody>
          <a:bodyPr wrap="square" lIns="0" tIns="0" rIns="0" bIns="0" rtlCol="0" anchor="ctr"/>
          <a:lstStyle/>
          <a:p>
            <a:pPr algn="ctr" indent="0" marL="0">
              <a:buNone/>
            </a:pPr>
            <a:r>
              <a:rPr lang="en-US" sz="950" b="1" dirty="0">
                <a:solidFill>
                  <a:srgbClr val="EF4444"/>
                </a:solidFill>
              </a:rPr>
              <a:t>source SHA</a:t>
            </a:r>
            <a:endParaRPr lang="en-US" sz="950" dirty="0"/>
          </a:p>
        </p:txBody>
      </p:sp>
      <p:sp>
        <p:nvSpPr>
          <p:cNvPr id="30" name="Shape 28"/>
          <p:cNvSpPr/>
          <p:nvPr/>
        </p:nvSpPr>
        <p:spPr>
          <a:xfrm>
            <a:off x="3474720" y="4005072"/>
            <a:ext cx="2331720" cy="310896"/>
          </a:xfrm>
          <a:prstGeom prst="roundRect">
            <a:avLst/>
          </a:prstGeom>
          <a:solidFill>
            <a:srgbClr val="F59E0B">
              <a:alpha val="18000"/>
            </a:srgbClr>
          </a:solidFill>
          <a:ln w="12700">
            <a:solidFill>
              <a:srgbClr val="F59E0B">
                <a:alpha val="70000"/>
              </a:srgbClr>
            </a:solidFill>
            <a:prstDash val="solid"/>
          </a:ln>
        </p:spPr>
      </p:sp>
      <p:sp>
        <p:nvSpPr>
          <p:cNvPr id="31" name="Text 29"/>
          <p:cNvSpPr/>
          <p:nvPr/>
        </p:nvSpPr>
        <p:spPr>
          <a:xfrm>
            <a:off x="3529584" y="4069080"/>
            <a:ext cx="2221992" cy="155448"/>
          </a:xfrm>
          <a:prstGeom prst="rect">
            <a:avLst/>
          </a:prstGeom>
          <a:noFill/>
          <a:ln/>
        </p:spPr>
        <p:txBody>
          <a:bodyPr wrap="square" lIns="0" tIns="0" rIns="0" bIns="0" rtlCol="0" anchor="ctr"/>
          <a:lstStyle/>
          <a:p>
            <a:pPr algn="ctr" indent="0" marL="0">
              <a:buNone/>
            </a:pPr>
            <a:r>
              <a:rPr lang="en-US" sz="950" b="1" dirty="0">
                <a:solidFill>
                  <a:srgbClr val="F59E0B"/>
                </a:solidFill>
              </a:rPr>
              <a:t>build/runtime identity</a:t>
            </a:r>
            <a:endParaRPr lang="en-US" sz="950" dirty="0"/>
          </a:p>
        </p:txBody>
      </p:sp>
      <p:sp>
        <p:nvSpPr>
          <p:cNvPr id="32" name="Shape 30"/>
          <p:cNvSpPr/>
          <p:nvPr/>
        </p:nvSpPr>
        <p:spPr>
          <a:xfrm>
            <a:off x="6217920" y="4005072"/>
            <a:ext cx="2331720" cy="310896"/>
          </a:xfrm>
          <a:prstGeom prst="roundRect">
            <a:avLst/>
          </a:prstGeom>
          <a:solidFill>
            <a:srgbClr val="38BDF8">
              <a:alpha val="18000"/>
            </a:srgbClr>
          </a:solidFill>
          <a:ln w="12700">
            <a:solidFill>
              <a:srgbClr val="38BDF8">
                <a:alpha val="70000"/>
              </a:srgbClr>
            </a:solidFill>
            <a:prstDash val="solid"/>
          </a:ln>
        </p:spPr>
      </p:sp>
      <p:sp>
        <p:nvSpPr>
          <p:cNvPr id="33" name="Text 31"/>
          <p:cNvSpPr/>
          <p:nvPr/>
        </p:nvSpPr>
        <p:spPr>
          <a:xfrm>
            <a:off x="6272784" y="4069080"/>
            <a:ext cx="2221992" cy="155448"/>
          </a:xfrm>
          <a:prstGeom prst="rect">
            <a:avLst/>
          </a:prstGeom>
          <a:noFill/>
          <a:ln/>
        </p:spPr>
        <p:txBody>
          <a:bodyPr wrap="square" lIns="0" tIns="0" rIns="0" bIns="0" rtlCol="0" anchor="ctr"/>
          <a:lstStyle/>
          <a:p>
            <a:pPr algn="ctr" indent="0" marL="0">
              <a:buNone/>
            </a:pPr>
            <a:r>
              <a:rPr lang="en-US" sz="950" b="1" dirty="0">
                <a:solidFill>
                  <a:srgbClr val="38BDF8"/>
                </a:solidFill>
              </a:rPr>
              <a:t>bounded log evidence</a:t>
            </a:r>
            <a:endParaRPr lang="en-US" sz="950" dirty="0"/>
          </a:p>
        </p:txBody>
      </p:sp>
      <p:sp>
        <p:nvSpPr>
          <p:cNvPr id="34" name="Shape 32"/>
          <p:cNvSpPr/>
          <p:nvPr/>
        </p:nvSpPr>
        <p:spPr>
          <a:xfrm>
            <a:off x="8961120" y="4005072"/>
            <a:ext cx="2331720" cy="310896"/>
          </a:xfrm>
          <a:prstGeom prst="roundRect">
            <a:avLst/>
          </a:prstGeom>
          <a:solidFill>
            <a:srgbClr val="A78BFA">
              <a:alpha val="18000"/>
            </a:srgbClr>
          </a:solidFill>
          <a:ln w="12700">
            <a:solidFill>
              <a:srgbClr val="A78BFA">
                <a:alpha val="70000"/>
              </a:srgbClr>
            </a:solidFill>
            <a:prstDash val="solid"/>
          </a:ln>
        </p:spPr>
      </p:sp>
      <p:sp>
        <p:nvSpPr>
          <p:cNvPr id="35" name="Text 33"/>
          <p:cNvSpPr/>
          <p:nvPr/>
        </p:nvSpPr>
        <p:spPr>
          <a:xfrm>
            <a:off x="9015984" y="4069080"/>
            <a:ext cx="2221992" cy="155448"/>
          </a:xfrm>
          <a:prstGeom prst="rect">
            <a:avLst/>
          </a:prstGeom>
          <a:noFill/>
          <a:ln/>
        </p:spPr>
        <p:txBody>
          <a:bodyPr wrap="square" lIns="0" tIns="0" rIns="0" bIns="0" rtlCol="0" anchor="ctr"/>
          <a:lstStyle/>
          <a:p>
            <a:pPr algn="ctr" indent="0" marL="0">
              <a:buNone/>
            </a:pPr>
            <a:r>
              <a:rPr lang="en-US" sz="950" b="1" dirty="0">
                <a:solidFill>
                  <a:srgbClr val="A78BFA"/>
                </a:solidFill>
              </a:rPr>
              <a:t>fallback metadata</a:t>
            </a:r>
            <a:endParaRPr lang="en-US" sz="950" dirty="0"/>
          </a:p>
        </p:txBody>
      </p:sp>
      <p:sp>
        <p:nvSpPr>
          <p:cNvPr id="36" name="Text 34"/>
          <p:cNvSpPr/>
          <p:nvPr/>
        </p:nvSpPr>
        <p:spPr>
          <a:xfrm>
            <a:off x="914400" y="5074920"/>
            <a:ext cx="10149840" cy="411480"/>
          </a:xfrm>
          <a:prstGeom prst="rect">
            <a:avLst/>
          </a:prstGeom>
          <a:noFill/>
          <a:ln/>
        </p:spPr>
        <p:txBody>
          <a:bodyPr wrap="square" lIns="0" tIns="0" rIns="0" bIns="0" rtlCol="0" anchor="ctr"/>
          <a:lstStyle/>
          <a:p>
            <a:pPr algn="ctr" indent="0" marL="0">
              <a:buNone/>
            </a:pPr>
            <a:r>
              <a:rPr lang="en-US" sz="1300" b="1" dirty="0">
                <a:solidFill>
                  <a:srgbClr val="22C55E"/>
                </a:solidFill>
              </a:rPr>
              <a:t>AI consumes the same authoritative evidence; it does not independently mutate deployment state.</a:t>
            </a:r>
            <a:endParaRPr lang="en-US" sz="1300" dirty="0"/>
          </a:p>
        </p:txBody>
      </p:sp>
      <p:sp>
        <p:nvSpPr>
          <p:cNvPr id="25" name="Slide Number Placeholder 0"/>
          <p:cNvSpPr>
            <a:spLocks noGrp="1"/>
          </p:cNvSpPr>
          <p:nvPr>
            <p:ph type="sldNum" sz="quarter" idx="4294967295"/>
          </p:nvPr>
        </p:nvSpPr>
        <p:spPr>
          <a:xfrm>
            <a:off x="1138428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7C8AA5"/>
                </a:solidFill>
                <a:latin typeface="Aptos"/>
                <a:ea typeface="Aptos"/>
                <a:cs typeface="Aptos"/>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02920" y="320040"/>
            <a:ext cx="11064240" cy="502920"/>
          </a:xfrm>
          <a:prstGeom prst="rect">
            <a:avLst/>
          </a:prstGeom>
          <a:noFill/>
          <a:ln/>
        </p:spPr>
        <p:txBody>
          <a:bodyPr wrap="square" lIns="0" tIns="0" rIns="0" bIns="0" rtlCol="0" anchor="ctr"/>
          <a:lstStyle/>
          <a:p>
            <a:pPr indent="0" marL="0">
              <a:buNone/>
            </a:pPr>
            <a:r>
              <a:rPr lang="en-US" sz="2800" b="1" dirty="0">
                <a:solidFill>
                  <a:srgbClr val="F7FAFC"/>
                </a:solidFill>
                <a:latin typeface="Aptos Display" pitchFamily="34" charset="0"/>
                <a:ea typeface="Aptos Display" pitchFamily="34" charset="-122"/>
                <a:cs typeface="Aptos Display" pitchFamily="34" charset="-120"/>
              </a:rPr>
              <a:t>10. Operational state and evidence</a:t>
            </a:r>
            <a:endParaRPr lang="en-US" sz="2800" dirty="0"/>
          </a:p>
        </p:txBody>
      </p:sp>
      <p:sp>
        <p:nvSpPr>
          <p:cNvPr id="3" name="Text 1"/>
          <p:cNvSpPr/>
          <p:nvPr/>
        </p:nvSpPr>
        <p:spPr>
          <a:xfrm>
            <a:off x="521208" y="868680"/>
            <a:ext cx="10972800" cy="310896"/>
          </a:xfrm>
          <a:prstGeom prst="rect">
            <a:avLst/>
          </a:prstGeom>
          <a:noFill/>
          <a:ln/>
        </p:spPr>
        <p:txBody>
          <a:bodyPr wrap="square" lIns="0" tIns="0" rIns="0" bIns="0" rtlCol="0" anchor="ctr"/>
          <a:lstStyle/>
          <a:p>
            <a:pPr indent="0" marL="0">
              <a:buNone/>
            </a:pPr>
            <a:r>
              <a:rPr lang="en-US" sz="1250" dirty="0">
                <a:solidFill>
                  <a:srgbClr val="A9B4C7"/>
                </a:solidFill>
              </a:rPr>
              <a:t>DeployGuard records what happened, not only whether a button was clicked</a:t>
            </a:r>
            <a:endParaRPr lang="en-US" sz="1250" dirty="0"/>
          </a:p>
        </p:txBody>
      </p:sp>
      <p:sp>
        <p:nvSpPr>
          <p:cNvPr id="4" name="Shape 2"/>
          <p:cNvSpPr/>
          <p:nvPr/>
        </p:nvSpPr>
        <p:spPr>
          <a:xfrm>
            <a:off x="10469880" y="338328"/>
            <a:ext cx="1078992" cy="274320"/>
          </a:xfrm>
          <a:prstGeom prst="roundRect">
            <a:avLst>
              <a:gd name="adj" fmla="val 16667"/>
            </a:avLst>
          </a:prstGeom>
          <a:solidFill>
            <a:srgbClr val="F59E0B">
              <a:alpha val="20000"/>
            </a:srgbClr>
          </a:solidFill>
          <a:ln w="12700">
            <a:solidFill>
              <a:srgbClr val="F59E0B">
                <a:alpha val="70000"/>
              </a:srgbClr>
            </a:solidFill>
            <a:prstDash val="solid"/>
          </a:ln>
        </p:spPr>
      </p:sp>
      <p:sp>
        <p:nvSpPr>
          <p:cNvPr id="5" name="Text 3"/>
          <p:cNvSpPr/>
          <p:nvPr/>
        </p:nvSpPr>
        <p:spPr>
          <a:xfrm>
            <a:off x="10543032" y="388620"/>
            <a:ext cx="932688" cy="155448"/>
          </a:xfrm>
          <a:prstGeom prst="rect">
            <a:avLst/>
          </a:prstGeom>
          <a:noFill/>
          <a:ln/>
        </p:spPr>
        <p:txBody>
          <a:bodyPr wrap="square" lIns="0" tIns="0" rIns="0" bIns="0" rtlCol="0" anchor="ctr"/>
          <a:lstStyle/>
          <a:p>
            <a:pPr algn="ctr" indent="0" marL="0">
              <a:buNone/>
            </a:pPr>
            <a:r>
              <a:rPr lang="en-US" sz="900" b="1" dirty="0">
                <a:solidFill>
                  <a:srgbClr val="F59E0B"/>
                </a:solidFill>
              </a:rPr>
              <a:t>HASSAN</a:t>
            </a:r>
            <a:endParaRPr lang="en-US" sz="900" dirty="0"/>
          </a:p>
        </p:txBody>
      </p:sp>
      <p:sp>
        <p:nvSpPr>
          <p:cNvPr id="6" name="Shape 4"/>
          <p:cNvSpPr/>
          <p:nvPr/>
        </p:nvSpPr>
        <p:spPr>
          <a:xfrm>
            <a:off x="594360" y="1325880"/>
            <a:ext cx="3474720" cy="1645920"/>
          </a:xfrm>
          <a:prstGeom prst="roundRect">
            <a:avLst>
              <a:gd name="adj" fmla="val 3333"/>
            </a:avLst>
          </a:prstGeom>
          <a:solidFill>
            <a:srgbClr val="121A2D"/>
          </a:solidFill>
          <a:ln w="12700">
            <a:solidFill>
              <a:srgbClr val="2A3853"/>
            </a:solidFill>
            <a:prstDash val="solid"/>
          </a:ln>
        </p:spPr>
      </p:sp>
      <p:sp>
        <p:nvSpPr>
          <p:cNvPr id="7" name="Shape 5"/>
          <p:cNvSpPr/>
          <p:nvPr/>
        </p:nvSpPr>
        <p:spPr>
          <a:xfrm>
            <a:off x="594360" y="1325880"/>
            <a:ext cx="54864" cy="1645920"/>
          </a:xfrm>
          <a:prstGeom prst="rect">
            <a:avLst/>
          </a:prstGeom>
          <a:solidFill>
            <a:srgbClr val="F59E0B"/>
          </a:solidFill>
          <a:ln w="12700">
            <a:solidFill>
              <a:srgbClr val="F59E0B"/>
            </a:solidFill>
            <a:prstDash val="solid"/>
          </a:ln>
        </p:spPr>
      </p:sp>
      <p:sp>
        <p:nvSpPr>
          <p:cNvPr id="8" name="Text 6"/>
          <p:cNvSpPr/>
          <p:nvPr/>
        </p:nvSpPr>
        <p:spPr>
          <a:xfrm>
            <a:off x="795528" y="1481328"/>
            <a:ext cx="3154680" cy="292608"/>
          </a:xfrm>
          <a:prstGeom prst="rect">
            <a:avLst/>
          </a:prstGeom>
          <a:noFill/>
          <a:ln/>
        </p:spPr>
        <p:txBody>
          <a:bodyPr wrap="square" lIns="0" tIns="0" rIns="0" bIns="0" rtlCol="0" anchor="ctr"/>
          <a:lstStyle/>
          <a:p>
            <a:pPr indent="0" marL="0">
              <a:buNone/>
            </a:pPr>
            <a:r>
              <a:rPr lang="en-US" sz="1500" b="1" dirty="0">
                <a:solidFill>
                  <a:srgbClr val="F7FAFC"/>
                </a:solidFill>
              </a:rPr>
              <a:t>Operation</a:t>
            </a:r>
            <a:endParaRPr lang="en-US" sz="1500" dirty="0"/>
          </a:p>
        </p:txBody>
      </p:sp>
      <p:sp>
        <p:nvSpPr>
          <p:cNvPr id="9" name="Text 7"/>
          <p:cNvSpPr/>
          <p:nvPr/>
        </p:nvSpPr>
        <p:spPr>
          <a:xfrm>
            <a:off x="795528" y="1892808"/>
            <a:ext cx="3108960" cy="960120"/>
          </a:xfrm>
          <a:prstGeom prst="rect">
            <a:avLst/>
          </a:prstGeom>
          <a:noFill/>
          <a:ln/>
        </p:spPr>
        <p:txBody>
          <a:bodyPr wrap="square" lIns="254" tIns="254" rIns="254" bIns="254" rtlCol="0" anchor="t">
            <a:normAutofit/>
          </a:bodyPr>
          <a:lstStyle/>
          <a:p>
            <a:pPr indent="0" marL="0">
              <a:buNone/>
            </a:pPr>
            <a:r>
              <a:rPr lang="en-US" sz="1120" dirty="0">
                <a:solidFill>
                  <a:srgbClr val="A9B4C7"/>
                </a:solidFill>
              </a:rPr>
              <a:t>Deploy / supporting lifecycle action</a:t>
            </a:r>
            <a:endParaRPr lang="en-US" sz="1120" dirty="0"/>
          </a:p>
        </p:txBody>
      </p:sp>
      <p:sp>
        <p:nvSpPr>
          <p:cNvPr id="10" name="Shape 8"/>
          <p:cNvSpPr/>
          <p:nvPr/>
        </p:nvSpPr>
        <p:spPr>
          <a:xfrm>
            <a:off x="4434840" y="1325880"/>
            <a:ext cx="3474720" cy="1645920"/>
          </a:xfrm>
          <a:prstGeom prst="roundRect">
            <a:avLst>
              <a:gd name="adj" fmla="val 3333"/>
            </a:avLst>
          </a:prstGeom>
          <a:solidFill>
            <a:srgbClr val="121A2D"/>
          </a:solidFill>
          <a:ln w="12700">
            <a:solidFill>
              <a:srgbClr val="2A3853"/>
            </a:solidFill>
            <a:prstDash val="solid"/>
          </a:ln>
        </p:spPr>
      </p:sp>
      <p:sp>
        <p:nvSpPr>
          <p:cNvPr id="11" name="Shape 9"/>
          <p:cNvSpPr/>
          <p:nvPr/>
        </p:nvSpPr>
        <p:spPr>
          <a:xfrm>
            <a:off x="4434840" y="1325880"/>
            <a:ext cx="54864" cy="1645920"/>
          </a:xfrm>
          <a:prstGeom prst="rect">
            <a:avLst/>
          </a:prstGeom>
          <a:solidFill>
            <a:srgbClr val="A78BFA"/>
          </a:solidFill>
          <a:ln w="12700">
            <a:solidFill>
              <a:srgbClr val="A78BFA"/>
            </a:solidFill>
            <a:prstDash val="solid"/>
          </a:ln>
        </p:spPr>
      </p:sp>
      <p:sp>
        <p:nvSpPr>
          <p:cNvPr id="12" name="Text 10"/>
          <p:cNvSpPr/>
          <p:nvPr/>
        </p:nvSpPr>
        <p:spPr>
          <a:xfrm>
            <a:off x="4636008" y="1481328"/>
            <a:ext cx="3154680" cy="292608"/>
          </a:xfrm>
          <a:prstGeom prst="rect">
            <a:avLst/>
          </a:prstGeom>
          <a:noFill/>
          <a:ln/>
        </p:spPr>
        <p:txBody>
          <a:bodyPr wrap="square" lIns="0" tIns="0" rIns="0" bIns="0" rtlCol="0" anchor="ctr"/>
          <a:lstStyle/>
          <a:p>
            <a:pPr indent="0" marL="0">
              <a:buNone/>
            </a:pPr>
            <a:r>
              <a:rPr lang="en-US" sz="1500" b="1" dirty="0">
                <a:solidFill>
                  <a:srgbClr val="F7FAFC"/>
                </a:solidFill>
              </a:rPr>
              <a:t>Source identity</a:t>
            </a:r>
            <a:endParaRPr lang="en-US" sz="1500" dirty="0"/>
          </a:p>
        </p:txBody>
      </p:sp>
      <p:sp>
        <p:nvSpPr>
          <p:cNvPr id="13" name="Text 11"/>
          <p:cNvSpPr/>
          <p:nvPr/>
        </p:nvSpPr>
        <p:spPr>
          <a:xfrm>
            <a:off x="4636008" y="1892808"/>
            <a:ext cx="3108960" cy="960120"/>
          </a:xfrm>
          <a:prstGeom prst="rect">
            <a:avLst/>
          </a:prstGeom>
          <a:noFill/>
          <a:ln/>
        </p:spPr>
        <p:txBody>
          <a:bodyPr wrap="square" lIns="254" tIns="254" rIns="254" bIns="254" rtlCol="0" anchor="t">
            <a:normAutofit/>
          </a:bodyPr>
          <a:lstStyle/>
          <a:p>
            <a:pPr indent="0" marL="0">
              <a:buNone/>
            </a:pPr>
            <a:r>
              <a:rPr lang="en-US" sz="1120" dirty="0">
                <a:solidFill>
                  <a:srgbClr val="A9B4C7"/>
                </a:solidFill>
              </a:rPr>
              <a:t>Commit / build target / fingerprint</a:t>
            </a:r>
            <a:endParaRPr lang="en-US" sz="1120" dirty="0"/>
          </a:p>
        </p:txBody>
      </p:sp>
      <p:sp>
        <p:nvSpPr>
          <p:cNvPr id="14" name="Shape 12"/>
          <p:cNvSpPr/>
          <p:nvPr/>
        </p:nvSpPr>
        <p:spPr>
          <a:xfrm>
            <a:off x="8275320" y="1325880"/>
            <a:ext cx="3474720" cy="1645920"/>
          </a:xfrm>
          <a:prstGeom prst="roundRect">
            <a:avLst>
              <a:gd name="adj" fmla="val 3333"/>
            </a:avLst>
          </a:prstGeom>
          <a:solidFill>
            <a:srgbClr val="121A2D"/>
          </a:solidFill>
          <a:ln w="12700">
            <a:solidFill>
              <a:srgbClr val="2A3853"/>
            </a:solidFill>
            <a:prstDash val="solid"/>
          </a:ln>
        </p:spPr>
      </p:sp>
      <p:sp>
        <p:nvSpPr>
          <p:cNvPr id="15" name="Shape 13"/>
          <p:cNvSpPr/>
          <p:nvPr/>
        </p:nvSpPr>
        <p:spPr>
          <a:xfrm>
            <a:off x="8275320" y="1325880"/>
            <a:ext cx="54864" cy="1645920"/>
          </a:xfrm>
          <a:prstGeom prst="rect">
            <a:avLst/>
          </a:prstGeom>
          <a:solidFill>
            <a:srgbClr val="06B6D4"/>
          </a:solidFill>
          <a:ln w="12700">
            <a:solidFill>
              <a:srgbClr val="06B6D4"/>
            </a:solidFill>
            <a:prstDash val="solid"/>
          </a:ln>
        </p:spPr>
      </p:sp>
      <p:sp>
        <p:nvSpPr>
          <p:cNvPr id="16" name="Text 14"/>
          <p:cNvSpPr/>
          <p:nvPr/>
        </p:nvSpPr>
        <p:spPr>
          <a:xfrm>
            <a:off x="8476488" y="1481328"/>
            <a:ext cx="3154680" cy="292608"/>
          </a:xfrm>
          <a:prstGeom prst="rect">
            <a:avLst/>
          </a:prstGeom>
          <a:noFill/>
          <a:ln/>
        </p:spPr>
        <p:txBody>
          <a:bodyPr wrap="square" lIns="0" tIns="0" rIns="0" bIns="0" rtlCol="0" anchor="ctr"/>
          <a:lstStyle/>
          <a:p>
            <a:pPr indent="0" marL="0">
              <a:buNone/>
            </a:pPr>
            <a:r>
              <a:rPr lang="en-US" sz="1500" b="1" dirty="0">
                <a:solidFill>
                  <a:srgbClr val="F7FAFC"/>
                </a:solidFill>
              </a:rPr>
              <a:t>Artifact identity</a:t>
            </a:r>
            <a:endParaRPr lang="en-US" sz="1500" dirty="0"/>
          </a:p>
        </p:txBody>
      </p:sp>
      <p:sp>
        <p:nvSpPr>
          <p:cNvPr id="17" name="Text 15"/>
          <p:cNvSpPr/>
          <p:nvPr/>
        </p:nvSpPr>
        <p:spPr>
          <a:xfrm>
            <a:off x="8476488" y="1892808"/>
            <a:ext cx="3108960" cy="960120"/>
          </a:xfrm>
          <a:prstGeom prst="rect">
            <a:avLst/>
          </a:prstGeom>
          <a:noFill/>
          <a:ln/>
        </p:spPr>
        <p:txBody>
          <a:bodyPr wrap="square" lIns="254" tIns="254" rIns="254" bIns="254" rtlCol="0" anchor="t">
            <a:normAutofit/>
          </a:bodyPr>
          <a:lstStyle/>
          <a:p>
            <a:pPr indent="0" marL="0">
              <a:buNone/>
            </a:pPr>
            <a:r>
              <a:rPr lang="en-US" sz="1120" dirty="0">
                <a:solidFill>
                  <a:srgbClr val="A9B4C7"/>
                </a:solidFill>
              </a:rPr>
              <a:t>Image digest and runtime configuration revision</a:t>
            </a:r>
            <a:endParaRPr lang="en-US" sz="1120" dirty="0"/>
          </a:p>
        </p:txBody>
      </p:sp>
      <p:sp>
        <p:nvSpPr>
          <p:cNvPr id="18" name="Shape 16"/>
          <p:cNvSpPr/>
          <p:nvPr/>
        </p:nvSpPr>
        <p:spPr>
          <a:xfrm>
            <a:off x="594360" y="3474720"/>
            <a:ext cx="3474720" cy="1645920"/>
          </a:xfrm>
          <a:prstGeom prst="roundRect">
            <a:avLst>
              <a:gd name="adj" fmla="val 3333"/>
            </a:avLst>
          </a:prstGeom>
          <a:solidFill>
            <a:srgbClr val="121A2D"/>
          </a:solidFill>
          <a:ln w="12700">
            <a:solidFill>
              <a:srgbClr val="2A3853"/>
            </a:solidFill>
            <a:prstDash val="solid"/>
          </a:ln>
        </p:spPr>
      </p:sp>
      <p:sp>
        <p:nvSpPr>
          <p:cNvPr id="19" name="Shape 17"/>
          <p:cNvSpPr/>
          <p:nvPr/>
        </p:nvSpPr>
        <p:spPr>
          <a:xfrm>
            <a:off x="594360" y="3474720"/>
            <a:ext cx="54864" cy="1645920"/>
          </a:xfrm>
          <a:prstGeom prst="rect">
            <a:avLst/>
          </a:prstGeom>
          <a:solidFill>
            <a:srgbClr val="38BDF8"/>
          </a:solidFill>
          <a:ln w="12700">
            <a:solidFill>
              <a:srgbClr val="38BDF8"/>
            </a:solidFill>
            <a:prstDash val="solid"/>
          </a:ln>
        </p:spPr>
      </p:sp>
      <p:sp>
        <p:nvSpPr>
          <p:cNvPr id="20" name="Text 18"/>
          <p:cNvSpPr/>
          <p:nvPr/>
        </p:nvSpPr>
        <p:spPr>
          <a:xfrm>
            <a:off x="795528" y="3630168"/>
            <a:ext cx="3154680" cy="292608"/>
          </a:xfrm>
          <a:prstGeom prst="rect">
            <a:avLst/>
          </a:prstGeom>
          <a:noFill/>
          <a:ln/>
        </p:spPr>
        <p:txBody>
          <a:bodyPr wrap="square" lIns="0" tIns="0" rIns="0" bIns="0" rtlCol="0" anchor="ctr"/>
          <a:lstStyle/>
          <a:p>
            <a:pPr indent="0" marL="0">
              <a:buNone/>
            </a:pPr>
            <a:r>
              <a:rPr lang="en-US" sz="1500" b="1" dirty="0">
                <a:solidFill>
                  <a:srgbClr val="F7FAFC"/>
                </a:solidFill>
              </a:rPr>
              <a:t>Infrastructure evidence</a:t>
            </a:r>
            <a:endParaRPr lang="en-US" sz="1500" dirty="0"/>
          </a:p>
        </p:txBody>
      </p:sp>
      <p:sp>
        <p:nvSpPr>
          <p:cNvPr id="21" name="Text 19"/>
          <p:cNvSpPr/>
          <p:nvPr/>
        </p:nvSpPr>
        <p:spPr>
          <a:xfrm>
            <a:off x="795528" y="4041648"/>
            <a:ext cx="3108960" cy="960120"/>
          </a:xfrm>
          <a:prstGeom prst="rect">
            <a:avLst/>
          </a:prstGeom>
          <a:noFill/>
          <a:ln/>
        </p:spPr>
        <p:txBody>
          <a:bodyPr wrap="square" lIns="254" tIns="254" rIns="254" bIns="254" rtlCol="0" anchor="t">
            <a:normAutofit/>
          </a:bodyPr>
          <a:lstStyle/>
          <a:p>
            <a:pPr indent="0" marL="0">
              <a:buNone/>
            </a:pPr>
            <a:r>
              <a:rPr lang="en-US" sz="1120" dirty="0">
                <a:solidFill>
                  <a:srgbClr val="A9B4C7"/>
                </a:solidFill>
              </a:rPr>
              <a:t>Workflow, Terraform and AWS execution evidence</a:t>
            </a:r>
            <a:endParaRPr lang="en-US" sz="1120" dirty="0"/>
          </a:p>
        </p:txBody>
      </p:sp>
      <p:sp>
        <p:nvSpPr>
          <p:cNvPr id="22" name="Shape 20"/>
          <p:cNvSpPr/>
          <p:nvPr/>
        </p:nvSpPr>
        <p:spPr>
          <a:xfrm>
            <a:off x="4434840" y="3474720"/>
            <a:ext cx="3474720" cy="1645920"/>
          </a:xfrm>
          <a:prstGeom prst="roundRect">
            <a:avLst>
              <a:gd name="adj" fmla="val 3333"/>
            </a:avLst>
          </a:prstGeom>
          <a:solidFill>
            <a:srgbClr val="121A2D"/>
          </a:solidFill>
          <a:ln w="12700">
            <a:solidFill>
              <a:srgbClr val="2A3853"/>
            </a:solidFill>
            <a:prstDash val="solid"/>
          </a:ln>
        </p:spPr>
      </p:sp>
      <p:sp>
        <p:nvSpPr>
          <p:cNvPr id="23" name="Shape 21"/>
          <p:cNvSpPr/>
          <p:nvPr/>
        </p:nvSpPr>
        <p:spPr>
          <a:xfrm>
            <a:off x="4434840" y="3474720"/>
            <a:ext cx="54864" cy="1645920"/>
          </a:xfrm>
          <a:prstGeom prst="rect">
            <a:avLst/>
          </a:prstGeom>
          <a:solidFill>
            <a:srgbClr val="22C55E"/>
          </a:solidFill>
          <a:ln w="12700">
            <a:solidFill>
              <a:srgbClr val="22C55E"/>
            </a:solidFill>
            <a:prstDash val="solid"/>
          </a:ln>
        </p:spPr>
      </p:sp>
      <p:sp>
        <p:nvSpPr>
          <p:cNvPr id="24" name="Text 22"/>
          <p:cNvSpPr/>
          <p:nvPr/>
        </p:nvSpPr>
        <p:spPr>
          <a:xfrm>
            <a:off x="4636008" y="3630168"/>
            <a:ext cx="3154680" cy="292608"/>
          </a:xfrm>
          <a:prstGeom prst="rect">
            <a:avLst/>
          </a:prstGeom>
          <a:noFill/>
          <a:ln/>
        </p:spPr>
        <p:txBody>
          <a:bodyPr wrap="square" lIns="0" tIns="0" rIns="0" bIns="0" rtlCol="0" anchor="ctr"/>
          <a:lstStyle/>
          <a:p>
            <a:pPr indent="0" marL="0">
              <a:buNone/>
            </a:pPr>
            <a:r>
              <a:rPr lang="en-US" sz="1500" b="1" dirty="0">
                <a:solidFill>
                  <a:srgbClr val="F7FAFC"/>
                </a:solidFill>
              </a:rPr>
              <a:t>Health evidence</a:t>
            </a:r>
            <a:endParaRPr lang="en-US" sz="1500" dirty="0"/>
          </a:p>
        </p:txBody>
      </p:sp>
      <p:sp>
        <p:nvSpPr>
          <p:cNvPr id="25" name="Text 23"/>
          <p:cNvSpPr/>
          <p:nvPr/>
        </p:nvSpPr>
        <p:spPr>
          <a:xfrm>
            <a:off x="4636008" y="4041648"/>
            <a:ext cx="3108960" cy="960120"/>
          </a:xfrm>
          <a:prstGeom prst="rect">
            <a:avLst/>
          </a:prstGeom>
          <a:noFill/>
          <a:ln/>
        </p:spPr>
        <p:txBody>
          <a:bodyPr wrap="square" lIns="254" tIns="254" rIns="254" bIns="254" rtlCol="0" anchor="t">
            <a:normAutofit/>
          </a:bodyPr>
          <a:lstStyle/>
          <a:p>
            <a:pPr indent="0" marL="0">
              <a:buNone/>
            </a:pPr>
            <a:r>
              <a:rPr lang="en-US" sz="1120" dirty="0">
                <a:solidFill>
                  <a:srgbClr val="A9B4C7"/>
                </a:solidFill>
              </a:rPr>
              <a:t>Runtime verification and current state projection</a:t>
            </a:r>
            <a:endParaRPr lang="en-US" sz="1120" dirty="0"/>
          </a:p>
        </p:txBody>
      </p:sp>
      <p:sp>
        <p:nvSpPr>
          <p:cNvPr id="25" name="Slide Number Placeholder 0"/>
          <p:cNvSpPr>
            <a:spLocks noGrp="1"/>
          </p:cNvSpPr>
          <p:nvPr>
            <p:ph type="sldNum" sz="quarter" idx="4294967295"/>
          </p:nvPr>
        </p:nvSpPr>
        <p:spPr>
          <a:xfrm>
            <a:off x="1138428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7C8AA5"/>
                </a:solidFill>
                <a:latin typeface="Aptos"/>
                <a:ea typeface="Aptos"/>
                <a:cs typeface="Aptos"/>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02920" y="320040"/>
            <a:ext cx="11064240" cy="502920"/>
          </a:xfrm>
          <a:prstGeom prst="rect">
            <a:avLst/>
          </a:prstGeom>
          <a:noFill/>
          <a:ln/>
        </p:spPr>
        <p:txBody>
          <a:bodyPr wrap="square" lIns="0" tIns="0" rIns="0" bIns="0" rtlCol="0" anchor="ctr"/>
          <a:lstStyle/>
          <a:p>
            <a:pPr indent="0" marL="0">
              <a:buNone/>
            </a:pPr>
            <a:r>
              <a:rPr lang="en-US" sz="2800" b="1" dirty="0">
                <a:solidFill>
                  <a:srgbClr val="F7FAFC"/>
                </a:solidFill>
                <a:latin typeface="Aptos Display" pitchFamily="34" charset="0"/>
                <a:ea typeface="Aptos Display" pitchFamily="34" charset="-122"/>
                <a:cs typeface="Aptos Display" pitchFamily="34" charset="-120"/>
              </a:rPr>
              <a:t>11. Product-level platform features</a:t>
            </a:r>
            <a:endParaRPr lang="en-US" sz="2800" dirty="0"/>
          </a:p>
        </p:txBody>
      </p:sp>
      <p:sp>
        <p:nvSpPr>
          <p:cNvPr id="3" name="Text 1"/>
          <p:cNvSpPr/>
          <p:nvPr/>
        </p:nvSpPr>
        <p:spPr>
          <a:xfrm>
            <a:off x="521208" y="868680"/>
            <a:ext cx="10972800" cy="310896"/>
          </a:xfrm>
          <a:prstGeom prst="rect">
            <a:avLst/>
          </a:prstGeom>
          <a:noFill/>
          <a:ln/>
        </p:spPr>
        <p:txBody>
          <a:bodyPr wrap="square" lIns="0" tIns="0" rIns="0" bIns="0" rtlCol="0" anchor="ctr"/>
          <a:lstStyle/>
          <a:p>
            <a:pPr indent="0" marL="0">
              <a:buNone/>
            </a:pPr>
            <a:r>
              <a:rPr lang="en-US" sz="1250" dirty="0">
                <a:solidFill>
                  <a:srgbClr val="A9B4C7"/>
                </a:solidFill>
              </a:rPr>
              <a:t>The implemented project is more than the infrastructure pipeline</a:t>
            </a:r>
            <a:endParaRPr lang="en-US" sz="1250" dirty="0"/>
          </a:p>
        </p:txBody>
      </p:sp>
      <p:sp>
        <p:nvSpPr>
          <p:cNvPr id="4" name="Shape 2"/>
          <p:cNvSpPr/>
          <p:nvPr/>
        </p:nvSpPr>
        <p:spPr>
          <a:xfrm>
            <a:off x="10469880" y="338328"/>
            <a:ext cx="1078992" cy="274320"/>
          </a:xfrm>
          <a:prstGeom prst="roundRect">
            <a:avLst>
              <a:gd name="adj" fmla="val 16667"/>
            </a:avLst>
          </a:prstGeom>
          <a:solidFill>
            <a:srgbClr val="F59E0B">
              <a:alpha val="20000"/>
            </a:srgbClr>
          </a:solidFill>
          <a:ln w="12700">
            <a:solidFill>
              <a:srgbClr val="F59E0B">
                <a:alpha val="70000"/>
              </a:srgbClr>
            </a:solidFill>
            <a:prstDash val="solid"/>
          </a:ln>
        </p:spPr>
      </p:sp>
      <p:sp>
        <p:nvSpPr>
          <p:cNvPr id="5" name="Text 3"/>
          <p:cNvSpPr/>
          <p:nvPr/>
        </p:nvSpPr>
        <p:spPr>
          <a:xfrm>
            <a:off x="10543032" y="388620"/>
            <a:ext cx="932688" cy="155448"/>
          </a:xfrm>
          <a:prstGeom prst="rect">
            <a:avLst/>
          </a:prstGeom>
          <a:noFill/>
          <a:ln/>
        </p:spPr>
        <p:txBody>
          <a:bodyPr wrap="square" lIns="0" tIns="0" rIns="0" bIns="0" rtlCol="0" anchor="ctr"/>
          <a:lstStyle/>
          <a:p>
            <a:pPr algn="ctr" indent="0" marL="0">
              <a:buNone/>
            </a:pPr>
            <a:r>
              <a:rPr lang="en-US" sz="900" b="1" dirty="0">
                <a:solidFill>
                  <a:srgbClr val="F59E0B"/>
                </a:solidFill>
              </a:rPr>
              <a:t>HASSAN</a:t>
            </a:r>
            <a:endParaRPr lang="en-US" sz="900" dirty="0"/>
          </a:p>
        </p:txBody>
      </p:sp>
      <p:sp>
        <p:nvSpPr>
          <p:cNvPr id="6" name="Shape 4"/>
          <p:cNvSpPr/>
          <p:nvPr/>
        </p:nvSpPr>
        <p:spPr>
          <a:xfrm>
            <a:off x="640080" y="1371600"/>
            <a:ext cx="3383280" cy="3566160"/>
          </a:xfrm>
          <a:prstGeom prst="roundRect">
            <a:avLst>
              <a:gd name="adj" fmla="val 1622"/>
            </a:avLst>
          </a:prstGeom>
          <a:solidFill>
            <a:srgbClr val="121A2D"/>
          </a:solidFill>
          <a:ln w="12700">
            <a:solidFill>
              <a:srgbClr val="2A3853"/>
            </a:solidFill>
            <a:prstDash val="solid"/>
          </a:ln>
        </p:spPr>
      </p:sp>
      <p:sp>
        <p:nvSpPr>
          <p:cNvPr id="7" name="Shape 5"/>
          <p:cNvSpPr/>
          <p:nvPr/>
        </p:nvSpPr>
        <p:spPr>
          <a:xfrm>
            <a:off x="640080" y="1371600"/>
            <a:ext cx="54864" cy="3566160"/>
          </a:xfrm>
          <a:prstGeom prst="rect">
            <a:avLst/>
          </a:prstGeom>
          <a:solidFill>
            <a:srgbClr val="A78BFA"/>
          </a:solidFill>
          <a:ln w="12700">
            <a:solidFill>
              <a:srgbClr val="A78BFA"/>
            </a:solidFill>
            <a:prstDash val="solid"/>
          </a:ln>
        </p:spPr>
      </p:sp>
      <p:sp>
        <p:nvSpPr>
          <p:cNvPr id="8" name="Text 6"/>
          <p:cNvSpPr/>
          <p:nvPr/>
        </p:nvSpPr>
        <p:spPr>
          <a:xfrm>
            <a:off x="841248" y="1527048"/>
            <a:ext cx="3063240" cy="292608"/>
          </a:xfrm>
          <a:prstGeom prst="rect">
            <a:avLst/>
          </a:prstGeom>
          <a:noFill/>
          <a:ln/>
        </p:spPr>
        <p:txBody>
          <a:bodyPr wrap="square" lIns="0" tIns="0" rIns="0" bIns="0" rtlCol="0" anchor="ctr"/>
          <a:lstStyle/>
          <a:p>
            <a:pPr indent="0" marL="0">
              <a:buNone/>
            </a:pPr>
            <a:r>
              <a:rPr lang="en-US" sz="1800" b="1" dirty="0">
                <a:solidFill>
                  <a:srgbClr val="F7FAFC"/>
                </a:solidFill>
              </a:rPr>
              <a:t>Project &amp; access layer</a:t>
            </a:r>
            <a:endParaRPr lang="en-US" sz="1800" dirty="0"/>
          </a:p>
        </p:txBody>
      </p:sp>
      <p:sp>
        <p:nvSpPr>
          <p:cNvPr id="9" name="Text 7"/>
          <p:cNvSpPr/>
          <p:nvPr/>
        </p:nvSpPr>
        <p:spPr>
          <a:xfrm>
            <a:off x="841248" y="1938528"/>
            <a:ext cx="3017520" cy="2880360"/>
          </a:xfrm>
          <a:prstGeom prst="rect">
            <a:avLst/>
          </a:prstGeom>
          <a:noFill/>
          <a:ln/>
        </p:spPr>
        <p:txBody>
          <a:bodyPr wrap="square" lIns="254" tIns="254" rIns="254" bIns="254" rtlCol="0" anchor="t">
            <a:normAutofit/>
          </a:bodyPr>
          <a:lstStyle/>
          <a:p>
            <a:pPr indent="0" marL="0">
              <a:buNone/>
            </a:pPr>
            <a:r>
              <a:rPr lang="en-US" sz="1400" dirty="0">
                <a:solidFill>
                  <a:srgbClr val="A9B4C7"/>
                </a:solidFill>
              </a:rPr>
              <a:t>Projects, services, configuration, repository association, backend APIs, authentication/authorization boundaries and application state.</a:t>
            </a:r>
            <a:endParaRPr lang="en-US" sz="1400" dirty="0"/>
          </a:p>
        </p:txBody>
      </p:sp>
      <p:sp>
        <p:nvSpPr>
          <p:cNvPr id="10" name="Shape 8"/>
          <p:cNvSpPr/>
          <p:nvPr/>
        </p:nvSpPr>
        <p:spPr>
          <a:xfrm>
            <a:off x="4389120" y="1371600"/>
            <a:ext cx="3383280" cy="3566160"/>
          </a:xfrm>
          <a:prstGeom prst="roundRect">
            <a:avLst>
              <a:gd name="adj" fmla="val 1622"/>
            </a:avLst>
          </a:prstGeom>
          <a:solidFill>
            <a:srgbClr val="121A2D"/>
          </a:solidFill>
          <a:ln w="12700">
            <a:solidFill>
              <a:srgbClr val="2A3853"/>
            </a:solidFill>
            <a:prstDash val="solid"/>
          </a:ln>
        </p:spPr>
      </p:sp>
      <p:sp>
        <p:nvSpPr>
          <p:cNvPr id="11" name="Shape 9"/>
          <p:cNvSpPr/>
          <p:nvPr/>
        </p:nvSpPr>
        <p:spPr>
          <a:xfrm>
            <a:off x="4389120" y="1371600"/>
            <a:ext cx="54864" cy="3566160"/>
          </a:xfrm>
          <a:prstGeom prst="rect">
            <a:avLst/>
          </a:prstGeom>
          <a:solidFill>
            <a:srgbClr val="F59E0B"/>
          </a:solidFill>
          <a:ln w="12700">
            <a:solidFill>
              <a:srgbClr val="F59E0B"/>
            </a:solidFill>
            <a:prstDash val="solid"/>
          </a:ln>
        </p:spPr>
      </p:sp>
      <p:sp>
        <p:nvSpPr>
          <p:cNvPr id="12" name="Text 10"/>
          <p:cNvSpPr/>
          <p:nvPr/>
        </p:nvSpPr>
        <p:spPr>
          <a:xfrm>
            <a:off x="4590288" y="1527048"/>
            <a:ext cx="3063240" cy="292608"/>
          </a:xfrm>
          <a:prstGeom prst="rect">
            <a:avLst/>
          </a:prstGeom>
          <a:noFill/>
          <a:ln/>
        </p:spPr>
        <p:txBody>
          <a:bodyPr wrap="square" lIns="0" tIns="0" rIns="0" bIns="0" rtlCol="0" anchor="ctr"/>
          <a:lstStyle/>
          <a:p>
            <a:pPr indent="0" marL="0">
              <a:buNone/>
            </a:pPr>
            <a:r>
              <a:rPr lang="en-US" sz="1800" b="1" dirty="0">
                <a:solidFill>
                  <a:srgbClr val="F7FAFC"/>
                </a:solidFill>
              </a:rPr>
              <a:t>Billing layer</a:t>
            </a:r>
            <a:endParaRPr lang="en-US" sz="1800" dirty="0"/>
          </a:p>
        </p:txBody>
      </p:sp>
      <p:sp>
        <p:nvSpPr>
          <p:cNvPr id="13" name="Text 11"/>
          <p:cNvSpPr/>
          <p:nvPr/>
        </p:nvSpPr>
        <p:spPr>
          <a:xfrm>
            <a:off x="4590288" y="1938528"/>
            <a:ext cx="3017520" cy="2880360"/>
          </a:xfrm>
          <a:prstGeom prst="rect">
            <a:avLst/>
          </a:prstGeom>
          <a:noFill/>
          <a:ln/>
        </p:spPr>
        <p:txBody>
          <a:bodyPr wrap="square" lIns="254" tIns="254" rIns="254" bIns="254" rtlCol="0" anchor="t">
            <a:normAutofit/>
          </a:bodyPr>
          <a:lstStyle/>
          <a:p>
            <a:pPr indent="0" marL="0">
              <a:buNone/>
            </a:pPr>
            <a:r>
              <a:rPr lang="en-US" sz="1400" dirty="0">
                <a:solidFill>
                  <a:srgbClr val="A9B4C7"/>
                </a:solidFill>
              </a:rPr>
              <a:t>Recurring subscription flow, signed webhook handling, idempotency, entitlements, invoices, cancellation/failure handling and billing portal contracts.</a:t>
            </a:r>
            <a:endParaRPr lang="en-US" sz="1400" dirty="0"/>
          </a:p>
        </p:txBody>
      </p:sp>
      <p:sp>
        <p:nvSpPr>
          <p:cNvPr id="14" name="Shape 12"/>
          <p:cNvSpPr/>
          <p:nvPr/>
        </p:nvSpPr>
        <p:spPr>
          <a:xfrm>
            <a:off x="8138160" y="1371600"/>
            <a:ext cx="3383280" cy="3566160"/>
          </a:xfrm>
          <a:prstGeom prst="roundRect">
            <a:avLst>
              <a:gd name="adj" fmla="val 1622"/>
            </a:avLst>
          </a:prstGeom>
          <a:solidFill>
            <a:srgbClr val="121A2D"/>
          </a:solidFill>
          <a:ln w="12700">
            <a:solidFill>
              <a:srgbClr val="2A3853"/>
            </a:solidFill>
            <a:prstDash val="solid"/>
          </a:ln>
        </p:spPr>
      </p:sp>
      <p:sp>
        <p:nvSpPr>
          <p:cNvPr id="15" name="Shape 13"/>
          <p:cNvSpPr/>
          <p:nvPr/>
        </p:nvSpPr>
        <p:spPr>
          <a:xfrm>
            <a:off x="8138160" y="1371600"/>
            <a:ext cx="54864" cy="3566160"/>
          </a:xfrm>
          <a:prstGeom prst="rect">
            <a:avLst/>
          </a:prstGeom>
          <a:solidFill>
            <a:srgbClr val="22C55E"/>
          </a:solidFill>
          <a:ln w="12700">
            <a:solidFill>
              <a:srgbClr val="22C55E"/>
            </a:solidFill>
            <a:prstDash val="solid"/>
          </a:ln>
        </p:spPr>
      </p:sp>
      <p:sp>
        <p:nvSpPr>
          <p:cNvPr id="16" name="Text 14"/>
          <p:cNvSpPr/>
          <p:nvPr/>
        </p:nvSpPr>
        <p:spPr>
          <a:xfrm>
            <a:off x="8339328" y="1527048"/>
            <a:ext cx="3063240" cy="292608"/>
          </a:xfrm>
          <a:prstGeom prst="rect">
            <a:avLst/>
          </a:prstGeom>
          <a:noFill/>
          <a:ln/>
        </p:spPr>
        <p:txBody>
          <a:bodyPr wrap="square" lIns="0" tIns="0" rIns="0" bIns="0" rtlCol="0" anchor="ctr"/>
          <a:lstStyle/>
          <a:p>
            <a:pPr indent="0" marL="0">
              <a:buNone/>
            </a:pPr>
            <a:r>
              <a:rPr lang="en-US" sz="1800" b="1" dirty="0">
                <a:solidFill>
                  <a:srgbClr val="F7FAFC"/>
                </a:solidFill>
              </a:rPr>
              <a:t>Operations layer</a:t>
            </a:r>
            <a:endParaRPr lang="en-US" sz="1800" dirty="0"/>
          </a:p>
        </p:txBody>
      </p:sp>
      <p:sp>
        <p:nvSpPr>
          <p:cNvPr id="17" name="Text 15"/>
          <p:cNvSpPr/>
          <p:nvPr/>
        </p:nvSpPr>
        <p:spPr>
          <a:xfrm>
            <a:off x="8339328" y="1938528"/>
            <a:ext cx="3017520" cy="2880360"/>
          </a:xfrm>
          <a:prstGeom prst="rect">
            <a:avLst/>
          </a:prstGeom>
          <a:noFill/>
          <a:ln/>
        </p:spPr>
        <p:txBody>
          <a:bodyPr wrap="square" lIns="254" tIns="254" rIns="254" bIns="254" rtlCol="0" anchor="t">
            <a:normAutofit/>
          </a:bodyPr>
          <a:lstStyle/>
          <a:p>
            <a:pPr indent="0" marL="0">
              <a:buNone/>
            </a:pPr>
            <a:r>
              <a:rPr lang="en-US" sz="1400" dirty="0">
                <a:solidFill>
                  <a:srgbClr val="A9B4C7"/>
                </a:solidFill>
              </a:rPr>
              <a:t>Deployment status, technical evidence, failure diagnosis, lifecycle operations, observability and cleanup.</a:t>
            </a:r>
            <a:endParaRPr lang="en-US" sz="1400" dirty="0"/>
          </a:p>
        </p:txBody>
      </p:sp>
      <p:sp>
        <p:nvSpPr>
          <p:cNvPr id="25" name="Slide Number Placeholder 0"/>
          <p:cNvSpPr>
            <a:spLocks noGrp="1"/>
          </p:cNvSpPr>
          <p:nvPr>
            <p:ph type="sldNum" sz="quarter" idx="4294967295"/>
          </p:nvPr>
        </p:nvSpPr>
        <p:spPr>
          <a:xfrm>
            <a:off x="1138428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7C8AA5"/>
                </a:solidFill>
                <a:latin typeface="Aptos"/>
                <a:ea typeface="Aptos"/>
                <a:cs typeface="Aptos"/>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02920" y="320040"/>
            <a:ext cx="11064240" cy="502920"/>
          </a:xfrm>
          <a:prstGeom prst="rect">
            <a:avLst/>
          </a:prstGeom>
          <a:noFill/>
          <a:ln/>
        </p:spPr>
        <p:txBody>
          <a:bodyPr wrap="square" lIns="0" tIns="0" rIns="0" bIns="0" rtlCol="0" anchor="ctr"/>
          <a:lstStyle/>
          <a:p>
            <a:pPr indent="0" marL="0">
              <a:buNone/>
            </a:pPr>
            <a:r>
              <a:rPr lang="en-US" sz="2800" b="1" dirty="0">
                <a:solidFill>
                  <a:srgbClr val="F7FAFC"/>
                </a:solidFill>
                <a:latin typeface="Aptos Display" pitchFamily="34" charset="0"/>
                <a:ea typeface="Aptos Display" pitchFamily="34" charset="-122"/>
                <a:cs typeface="Aptos Display" pitchFamily="34" charset="-120"/>
              </a:rPr>
              <a:t>12. Destroy: controlled cleanup after deployment</a:t>
            </a:r>
            <a:endParaRPr lang="en-US" sz="2800" dirty="0"/>
          </a:p>
        </p:txBody>
      </p:sp>
      <p:sp>
        <p:nvSpPr>
          <p:cNvPr id="3" name="Text 1"/>
          <p:cNvSpPr/>
          <p:nvPr/>
        </p:nvSpPr>
        <p:spPr>
          <a:xfrm>
            <a:off x="521208" y="868680"/>
            <a:ext cx="10972800" cy="310896"/>
          </a:xfrm>
          <a:prstGeom prst="rect">
            <a:avLst/>
          </a:prstGeom>
          <a:noFill/>
          <a:ln/>
        </p:spPr>
        <p:txBody>
          <a:bodyPr wrap="square" lIns="0" tIns="0" rIns="0" bIns="0" rtlCol="0" anchor="ctr"/>
          <a:lstStyle/>
          <a:p>
            <a:pPr indent="0" marL="0">
              <a:buNone/>
            </a:pPr>
            <a:r>
              <a:rPr lang="en-US" sz="1250" dirty="0">
                <a:solidFill>
                  <a:srgbClr val="A9B4C7"/>
                </a:solidFill>
              </a:rPr>
              <a:t>Destroy removes project-scoped resources without treating shared platform infrastructure as disposable</a:t>
            </a:r>
            <a:endParaRPr lang="en-US" sz="1250" dirty="0"/>
          </a:p>
        </p:txBody>
      </p:sp>
      <p:sp>
        <p:nvSpPr>
          <p:cNvPr id="4" name="Shape 2"/>
          <p:cNvSpPr/>
          <p:nvPr/>
        </p:nvSpPr>
        <p:spPr>
          <a:xfrm>
            <a:off x="10469880" y="338328"/>
            <a:ext cx="1078992" cy="274320"/>
          </a:xfrm>
          <a:prstGeom prst="roundRect">
            <a:avLst>
              <a:gd name="adj" fmla="val 16667"/>
            </a:avLst>
          </a:prstGeom>
          <a:solidFill>
            <a:srgbClr val="F59E0B">
              <a:alpha val="20000"/>
            </a:srgbClr>
          </a:solidFill>
          <a:ln w="12700">
            <a:solidFill>
              <a:srgbClr val="F59E0B">
                <a:alpha val="70000"/>
              </a:srgbClr>
            </a:solidFill>
            <a:prstDash val="solid"/>
          </a:ln>
        </p:spPr>
      </p:sp>
      <p:sp>
        <p:nvSpPr>
          <p:cNvPr id="5" name="Text 3"/>
          <p:cNvSpPr/>
          <p:nvPr/>
        </p:nvSpPr>
        <p:spPr>
          <a:xfrm>
            <a:off x="10543032" y="388620"/>
            <a:ext cx="932688" cy="155448"/>
          </a:xfrm>
          <a:prstGeom prst="rect">
            <a:avLst/>
          </a:prstGeom>
          <a:noFill/>
          <a:ln/>
        </p:spPr>
        <p:txBody>
          <a:bodyPr wrap="square" lIns="0" tIns="0" rIns="0" bIns="0" rtlCol="0" anchor="ctr"/>
          <a:lstStyle/>
          <a:p>
            <a:pPr algn="ctr" indent="0" marL="0">
              <a:buNone/>
            </a:pPr>
            <a:r>
              <a:rPr lang="en-US" sz="900" b="1" dirty="0">
                <a:solidFill>
                  <a:srgbClr val="F59E0B"/>
                </a:solidFill>
              </a:rPr>
              <a:t>HASSAN</a:t>
            </a:r>
            <a:endParaRPr lang="en-US" sz="900" dirty="0"/>
          </a:p>
        </p:txBody>
      </p:sp>
      <p:sp>
        <p:nvSpPr>
          <p:cNvPr id="6" name="Shape 4"/>
          <p:cNvSpPr/>
          <p:nvPr/>
        </p:nvSpPr>
        <p:spPr>
          <a:xfrm>
            <a:off x="640080" y="1828800"/>
            <a:ext cx="1965960" cy="868680"/>
          </a:xfrm>
          <a:prstGeom prst="roundRect">
            <a:avLst>
              <a:gd name="adj" fmla="val 5263"/>
            </a:avLst>
          </a:prstGeom>
          <a:solidFill>
            <a:srgbClr val="172238"/>
          </a:solidFill>
          <a:ln w="12700">
            <a:solidFill>
              <a:srgbClr val="EF4444"/>
            </a:solidFill>
            <a:prstDash val="solid"/>
          </a:ln>
        </p:spPr>
      </p:sp>
      <p:sp>
        <p:nvSpPr>
          <p:cNvPr id="7" name="Text 5"/>
          <p:cNvSpPr/>
          <p:nvPr/>
        </p:nvSpPr>
        <p:spPr>
          <a:xfrm>
            <a:off x="713232" y="1901952"/>
            <a:ext cx="1819656" cy="72237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Destroy Request</a:t>
            </a:r>
            <a:endParaRPr lang="en-US" sz="1200" dirty="0"/>
          </a:p>
        </p:txBody>
      </p:sp>
      <p:sp>
        <p:nvSpPr>
          <p:cNvPr id="8" name="Shape 6"/>
          <p:cNvSpPr/>
          <p:nvPr/>
        </p:nvSpPr>
        <p:spPr>
          <a:xfrm>
            <a:off x="2651760" y="2267712"/>
            <a:ext cx="411480" cy="0"/>
          </a:xfrm>
          <a:prstGeom prst="line">
            <a:avLst/>
          </a:prstGeom>
          <a:noFill/>
          <a:ln w="12700">
            <a:solidFill>
              <a:srgbClr val="A9B4C7"/>
            </a:solidFill>
            <a:prstDash val="solid"/>
            <a:headEnd type="none"/>
            <a:tailEnd type="triangle"/>
          </a:ln>
        </p:spPr>
      </p:sp>
      <p:sp>
        <p:nvSpPr>
          <p:cNvPr id="9" name="Shape 7"/>
          <p:cNvSpPr/>
          <p:nvPr/>
        </p:nvSpPr>
        <p:spPr>
          <a:xfrm>
            <a:off x="3108960" y="1828800"/>
            <a:ext cx="1965960" cy="868680"/>
          </a:xfrm>
          <a:prstGeom prst="roundRect">
            <a:avLst>
              <a:gd name="adj" fmla="val 5263"/>
            </a:avLst>
          </a:prstGeom>
          <a:solidFill>
            <a:srgbClr val="172238"/>
          </a:solidFill>
          <a:ln w="12700">
            <a:solidFill>
              <a:srgbClr val="A78BFA"/>
            </a:solidFill>
            <a:prstDash val="solid"/>
          </a:ln>
        </p:spPr>
      </p:sp>
      <p:sp>
        <p:nvSpPr>
          <p:cNvPr id="10" name="Text 8"/>
          <p:cNvSpPr/>
          <p:nvPr/>
        </p:nvSpPr>
        <p:spPr>
          <a:xfrm>
            <a:off x="3182112" y="1901952"/>
            <a:ext cx="1819656" cy="72237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Project State</a:t>
            </a:r>
            <a:endParaRPr lang="en-US" sz="1200" dirty="0"/>
          </a:p>
        </p:txBody>
      </p:sp>
      <p:sp>
        <p:nvSpPr>
          <p:cNvPr id="11" name="Shape 9"/>
          <p:cNvSpPr/>
          <p:nvPr/>
        </p:nvSpPr>
        <p:spPr>
          <a:xfrm>
            <a:off x="5120640" y="2267712"/>
            <a:ext cx="411480" cy="0"/>
          </a:xfrm>
          <a:prstGeom prst="line">
            <a:avLst/>
          </a:prstGeom>
          <a:noFill/>
          <a:ln w="12700">
            <a:solidFill>
              <a:srgbClr val="A9B4C7"/>
            </a:solidFill>
            <a:prstDash val="solid"/>
            <a:headEnd type="none"/>
            <a:tailEnd type="triangle"/>
          </a:ln>
        </p:spPr>
      </p:sp>
      <p:sp>
        <p:nvSpPr>
          <p:cNvPr id="12" name="Shape 10"/>
          <p:cNvSpPr/>
          <p:nvPr/>
        </p:nvSpPr>
        <p:spPr>
          <a:xfrm>
            <a:off x="5577840" y="1828800"/>
            <a:ext cx="1965960" cy="868680"/>
          </a:xfrm>
          <a:prstGeom prst="roundRect">
            <a:avLst>
              <a:gd name="adj" fmla="val 5263"/>
            </a:avLst>
          </a:prstGeom>
          <a:solidFill>
            <a:srgbClr val="172238"/>
          </a:solidFill>
          <a:ln w="12700">
            <a:solidFill>
              <a:srgbClr val="F59E0B"/>
            </a:solidFill>
            <a:prstDash val="solid"/>
          </a:ln>
        </p:spPr>
      </p:sp>
      <p:sp>
        <p:nvSpPr>
          <p:cNvPr id="13" name="Text 11"/>
          <p:cNvSpPr/>
          <p:nvPr/>
        </p:nvSpPr>
        <p:spPr>
          <a:xfrm>
            <a:off x="5650992" y="1901952"/>
            <a:ext cx="1819656" cy="72237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Terraform Destroy</a:t>
            </a:r>
            <a:endParaRPr lang="en-US" sz="1200" dirty="0"/>
          </a:p>
        </p:txBody>
      </p:sp>
      <p:sp>
        <p:nvSpPr>
          <p:cNvPr id="14" name="Shape 12"/>
          <p:cNvSpPr/>
          <p:nvPr/>
        </p:nvSpPr>
        <p:spPr>
          <a:xfrm>
            <a:off x="7589520" y="2267712"/>
            <a:ext cx="411480" cy="0"/>
          </a:xfrm>
          <a:prstGeom prst="line">
            <a:avLst/>
          </a:prstGeom>
          <a:noFill/>
          <a:ln w="12700">
            <a:solidFill>
              <a:srgbClr val="A9B4C7"/>
            </a:solidFill>
            <a:prstDash val="solid"/>
            <a:headEnd type="none"/>
            <a:tailEnd type="triangle"/>
          </a:ln>
        </p:spPr>
      </p:sp>
      <p:sp>
        <p:nvSpPr>
          <p:cNvPr id="15" name="Shape 13"/>
          <p:cNvSpPr/>
          <p:nvPr/>
        </p:nvSpPr>
        <p:spPr>
          <a:xfrm>
            <a:off x="8046720" y="1828800"/>
            <a:ext cx="2743200" cy="868680"/>
          </a:xfrm>
          <a:prstGeom prst="roundRect">
            <a:avLst>
              <a:gd name="adj" fmla="val 5263"/>
            </a:avLst>
          </a:prstGeom>
          <a:solidFill>
            <a:srgbClr val="172238"/>
          </a:solidFill>
          <a:ln w="12700">
            <a:solidFill>
              <a:srgbClr val="22C55E"/>
            </a:solidFill>
            <a:prstDash val="solid"/>
          </a:ln>
        </p:spPr>
      </p:sp>
      <p:sp>
        <p:nvSpPr>
          <p:cNvPr id="16" name="Text 14"/>
          <p:cNvSpPr/>
          <p:nvPr/>
        </p:nvSpPr>
        <p:spPr>
          <a:xfrm>
            <a:off x="8119872" y="1901952"/>
            <a:ext cx="2596896" cy="72237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Cleanup Verification</a:t>
            </a:r>
            <a:endParaRPr lang="en-US" sz="1200" dirty="0"/>
          </a:p>
        </p:txBody>
      </p:sp>
      <p:sp>
        <p:nvSpPr>
          <p:cNvPr id="17" name="Shape 15"/>
          <p:cNvSpPr/>
          <p:nvPr/>
        </p:nvSpPr>
        <p:spPr>
          <a:xfrm>
            <a:off x="777240" y="3429000"/>
            <a:ext cx="3337560" cy="1417320"/>
          </a:xfrm>
          <a:prstGeom prst="roundRect">
            <a:avLst>
              <a:gd name="adj" fmla="val 3871"/>
            </a:avLst>
          </a:prstGeom>
          <a:solidFill>
            <a:srgbClr val="121A2D"/>
          </a:solidFill>
          <a:ln w="12700">
            <a:solidFill>
              <a:srgbClr val="2A3853"/>
            </a:solidFill>
            <a:prstDash val="solid"/>
          </a:ln>
        </p:spPr>
      </p:sp>
      <p:sp>
        <p:nvSpPr>
          <p:cNvPr id="18" name="Shape 16"/>
          <p:cNvSpPr/>
          <p:nvPr/>
        </p:nvSpPr>
        <p:spPr>
          <a:xfrm>
            <a:off x="777240" y="3429000"/>
            <a:ext cx="54864" cy="1417320"/>
          </a:xfrm>
          <a:prstGeom prst="rect">
            <a:avLst/>
          </a:prstGeom>
          <a:solidFill>
            <a:srgbClr val="EF4444"/>
          </a:solidFill>
          <a:ln w="12700">
            <a:solidFill>
              <a:srgbClr val="EF4444"/>
            </a:solidFill>
            <a:prstDash val="solid"/>
          </a:ln>
        </p:spPr>
      </p:sp>
      <p:sp>
        <p:nvSpPr>
          <p:cNvPr id="19" name="Text 17"/>
          <p:cNvSpPr/>
          <p:nvPr/>
        </p:nvSpPr>
        <p:spPr>
          <a:xfrm>
            <a:off x="978408" y="3584448"/>
            <a:ext cx="3017520" cy="292608"/>
          </a:xfrm>
          <a:prstGeom prst="rect">
            <a:avLst/>
          </a:prstGeom>
          <a:noFill/>
          <a:ln/>
        </p:spPr>
        <p:txBody>
          <a:bodyPr wrap="square" lIns="0" tIns="0" rIns="0" bIns="0" rtlCol="0" anchor="ctr"/>
          <a:lstStyle/>
          <a:p>
            <a:pPr indent="0" marL="0">
              <a:buNone/>
            </a:pPr>
            <a:r>
              <a:rPr lang="en-US" sz="1500" b="1" dirty="0">
                <a:solidFill>
                  <a:srgbClr val="F7FAFC"/>
                </a:solidFill>
              </a:rPr>
              <a:t>Removed</a:t>
            </a:r>
            <a:endParaRPr lang="en-US" sz="1500" dirty="0"/>
          </a:p>
        </p:txBody>
      </p:sp>
      <p:sp>
        <p:nvSpPr>
          <p:cNvPr id="20" name="Text 18"/>
          <p:cNvSpPr/>
          <p:nvPr/>
        </p:nvSpPr>
        <p:spPr>
          <a:xfrm>
            <a:off x="978408" y="3995928"/>
            <a:ext cx="2971800" cy="731520"/>
          </a:xfrm>
          <a:prstGeom prst="rect">
            <a:avLst/>
          </a:prstGeom>
          <a:noFill/>
          <a:ln/>
        </p:spPr>
        <p:txBody>
          <a:bodyPr wrap="square" lIns="254" tIns="254" rIns="254" bIns="254" rtlCol="0" anchor="t">
            <a:normAutofit/>
          </a:bodyPr>
          <a:lstStyle/>
          <a:p>
            <a:pPr indent="0" marL="0">
              <a:buNone/>
            </a:pPr>
            <a:r>
              <a:rPr lang="en-US" sz="1100" dirty="0">
                <a:solidFill>
                  <a:srgbClr val="A9B4C7"/>
                </a:solidFill>
              </a:rPr>
              <a:t>Project ECS/ALB/target groups/security groups/logs and other project-scoped runtime resources.</a:t>
            </a:r>
            <a:endParaRPr lang="en-US" sz="1100" dirty="0"/>
          </a:p>
        </p:txBody>
      </p:sp>
      <p:sp>
        <p:nvSpPr>
          <p:cNvPr id="21" name="Shape 19"/>
          <p:cNvSpPr/>
          <p:nvPr/>
        </p:nvSpPr>
        <p:spPr>
          <a:xfrm>
            <a:off x="4434840" y="3429000"/>
            <a:ext cx="3337560" cy="1417320"/>
          </a:xfrm>
          <a:prstGeom prst="roundRect">
            <a:avLst>
              <a:gd name="adj" fmla="val 3871"/>
            </a:avLst>
          </a:prstGeom>
          <a:solidFill>
            <a:srgbClr val="121A2D"/>
          </a:solidFill>
          <a:ln w="12700">
            <a:solidFill>
              <a:srgbClr val="2A3853"/>
            </a:solidFill>
            <a:prstDash val="solid"/>
          </a:ln>
        </p:spPr>
      </p:sp>
      <p:sp>
        <p:nvSpPr>
          <p:cNvPr id="22" name="Shape 20"/>
          <p:cNvSpPr/>
          <p:nvPr/>
        </p:nvSpPr>
        <p:spPr>
          <a:xfrm>
            <a:off x="4434840" y="3429000"/>
            <a:ext cx="54864" cy="1417320"/>
          </a:xfrm>
          <a:prstGeom prst="rect">
            <a:avLst/>
          </a:prstGeom>
          <a:solidFill>
            <a:srgbClr val="22C55E"/>
          </a:solidFill>
          <a:ln w="12700">
            <a:solidFill>
              <a:srgbClr val="22C55E"/>
            </a:solidFill>
            <a:prstDash val="solid"/>
          </a:ln>
        </p:spPr>
      </p:sp>
      <p:sp>
        <p:nvSpPr>
          <p:cNvPr id="23" name="Text 21"/>
          <p:cNvSpPr/>
          <p:nvPr/>
        </p:nvSpPr>
        <p:spPr>
          <a:xfrm>
            <a:off x="4636008" y="3584448"/>
            <a:ext cx="3017520" cy="292608"/>
          </a:xfrm>
          <a:prstGeom prst="rect">
            <a:avLst/>
          </a:prstGeom>
          <a:noFill/>
          <a:ln/>
        </p:spPr>
        <p:txBody>
          <a:bodyPr wrap="square" lIns="0" tIns="0" rIns="0" bIns="0" rtlCol="0" anchor="ctr"/>
          <a:lstStyle/>
          <a:p>
            <a:pPr indent="0" marL="0">
              <a:buNone/>
            </a:pPr>
            <a:r>
              <a:rPr lang="en-US" sz="1500" b="1" dirty="0">
                <a:solidFill>
                  <a:srgbClr val="F7FAFC"/>
                </a:solidFill>
              </a:rPr>
              <a:t>Preserved</a:t>
            </a:r>
            <a:endParaRPr lang="en-US" sz="1500" dirty="0"/>
          </a:p>
        </p:txBody>
      </p:sp>
      <p:sp>
        <p:nvSpPr>
          <p:cNvPr id="24" name="Text 22"/>
          <p:cNvSpPr/>
          <p:nvPr/>
        </p:nvSpPr>
        <p:spPr>
          <a:xfrm>
            <a:off x="4636008" y="3995928"/>
            <a:ext cx="2971800" cy="731520"/>
          </a:xfrm>
          <a:prstGeom prst="rect">
            <a:avLst/>
          </a:prstGeom>
          <a:noFill/>
          <a:ln/>
        </p:spPr>
        <p:txBody>
          <a:bodyPr wrap="square" lIns="254" tIns="254" rIns="254" bIns="254" rtlCol="0" anchor="t">
            <a:normAutofit/>
          </a:bodyPr>
          <a:lstStyle/>
          <a:p>
            <a:pPr indent="0" marL="0">
              <a:buNone/>
            </a:pPr>
            <a:r>
              <a:rPr lang="en-US" sz="1100" dirty="0">
                <a:solidFill>
                  <a:srgbClr val="A9B4C7"/>
                </a:solidFill>
              </a:rPr>
              <a:t>Shared VPC/subnets, shared state infrastructure and other platform-level resources.</a:t>
            </a:r>
            <a:endParaRPr lang="en-US" sz="1100" dirty="0"/>
          </a:p>
        </p:txBody>
      </p:sp>
      <p:sp>
        <p:nvSpPr>
          <p:cNvPr id="25" name="Shape 23"/>
          <p:cNvSpPr/>
          <p:nvPr/>
        </p:nvSpPr>
        <p:spPr>
          <a:xfrm>
            <a:off x="8092440" y="3429000"/>
            <a:ext cx="3337560" cy="1417320"/>
          </a:xfrm>
          <a:prstGeom prst="roundRect">
            <a:avLst>
              <a:gd name="adj" fmla="val 3871"/>
            </a:avLst>
          </a:prstGeom>
          <a:solidFill>
            <a:srgbClr val="121A2D"/>
          </a:solidFill>
          <a:ln w="12700">
            <a:solidFill>
              <a:srgbClr val="2A3853"/>
            </a:solidFill>
            <a:prstDash val="solid"/>
          </a:ln>
        </p:spPr>
      </p:sp>
      <p:sp>
        <p:nvSpPr>
          <p:cNvPr id="26" name="Shape 24"/>
          <p:cNvSpPr/>
          <p:nvPr/>
        </p:nvSpPr>
        <p:spPr>
          <a:xfrm>
            <a:off x="8092440" y="3429000"/>
            <a:ext cx="54864" cy="1417320"/>
          </a:xfrm>
          <a:prstGeom prst="rect">
            <a:avLst/>
          </a:prstGeom>
          <a:solidFill>
            <a:srgbClr val="38BDF8"/>
          </a:solidFill>
          <a:ln w="12700">
            <a:solidFill>
              <a:srgbClr val="38BDF8"/>
            </a:solidFill>
            <a:prstDash val="solid"/>
          </a:ln>
        </p:spPr>
      </p:sp>
      <p:sp>
        <p:nvSpPr>
          <p:cNvPr id="27" name="Text 25"/>
          <p:cNvSpPr/>
          <p:nvPr/>
        </p:nvSpPr>
        <p:spPr>
          <a:xfrm>
            <a:off x="8293608" y="3584448"/>
            <a:ext cx="3017520" cy="292608"/>
          </a:xfrm>
          <a:prstGeom prst="rect">
            <a:avLst/>
          </a:prstGeom>
          <a:noFill/>
          <a:ln/>
        </p:spPr>
        <p:txBody>
          <a:bodyPr wrap="square" lIns="0" tIns="0" rIns="0" bIns="0" rtlCol="0" anchor="ctr"/>
          <a:lstStyle/>
          <a:p>
            <a:pPr indent="0" marL="0">
              <a:buNone/>
            </a:pPr>
            <a:r>
              <a:rPr lang="en-US" sz="1500" b="1" dirty="0">
                <a:solidFill>
                  <a:srgbClr val="F7FAFC"/>
                </a:solidFill>
              </a:rPr>
              <a:t>Verified</a:t>
            </a:r>
            <a:endParaRPr lang="en-US" sz="1500" dirty="0"/>
          </a:p>
        </p:txBody>
      </p:sp>
      <p:sp>
        <p:nvSpPr>
          <p:cNvPr id="28" name="Text 26"/>
          <p:cNvSpPr/>
          <p:nvPr/>
        </p:nvSpPr>
        <p:spPr>
          <a:xfrm>
            <a:off x="8293608" y="3995928"/>
            <a:ext cx="2971800" cy="731520"/>
          </a:xfrm>
          <a:prstGeom prst="rect">
            <a:avLst/>
          </a:prstGeom>
          <a:noFill/>
          <a:ln/>
        </p:spPr>
        <p:txBody>
          <a:bodyPr wrap="square" lIns="254" tIns="254" rIns="254" bIns="254" rtlCol="0" anchor="t">
            <a:normAutofit/>
          </a:bodyPr>
          <a:lstStyle/>
          <a:p>
            <a:pPr indent="0" marL="0">
              <a:buNone/>
            </a:pPr>
            <a:r>
              <a:rPr lang="en-US" sz="1100" dirty="0">
                <a:solidFill>
                  <a:srgbClr val="A9B4C7"/>
                </a:solidFill>
              </a:rPr>
              <a:t>Destroy is complete only when expected project resource discovery no longer finds the released runtime.</a:t>
            </a:r>
            <a:endParaRPr lang="en-US" sz="1100" dirty="0"/>
          </a:p>
        </p:txBody>
      </p:sp>
      <p:sp>
        <p:nvSpPr>
          <p:cNvPr id="25" name="Slide Number Placeholder 0"/>
          <p:cNvSpPr>
            <a:spLocks noGrp="1"/>
          </p:cNvSpPr>
          <p:nvPr>
            <p:ph type="sldNum" sz="quarter" idx="4294967295"/>
          </p:nvPr>
        </p:nvSpPr>
        <p:spPr>
          <a:xfrm>
            <a:off x="1138428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7C8AA5"/>
                </a:solidFill>
                <a:latin typeface="Aptos"/>
                <a:ea typeface="Aptos"/>
                <a:cs typeface="Aptos"/>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02920" y="320040"/>
            <a:ext cx="11064240" cy="502920"/>
          </a:xfrm>
          <a:prstGeom prst="rect">
            <a:avLst/>
          </a:prstGeom>
          <a:noFill/>
          <a:ln/>
        </p:spPr>
        <p:txBody>
          <a:bodyPr wrap="square" lIns="0" tIns="0" rIns="0" bIns="0" rtlCol="0" anchor="ctr"/>
          <a:lstStyle/>
          <a:p>
            <a:pPr indent="0" marL="0">
              <a:buNone/>
            </a:pPr>
            <a:r>
              <a:rPr lang="en-US" sz="2800" b="1" dirty="0">
                <a:solidFill>
                  <a:srgbClr val="F7FAFC"/>
                </a:solidFill>
                <a:latin typeface="Aptos Display" pitchFamily="34" charset="0"/>
                <a:ea typeface="Aptos Display" pitchFamily="34" charset="-122"/>
                <a:cs typeface="Aptos Display" pitchFamily="34" charset="-120"/>
              </a:rPr>
              <a:t>Supporting lifecycle capabilities</a:t>
            </a:r>
            <a:endParaRPr lang="en-US" sz="2800" dirty="0"/>
          </a:p>
        </p:txBody>
      </p:sp>
      <p:sp>
        <p:nvSpPr>
          <p:cNvPr id="3" name="Text 1"/>
          <p:cNvSpPr/>
          <p:nvPr/>
        </p:nvSpPr>
        <p:spPr>
          <a:xfrm>
            <a:off x="521208" y="868680"/>
            <a:ext cx="10972800" cy="310896"/>
          </a:xfrm>
          <a:prstGeom prst="rect">
            <a:avLst/>
          </a:prstGeom>
          <a:noFill/>
          <a:ln/>
        </p:spPr>
        <p:txBody>
          <a:bodyPr wrap="square" lIns="0" tIns="0" rIns="0" bIns="0" rtlCol="0" anchor="ctr"/>
          <a:lstStyle/>
          <a:p>
            <a:pPr indent="0" marL="0">
              <a:buNone/>
            </a:pPr>
            <a:r>
              <a:rPr lang="en-US" sz="1250" dirty="0">
                <a:solidFill>
                  <a:srgbClr val="A9B4C7"/>
                </a:solidFill>
              </a:rPr>
              <a:t>Implemented, but not the central story of this defense</a:t>
            </a:r>
            <a:endParaRPr lang="en-US" sz="1250" dirty="0"/>
          </a:p>
        </p:txBody>
      </p:sp>
      <p:sp>
        <p:nvSpPr>
          <p:cNvPr id="4" name="Shape 2"/>
          <p:cNvSpPr/>
          <p:nvPr/>
        </p:nvSpPr>
        <p:spPr>
          <a:xfrm>
            <a:off x="10469880" y="338328"/>
            <a:ext cx="1078992" cy="274320"/>
          </a:xfrm>
          <a:prstGeom prst="roundRect">
            <a:avLst>
              <a:gd name="adj" fmla="val 16667"/>
            </a:avLst>
          </a:prstGeom>
          <a:solidFill>
            <a:srgbClr val="F59E0B">
              <a:alpha val="20000"/>
            </a:srgbClr>
          </a:solidFill>
          <a:ln w="12700">
            <a:solidFill>
              <a:srgbClr val="F59E0B">
                <a:alpha val="70000"/>
              </a:srgbClr>
            </a:solidFill>
            <a:prstDash val="solid"/>
          </a:ln>
        </p:spPr>
      </p:sp>
      <p:sp>
        <p:nvSpPr>
          <p:cNvPr id="5" name="Text 3"/>
          <p:cNvSpPr/>
          <p:nvPr/>
        </p:nvSpPr>
        <p:spPr>
          <a:xfrm>
            <a:off x="10543032" y="388620"/>
            <a:ext cx="932688" cy="155448"/>
          </a:xfrm>
          <a:prstGeom prst="rect">
            <a:avLst/>
          </a:prstGeom>
          <a:noFill/>
          <a:ln/>
        </p:spPr>
        <p:txBody>
          <a:bodyPr wrap="square" lIns="0" tIns="0" rIns="0" bIns="0" rtlCol="0" anchor="ctr"/>
          <a:lstStyle/>
          <a:p>
            <a:pPr algn="ctr" indent="0" marL="0">
              <a:buNone/>
            </a:pPr>
            <a:r>
              <a:rPr lang="en-US" sz="900" b="1" dirty="0">
                <a:solidFill>
                  <a:srgbClr val="F59E0B"/>
                </a:solidFill>
              </a:rPr>
              <a:t>HASSAN</a:t>
            </a:r>
            <a:endParaRPr lang="en-US" sz="900" dirty="0"/>
          </a:p>
        </p:txBody>
      </p:sp>
      <p:sp>
        <p:nvSpPr>
          <p:cNvPr id="6" name="Shape 4"/>
          <p:cNvSpPr/>
          <p:nvPr/>
        </p:nvSpPr>
        <p:spPr>
          <a:xfrm>
            <a:off x="822960" y="1508760"/>
            <a:ext cx="5074920" cy="3474720"/>
          </a:xfrm>
          <a:prstGeom prst="roundRect">
            <a:avLst>
              <a:gd name="adj" fmla="val 1579"/>
            </a:avLst>
          </a:prstGeom>
          <a:solidFill>
            <a:srgbClr val="121A2D"/>
          </a:solidFill>
          <a:ln w="12700">
            <a:solidFill>
              <a:srgbClr val="2A3853"/>
            </a:solidFill>
            <a:prstDash val="solid"/>
          </a:ln>
        </p:spPr>
      </p:sp>
      <p:sp>
        <p:nvSpPr>
          <p:cNvPr id="7" name="Shape 5"/>
          <p:cNvSpPr/>
          <p:nvPr/>
        </p:nvSpPr>
        <p:spPr>
          <a:xfrm>
            <a:off x="822960" y="1508760"/>
            <a:ext cx="54864" cy="3474720"/>
          </a:xfrm>
          <a:prstGeom prst="rect">
            <a:avLst/>
          </a:prstGeom>
          <a:solidFill>
            <a:srgbClr val="38BDF8"/>
          </a:solidFill>
          <a:ln w="12700">
            <a:solidFill>
              <a:srgbClr val="38BDF8"/>
            </a:solidFill>
            <a:prstDash val="solid"/>
          </a:ln>
        </p:spPr>
      </p:sp>
      <p:sp>
        <p:nvSpPr>
          <p:cNvPr id="8" name="Text 6"/>
          <p:cNvSpPr/>
          <p:nvPr/>
        </p:nvSpPr>
        <p:spPr>
          <a:xfrm>
            <a:off x="1024128" y="1664208"/>
            <a:ext cx="4754880" cy="292608"/>
          </a:xfrm>
          <a:prstGeom prst="rect">
            <a:avLst/>
          </a:prstGeom>
          <a:noFill/>
          <a:ln/>
        </p:spPr>
        <p:txBody>
          <a:bodyPr wrap="square" lIns="0" tIns="0" rIns="0" bIns="0" rtlCol="0" anchor="ctr"/>
          <a:lstStyle/>
          <a:p>
            <a:pPr indent="0" marL="0">
              <a:buNone/>
            </a:pPr>
            <a:r>
              <a:rPr lang="en-US" sz="2200" b="1" dirty="0">
                <a:solidFill>
                  <a:srgbClr val="F7FAFC"/>
                </a:solidFill>
              </a:rPr>
              <a:t>Redeploy</a:t>
            </a:r>
            <a:endParaRPr lang="en-US" sz="2200" dirty="0"/>
          </a:p>
        </p:txBody>
      </p:sp>
      <p:sp>
        <p:nvSpPr>
          <p:cNvPr id="9" name="Text 7"/>
          <p:cNvSpPr/>
          <p:nvPr/>
        </p:nvSpPr>
        <p:spPr>
          <a:xfrm>
            <a:off x="1024128" y="2075688"/>
            <a:ext cx="4709160" cy="2788920"/>
          </a:xfrm>
          <a:prstGeom prst="rect">
            <a:avLst/>
          </a:prstGeom>
          <a:noFill/>
          <a:ln/>
        </p:spPr>
        <p:txBody>
          <a:bodyPr wrap="square" lIns="254" tIns="254" rIns="254" bIns="254" rtlCol="0" anchor="t">
            <a:normAutofit/>
          </a:bodyPr>
          <a:lstStyle/>
          <a:p>
            <a:pPr indent="0" marL="0">
              <a:buNone/>
            </a:pPr>
            <a:r>
              <a:rPr lang="en-US" sz="1700" dirty="0">
                <a:solidFill>
                  <a:srgbClr val="A9B4C7"/>
                </a:solidFill>
              </a:rPr>
              <a:t>Supports moving an existing project to a newer source/runtime revision through the controlled release path. It reuses the same identity, evidence and health-verification model.</a:t>
            </a:r>
            <a:endParaRPr lang="en-US" sz="1700" dirty="0"/>
          </a:p>
        </p:txBody>
      </p:sp>
      <p:sp>
        <p:nvSpPr>
          <p:cNvPr id="10" name="Shape 8"/>
          <p:cNvSpPr/>
          <p:nvPr/>
        </p:nvSpPr>
        <p:spPr>
          <a:xfrm>
            <a:off x="6309360" y="1508760"/>
            <a:ext cx="5074920" cy="3474720"/>
          </a:xfrm>
          <a:prstGeom prst="roundRect">
            <a:avLst>
              <a:gd name="adj" fmla="val 1579"/>
            </a:avLst>
          </a:prstGeom>
          <a:solidFill>
            <a:srgbClr val="121A2D"/>
          </a:solidFill>
          <a:ln w="12700">
            <a:solidFill>
              <a:srgbClr val="2A3853"/>
            </a:solidFill>
            <a:prstDash val="solid"/>
          </a:ln>
        </p:spPr>
      </p:sp>
      <p:sp>
        <p:nvSpPr>
          <p:cNvPr id="11" name="Shape 9"/>
          <p:cNvSpPr/>
          <p:nvPr/>
        </p:nvSpPr>
        <p:spPr>
          <a:xfrm>
            <a:off x="6309360" y="1508760"/>
            <a:ext cx="54864" cy="3474720"/>
          </a:xfrm>
          <a:prstGeom prst="rect">
            <a:avLst/>
          </a:prstGeom>
          <a:solidFill>
            <a:srgbClr val="A78BFA"/>
          </a:solidFill>
          <a:ln w="12700">
            <a:solidFill>
              <a:srgbClr val="A78BFA"/>
            </a:solidFill>
            <a:prstDash val="solid"/>
          </a:ln>
        </p:spPr>
      </p:sp>
      <p:sp>
        <p:nvSpPr>
          <p:cNvPr id="12" name="Text 10"/>
          <p:cNvSpPr/>
          <p:nvPr/>
        </p:nvSpPr>
        <p:spPr>
          <a:xfrm>
            <a:off x="6510528" y="1664208"/>
            <a:ext cx="4754880" cy="292608"/>
          </a:xfrm>
          <a:prstGeom prst="rect">
            <a:avLst/>
          </a:prstGeom>
          <a:noFill/>
          <a:ln/>
        </p:spPr>
        <p:txBody>
          <a:bodyPr wrap="square" lIns="0" tIns="0" rIns="0" bIns="0" rtlCol="0" anchor="ctr"/>
          <a:lstStyle/>
          <a:p>
            <a:pPr indent="0" marL="0">
              <a:buNone/>
            </a:pPr>
            <a:r>
              <a:rPr lang="en-US" sz="2200" b="1" dirty="0">
                <a:solidFill>
                  <a:srgbClr val="F7FAFC"/>
                </a:solidFill>
              </a:rPr>
              <a:t>Rollback</a:t>
            </a:r>
            <a:endParaRPr lang="en-US" sz="2200" dirty="0"/>
          </a:p>
        </p:txBody>
      </p:sp>
      <p:sp>
        <p:nvSpPr>
          <p:cNvPr id="13" name="Text 11"/>
          <p:cNvSpPr/>
          <p:nvPr/>
        </p:nvSpPr>
        <p:spPr>
          <a:xfrm>
            <a:off x="6510528" y="2075688"/>
            <a:ext cx="4709160" cy="2788920"/>
          </a:xfrm>
          <a:prstGeom prst="rect">
            <a:avLst/>
          </a:prstGeom>
          <a:noFill/>
          <a:ln/>
        </p:spPr>
        <p:txBody>
          <a:bodyPr wrap="square" lIns="254" tIns="254" rIns="254" bIns="254" rtlCol="0" anchor="t">
            <a:normAutofit/>
          </a:bodyPr>
          <a:lstStyle/>
          <a:p>
            <a:pPr indent="0" marL="0">
              <a:buNone/>
            </a:pPr>
            <a:r>
              <a:rPr lang="en-US" sz="1700" dirty="0">
                <a:solidFill>
                  <a:srgbClr val="A9B4C7"/>
                </a:solidFill>
              </a:rPr>
              <a:t>Supports restoration of a previously known release state. The platform preserves historical identities so rollback does not need to pretend it is a brand-new application build.</a:t>
            </a:r>
            <a:endParaRPr lang="en-US" sz="1700" dirty="0"/>
          </a:p>
        </p:txBody>
      </p:sp>
      <p:sp>
        <p:nvSpPr>
          <p:cNvPr id="14" name="Text 12"/>
          <p:cNvSpPr/>
          <p:nvPr/>
        </p:nvSpPr>
        <p:spPr>
          <a:xfrm>
            <a:off x="914400" y="5257800"/>
            <a:ext cx="10241280" cy="411480"/>
          </a:xfrm>
          <a:prstGeom prst="rect">
            <a:avLst/>
          </a:prstGeom>
          <a:noFill/>
          <a:ln/>
        </p:spPr>
        <p:txBody>
          <a:bodyPr wrap="square" lIns="0" tIns="0" rIns="0" bIns="0" rtlCol="0" anchor="ctr"/>
          <a:lstStyle/>
          <a:p>
            <a:pPr algn="ctr" indent="0" marL="0">
              <a:buNone/>
            </a:pPr>
            <a:r>
              <a:rPr lang="en-US" sz="1500" b="1" dirty="0">
                <a:solidFill>
                  <a:srgbClr val="FBBF24"/>
                </a:solidFill>
              </a:rPr>
              <a:t>Primary defense focus remains: DEPLOYMENT → verified runtime → DESTROY.</a:t>
            </a:r>
            <a:endParaRPr lang="en-US" sz="1500" dirty="0"/>
          </a:p>
        </p:txBody>
      </p:sp>
      <p:sp>
        <p:nvSpPr>
          <p:cNvPr id="25" name="Slide Number Placeholder 0"/>
          <p:cNvSpPr>
            <a:spLocks noGrp="1"/>
          </p:cNvSpPr>
          <p:nvPr>
            <p:ph type="sldNum" sz="quarter" idx="4294967295"/>
          </p:nvPr>
        </p:nvSpPr>
        <p:spPr>
          <a:xfrm>
            <a:off x="1138428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7C8AA5"/>
                </a:solidFill>
                <a:latin typeface="Aptos"/>
                <a:ea typeface="Aptos"/>
                <a:cs typeface="Aptos"/>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02920" y="320040"/>
            <a:ext cx="11064240" cy="502920"/>
          </a:xfrm>
          <a:prstGeom prst="rect">
            <a:avLst/>
          </a:prstGeom>
          <a:noFill/>
          <a:ln/>
        </p:spPr>
        <p:txBody>
          <a:bodyPr wrap="square" lIns="0" tIns="0" rIns="0" bIns="0" rtlCol="0" anchor="ctr"/>
          <a:lstStyle/>
          <a:p>
            <a:pPr indent="0" marL="0">
              <a:buNone/>
            </a:pPr>
            <a:r>
              <a:rPr lang="en-US" sz="2800" b="1" dirty="0">
                <a:solidFill>
                  <a:srgbClr val="F7FAFC"/>
                </a:solidFill>
                <a:latin typeface="Aptos Display" pitchFamily="34" charset="0"/>
                <a:ea typeface="Aptos Display" pitchFamily="34" charset="-122"/>
                <a:cs typeface="Aptos Display" pitchFamily="34" charset="-120"/>
              </a:rPr>
              <a:t>Implementation evidence and certification</a:t>
            </a:r>
            <a:endParaRPr lang="en-US" sz="2800" dirty="0"/>
          </a:p>
        </p:txBody>
      </p:sp>
      <p:sp>
        <p:nvSpPr>
          <p:cNvPr id="3" name="Text 1"/>
          <p:cNvSpPr/>
          <p:nvPr/>
        </p:nvSpPr>
        <p:spPr>
          <a:xfrm>
            <a:off x="521208" y="868680"/>
            <a:ext cx="10972800" cy="310896"/>
          </a:xfrm>
          <a:prstGeom prst="rect">
            <a:avLst/>
          </a:prstGeom>
          <a:noFill/>
          <a:ln/>
        </p:spPr>
        <p:txBody>
          <a:bodyPr wrap="square" lIns="0" tIns="0" rIns="0" bIns="0" rtlCol="0" anchor="ctr"/>
          <a:lstStyle/>
          <a:p>
            <a:pPr indent="0" marL="0">
              <a:buNone/>
            </a:pPr>
            <a:r>
              <a:rPr lang="en-US" sz="1250" dirty="0">
                <a:solidFill>
                  <a:srgbClr val="A9B4C7"/>
                </a:solidFill>
              </a:rPr>
              <a:t>What has been exercised in the completed system</a:t>
            </a:r>
            <a:endParaRPr lang="en-US" sz="1250" dirty="0"/>
          </a:p>
        </p:txBody>
      </p:sp>
      <p:sp>
        <p:nvSpPr>
          <p:cNvPr id="4" name="Shape 2"/>
          <p:cNvSpPr/>
          <p:nvPr/>
        </p:nvSpPr>
        <p:spPr>
          <a:xfrm>
            <a:off x="10469880" y="338328"/>
            <a:ext cx="1078992" cy="274320"/>
          </a:xfrm>
          <a:prstGeom prst="roundRect">
            <a:avLst>
              <a:gd name="adj" fmla="val 16667"/>
            </a:avLst>
          </a:prstGeom>
          <a:solidFill>
            <a:srgbClr val="F59E0B">
              <a:alpha val="20000"/>
            </a:srgbClr>
          </a:solidFill>
          <a:ln w="12700">
            <a:solidFill>
              <a:srgbClr val="F59E0B">
                <a:alpha val="70000"/>
              </a:srgbClr>
            </a:solidFill>
            <a:prstDash val="solid"/>
          </a:ln>
        </p:spPr>
      </p:sp>
      <p:sp>
        <p:nvSpPr>
          <p:cNvPr id="5" name="Text 3"/>
          <p:cNvSpPr/>
          <p:nvPr/>
        </p:nvSpPr>
        <p:spPr>
          <a:xfrm>
            <a:off x="10543032" y="388620"/>
            <a:ext cx="932688" cy="155448"/>
          </a:xfrm>
          <a:prstGeom prst="rect">
            <a:avLst/>
          </a:prstGeom>
          <a:noFill/>
          <a:ln/>
        </p:spPr>
        <p:txBody>
          <a:bodyPr wrap="square" lIns="0" tIns="0" rIns="0" bIns="0" rtlCol="0" anchor="ctr"/>
          <a:lstStyle/>
          <a:p>
            <a:pPr algn="ctr" indent="0" marL="0">
              <a:buNone/>
            </a:pPr>
            <a:r>
              <a:rPr lang="en-US" sz="900" b="1" dirty="0">
                <a:solidFill>
                  <a:srgbClr val="F59E0B"/>
                </a:solidFill>
              </a:rPr>
              <a:t>HASSAN</a:t>
            </a:r>
            <a:endParaRPr lang="en-US" sz="900" dirty="0"/>
          </a:p>
        </p:txBody>
      </p:sp>
      <p:sp>
        <p:nvSpPr>
          <p:cNvPr id="6" name="Shape 4"/>
          <p:cNvSpPr/>
          <p:nvPr/>
        </p:nvSpPr>
        <p:spPr>
          <a:xfrm>
            <a:off x="594360" y="1325880"/>
            <a:ext cx="3474720" cy="749808"/>
          </a:xfrm>
          <a:prstGeom prst="roundRect">
            <a:avLst/>
          </a:prstGeom>
          <a:solidFill>
            <a:srgbClr val="121A2D"/>
          </a:solidFill>
          <a:ln w="12700">
            <a:solidFill>
              <a:srgbClr val="2A3853"/>
            </a:solidFill>
            <a:prstDash val="solid"/>
          </a:ln>
        </p:spPr>
      </p:sp>
      <p:sp>
        <p:nvSpPr>
          <p:cNvPr id="7" name="Text 5"/>
          <p:cNvSpPr/>
          <p:nvPr/>
        </p:nvSpPr>
        <p:spPr>
          <a:xfrm>
            <a:off x="758952" y="1490472"/>
            <a:ext cx="2148840" cy="256032"/>
          </a:xfrm>
          <a:prstGeom prst="rect">
            <a:avLst/>
          </a:prstGeom>
          <a:noFill/>
          <a:ln/>
        </p:spPr>
        <p:txBody>
          <a:bodyPr wrap="square" lIns="0" tIns="0" rIns="0" bIns="0" rtlCol="0" anchor="ctr"/>
          <a:lstStyle/>
          <a:p>
            <a:pPr indent="0" marL="0">
              <a:buNone/>
            </a:pPr>
            <a:r>
              <a:rPr lang="en-US" sz="1120" b="1" dirty="0">
                <a:solidFill>
                  <a:srgbClr val="F7FAFC"/>
                </a:solidFill>
              </a:rPr>
              <a:t>Standard Deploy</a:t>
            </a:r>
            <a:endParaRPr lang="en-US" sz="1120" dirty="0"/>
          </a:p>
        </p:txBody>
      </p:sp>
      <p:sp>
        <p:nvSpPr>
          <p:cNvPr id="8" name="Shape 6"/>
          <p:cNvSpPr/>
          <p:nvPr/>
        </p:nvSpPr>
        <p:spPr>
          <a:xfrm>
            <a:off x="3017520" y="1490472"/>
            <a:ext cx="868680" cy="320040"/>
          </a:xfrm>
          <a:prstGeom prst="roundRect">
            <a:avLst/>
          </a:prstGeom>
          <a:solidFill>
            <a:srgbClr val="22C55E">
              <a:alpha val="20000"/>
            </a:srgbClr>
          </a:solidFill>
          <a:ln w="12700">
            <a:solidFill>
              <a:srgbClr val="22C55E"/>
            </a:solidFill>
            <a:prstDash val="solid"/>
          </a:ln>
        </p:spPr>
      </p:sp>
      <p:sp>
        <p:nvSpPr>
          <p:cNvPr id="9" name="Text 7"/>
          <p:cNvSpPr/>
          <p:nvPr/>
        </p:nvSpPr>
        <p:spPr>
          <a:xfrm>
            <a:off x="3054096" y="1554480"/>
            <a:ext cx="795528" cy="155448"/>
          </a:xfrm>
          <a:prstGeom prst="rect">
            <a:avLst/>
          </a:prstGeom>
          <a:noFill/>
          <a:ln/>
        </p:spPr>
        <p:txBody>
          <a:bodyPr wrap="square" lIns="0" tIns="0" rIns="0" bIns="0" rtlCol="0" anchor="ctr"/>
          <a:lstStyle/>
          <a:p>
            <a:pPr algn="ctr" indent="0" marL="0">
              <a:buNone/>
            </a:pPr>
            <a:r>
              <a:rPr lang="en-US" sz="900" b="1" dirty="0">
                <a:solidFill>
                  <a:srgbClr val="22C55E"/>
                </a:solidFill>
              </a:rPr>
              <a:t>PASS</a:t>
            </a:r>
            <a:endParaRPr lang="en-US" sz="900" dirty="0"/>
          </a:p>
        </p:txBody>
      </p:sp>
      <p:sp>
        <p:nvSpPr>
          <p:cNvPr id="10" name="Shape 8"/>
          <p:cNvSpPr/>
          <p:nvPr/>
        </p:nvSpPr>
        <p:spPr>
          <a:xfrm>
            <a:off x="4434840" y="1325880"/>
            <a:ext cx="3474720" cy="749808"/>
          </a:xfrm>
          <a:prstGeom prst="roundRect">
            <a:avLst/>
          </a:prstGeom>
          <a:solidFill>
            <a:srgbClr val="121A2D"/>
          </a:solidFill>
          <a:ln w="12700">
            <a:solidFill>
              <a:srgbClr val="2A3853"/>
            </a:solidFill>
            <a:prstDash val="solid"/>
          </a:ln>
        </p:spPr>
      </p:sp>
      <p:sp>
        <p:nvSpPr>
          <p:cNvPr id="11" name="Text 9"/>
          <p:cNvSpPr/>
          <p:nvPr/>
        </p:nvSpPr>
        <p:spPr>
          <a:xfrm>
            <a:off x="4599432" y="1490472"/>
            <a:ext cx="2148840" cy="256032"/>
          </a:xfrm>
          <a:prstGeom prst="rect">
            <a:avLst/>
          </a:prstGeom>
          <a:noFill/>
          <a:ln/>
        </p:spPr>
        <p:txBody>
          <a:bodyPr wrap="square" lIns="0" tIns="0" rIns="0" bIns="0" rtlCol="0" anchor="ctr"/>
          <a:lstStyle/>
          <a:p>
            <a:pPr indent="0" marL="0">
              <a:buNone/>
            </a:pPr>
            <a:r>
              <a:rPr lang="en-US" sz="1120" b="1" dirty="0">
                <a:solidFill>
                  <a:srgbClr val="F7FAFC"/>
                </a:solidFill>
              </a:rPr>
              <a:t>Standard Redeploy</a:t>
            </a:r>
            <a:endParaRPr lang="en-US" sz="1120" dirty="0"/>
          </a:p>
        </p:txBody>
      </p:sp>
      <p:sp>
        <p:nvSpPr>
          <p:cNvPr id="12" name="Shape 10"/>
          <p:cNvSpPr/>
          <p:nvPr/>
        </p:nvSpPr>
        <p:spPr>
          <a:xfrm>
            <a:off x="6858000" y="1490472"/>
            <a:ext cx="868680" cy="320040"/>
          </a:xfrm>
          <a:prstGeom prst="roundRect">
            <a:avLst/>
          </a:prstGeom>
          <a:solidFill>
            <a:srgbClr val="22C55E">
              <a:alpha val="20000"/>
            </a:srgbClr>
          </a:solidFill>
          <a:ln w="12700">
            <a:solidFill>
              <a:srgbClr val="22C55E"/>
            </a:solidFill>
            <a:prstDash val="solid"/>
          </a:ln>
        </p:spPr>
      </p:sp>
      <p:sp>
        <p:nvSpPr>
          <p:cNvPr id="13" name="Text 11"/>
          <p:cNvSpPr/>
          <p:nvPr/>
        </p:nvSpPr>
        <p:spPr>
          <a:xfrm>
            <a:off x="6894576" y="1554480"/>
            <a:ext cx="795528" cy="155448"/>
          </a:xfrm>
          <a:prstGeom prst="rect">
            <a:avLst/>
          </a:prstGeom>
          <a:noFill/>
          <a:ln/>
        </p:spPr>
        <p:txBody>
          <a:bodyPr wrap="square" lIns="0" tIns="0" rIns="0" bIns="0" rtlCol="0" anchor="ctr"/>
          <a:lstStyle/>
          <a:p>
            <a:pPr algn="ctr" indent="0" marL="0">
              <a:buNone/>
            </a:pPr>
            <a:r>
              <a:rPr lang="en-US" sz="900" b="1" dirty="0">
                <a:solidFill>
                  <a:srgbClr val="22C55E"/>
                </a:solidFill>
              </a:rPr>
              <a:t>PASS</a:t>
            </a:r>
            <a:endParaRPr lang="en-US" sz="900" dirty="0"/>
          </a:p>
        </p:txBody>
      </p:sp>
      <p:sp>
        <p:nvSpPr>
          <p:cNvPr id="14" name="Shape 12"/>
          <p:cNvSpPr/>
          <p:nvPr/>
        </p:nvSpPr>
        <p:spPr>
          <a:xfrm>
            <a:off x="8275320" y="1325880"/>
            <a:ext cx="3474720" cy="749808"/>
          </a:xfrm>
          <a:prstGeom prst="roundRect">
            <a:avLst/>
          </a:prstGeom>
          <a:solidFill>
            <a:srgbClr val="121A2D"/>
          </a:solidFill>
          <a:ln w="12700">
            <a:solidFill>
              <a:srgbClr val="2A3853"/>
            </a:solidFill>
            <a:prstDash val="solid"/>
          </a:ln>
        </p:spPr>
      </p:sp>
      <p:sp>
        <p:nvSpPr>
          <p:cNvPr id="15" name="Text 13"/>
          <p:cNvSpPr/>
          <p:nvPr/>
        </p:nvSpPr>
        <p:spPr>
          <a:xfrm>
            <a:off x="8439912" y="1490472"/>
            <a:ext cx="2148840" cy="256032"/>
          </a:xfrm>
          <a:prstGeom prst="rect">
            <a:avLst/>
          </a:prstGeom>
          <a:noFill/>
          <a:ln/>
        </p:spPr>
        <p:txBody>
          <a:bodyPr wrap="square" lIns="0" tIns="0" rIns="0" bIns="0" rtlCol="0" anchor="ctr"/>
          <a:lstStyle/>
          <a:p>
            <a:pPr indent="0" marL="0">
              <a:buNone/>
            </a:pPr>
            <a:r>
              <a:rPr lang="en-US" sz="1120" b="1" dirty="0">
                <a:solidFill>
                  <a:srgbClr val="F7FAFC"/>
                </a:solidFill>
              </a:rPr>
              <a:t>Live Rollback</a:t>
            </a:r>
            <a:endParaRPr lang="en-US" sz="1120" dirty="0"/>
          </a:p>
        </p:txBody>
      </p:sp>
      <p:sp>
        <p:nvSpPr>
          <p:cNvPr id="16" name="Shape 14"/>
          <p:cNvSpPr/>
          <p:nvPr/>
        </p:nvSpPr>
        <p:spPr>
          <a:xfrm>
            <a:off x="10698480" y="1490472"/>
            <a:ext cx="868680" cy="320040"/>
          </a:xfrm>
          <a:prstGeom prst="roundRect">
            <a:avLst/>
          </a:prstGeom>
          <a:solidFill>
            <a:srgbClr val="22C55E">
              <a:alpha val="20000"/>
            </a:srgbClr>
          </a:solidFill>
          <a:ln w="12700">
            <a:solidFill>
              <a:srgbClr val="22C55E"/>
            </a:solidFill>
            <a:prstDash val="solid"/>
          </a:ln>
        </p:spPr>
      </p:sp>
      <p:sp>
        <p:nvSpPr>
          <p:cNvPr id="17" name="Text 15"/>
          <p:cNvSpPr/>
          <p:nvPr/>
        </p:nvSpPr>
        <p:spPr>
          <a:xfrm>
            <a:off x="10735056" y="1554480"/>
            <a:ext cx="795528" cy="155448"/>
          </a:xfrm>
          <a:prstGeom prst="rect">
            <a:avLst/>
          </a:prstGeom>
          <a:noFill/>
          <a:ln/>
        </p:spPr>
        <p:txBody>
          <a:bodyPr wrap="square" lIns="0" tIns="0" rIns="0" bIns="0" rtlCol="0" anchor="ctr"/>
          <a:lstStyle/>
          <a:p>
            <a:pPr algn="ctr" indent="0" marL="0">
              <a:buNone/>
            </a:pPr>
            <a:r>
              <a:rPr lang="en-US" sz="900" b="1" dirty="0">
                <a:solidFill>
                  <a:srgbClr val="22C55E"/>
                </a:solidFill>
              </a:rPr>
              <a:t>PASS</a:t>
            </a:r>
            <a:endParaRPr lang="en-US" sz="900" dirty="0"/>
          </a:p>
        </p:txBody>
      </p:sp>
      <p:sp>
        <p:nvSpPr>
          <p:cNvPr id="18" name="Shape 16"/>
          <p:cNvSpPr/>
          <p:nvPr/>
        </p:nvSpPr>
        <p:spPr>
          <a:xfrm>
            <a:off x="594360" y="2350008"/>
            <a:ext cx="3474720" cy="749808"/>
          </a:xfrm>
          <a:prstGeom prst="roundRect">
            <a:avLst/>
          </a:prstGeom>
          <a:solidFill>
            <a:srgbClr val="121A2D"/>
          </a:solidFill>
          <a:ln w="12700">
            <a:solidFill>
              <a:srgbClr val="2A3853"/>
            </a:solidFill>
            <a:prstDash val="solid"/>
          </a:ln>
        </p:spPr>
      </p:sp>
      <p:sp>
        <p:nvSpPr>
          <p:cNvPr id="19" name="Text 17"/>
          <p:cNvSpPr/>
          <p:nvPr/>
        </p:nvSpPr>
        <p:spPr>
          <a:xfrm>
            <a:off x="758952" y="2514600"/>
            <a:ext cx="2148840" cy="256032"/>
          </a:xfrm>
          <a:prstGeom prst="rect">
            <a:avLst/>
          </a:prstGeom>
          <a:noFill/>
          <a:ln/>
        </p:spPr>
        <p:txBody>
          <a:bodyPr wrap="square" lIns="0" tIns="0" rIns="0" bIns="0" rtlCol="0" anchor="ctr"/>
          <a:lstStyle/>
          <a:p>
            <a:pPr indent="0" marL="0">
              <a:buNone/>
            </a:pPr>
            <a:r>
              <a:rPr lang="en-US" sz="1120" b="1" dirty="0">
                <a:solidFill>
                  <a:srgbClr val="F7FAFC"/>
                </a:solidFill>
              </a:rPr>
              <a:t>Live Destroy</a:t>
            </a:r>
            <a:endParaRPr lang="en-US" sz="1120" dirty="0"/>
          </a:p>
        </p:txBody>
      </p:sp>
      <p:sp>
        <p:nvSpPr>
          <p:cNvPr id="20" name="Shape 18"/>
          <p:cNvSpPr/>
          <p:nvPr/>
        </p:nvSpPr>
        <p:spPr>
          <a:xfrm>
            <a:off x="3017520" y="2514600"/>
            <a:ext cx="868680" cy="320040"/>
          </a:xfrm>
          <a:prstGeom prst="roundRect">
            <a:avLst/>
          </a:prstGeom>
          <a:solidFill>
            <a:srgbClr val="22C55E">
              <a:alpha val="20000"/>
            </a:srgbClr>
          </a:solidFill>
          <a:ln w="12700">
            <a:solidFill>
              <a:srgbClr val="22C55E"/>
            </a:solidFill>
            <a:prstDash val="solid"/>
          </a:ln>
        </p:spPr>
      </p:sp>
      <p:sp>
        <p:nvSpPr>
          <p:cNvPr id="21" name="Text 19"/>
          <p:cNvSpPr/>
          <p:nvPr/>
        </p:nvSpPr>
        <p:spPr>
          <a:xfrm>
            <a:off x="3054096" y="2578608"/>
            <a:ext cx="795528" cy="155448"/>
          </a:xfrm>
          <a:prstGeom prst="rect">
            <a:avLst/>
          </a:prstGeom>
          <a:noFill/>
          <a:ln/>
        </p:spPr>
        <p:txBody>
          <a:bodyPr wrap="square" lIns="0" tIns="0" rIns="0" bIns="0" rtlCol="0" anchor="ctr"/>
          <a:lstStyle/>
          <a:p>
            <a:pPr algn="ctr" indent="0" marL="0">
              <a:buNone/>
            </a:pPr>
            <a:r>
              <a:rPr lang="en-US" sz="900" b="1" dirty="0">
                <a:solidFill>
                  <a:srgbClr val="22C55E"/>
                </a:solidFill>
              </a:rPr>
              <a:t>PASS</a:t>
            </a:r>
            <a:endParaRPr lang="en-US" sz="900" dirty="0"/>
          </a:p>
        </p:txBody>
      </p:sp>
      <p:sp>
        <p:nvSpPr>
          <p:cNvPr id="22" name="Shape 20"/>
          <p:cNvSpPr/>
          <p:nvPr/>
        </p:nvSpPr>
        <p:spPr>
          <a:xfrm>
            <a:off x="4434840" y="2350008"/>
            <a:ext cx="3474720" cy="749808"/>
          </a:xfrm>
          <a:prstGeom prst="roundRect">
            <a:avLst/>
          </a:prstGeom>
          <a:solidFill>
            <a:srgbClr val="121A2D"/>
          </a:solidFill>
          <a:ln w="12700">
            <a:solidFill>
              <a:srgbClr val="2A3853"/>
            </a:solidFill>
            <a:prstDash val="solid"/>
          </a:ln>
        </p:spPr>
      </p:sp>
      <p:sp>
        <p:nvSpPr>
          <p:cNvPr id="23" name="Text 21"/>
          <p:cNvSpPr/>
          <p:nvPr/>
        </p:nvSpPr>
        <p:spPr>
          <a:xfrm>
            <a:off x="4599432" y="2514600"/>
            <a:ext cx="2148840" cy="256032"/>
          </a:xfrm>
          <a:prstGeom prst="rect">
            <a:avLst/>
          </a:prstGeom>
          <a:noFill/>
          <a:ln/>
        </p:spPr>
        <p:txBody>
          <a:bodyPr wrap="square" lIns="0" tIns="0" rIns="0" bIns="0" rtlCol="0" anchor="ctr"/>
          <a:lstStyle/>
          <a:p>
            <a:pPr indent="0" marL="0">
              <a:buNone/>
            </a:pPr>
            <a:r>
              <a:rPr lang="en-US" sz="1120" b="1" dirty="0">
                <a:solidFill>
                  <a:srgbClr val="F7FAFC"/>
                </a:solidFill>
              </a:rPr>
              <a:t>GitHub OIDC</a:t>
            </a:r>
            <a:endParaRPr lang="en-US" sz="1120" dirty="0"/>
          </a:p>
        </p:txBody>
      </p:sp>
      <p:sp>
        <p:nvSpPr>
          <p:cNvPr id="24" name="Shape 22"/>
          <p:cNvSpPr/>
          <p:nvPr/>
        </p:nvSpPr>
        <p:spPr>
          <a:xfrm>
            <a:off x="6858000" y="2514600"/>
            <a:ext cx="868680" cy="320040"/>
          </a:xfrm>
          <a:prstGeom prst="roundRect">
            <a:avLst/>
          </a:prstGeom>
          <a:solidFill>
            <a:srgbClr val="22C55E">
              <a:alpha val="20000"/>
            </a:srgbClr>
          </a:solidFill>
          <a:ln w="12700">
            <a:solidFill>
              <a:srgbClr val="22C55E"/>
            </a:solidFill>
            <a:prstDash val="solid"/>
          </a:ln>
        </p:spPr>
      </p:sp>
      <p:sp>
        <p:nvSpPr>
          <p:cNvPr id="25" name="Text 23"/>
          <p:cNvSpPr/>
          <p:nvPr/>
        </p:nvSpPr>
        <p:spPr>
          <a:xfrm>
            <a:off x="6894576" y="2578608"/>
            <a:ext cx="795528" cy="155448"/>
          </a:xfrm>
          <a:prstGeom prst="rect">
            <a:avLst/>
          </a:prstGeom>
          <a:noFill/>
          <a:ln/>
        </p:spPr>
        <p:txBody>
          <a:bodyPr wrap="square" lIns="0" tIns="0" rIns="0" bIns="0" rtlCol="0" anchor="ctr"/>
          <a:lstStyle/>
          <a:p>
            <a:pPr algn="ctr" indent="0" marL="0">
              <a:buNone/>
            </a:pPr>
            <a:r>
              <a:rPr lang="en-US" sz="900" b="1" dirty="0">
                <a:solidFill>
                  <a:srgbClr val="22C55E"/>
                </a:solidFill>
              </a:rPr>
              <a:t>PASS</a:t>
            </a:r>
            <a:endParaRPr lang="en-US" sz="900" dirty="0"/>
          </a:p>
        </p:txBody>
      </p:sp>
      <p:sp>
        <p:nvSpPr>
          <p:cNvPr id="26" name="Shape 24"/>
          <p:cNvSpPr/>
          <p:nvPr/>
        </p:nvSpPr>
        <p:spPr>
          <a:xfrm>
            <a:off x="8275320" y="2350008"/>
            <a:ext cx="3474720" cy="749808"/>
          </a:xfrm>
          <a:prstGeom prst="roundRect">
            <a:avLst/>
          </a:prstGeom>
          <a:solidFill>
            <a:srgbClr val="121A2D"/>
          </a:solidFill>
          <a:ln w="12700">
            <a:solidFill>
              <a:srgbClr val="2A3853"/>
            </a:solidFill>
            <a:prstDash val="solid"/>
          </a:ln>
        </p:spPr>
      </p:sp>
      <p:sp>
        <p:nvSpPr>
          <p:cNvPr id="27" name="Text 25"/>
          <p:cNvSpPr/>
          <p:nvPr/>
        </p:nvSpPr>
        <p:spPr>
          <a:xfrm>
            <a:off x="8439912" y="2514600"/>
            <a:ext cx="2148840" cy="256032"/>
          </a:xfrm>
          <a:prstGeom prst="rect">
            <a:avLst/>
          </a:prstGeom>
          <a:noFill/>
          <a:ln/>
        </p:spPr>
        <p:txBody>
          <a:bodyPr wrap="square" lIns="0" tIns="0" rIns="0" bIns="0" rtlCol="0" anchor="ctr"/>
          <a:lstStyle/>
          <a:p>
            <a:pPr indent="0" marL="0">
              <a:buNone/>
            </a:pPr>
            <a:r>
              <a:rPr lang="en-US" sz="1120" b="1" dirty="0">
                <a:solidFill>
                  <a:srgbClr val="F7FAFC"/>
                </a:solidFill>
              </a:rPr>
              <a:t>Container build &amp; runtime validation</a:t>
            </a:r>
            <a:endParaRPr lang="en-US" sz="1120" dirty="0"/>
          </a:p>
        </p:txBody>
      </p:sp>
      <p:sp>
        <p:nvSpPr>
          <p:cNvPr id="28" name="Shape 26"/>
          <p:cNvSpPr/>
          <p:nvPr/>
        </p:nvSpPr>
        <p:spPr>
          <a:xfrm>
            <a:off x="10698480" y="2514600"/>
            <a:ext cx="868680" cy="320040"/>
          </a:xfrm>
          <a:prstGeom prst="roundRect">
            <a:avLst/>
          </a:prstGeom>
          <a:solidFill>
            <a:srgbClr val="22C55E">
              <a:alpha val="20000"/>
            </a:srgbClr>
          </a:solidFill>
          <a:ln w="12700">
            <a:solidFill>
              <a:srgbClr val="22C55E"/>
            </a:solidFill>
            <a:prstDash val="solid"/>
          </a:ln>
        </p:spPr>
      </p:sp>
      <p:sp>
        <p:nvSpPr>
          <p:cNvPr id="29" name="Text 27"/>
          <p:cNvSpPr/>
          <p:nvPr/>
        </p:nvSpPr>
        <p:spPr>
          <a:xfrm>
            <a:off x="10735056" y="2578608"/>
            <a:ext cx="795528" cy="155448"/>
          </a:xfrm>
          <a:prstGeom prst="rect">
            <a:avLst/>
          </a:prstGeom>
          <a:noFill/>
          <a:ln/>
        </p:spPr>
        <p:txBody>
          <a:bodyPr wrap="square" lIns="0" tIns="0" rIns="0" bIns="0" rtlCol="0" anchor="ctr"/>
          <a:lstStyle/>
          <a:p>
            <a:pPr algn="ctr" indent="0" marL="0">
              <a:buNone/>
            </a:pPr>
            <a:r>
              <a:rPr lang="en-US" sz="900" b="1" dirty="0">
                <a:solidFill>
                  <a:srgbClr val="22C55E"/>
                </a:solidFill>
              </a:rPr>
              <a:t>PASS</a:t>
            </a:r>
            <a:endParaRPr lang="en-US" sz="900" dirty="0"/>
          </a:p>
        </p:txBody>
      </p:sp>
      <p:sp>
        <p:nvSpPr>
          <p:cNvPr id="30" name="Shape 28"/>
          <p:cNvSpPr/>
          <p:nvPr/>
        </p:nvSpPr>
        <p:spPr>
          <a:xfrm>
            <a:off x="594360" y="3374136"/>
            <a:ext cx="3474720" cy="749808"/>
          </a:xfrm>
          <a:prstGeom prst="roundRect">
            <a:avLst/>
          </a:prstGeom>
          <a:solidFill>
            <a:srgbClr val="121A2D"/>
          </a:solidFill>
          <a:ln w="12700">
            <a:solidFill>
              <a:srgbClr val="2A3853"/>
            </a:solidFill>
            <a:prstDash val="solid"/>
          </a:ln>
        </p:spPr>
      </p:sp>
      <p:sp>
        <p:nvSpPr>
          <p:cNvPr id="31" name="Text 29"/>
          <p:cNvSpPr/>
          <p:nvPr/>
        </p:nvSpPr>
        <p:spPr>
          <a:xfrm>
            <a:off x="758952" y="3538728"/>
            <a:ext cx="2148840" cy="256032"/>
          </a:xfrm>
          <a:prstGeom prst="rect">
            <a:avLst/>
          </a:prstGeom>
          <a:noFill/>
          <a:ln/>
        </p:spPr>
        <p:txBody>
          <a:bodyPr wrap="square" lIns="0" tIns="0" rIns="0" bIns="0" rtlCol="0" anchor="ctr"/>
          <a:lstStyle/>
          <a:p>
            <a:pPr indent="0" marL="0">
              <a:buNone/>
            </a:pPr>
            <a:r>
              <a:rPr lang="en-US" sz="1120" b="1" dirty="0">
                <a:solidFill>
                  <a:srgbClr val="F7FAFC"/>
                </a:solidFill>
              </a:rPr>
              <a:t>Security scanning</a:t>
            </a:r>
            <a:endParaRPr lang="en-US" sz="1120" dirty="0"/>
          </a:p>
        </p:txBody>
      </p:sp>
      <p:sp>
        <p:nvSpPr>
          <p:cNvPr id="32" name="Shape 30"/>
          <p:cNvSpPr/>
          <p:nvPr/>
        </p:nvSpPr>
        <p:spPr>
          <a:xfrm>
            <a:off x="3017520" y="3538728"/>
            <a:ext cx="868680" cy="320040"/>
          </a:xfrm>
          <a:prstGeom prst="roundRect">
            <a:avLst/>
          </a:prstGeom>
          <a:solidFill>
            <a:srgbClr val="22C55E">
              <a:alpha val="20000"/>
            </a:srgbClr>
          </a:solidFill>
          <a:ln w="12700">
            <a:solidFill>
              <a:srgbClr val="22C55E"/>
            </a:solidFill>
            <a:prstDash val="solid"/>
          </a:ln>
        </p:spPr>
      </p:sp>
      <p:sp>
        <p:nvSpPr>
          <p:cNvPr id="33" name="Text 31"/>
          <p:cNvSpPr/>
          <p:nvPr/>
        </p:nvSpPr>
        <p:spPr>
          <a:xfrm>
            <a:off x="3054096" y="3602736"/>
            <a:ext cx="795528" cy="155448"/>
          </a:xfrm>
          <a:prstGeom prst="rect">
            <a:avLst/>
          </a:prstGeom>
          <a:noFill/>
          <a:ln/>
        </p:spPr>
        <p:txBody>
          <a:bodyPr wrap="square" lIns="0" tIns="0" rIns="0" bIns="0" rtlCol="0" anchor="ctr"/>
          <a:lstStyle/>
          <a:p>
            <a:pPr algn="ctr" indent="0" marL="0">
              <a:buNone/>
            </a:pPr>
            <a:r>
              <a:rPr lang="en-US" sz="900" b="1" dirty="0">
                <a:solidFill>
                  <a:srgbClr val="22C55E"/>
                </a:solidFill>
              </a:rPr>
              <a:t>PASS</a:t>
            </a:r>
            <a:endParaRPr lang="en-US" sz="900" dirty="0"/>
          </a:p>
        </p:txBody>
      </p:sp>
      <p:sp>
        <p:nvSpPr>
          <p:cNvPr id="34" name="Shape 32"/>
          <p:cNvSpPr/>
          <p:nvPr/>
        </p:nvSpPr>
        <p:spPr>
          <a:xfrm>
            <a:off x="4434840" y="3374136"/>
            <a:ext cx="3474720" cy="749808"/>
          </a:xfrm>
          <a:prstGeom prst="roundRect">
            <a:avLst/>
          </a:prstGeom>
          <a:solidFill>
            <a:srgbClr val="121A2D"/>
          </a:solidFill>
          <a:ln w="12700">
            <a:solidFill>
              <a:srgbClr val="2A3853"/>
            </a:solidFill>
            <a:prstDash val="solid"/>
          </a:ln>
        </p:spPr>
      </p:sp>
      <p:sp>
        <p:nvSpPr>
          <p:cNvPr id="35" name="Text 33"/>
          <p:cNvSpPr/>
          <p:nvPr/>
        </p:nvSpPr>
        <p:spPr>
          <a:xfrm>
            <a:off x="4599432" y="3538728"/>
            <a:ext cx="2148840" cy="256032"/>
          </a:xfrm>
          <a:prstGeom prst="rect">
            <a:avLst/>
          </a:prstGeom>
          <a:noFill/>
          <a:ln/>
        </p:spPr>
        <p:txBody>
          <a:bodyPr wrap="square" lIns="0" tIns="0" rIns="0" bIns="0" rtlCol="0" anchor="ctr"/>
          <a:lstStyle/>
          <a:p>
            <a:pPr indent="0" marL="0">
              <a:buNone/>
            </a:pPr>
            <a:r>
              <a:rPr lang="en-US" sz="1120" b="1" dirty="0">
                <a:solidFill>
                  <a:srgbClr val="F7FAFC"/>
                </a:solidFill>
              </a:rPr>
              <a:t>ECR + Terraform + ECS</a:t>
            </a:r>
            <a:endParaRPr lang="en-US" sz="1120" dirty="0"/>
          </a:p>
        </p:txBody>
      </p:sp>
      <p:sp>
        <p:nvSpPr>
          <p:cNvPr id="36" name="Shape 34"/>
          <p:cNvSpPr/>
          <p:nvPr/>
        </p:nvSpPr>
        <p:spPr>
          <a:xfrm>
            <a:off x="6858000" y="3538728"/>
            <a:ext cx="868680" cy="320040"/>
          </a:xfrm>
          <a:prstGeom prst="roundRect">
            <a:avLst/>
          </a:prstGeom>
          <a:solidFill>
            <a:srgbClr val="22C55E">
              <a:alpha val="20000"/>
            </a:srgbClr>
          </a:solidFill>
          <a:ln w="12700">
            <a:solidFill>
              <a:srgbClr val="22C55E"/>
            </a:solidFill>
            <a:prstDash val="solid"/>
          </a:ln>
        </p:spPr>
      </p:sp>
      <p:sp>
        <p:nvSpPr>
          <p:cNvPr id="37" name="Text 35"/>
          <p:cNvSpPr/>
          <p:nvPr/>
        </p:nvSpPr>
        <p:spPr>
          <a:xfrm>
            <a:off x="6894576" y="3602736"/>
            <a:ext cx="795528" cy="155448"/>
          </a:xfrm>
          <a:prstGeom prst="rect">
            <a:avLst/>
          </a:prstGeom>
          <a:noFill/>
          <a:ln/>
        </p:spPr>
        <p:txBody>
          <a:bodyPr wrap="square" lIns="0" tIns="0" rIns="0" bIns="0" rtlCol="0" anchor="ctr"/>
          <a:lstStyle/>
          <a:p>
            <a:pPr algn="ctr" indent="0" marL="0">
              <a:buNone/>
            </a:pPr>
            <a:r>
              <a:rPr lang="en-US" sz="900" b="1" dirty="0">
                <a:solidFill>
                  <a:srgbClr val="22C55E"/>
                </a:solidFill>
              </a:rPr>
              <a:t>PASS</a:t>
            </a:r>
            <a:endParaRPr lang="en-US" sz="900" dirty="0"/>
          </a:p>
        </p:txBody>
      </p:sp>
      <p:sp>
        <p:nvSpPr>
          <p:cNvPr id="38" name="Shape 36"/>
          <p:cNvSpPr/>
          <p:nvPr/>
        </p:nvSpPr>
        <p:spPr>
          <a:xfrm>
            <a:off x="8275320" y="3374136"/>
            <a:ext cx="3474720" cy="749808"/>
          </a:xfrm>
          <a:prstGeom prst="roundRect">
            <a:avLst/>
          </a:prstGeom>
          <a:solidFill>
            <a:srgbClr val="121A2D"/>
          </a:solidFill>
          <a:ln w="12700">
            <a:solidFill>
              <a:srgbClr val="2A3853"/>
            </a:solidFill>
            <a:prstDash val="solid"/>
          </a:ln>
        </p:spPr>
      </p:sp>
      <p:sp>
        <p:nvSpPr>
          <p:cNvPr id="39" name="Text 37"/>
          <p:cNvSpPr/>
          <p:nvPr/>
        </p:nvSpPr>
        <p:spPr>
          <a:xfrm>
            <a:off x="8439912" y="3538728"/>
            <a:ext cx="2148840" cy="256032"/>
          </a:xfrm>
          <a:prstGeom prst="rect">
            <a:avLst/>
          </a:prstGeom>
          <a:noFill/>
          <a:ln/>
        </p:spPr>
        <p:txBody>
          <a:bodyPr wrap="square" lIns="0" tIns="0" rIns="0" bIns="0" rtlCol="0" anchor="ctr"/>
          <a:lstStyle/>
          <a:p>
            <a:pPr indent="0" marL="0">
              <a:buNone/>
            </a:pPr>
            <a:r>
              <a:rPr lang="en-US" sz="1120" b="1" dirty="0">
                <a:solidFill>
                  <a:srgbClr val="F7FAFC"/>
                </a:solidFill>
              </a:rPr>
              <a:t>Fresh database migrations</a:t>
            </a:r>
            <a:endParaRPr lang="en-US" sz="1120" dirty="0"/>
          </a:p>
        </p:txBody>
      </p:sp>
      <p:sp>
        <p:nvSpPr>
          <p:cNvPr id="40" name="Shape 38"/>
          <p:cNvSpPr/>
          <p:nvPr/>
        </p:nvSpPr>
        <p:spPr>
          <a:xfrm>
            <a:off x="10698480" y="3538728"/>
            <a:ext cx="868680" cy="320040"/>
          </a:xfrm>
          <a:prstGeom prst="roundRect">
            <a:avLst/>
          </a:prstGeom>
          <a:solidFill>
            <a:srgbClr val="38BDF8">
              <a:alpha val="20000"/>
            </a:srgbClr>
          </a:solidFill>
          <a:ln w="12700">
            <a:solidFill>
              <a:srgbClr val="38BDF8"/>
            </a:solidFill>
            <a:prstDash val="solid"/>
          </a:ln>
        </p:spPr>
      </p:sp>
      <p:sp>
        <p:nvSpPr>
          <p:cNvPr id="41" name="Text 39"/>
          <p:cNvSpPr/>
          <p:nvPr/>
        </p:nvSpPr>
        <p:spPr>
          <a:xfrm>
            <a:off x="10735056" y="3602736"/>
            <a:ext cx="795528" cy="155448"/>
          </a:xfrm>
          <a:prstGeom prst="rect">
            <a:avLst/>
          </a:prstGeom>
          <a:noFill/>
          <a:ln/>
        </p:spPr>
        <p:txBody>
          <a:bodyPr wrap="square" lIns="0" tIns="0" rIns="0" bIns="0" rtlCol="0" anchor="ctr"/>
          <a:lstStyle/>
          <a:p>
            <a:pPr algn="ctr" indent="0" marL="0">
              <a:buNone/>
            </a:pPr>
            <a:r>
              <a:rPr lang="en-US" sz="900" b="1" dirty="0">
                <a:solidFill>
                  <a:srgbClr val="38BDF8"/>
                </a:solidFill>
              </a:rPr>
              <a:t>110 / 110</a:t>
            </a:r>
            <a:endParaRPr lang="en-US" sz="900" dirty="0"/>
          </a:p>
        </p:txBody>
      </p:sp>
      <p:sp>
        <p:nvSpPr>
          <p:cNvPr id="42" name="Shape 40"/>
          <p:cNvSpPr/>
          <p:nvPr/>
        </p:nvSpPr>
        <p:spPr>
          <a:xfrm>
            <a:off x="594360" y="4398264"/>
            <a:ext cx="3474720" cy="749808"/>
          </a:xfrm>
          <a:prstGeom prst="roundRect">
            <a:avLst/>
          </a:prstGeom>
          <a:solidFill>
            <a:srgbClr val="121A2D"/>
          </a:solidFill>
          <a:ln w="12700">
            <a:solidFill>
              <a:srgbClr val="2A3853"/>
            </a:solidFill>
            <a:prstDash val="solid"/>
          </a:ln>
        </p:spPr>
      </p:sp>
      <p:sp>
        <p:nvSpPr>
          <p:cNvPr id="43" name="Text 41"/>
          <p:cNvSpPr/>
          <p:nvPr/>
        </p:nvSpPr>
        <p:spPr>
          <a:xfrm>
            <a:off x="758952" y="4562856"/>
            <a:ext cx="2148840" cy="256032"/>
          </a:xfrm>
          <a:prstGeom prst="rect">
            <a:avLst/>
          </a:prstGeom>
          <a:noFill/>
          <a:ln/>
        </p:spPr>
        <p:txBody>
          <a:bodyPr wrap="square" lIns="0" tIns="0" rIns="0" bIns="0" rtlCol="0" anchor="ctr"/>
          <a:lstStyle/>
          <a:p>
            <a:pPr indent="0" marL="0">
              <a:buNone/>
            </a:pPr>
            <a:r>
              <a:rPr lang="en-US" sz="1120" b="1" dirty="0">
                <a:solidFill>
                  <a:srgbClr val="F7FAFC"/>
                </a:solidFill>
              </a:rPr>
              <a:t>Full local certification</a:t>
            </a:r>
            <a:endParaRPr lang="en-US" sz="1120" dirty="0"/>
          </a:p>
        </p:txBody>
      </p:sp>
      <p:sp>
        <p:nvSpPr>
          <p:cNvPr id="44" name="Shape 42"/>
          <p:cNvSpPr/>
          <p:nvPr/>
        </p:nvSpPr>
        <p:spPr>
          <a:xfrm>
            <a:off x="3017520" y="4562856"/>
            <a:ext cx="868680" cy="320040"/>
          </a:xfrm>
          <a:prstGeom prst="roundRect">
            <a:avLst/>
          </a:prstGeom>
          <a:solidFill>
            <a:srgbClr val="22C55E">
              <a:alpha val="20000"/>
            </a:srgbClr>
          </a:solidFill>
          <a:ln w="12700">
            <a:solidFill>
              <a:srgbClr val="22C55E"/>
            </a:solidFill>
            <a:prstDash val="solid"/>
          </a:ln>
        </p:spPr>
      </p:sp>
      <p:sp>
        <p:nvSpPr>
          <p:cNvPr id="45" name="Text 43"/>
          <p:cNvSpPr/>
          <p:nvPr/>
        </p:nvSpPr>
        <p:spPr>
          <a:xfrm>
            <a:off x="3054096" y="4626864"/>
            <a:ext cx="795528" cy="155448"/>
          </a:xfrm>
          <a:prstGeom prst="rect">
            <a:avLst/>
          </a:prstGeom>
          <a:noFill/>
          <a:ln/>
        </p:spPr>
        <p:txBody>
          <a:bodyPr wrap="square" lIns="0" tIns="0" rIns="0" bIns="0" rtlCol="0" anchor="ctr"/>
          <a:lstStyle/>
          <a:p>
            <a:pPr algn="ctr" indent="0" marL="0">
              <a:buNone/>
            </a:pPr>
            <a:r>
              <a:rPr lang="en-US" sz="900" b="1" dirty="0">
                <a:solidFill>
                  <a:srgbClr val="22C55E"/>
                </a:solidFill>
              </a:rPr>
              <a:t>PASS</a:t>
            </a:r>
            <a:endParaRPr lang="en-US" sz="900" dirty="0"/>
          </a:p>
        </p:txBody>
      </p:sp>
      <p:sp>
        <p:nvSpPr>
          <p:cNvPr id="46" name="Shape 44"/>
          <p:cNvSpPr/>
          <p:nvPr/>
        </p:nvSpPr>
        <p:spPr>
          <a:xfrm>
            <a:off x="4434840" y="4398264"/>
            <a:ext cx="3474720" cy="749808"/>
          </a:xfrm>
          <a:prstGeom prst="roundRect">
            <a:avLst/>
          </a:prstGeom>
          <a:solidFill>
            <a:srgbClr val="121A2D"/>
          </a:solidFill>
          <a:ln w="12700">
            <a:solidFill>
              <a:srgbClr val="2A3853"/>
            </a:solidFill>
            <a:prstDash val="solid"/>
          </a:ln>
        </p:spPr>
      </p:sp>
      <p:sp>
        <p:nvSpPr>
          <p:cNvPr id="47" name="Text 45"/>
          <p:cNvSpPr/>
          <p:nvPr/>
        </p:nvSpPr>
        <p:spPr>
          <a:xfrm>
            <a:off x="4599432" y="4562856"/>
            <a:ext cx="2148840" cy="256032"/>
          </a:xfrm>
          <a:prstGeom prst="rect">
            <a:avLst/>
          </a:prstGeom>
          <a:noFill/>
          <a:ln/>
        </p:spPr>
        <p:txBody>
          <a:bodyPr wrap="square" lIns="0" tIns="0" rIns="0" bIns="0" rtlCol="0" anchor="ctr"/>
          <a:lstStyle/>
          <a:p>
            <a:pPr indent="0" marL="0">
              <a:buNone/>
            </a:pPr>
            <a:r>
              <a:rPr lang="en-US" sz="1120" b="1" dirty="0">
                <a:solidFill>
                  <a:srgbClr val="F7FAFC"/>
                </a:solidFill>
              </a:rPr>
              <a:t>Central failure pipeline</a:t>
            </a:r>
            <a:endParaRPr lang="en-US" sz="1120" dirty="0"/>
          </a:p>
        </p:txBody>
      </p:sp>
      <p:sp>
        <p:nvSpPr>
          <p:cNvPr id="48" name="Shape 46"/>
          <p:cNvSpPr/>
          <p:nvPr/>
        </p:nvSpPr>
        <p:spPr>
          <a:xfrm>
            <a:off x="6858000" y="4562856"/>
            <a:ext cx="868680" cy="320040"/>
          </a:xfrm>
          <a:prstGeom prst="roundRect">
            <a:avLst/>
          </a:prstGeom>
          <a:solidFill>
            <a:srgbClr val="22C55E">
              <a:alpha val="20000"/>
            </a:srgbClr>
          </a:solidFill>
          <a:ln w="12700">
            <a:solidFill>
              <a:srgbClr val="22C55E"/>
            </a:solidFill>
            <a:prstDash val="solid"/>
          </a:ln>
        </p:spPr>
      </p:sp>
      <p:sp>
        <p:nvSpPr>
          <p:cNvPr id="49" name="Text 47"/>
          <p:cNvSpPr/>
          <p:nvPr/>
        </p:nvSpPr>
        <p:spPr>
          <a:xfrm>
            <a:off x="6894576" y="4626864"/>
            <a:ext cx="795528" cy="155448"/>
          </a:xfrm>
          <a:prstGeom prst="rect">
            <a:avLst/>
          </a:prstGeom>
          <a:noFill/>
          <a:ln/>
        </p:spPr>
        <p:txBody>
          <a:bodyPr wrap="square" lIns="0" tIns="0" rIns="0" bIns="0" rtlCol="0" anchor="ctr"/>
          <a:lstStyle/>
          <a:p>
            <a:pPr algn="ctr" indent="0" marL="0">
              <a:buNone/>
            </a:pPr>
            <a:r>
              <a:rPr lang="en-US" sz="900" b="1" dirty="0">
                <a:solidFill>
                  <a:srgbClr val="22C55E"/>
                </a:solidFill>
              </a:rPr>
              <a:t>PASS</a:t>
            </a:r>
            <a:endParaRPr lang="en-US" sz="900" dirty="0"/>
          </a:p>
        </p:txBody>
      </p:sp>
      <p:sp>
        <p:nvSpPr>
          <p:cNvPr id="50" name="Shape 48"/>
          <p:cNvSpPr/>
          <p:nvPr/>
        </p:nvSpPr>
        <p:spPr>
          <a:xfrm>
            <a:off x="8275320" y="4398264"/>
            <a:ext cx="3474720" cy="749808"/>
          </a:xfrm>
          <a:prstGeom prst="roundRect">
            <a:avLst/>
          </a:prstGeom>
          <a:solidFill>
            <a:srgbClr val="121A2D"/>
          </a:solidFill>
          <a:ln w="12700">
            <a:solidFill>
              <a:srgbClr val="2A3853"/>
            </a:solidFill>
            <a:prstDash val="solid"/>
          </a:ln>
        </p:spPr>
      </p:sp>
      <p:sp>
        <p:nvSpPr>
          <p:cNvPr id="51" name="Text 49"/>
          <p:cNvSpPr/>
          <p:nvPr/>
        </p:nvSpPr>
        <p:spPr>
          <a:xfrm>
            <a:off x="8439912" y="4562856"/>
            <a:ext cx="2148840" cy="256032"/>
          </a:xfrm>
          <a:prstGeom prst="rect">
            <a:avLst/>
          </a:prstGeom>
          <a:noFill/>
          <a:ln/>
        </p:spPr>
        <p:txBody>
          <a:bodyPr wrap="square" lIns="0" tIns="0" rIns="0" bIns="0" rtlCol="0" anchor="ctr"/>
          <a:lstStyle/>
          <a:p>
            <a:pPr indent="0" marL="0">
              <a:buNone/>
            </a:pPr>
            <a:r>
              <a:rPr lang="en-US" sz="1120" b="1" dirty="0">
                <a:solidFill>
                  <a:srgbClr val="F7FAFC"/>
                </a:solidFill>
              </a:rPr>
              <a:t>Stripe test-mode contracts</a:t>
            </a:r>
            <a:endParaRPr lang="en-US" sz="1120" dirty="0"/>
          </a:p>
        </p:txBody>
      </p:sp>
      <p:sp>
        <p:nvSpPr>
          <p:cNvPr id="52" name="Shape 50"/>
          <p:cNvSpPr/>
          <p:nvPr/>
        </p:nvSpPr>
        <p:spPr>
          <a:xfrm>
            <a:off x="10698480" y="4562856"/>
            <a:ext cx="868680" cy="320040"/>
          </a:xfrm>
          <a:prstGeom prst="roundRect">
            <a:avLst/>
          </a:prstGeom>
          <a:solidFill>
            <a:srgbClr val="22C55E">
              <a:alpha val="20000"/>
            </a:srgbClr>
          </a:solidFill>
          <a:ln w="12700">
            <a:solidFill>
              <a:srgbClr val="22C55E"/>
            </a:solidFill>
            <a:prstDash val="solid"/>
          </a:ln>
        </p:spPr>
      </p:sp>
      <p:sp>
        <p:nvSpPr>
          <p:cNvPr id="53" name="Text 51"/>
          <p:cNvSpPr/>
          <p:nvPr/>
        </p:nvSpPr>
        <p:spPr>
          <a:xfrm>
            <a:off x="10735056" y="4626864"/>
            <a:ext cx="795528" cy="155448"/>
          </a:xfrm>
          <a:prstGeom prst="rect">
            <a:avLst/>
          </a:prstGeom>
          <a:noFill/>
          <a:ln/>
        </p:spPr>
        <p:txBody>
          <a:bodyPr wrap="square" lIns="0" tIns="0" rIns="0" bIns="0" rtlCol="0" anchor="ctr"/>
          <a:lstStyle/>
          <a:p>
            <a:pPr algn="ctr" indent="0" marL="0">
              <a:buNone/>
            </a:pPr>
            <a:r>
              <a:rPr lang="en-US" sz="900" b="1" dirty="0">
                <a:solidFill>
                  <a:srgbClr val="22C55E"/>
                </a:solidFill>
              </a:rPr>
              <a:t>PASS</a:t>
            </a:r>
            <a:endParaRPr lang="en-US" sz="900" dirty="0"/>
          </a:p>
        </p:txBody>
      </p:sp>
      <p:sp>
        <p:nvSpPr>
          <p:cNvPr id="54" name="Text 52"/>
          <p:cNvSpPr/>
          <p:nvPr/>
        </p:nvSpPr>
        <p:spPr>
          <a:xfrm>
            <a:off x="777240" y="5715000"/>
            <a:ext cx="10698480" cy="411480"/>
          </a:xfrm>
          <a:prstGeom prst="rect">
            <a:avLst/>
          </a:prstGeom>
          <a:noFill/>
          <a:ln/>
        </p:spPr>
        <p:txBody>
          <a:bodyPr wrap="square" lIns="0" tIns="0" rIns="0" bIns="0" rtlCol="0" anchor="ctr"/>
          <a:lstStyle/>
          <a:p>
            <a:pPr algn="ctr" indent="0" marL="0">
              <a:buNone/>
            </a:pPr>
            <a:r>
              <a:rPr lang="en-US" sz="1150" dirty="0">
                <a:solidFill>
                  <a:srgbClr val="A9B4C7"/>
                </a:solidFill>
              </a:rPr>
              <a:t>Evidence is used to defend the implemented behavior. It is not presented as a guarantee that external providers can never fail.</a:t>
            </a:r>
            <a:endParaRPr lang="en-US" sz="1150" dirty="0"/>
          </a:p>
        </p:txBody>
      </p:sp>
      <p:sp>
        <p:nvSpPr>
          <p:cNvPr id="25" name="Slide Number Placeholder 0"/>
          <p:cNvSpPr>
            <a:spLocks noGrp="1"/>
          </p:cNvSpPr>
          <p:nvPr>
            <p:ph type="sldNum" sz="quarter" idx="4294967295"/>
          </p:nvPr>
        </p:nvSpPr>
        <p:spPr>
          <a:xfrm>
            <a:off x="1138428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7C8AA5"/>
                </a:solidFill>
                <a:latin typeface="Aptos"/>
                <a:ea typeface="Aptos"/>
                <a:cs typeface="Aptos"/>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02920" y="320040"/>
            <a:ext cx="11064240" cy="502920"/>
          </a:xfrm>
          <a:prstGeom prst="rect">
            <a:avLst/>
          </a:prstGeom>
          <a:noFill/>
          <a:ln/>
        </p:spPr>
        <p:txBody>
          <a:bodyPr wrap="square" lIns="0" tIns="0" rIns="0" bIns="0" rtlCol="0" anchor="ctr"/>
          <a:lstStyle/>
          <a:p>
            <a:pPr indent="0" marL="0">
              <a:buNone/>
            </a:pPr>
            <a:r>
              <a:rPr lang="en-US" sz="2800" b="1" dirty="0">
                <a:solidFill>
                  <a:srgbClr val="F7FAFC"/>
                </a:solidFill>
                <a:latin typeface="Aptos Display" pitchFamily="34" charset="0"/>
                <a:ea typeface="Aptos Display" pitchFamily="34" charset="-122"/>
                <a:cs typeface="Aptos Display" pitchFamily="34" charset="-120"/>
              </a:rPr>
              <a:t>Reliability strategy</a:t>
            </a:r>
            <a:endParaRPr lang="en-US" sz="2800" dirty="0"/>
          </a:p>
        </p:txBody>
      </p:sp>
      <p:sp>
        <p:nvSpPr>
          <p:cNvPr id="3" name="Text 1"/>
          <p:cNvSpPr/>
          <p:nvPr/>
        </p:nvSpPr>
        <p:spPr>
          <a:xfrm>
            <a:off x="521208" y="868680"/>
            <a:ext cx="10972800" cy="310896"/>
          </a:xfrm>
          <a:prstGeom prst="rect">
            <a:avLst/>
          </a:prstGeom>
          <a:noFill/>
          <a:ln/>
        </p:spPr>
        <p:txBody>
          <a:bodyPr wrap="square" lIns="0" tIns="0" rIns="0" bIns="0" rtlCol="0" anchor="ctr"/>
          <a:lstStyle/>
          <a:p>
            <a:pPr indent="0" marL="0">
              <a:buNone/>
            </a:pPr>
            <a:r>
              <a:rPr lang="en-US" sz="1250" dirty="0">
                <a:solidFill>
                  <a:srgbClr val="A9B4C7"/>
                </a:solidFill>
              </a:rPr>
              <a:t>Reliability comes from contracts, validation and recovery — not from assuming tools never fail</a:t>
            </a:r>
            <a:endParaRPr lang="en-US" sz="1250" dirty="0"/>
          </a:p>
        </p:txBody>
      </p:sp>
      <p:sp>
        <p:nvSpPr>
          <p:cNvPr id="4" name="Shape 2"/>
          <p:cNvSpPr/>
          <p:nvPr/>
        </p:nvSpPr>
        <p:spPr>
          <a:xfrm>
            <a:off x="10469880" y="338328"/>
            <a:ext cx="1078992" cy="274320"/>
          </a:xfrm>
          <a:prstGeom prst="roundRect">
            <a:avLst>
              <a:gd name="adj" fmla="val 16667"/>
            </a:avLst>
          </a:prstGeom>
          <a:solidFill>
            <a:srgbClr val="F59E0B">
              <a:alpha val="20000"/>
            </a:srgbClr>
          </a:solidFill>
          <a:ln w="12700">
            <a:solidFill>
              <a:srgbClr val="F59E0B">
                <a:alpha val="70000"/>
              </a:srgbClr>
            </a:solidFill>
            <a:prstDash val="solid"/>
          </a:ln>
        </p:spPr>
      </p:sp>
      <p:sp>
        <p:nvSpPr>
          <p:cNvPr id="5" name="Text 3"/>
          <p:cNvSpPr/>
          <p:nvPr/>
        </p:nvSpPr>
        <p:spPr>
          <a:xfrm>
            <a:off x="10543032" y="388620"/>
            <a:ext cx="932688" cy="155448"/>
          </a:xfrm>
          <a:prstGeom prst="rect">
            <a:avLst/>
          </a:prstGeom>
          <a:noFill/>
          <a:ln/>
        </p:spPr>
        <p:txBody>
          <a:bodyPr wrap="square" lIns="0" tIns="0" rIns="0" bIns="0" rtlCol="0" anchor="ctr"/>
          <a:lstStyle/>
          <a:p>
            <a:pPr algn="ctr" indent="0" marL="0">
              <a:buNone/>
            </a:pPr>
            <a:r>
              <a:rPr lang="en-US" sz="900" b="1" dirty="0">
                <a:solidFill>
                  <a:srgbClr val="F59E0B"/>
                </a:solidFill>
              </a:rPr>
              <a:t>HASSAN</a:t>
            </a:r>
            <a:endParaRPr lang="en-US" sz="900" dirty="0"/>
          </a:p>
        </p:txBody>
      </p:sp>
      <p:sp>
        <p:nvSpPr>
          <p:cNvPr id="6" name="Shape 4"/>
          <p:cNvSpPr/>
          <p:nvPr/>
        </p:nvSpPr>
        <p:spPr>
          <a:xfrm>
            <a:off x="594360" y="1280160"/>
            <a:ext cx="3474720" cy="1737360"/>
          </a:xfrm>
          <a:prstGeom prst="roundRect">
            <a:avLst>
              <a:gd name="adj" fmla="val 3158"/>
            </a:avLst>
          </a:prstGeom>
          <a:solidFill>
            <a:srgbClr val="121A2D"/>
          </a:solidFill>
          <a:ln w="12700">
            <a:solidFill>
              <a:srgbClr val="2A3853"/>
            </a:solidFill>
            <a:prstDash val="solid"/>
          </a:ln>
        </p:spPr>
      </p:sp>
      <p:sp>
        <p:nvSpPr>
          <p:cNvPr id="7" name="Shape 5"/>
          <p:cNvSpPr/>
          <p:nvPr/>
        </p:nvSpPr>
        <p:spPr>
          <a:xfrm>
            <a:off x="594360" y="1280160"/>
            <a:ext cx="54864" cy="1737360"/>
          </a:xfrm>
          <a:prstGeom prst="rect">
            <a:avLst/>
          </a:prstGeom>
          <a:solidFill>
            <a:srgbClr val="A78BFA"/>
          </a:solidFill>
          <a:ln w="12700">
            <a:solidFill>
              <a:srgbClr val="A78BFA"/>
            </a:solidFill>
            <a:prstDash val="solid"/>
          </a:ln>
        </p:spPr>
      </p:sp>
      <p:sp>
        <p:nvSpPr>
          <p:cNvPr id="8" name="Text 6"/>
          <p:cNvSpPr/>
          <p:nvPr/>
        </p:nvSpPr>
        <p:spPr>
          <a:xfrm>
            <a:off x="795528" y="1435608"/>
            <a:ext cx="3154680" cy="292608"/>
          </a:xfrm>
          <a:prstGeom prst="rect">
            <a:avLst/>
          </a:prstGeom>
          <a:noFill/>
          <a:ln/>
        </p:spPr>
        <p:txBody>
          <a:bodyPr wrap="square" lIns="0" tIns="0" rIns="0" bIns="0" rtlCol="0" anchor="ctr"/>
          <a:lstStyle/>
          <a:p>
            <a:pPr indent="0" marL="0">
              <a:buNone/>
            </a:pPr>
            <a:r>
              <a:rPr lang="en-US" sz="1500" b="1" dirty="0">
                <a:solidFill>
                  <a:srgbClr val="F7FAFC"/>
                </a:solidFill>
              </a:rPr>
              <a:t>Deterministic inputs</a:t>
            </a:r>
            <a:endParaRPr lang="en-US" sz="1500" dirty="0"/>
          </a:p>
        </p:txBody>
      </p:sp>
      <p:sp>
        <p:nvSpPr>
          <p:cNvPr id="9" name="Text 7"/>
          <p:cNvSpPr/>
          <p:nvPr/>
        </p:nvSpPr>
        <p:spPr>
          <a:xfrm>
            <a:off x="795528" y="1847088"/>
            <a:ext cx="3108960" cy="1051560"/>
          </a:xfrm>
          <a:prstGeom prst="rect">
            <a:avLst/>
          </a:prstGeom>
          <a:noFill/>
          <a:ln/>
        </p:spPr>
        <p:txBody>
          <a:bodyPr wrap="square" lIns="254" tIns="254" rIns="254" bIns="254" rtlCol="0" anchor="t">
            <a:normAutofit/>
          </a:bodyPr>
          <a:lstStyle/>
          <a:p>
            <a:pPr indent="0" marL="0">
              <a:buNone/>
            </a:pPr>
            <a:r>
              <a:rPr lang="en-US" sz="1130" dirty="0">
                <a:solidFill>
                  <a:srgbClr val="A9B4C7"/>
                </a:solidFill>
              </a:rPr>
              <a:t>Exact source SHA, canonical build target and revisioned runtime configuration.</a:t>
            </a:r>
            <a:endParaRPr lang="en-US" sz="1130" dirty="0"/>
          </a:p>
        </p:txBody>
      </p:sp>
      <p:sp>
        <p:nvSpPr>
          <p:cNvPr id="10" name="Shape 8"/>
          <p:cNvSpPr/>
          <p:nvPr/>
        </p:nvSpPr>
        <p:spPr>
          <a:xfrm>
            <a:off x="4434840" y="1280160"/>
            <a:ext cx="3474720" cy="1737360"/>
          </a:xfrm>
          <a:prstGeom prst="roundRect">
            <a:avLst>
              <a:gd name="adj" fmla="val 3158"/>
            </a:avLst>
          </a:prstGeom>
          <a:solidFill>
            <a:srgbClr val="121A2D"/>
          </a:solidFill>
          <a:ln w="12700">
            <a:solidFill>
              <a:srgbClr val="2A3853"/>
            </a:solidFill>
            <a:prstDash val="solid"/>
          </a:ln>
        </p:spPr>
      </p:sp>
      <p:sp>
        <p:nvSpPr>
          <p:cNvPr id="11" name="Shape 9"/>
          <p:cNvSpPr/>
          <p:nvPr/>
        </p:nvSpPr>
        <p:spPr>
          <a:xfrm>
            <a:off x="4434840" y="1280160"/>
            <a:ext cx="54864" cy="1737360"/>
          </a:xfrm>
          <a:prstGeom prst="rect">
            <a:avLst/>
          </a:prstGeom>
          <a:solidFill>
            <a:srgbClr val="F59E0B"/>
          </a:solidFill>
          <a:ln w="12700">
            <a:solidFill>
              <a:srgbClr val="F59E0B"/>
            </a:solidFill>
            <a:prstDash val="solid"/>
          </a:ln>
        </p:spPr>
      </p:sp>
      <p:sp>
        <p:nvSpPr>
          <p:cNvPr id="12" name="Text 10"/>
          <p:cNvSpPr/>
          <p:nvPr/>
        </p:nvSpPr>
        <p:spPr>
          <a:xfrm>
            <a:off x="4636008" y="1435608"/>
            <a:ext cx="3154680" cy="292608"/>
          </a:xfrm>
          <a:prstGeom prst="rect">
            <a:avLst/>
          </a:prstGeom>
          <a:noFill/>
          <a:ln/>
        </p:spPr>
        <p:txBody>
          <a:bodyPr wrap="square" lIns="0" tIns="0" rIns="0" bIns="0" rtlCol="0" anchor="ctr"/>
          <a:lstStyle/>
          <a:p>
            <a:pPr indent="0" marL="0">
              <a:buNone/>
            </a:pPr>
            <a:r>
              <a:rPr lang="en-US" sz="1500" b="1" dirty="0">
                <a:solidFill>
                  <a:srgbClr val="F7FAFC"/>
                </a:solidFill>
              </a:rPr>
              <a:t>Single authorities</a:t>
            </a:r>
            <a:endParaRPr lang="en-US" sz="1500" dirty="0"/>
          </a:p>
        </p:txBody>
      </p:sp>
      <p:sp>
        <p:nvSpPr>
          <p:cNvPr id="13" name="Text 11"/>
          <p:cNvSpPr/>
          <p:nvPr/>
        </p:nvSpPr>
        <p:spPr>
          <a:xfrm>
            <a:off x="4636008" y="1847088"/>
            <a:ext cx="3108960" cy="1051560"/>
          </a:xfrm>
          <a:prstGeom prst="rect">
            <a:avLst/>
          </a:prstGeom>
          <a:noFill/>
          <a:ln/>
        </p:spPr>
        <p:txBody>
          <a:bodyPr wrap="square" lIns="254" tIns="254" rIns="254" bIns="254" rtlCol="0" anchor="t">
            <a:normAutofit/>
          </a:bodyPr>
          <a:lstStyle/>
          <a:p>
            <a:pPr indent="0" marL="0">
              <a:buNone/>
            </a:pPr>
            <a:r>
              <a:rPr lang="en-US" sz="1130" dirty="0">
                <a:solidFill>
                  <a:srgbClr val="A9B4C7"/>
                </a:solidFill>
              </a:rPr>
              <a:t>Build system owns image creation; Terraform owns project infrastructure; ECS owns runtime.</a:t>
            </a:r>
            <a:endParaRPr lang="en-US" sz="1130" dirty="0"/>
          </a:p>
        </p:txBody>
      </p:sp>
      <p:sp>
        <p:nvSpPr>
          <p:cNvPr id="14" name="Shape 12"/>
          <p:cNvSpPr/>
          <p:nvPr/>
        </p:nvSpPr>
        <p:spPr>
          <a:xfrm>
            <a:off x="8275320" y="1280160"/>
            <a:ext cx="3474720" cy="1737360"/>
          </a:xfrm>
          <a:prstGeom prst="roundRect">
            <a:avLst>
              <a:gd name="adj" fmla="val 3158"/>
            </a:avLst>
          </a:prstGeom>
          <a:solidFill>
            <a:srgbClr val="121A2D"/>
          </a:solidFill>
          <a:ln w="12700">
            <a:solidFill>
              <a:srgbClr val="2A3853"/>
            </a:solidFill>
            <a:prstDash val="solid"/>
          </a:ln>
        </p:spPr>
      </p:sp>
      <p:sp>
        <p:nvSpPr>
          <p:cNvPr id="15" name="Shape 13"/>
          <p:cNvSpPr/>
          <p:nvPr/>
        </p:nvSpPr>
        <p:spPr>
          <a:xfrm>
            <a:off x="8275320" y="1280160"/>
            <a:ext cx="54864" cy="1737360"/>
          </a:xfrm>
          <a:prstGeom prst="rect">
            <a:avLst/>
          </a:prstGeom>
          <a:solidFill>
            <a:srgbClr val="38BDF8"/>
          </a:solidFill>
          <a:ln w="12700">
            <a:solidFill>
              <a:srgbClr val="38BDF8"/>
            </a:solidFill>
            <a:prstDash val="solid"/>
          </a:ln>
        </p:spPr>
      </p:sp>
      <p:sp>
        <p:nvSpPr>
          <p:cNvPr id="16" name="Text 14"/>
          <p:cNvSpPr/>
          <p:nvPr/>
        </p:nvSpPr>
        <p:spPr>
          <a:xfrm>
            <a:off x="8476488" y="1435608"/>
            <a:ext cx="3154680" cy="292608"/>
          </a:xfrm>
          <a:prstGeom prst="rect">
            <a:avLst/>
          </a:prstGeom>
          <a:noFill/>
          <a:ln/>
        </p:spPr>
        <p:txBody>
          <a:bodyPr wrap="square" lIns="0" tIns="0" rIns="0" bIns="0" rtlCol="0" anchor="ctr"/>
          <a:lstStyle/>
          <a:p>
            <a:pPr indent="0" marL="0">
              <a:buNone/>
            </a:pPr>
            <a:r>
              <a:rPr lang="en-US" sz="1500" b="1" dirty="0">
                <a:solidFill>
                  <a:srgbClr val="F7FAFC"/>
                </a:solidFill>
              </a:rPr>
              <a:t>Preflight validation</a:t>
            </a:r>
            <a:endParaRPr lang="en-US" sz="1500" dirty="0"/>
          </a:p>
        </p:txBody>
      </p:sp>
      <p:sp>
        <p:nvSpPr>
          <p:cNvPr id="17" name="Text 15"/>
          <p:cNvSpPr/>
          <p:nvPr/>
        </p:nvSpPr>
        <p:spPr>
          <a:xfrm>
            <a:off x="8476488" y="1847088"/>
            <a:ext cx="3108960" cy="1051560"/>
          </a:xfrm>
          <a:prstGeom prst="rect">
            <a:avLst/>
          </a:prstGeom>
          <a:noFill/>
          <a:ln/>
        </p:spPr>
        <p:txBody>
          <a:bodyPr wrap="square" lIns="254" tIns="254" rIns="254" bIns="254" rtlCol="0" anchor="t">
            <a:normAutofit/>
          </a:bodyPr>
          <a:lstStyle/>
          <a:p>
            <a:pPr indent="0" marL="0">
              <a:buNone/>
            </a:pPr>
            <a:r>
              <a:rPr lang="en-US" sz="1130" dirty="0">
                <a:solidFill>
                  <a:srgbClr val="A9B4C7"/>
                </a:solidFill>
              </a:rPr>
              <a:t>Credentials, capabilities, state, configuration and runtime requirements are checked before critical operations.</a:t>
            </a:r>
            <a:endParaRPr lang="en-US" sz="1130" dirty="0"/>
          </a:p>
        </p:txBody>
      </p:sp>
      <p:sp>
        <p:nvSpPr>
          <p:cNvPr id="18" name="Shape 16"/>
          <p:cNvSpPr/>
          <p:nvPr/>
        </p:nvSpPr>
        <p:spPr>
          <a:xfrm>
            <a:off x="594360" y="3474720"/>
            <a:ext cx="3474720" cy="1737360"/>
          </a:xfrm>
          <a:prstGeom prst="roundRect">
            <a:avLst>
              <a:gd name="adj" fmla="val 3158"/>
            </a:avLst>
          </a:prstGeom>
          <a:solidFill>
            <a:srgbClr val="121A2D"/>
          </a:solidFill>
          <a:ln w="12700">
            <a:solidFill>
              <a:srgbClr val="2A3853"/>
            </a:solidFill>
            <a:prstDash val="solid"/>
          </a:ln>
        </p:spPr>
      </p:sp>
      <p:sp>
        <p:nvSpPr>
          <p:cNvPr id="19" name="Shape 17"/>
          <p:cNvSpPr/>
          <p:nvPr/>
        </p:nvSpPr>
        <p:spPr>
          <a:xfrm>
            <a:off x="594360" y="3474720"/>
            <a:ext cx="54864" cy="1737360"/>
          </a:xfrm>
          <a:prstGeom prst="rect">
            <a:avLst/>
          </a:prstGeom>
          <a:solidFill>
            <a:srgbClr val="22C55E"/>
          </a:solidFill>
          <a:ln w="12700">
            <a:solidFill>
              <a:srgbClr val="22C55E"/>
            </a:solidFill>
            <a:prstDash val="solid"/>
          </a:ln>
        </p:spPr>
      </p:sp>
      <p:sp>
        <p:nvSpPr>
          <p:cNvPr id="20" name="Text 18"/>
          <p:cNvSpPr/>
          <p:nvPr/>
        </p:nvSpPr>
        <p:spPr>
          <a:xfrm>
            <a:off x="795528" y="3630168"/>
            <a:ext cx="3154680" cy="292608"/>
          </a:xfrm>
          <a:prstGeom prst="rect">
            <a:avLst/>
          </a:prstGeom>
          <a:noFill/>
          <a:ln/>
        </p:spPr>
        <p:txBody>
          <a:bodyPr wrap="square" lIns="0" tIns="0" rIns="0" bIns="0" rtlCol="0" anchor="ctr"/>
          <a:lstStyle/>
          <a:p>
            <a:pPr indent="0" marL="0">
              <a:buNone/>
            </a:pPr>
            <a:r>
              <a:rPr lang="en-US" sz="1500" b="1" dirty="0">
                <a:solidFill>
                  <a:srgbClr val="F7FAFC"/>
                </a:solidFill>
              </a:rPr>
              <a:t>Post-deploy verification</a:t>
            </a:r>
            <a:endParaRPr lang="en-US" sz="1500" dirty="0"/>
          </a:p>
        </p:txBody>
      </p:sp>
      <p:sp>
        <p:nvSpPr>
          <p:cNvPr id="21" name="Text 19"/>
          <p:cNvSpPr/>
          <p:nvPr/>
        </p:nvSpPr>
        <p:spPr>
          <a:xfrm>
            <a:off x="795528" y="4041648"/>
            <a:ext cx="3108960" cy="1051560"/>
          </a:xfrm>
          <a:prstGeom prst="rect">
            <a:avLst/>
          </a:prstGeom>
          <a:noFill/>
          <a:ln/>
        </p:spPr>
        <p:txBody>
          <a:bodyPr wrap="square" lIns="254" tIns="254" rIns="254" bIns="254" rtlCol="0" anchor="t">
            <a:normAutofit/>
          </a:bodyPr>
          <a:lstStyle/>
          <a:p>
            <a:pPr indent="0" marL="0">
              <a:buNone/>
            </a:pPr>
            <a:r>
              <a:rPr lang="en-US" sz="1130" dirty="0">
                <a:solidFill>
                  <a:srgbClr val="A9B4C7"/>
                </a:solidFill>
              </a:rPr>
              <a:t>A successful API call is not enough; runtime health is verified before considering the application live.</a:t>
            </a:r>
            <a:endParaRPr lang="en-US" sz="1130" dirty="0"/>
          </a:p>
        </p:txBody>
      </p:sp>
      <p:sp>
        <p:nvSpPr>
          <p:cNvPr id="22" name="Shape 20"/>
          <p:cNvSpPr/>
          <p:nvPr/>
        </p:nvSpPr>
        <p:spPr>
          <a:xfrm>
            <a:off x="4434840" y="3474720"/>
            <a:ext cx="3474720" cy="1737360"/>
          </a:xfrm>
          <a:prstGeom prst="roundRect">
            <a:avLst>
              <a:gd name="adj" fmla="val 3158"/>
            </a:avLst>
          </a:prstGeom>
          <a:solidFill>
            <a:srgbClr val="121A2D"/>
          </a:solidFill>
          <a:ln w="12700">
            <a:solidFill>
              <a:srgbClr val="2A3853"/>
            </a:solidFill>
            <a:prstDash val="solid"/>
          </a:ln>
        </p:spPr>
      </p:sp>
      <p:sp>
        <p:nvSpPr>
          <p:cNvPr id="23" name="Shape 21"/>
          <p:cNvSpPr/>
          <p:nvPr/>
        </p:nvSpPr>
        <p:spPr>
          <a:xfrm>
            <a:off x="4434840" y="3474720"/>
            <a:ext cx="54864" cy="1737360"/>
          </a:xfrm>
          <a:prstGeom prst="rect">
            <a:avLst/>
          </a:prstGeom>
          <a:solidFill>
            <a:srgbClr val="EF4444"/>
          </a:solidFill>
          <a:ln w="12700">
            <a:solidFill>
              <a:srgbClr val="EF4444"/>
            </a:solidFill>
            <a:prstDash val="solid"/>
          </a:ln>
        </p:spPr>
      </p:sp>
      <p:sp>
        <p:nvSpPr>
          <p:cNvPr id="24" name="Text 22"/>
          <p:cNvSpPr/>
          <p:nvPr/>
        </p:nvSpPr>
        <p:spPr>
          <a:xfrm>
            <a:off x="4636008" y="3630168"/>
            <a:ext cx="3154680" cy="292608"/>
          </a:xfrm>
          <a:prstGeom prst="rect">
            <a:avLst/>
          </a:prstGeom>
          <a:noFill/>
          <a:ln/>
        </p:spPr>
        <p:txBody>
          <a:bodyPr wrap="square" lIns="0" tIns="0" rIns="0" bIns="0" rtlCol="0" anchor="ctr"/>
          <a:lstStyle/>
          <a:p>
            <a:pPr indent="0" marL="0">
              <a:buNone/>
            </a:pPr>
            <a:r>
              <a:rPr lang="en-US" sz="1500" b="1" dirty="0">
                <a:solidFill>
                  <a:srgbClr val="F7FAFC"/>
                </a:solidFill>
              </a:rPr>
              <a:t>Fail-closed behavior</a:t>
            </a:r>
            <a:endParaRPr lang="en-US" sz="1500" dirty="0"/>
          </a:p>
        </p:txBody>
      </p:sp>
      <p:sp>
        <p:nvSpPr>
          <p:cNvPr id="25" name="Text 23"/>
          <p:cNvSpPr/>
          <p:nvPr/>
        </p:nvSpPr>
        <p:spPr>
          <a:xfrm>
            <a:off x="4636008" y="4041648"/>
            <a:ext cx="3108960" cy="1051560"/>
          </a:xfrm>
          <a:prstGeom prst="rect">
            <a:avLst/>
          </a:prstGeom>
          <a:noFill/>
          <a:ln/>
        </p:spPr>
        <p:txBody>
          <a:bodyPr wrap="square" lIns="254" tIns="254" rIns="254" bIns="254" rtlCol="0" anchor="t">
            <a:normAutofit/>
          </a:bodyPr>
          <a:lstStyle/>
          <a:p>
            <a:pPr indent="0" marL="0">
              <a:buNone/>
            </a:pPr>
            <a:r>
              <a:rPr lang="en-US" sz="1130" dirty="0">
                <a:solidFill>
                  <a:srgbClr val="A9B4C7"/>
                </a:solidFill>
              </a:rPr>
              <a:t>Ambiguous failures do not silently switch to unrelated execution paths.</a:t>
            </a:r>
            <a:endParaRPr lang="en-US" sz="1130" dirty="0"/>
          </a:p>
        </p:txBody>
      </p:sp>
      <p:sp>
        <p:nvSpPr>
          <p:cNvPr id="26" name="Shape 24"/>
          <p:cNvSpPr/>
          <p:nvPr/>
        </p:nvSpPr>
        <p:spPr>
          <a:xfrm>
            <a:off x="8275320" y="3474720"/>
            <a:ext cx="3474720" cy="1737360"/>
          </a:xfrm>
          <a:prstGeom prst="roundRect">
            <a:avLst>
              <a:gd name="adj" fmla="val 3158"/>
            </a:avLst>
          </a:prstGeom>
          <a:solidFill>
            <a:srgbClr val="121A2D"/>
          </a:solidFill>
          <a:ln w="12700">
            <a:solidFill>
              <a:srgbClr val="2A3853"/>
            </a:solidFill>
            <a:prstDash val="solid"/>
          </a:ln>
        </p:spPr>
      </p:sp>
      <p:sp>
        <p:nvSpPr>
          <p:cNvPr id="27" name="Shape 25"/>
          <p:cNvSpPr/>
          <p:nvPr/>
        </p:nvSpPr>
        <p:spPr>
          <a:xfrm>
            <a:off x="8275320" y="3474720"/>
            <a:ext cx="54864" cy="1737360"/>
          </a:xfrm>
          <a:prstGeom prst="rect">
            <a:avLst/>
          </a:prstGeom>
          <a:solidFill>
            <a:srgbClr val="06B6D4"/>
          </a:solidFill>
          <a:ln w="12700">
            <a:solidFill>
              <a:srgbClr val="06B6D4"/>
            </a:solidFill>
            <a:prstDash val="solid"/>
          </a:ln>
        </p:spPr>
      </p:sp>
      <p:sp>
        <p:nvSpPr>
          <p:cNvPr id="28" name="Text 26"/>
          <p:cNvSpPr/>
          <p:nvPr/>
        </p:nvSpPr>
        <p:spPr>
          <a:xfrm>
            <a:off x="8476488" y="3630168"/>
            <a:ext cx="3154680" cy="292608"/>
          </a:xfrm>
          <a:prstGeom prst="rect">
            <a:avLst/>
          </a:prstGeom>
          <a:noFill/>
          <a:ln/>
        </p:spPr>
        <p:txBody>
          <a:bodyPr wrap="square" lIns="0" tIns="0" rIns="0" bIns="0" rtlCol="0" anchor="ctr"/>
          <a:lstStyle/>
          <a:p>
            <a:pPr indent="0" marL="0">
              <a:buNone/>
            </a:pPr>
            <a:r>
              <a:rPr lang="en-US" sz="1500" b="1" dirty="0">
                <a:solidFill>
                  <a:srgbClr val="F7FAFC"/>
                </a:solidFill>
              </a:rPr>
              <a:t>Recovery &amp; cleanup</a:t>
            </a:r>
            <a:endParaRPr lang="en-US" sz="1500" dirty="0"/>
          </a:p>
        </p:txBody>
      </p:sp>
      <p:sp>
        <p:nvSpPr>
          <p:cNvPr id="29" name="Text 27"/>
          <p:cNvSpPr/>
          <p:nvPr/>
        </p:nvSpPr>
        <p:spPr>
          <a:xfrm>
            <a:off x="8476488" y="4041648"/>
            <a:ext cx="3108960" cy="1051560"/>
          </a:xfrm>
          <a:prstGeom prst="rect">
            <a:avLst/>
          </a:prstGeom>
          <a:noFill/>
          <a:ln/>
        </p:spPr>
        <p:txBody>
          <a:bodyPr wrap="square" lIns="254" tIns="254" rIns="254" bIns="254" rtlCol="0" anchor="t">
            <a:normAutofit/>
          </a:bodyPr>
          <a:lstStyle/>
          <a:p>
            <a:pPr indent="0" marL="0">
              <a:buNone/>
            </a:pPr>
            <a:r>
              <a:rPr lang="en-US" sz="1130" dirty="0">
                <a:solidFill>
                  <a:srgbClr val="A9B4C7"/>
                </a:solidFill>
              </a:rPr>
              <a:t>Historical release identities and Terraform lifecycle support recovery and destruction.</a:t>
            </a:r>
            <a:endParaRPr lang="en-US" sz="1130" dirty="0"/>
          </a:p>
        </p:txBody>
      </p:sp>
      <p:sp>
        <p:nvSpPr>
          <p:cNvPr id="25" name="Slide Number Placeholder 0"/>
          <p:cNvSpPr>
            <a:spLocks noGrp="1"/>
          </p:cNvSpPr>
          <p:nvPr>
            <p:ph type="sldNum" sz="quarter" idx="4294967295"/>
          </p:nvPr>
        </p:nvSpPr>
        <p:spPr>
          <a:xfrm>
            <a:off x="1138428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7C8AA5"/>
                </a:solidFill>
                <a:latin typeface="Aptos"/>
                <a:ea typeface="Aptos"/>
                <a:cs typeface="Aptos"/>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02920" y="320040"/>
            <a:ext cx="11064240" cy="502920"/>
          </a:xfrm>
          <a:prstGeom prst="rect">
            <a:avLst/>
          </a:prstGeom>
          <a:noFill/>
          <a:ln/>
        </p:spPr>
        <p:txBody>
          <a:bodyPr wrap="square" lIns="0" tIns="0" rIns="0" bIns="0" rtlCol="0" anchor="ctr"/>
          <a:lstStyle/>
          <a:p>
            <a:pPr indent="0" marL="0">
              <a:buNone/>
            </a:pPr>
            <a:r>
              <a:rPr lang="en-US" sz="2800" b="1" dirty="0">
                <a:solidFill>
                  <a:srgbClr val="F7FAFC"/>
                </a:solidFill>
                <a:latin typeface="Aptos Display" pitchFamily="34" charset="0"/>
                <a:ea typeface="Aptos Display" pitchFamily="34" charset="-122"/>
                <a:cs typeface="Aptos Display" pitchFamily="34" charset="-120"/>
              </a:rPr>
              <a:t>Live demonstration plan</a:t>
            </a:r>
            <a:endParaRPr lang="en-US" sz="2800" dirty="0"/>
          </a:p>
        </p:txBody>
      </p:sp>
      <p:sp>
        <p:nvSpPr>
          <p:cNvPr id="3" name="Text 1"/>
          <p:cNvSpPr/>
          <p:nvPr/>
        </p:nvSpPr>
        <p:spPr>
          <a:xfrm>
            <a:off x="521208" y="868680"/>
            <a:ext cx="10972800" cy="310896"/>
          </a:xfrm>
          <a:prstGeom prst="rect">
            <a:avLst/>
          </a:prstGeom>
          <a:noFill/>
          <a:ln/>
        </p:spPr>
        <p:txBody>
          <a:bodyPr wrap="square" lIns="0" tIns="0" rIns="0" bIns="0" rtlCol="0" anchor="ctr"/>
          <a:lstStyle/>
          <a:p>
            <a:pPr indent="0" marL="0">
              <a:buNone/>
            </a:pPr>
            <a:r>
              <a:rPr lang="en-US" sz="1250" dirty="0">
                <a:solidFill>
                  <a:srgbClr val="A9B4C7"/>
                </a:solidFill>
              </a:rPr>
              <a:t>Show the implemented deployment path with observable evidence</a:t>
            </a:r>
            <a:endParaRPr lang="en-US" sz="1250" dirty="0"/>
          </a:p>
        </p:txBody>
      </p:sp>
      <p:sp>
        <p:nvSpPr>
          <p:cNvPr id="4" name="Shape 2"/>
          <p:cNvSpPr/>
          <p:nvPr/>
        </p:nvSpPr>
        <p:spPr>
          <a:xfrm>
            <a:off x="10469880" y="338328"/>
            <a:ext cx="1078992" cy="274320"/>
          </a:xfrm>
          <a:prstGeom prst="roundRect">
            <a:avLst>
              <a:gd name="adj" fmla="val 16667"/>
            </a:avLst>
          </a:prstGeom>
          <a:solidFill>
            <a:srgbClr val="F59E0B">
              <a:alpha val="20000"/>
            </a:srgbClr>
          </a:solidFill>
          <a:ln w="12700">
            <a:solidFill>
              <a:srgbClr val="F59E0B">
                <a:alpha val="70000"/>
              </a:srgbClr>
            </a:solidFill>
            <a:prstDash val="solid"/>
          </a:ln>
        </p:spPr>
      </p:sp>
      <p:sp>
        <p:nvSpPr>
          <p:cNvPr id="5" name="Text 3"/>
          <p:cNvSpPr/>
          <p:nvPr/>
        </p:nvSpPr>
        <p:spPr>
          <a:xfrm>
            <a:off x="10543032" y="388620"/>
            <a:ext cx="932688" cy="155448"/>
          </a:xfrm>
          <a:prstGeom prst="rect">
            <a:avLst/>
          </a:prstGeom>
          <a:noFill/>
          <a:ln/>
        </p:spPr>
        <p:txBody>
          <a:bodyPr wrap="square" lIns="0" tIns="0" rIns="0" bIns="0" rtlCol="0" anchor="ctr"/>
          <a:lstStyle/>
          <a:p>
            <a:pPr algn="ctr" indent="0" marL="0">
              <a:buNone/>
            </a:pPr>
            <a:r>
              <a:rPr lang="en-US" sz="900" b="1" dirty="0">
                <a:solidFill>
                  <a:srgbClr val="F59E0B"/>
                </a:solidFill>
              </a:rPr>
              <a:t>HASSAN</a:t>
            </a:r>
            <a:endParaRPr lang="en-US" sz="900" dirty="0"/>
          </a:p>
        </p:txBody>
      </p:sp>
      <p:sp>
        <p:nvSpPr>
          <p:cNvPr id="6" name="Shape 4"/>
          <p:cNvSpPr/>
          <p:nvPr/>
        </p:nvSpPr>
        <p:spPr>
          <a:xfrm>
            <a:off x="685800" y="1325880"/>
            <a:ext cx="566928" cy="566928"/>
          </a:xfrm>
          <a:prstGeom prst="ellipse">
            <a:avLst/>
          </a:prstGeom>
          <a:solidFill>
            <a:srgbClr val="A78BFA"/>
          </a:solidFill>
          <a:ln w="12700">
            <a:solidFill>
              <a:srgbClr val="A78BFA"/>
            </a:solidFill>
            <a:prstDash val="solid"/>
          </a:ln>
        </p:spPr>
      </p:sp>
      <p:sp>
        <p:nvSpPr>
          <p:cNvPr id="7" name="Text 5"/>
          <p:cNvSpPr/>
          <p:nvPr/>
        </p:nvSpPr>
        <p:spPr>
          <a:xfrm>
            <a:off x="685800" y="1472184"/>
            <a:ext cx="566928" cy="182880"/>
          </a:xfrm>
          <a:prstGeom prst="rect">
            <a:avLst/>
          </a:prstGeom>
          <a:noFill/>
          <a:ln/>
        </p:spPr>
        <p:txBody>
          <a:bodyPr wrap="square" lIns="0" tIns="0" rIns="0" bIns="0" rtlCol="0" anchor="ctr"/>
          <a:lstStyle/>
          <a:p>
            <a:pPr algn="ctr" indent="0" marL="0">
              <a:buNone/>
            </a:pPr>
            <a:r>
              <a:rPr lang="en-US" sz="1100" b="1" dirty="0">
                <a:solidFill>
                  <a:srgbClr val="0B1020"/>
                </a:solidFill>
              </a:rPr>
              <a:t>1</a:t>
            </a:r>
            <a:endParaRPr lang="en-US" sz="1100" dirty="0"/>
          </a:p>
        </p:txBody>
      </p:sp>
      <p:sp>
        <p:nvSpPr>
          <p:cNvPr id="8" name="Text 6"/>
          <p:cNvSpPr/>
          <p:nvPr/>
        </p:nvSpPr>
        <p:spPr>
          <a:xfrm>
            <a:off x="1435608" y="1344168"/>
            <a:ext cx="2651760" cy="292608"/>
          </a:xfrm>
          <a:prstGeom prst="rect">
            <a:avLst/>
          </a:prstGeom>
          <a:noFill/>
          <a:ln/>
        </p:spPr>
        <p:txBody>
          <a:bodyPr wrap="square" lIns="0" tIns="0" rIns="0" bIns="0" rtlCol="0" anchor="ctr"/>
          <a:lstStyle/>
          <a:p>
            <a:pPr indent="0" marL="0">
              <a:buNone/>
            </a:pPr>
            <a:r>
              <a:rPr lang="en-US" sz="1500" b="1" dirty="0">
                <a:solidFill>
                  <a:srgbClr val="F7FAFC"/>
                </a:solidFill>
              </a:rPr>
              <a:t>Open project</a:t>
            </a:r>
            <a:endParaRPr lang="en-US" sz="1500" dirty="0"/>
          </a:p>
        </p:txBody>
      </p:sp>
      <p:sp>
        <p:nvSpPr>
          <p:cNvPr id="9" name="Text 7"/>
          <p:cNvSpPr/>
          <p:nvPr/>
        </p:nvSpPr>
        <p:spPr>
          <a:xfrm>
            <a:off x="1435608" y="1783080"/>
            <a:ext cx="2606040" cy="566928"/>
          </a:xfrm>
          <a:prstGeom prst="rect">
            <a:avLst/>
          </a:prstGeom>
          <a:noFill/>
          <a:ln/>
        </p:spPr>
        <p:txBody>
          <a:bodyPr wrap="square" lIns="0" tIns="0" rIns="0" bIns="0" rtlCol="0" anchor="ctr">
            <a:normAutofit/>
          </a:bodyPr>
          <a:lstStyle/>
          <a:p>
            <a:pPr indent="0" marL="0">
              <a:buNone/>
            </a:pPr>
            <a:r>
              <a:rPr lang="en-US" sz="1100" dirty="0">
                <a:solidFill>
                  <a:srgbClr val="A9B4C7"/>
                </a:solidFill>
              </a:rPr>
              <a:t>Show repository/service configuration.</a:t>
            </a:r>
            <a:endParaRPr lang="en-US" sz="1100" dirty="0"/>
          </a:p>
        </p:txBody>
      </p:sp>
      <p:sp>
        <p:nvSpPr>
          <p:cNvPr id="10" name="Shape 8"/>
          <p:cNvSpPr/>
          <p:nvPr/>
        </p:nvSpPr>
        <p:spPr>
          <a:xfrm>
            <a:off x="4480560" y="1325880"/>
            <a:ext cx="566928" cy="566928"/>
          </a:xfrm>
          <a:prstGeom prst="ellipse">
            <a:avLst/>
          </a:prstGeom>
          <a:solidFill>
            <a:srgbClr val="F59E0B"/>
          </a:solidFill>
          <a:ln w="12700">
            <a:solidFill>
              <a:srgbClr val="F59E0B"/>
            </a:solidFill>
            <a:prstDash val="solid"/>
          </a:ln>
        </p:spPr>
      </p:sp>
      <p:sp>
        <p:nvSpPr>
          <p:cNvPr id="11" name="Text 9"/>
          <p:cNvSpPr/>
          <p:nvPr/>
        </p:nvSpPr>
        <p:spPr>
          <a:xfrm>
            <a:off x="4480560" y="1472184"/>
            <a:ext cx="566928" cy="182880"/>
          </a:xfrm>
          <a:prstGeom prst="rect">
            <a:avLst/>
          </a:prstGeom>
          <a:noFill/>
          <a:ln/>
        </p:spPr>
        <p:txBody>
          <a:bodyPr wrap="square" lIns="0" tIns="0" rIns="0" bIns="0" rtlCol="0" anchor="ctr"/>
          <a:lstStyle/>
          <a:p>
            <a:pPr algn="ctr" indent="0" marL="0">
              <a:buNone/>
            </a:pPr>
            <a:r>
              <a:rPr lang="en-US" sz="1100" b="1" dirty="0">
                <a:solidFill>
                  <a:srgbClr val="0B1020"/>
                </a:solidFill>
              </a:rPr>
              <a:t>2</a:t>
            </a:r>
            <a:endParaRPr lang="en-US" sz="1100" dirty="0"/>
          </a:p>
        </p:txBody>
      </p:sp>
      <p:sp>
        <p:nvSpPr>
          <p:cNvPr id="12" name="Text 10"/>
          <p:cNvSpPr/>
          <p:nvPr/>
        </p:nvSpPr>
        <p:spPr>
          <a:xfrm>
            <a:off x="5230368" y="1344168"/>
            <a:ext cx="2651760" cy="292608"/>
          </a:xfrm>
          <a:prstGeom prst="rect">
            <a:avLst/>
          </a:prstGeom>
          <a:noFill/>
          <a:ln/>
        </p:spPr>
        <p:txBody>
          <a:bodyPr wrap="square" lIns="0" tIns="0" rIns="0" bIns="0" rtlCol="0" anchor="ctr"/>
          <a:lstStyle/>
          <a:p>
            <a:pPr indent="0" marL="0">
              <a:buNone/>
            </a:pPr>
            <a:r>
              <a:rPr lang="en-US" sz="1500" b="1" dirty="0">
                <a:solidFill>
                  <a:srgbClr val="F7FAFC"/>
                </a:solidFill>
              </a:rPr>
              <a:t>Start DEPLOY</a:t>
            </a:r>
            <a:endParaRPr lang="en-US" sz="1500" dirty="0"/>
          </a:p>
        </p:txBody>
      </p:sp>
      <p:sp>
        <p:nvSpPr>
          <p:cNvPr id="13" name="Text 11"/>
          <p:cNvSpPr/>
          <p:nvPr/>
        </p:nvSpPr>
        <p:spPr>
          <a:xfrm>
            <a:off x="5230368" y="1783080"/>
            <a:ext cx="2606040" cy="566928"/>
          </a:xfrm>
          <a:prstGeom prst="rect">
            <a:avLst/>
          </a:prstGeom>
          <a:noFill/>
          <a:ln/>
        </p:spPr>
        <p:txBody>
          <a:bodyPr wrap="square" lIns="0" tIns="0" rIns="0" bIns="0" rtlCol="0" anchor="ctr">
            <a:normAutofit/>
          </a:bodyPr>
          <a:lstStyle/>
          <a:p>
            <a:pPr indent="0" marL="0">
              <a:buNone/>
            </a:pPr>
            <a:r>
              <a:rPr lang="en-US" sz="1100" dirty="0">
                <a:solidFill>
                  <a:srgbClr val="A9B4C7"/>
                </a:solidFill>
              </a:rPr>
              <a:t>Create a real deployment operation.</a:t>
            </a:r>
            <a:endParaRPr lang="en-US" sz="1100" dirty="0"/>
          </a:p>
        </p:txBody>
      </p:sp>
      <p:sp>
        <p:nvSpPr>
          <p:cNvPr id="14" name="Shape 12"/>
          <p:cNvSpPr/>
          <p:nvPr/>
        </p:nvSpPr>
        <p:spPr>
          <a:xfrm>
            <a:off x="8275320" y="1325880"/>
            <a:ext cx="566928" cy="566928"/>
          </a:xfrm>
          <a:prstGeom prst="ellipse">
            <a:avLst/>
          </a:prstGeom>
          <a:solidFill>
            <a:srgbClr val="38BDF8"/>
          </a:solidFill>
          <a:ln w="12700">
            <a:solidFill>
              <a:srgbClr val="38BDF8"/>
            </a:solidFill>
            <a:prstDash val="solid"/>
          </a:ln>
        </p:spPr>
      </p:sp>
      <p:sp>
        <p:nvSpPr>
          <p:cNvPr id="15" name="Text 13"/>
          <p:cNvSpPr/>
          <p:nvPr/>
        </p:nvSpPr>
        <p:spPr>
          <a:xfrm>
            <a:off x="8275320" y="1472184"/>
            <a:ext cx="566928" cy="182880"/>
          </a:xfrm>
          <a:prstGeom prst="rect">
            <a:avLst/>
          </a:prstGeom>
          <a:noFill/>
          <a:ln/>
        </p:spPr>
        <p:txBody>
          <a:bodyPr wrap="square" lIns="0" tIns="0" rIns="0" bIns="0" rtlCol="0" anchor="ctr"/>
          <a:lstStyle/>
          <a:p>
            <a:pPr algn="ctr" indent="0" marL="0">
              <a:buNone/>
            </a:pPr>
            <a:r>
              <a:rPr lang="en-US" sz="1100" b="1" dirty="0">
                <a:solidFill>
                  <a:srgbClr val="0B1020"/>
                </a:solidFill>
              </a:rPr>
              <a:t>3</a:t>
            </a:r>
            <a:endParaRPr lang="en-US" sz="1100" dirty="0"/>
          </a:p>
        </p:txBody>
      </p:sp>
      <p:sp>
        <p:nvSpPr>
          <p:cNvPr id="16" name="Text 14"/>
          <p:cNvSpPr/>
          <p:nvPr/>
        </p:nvSpPr>
        <p:spPr>
          <a:xfrm>
            <a:off x="9025128" y="1344168"/>
            <a:ext cx="2651760" cy="292608"/>
          </a:xfrm>
          <a:prstGeom prst="rect">
            <a:avLst/>
          </a:prstGeom>
          <a:noFill/>
          <a:ln/>
        </p:spPr>
        <p:txBody>
          <a:bodyPr wrap="square" lIns="0" tIns="0" rIns="0" bIns="0" rtlCol="0" anchor="ctr"/>
          <a:lstStyle/>
          <a:p>
            <a:pPr indent="0" marL="0">
              <a:buNone/>
            </a:pPr>
            <a:r>
              <a:rPr lang="en-US" sz="1500" b="1" dirty="0">
                <a:solidFill>
                  <a:srgbClr val="F7FAFC"/>
                </a:solidFill>
              </a:rPr>
              <a:t>Follow pipeline</a:t>
            </a:r>
            <a:endParaRPr lang="en-US" sz="1500" dirty="0"/>
          </a:p>
        </p:txBody>
      </p:sp>
      <p:sp>
        <p:nvSpPr>
          <p:cNvPr id="17" name="Text 15"/>
          <p:cNvSpPr/>
          <p:nvPr/>
        </p:nvSpPr>
        <p:spPr>
          <a:xfrm>
            <a:off x="9025128" y="1783080"/>
            <a:ext cx="2606040" cy="566928"/>
          </a:xfrm>
          <a:prstGeom prst="rect">
            <a:avLst/>
          </a:prstGeom>
          <a:noFill/>
          <a:ln/>
        </p:spPr>
        <p:txBody>
          <a:bodyPr wrap="square" lIns="0" tIns="0" rIns="0" bIns="0" rtlCol="0" anchor="ctr">
            <a:normAutofit/>
          </a:bodyPr>
          <a:lstStyle/>
          <a:p>
            <a:pPr indent="0" marL="0">
              <a:buNone/>
            </a:pPr>
            <a:r>
              <a:rPr lang="en-US" sz="1100" dirty="0">
                <a:solidFill>
                  <a:srgbClr val="A9B4C7"/>
                </a:solidFill>
              </a:rPr>
              <a:t>Show build, scan, image and infrastructure progress.</a:t>
            </a:r>
            <a:endParaRPr lang="en-US" sz="1100" dirty="0"/>
          </a:p>
        </p:txBody>
      </p:sp>
      <p:sp>
        <p:nvSpPr>
          <p:cNvPr id="18" name="Shape 16"/>
          <p:cNvSpPr/>
          <p:nvPr/>
        </p:nvSpPr>
        <p:spPr>
          <a:xfrm>
            <a:off x="685800" y="3429000"/>
            <a:ext cx="566928" cy="566928"/>
          </a:xfrm>
          <a:prstGeom prst="ellipse">
            <a:avLst/>
          </a:prstGeom>
          <a:solidFill>
            <a:srgbClr val="22C55E"/>
          </a:solidFill>
          <a:ln w="12700">
            <a:solidFill>
              <a:srgbClr val="22C55E"/>
            </a:solidFill>
            <a:prstDash val="solid"/>
          </a:ln>
        </p:spPr>
      </p:sp>
      <p:sp>
        <p:nvSpPr>
          <p:cNvPr id="19" name="Text 17"/>
          <p:cNvSpPr/>
          <p:nvPr/>
        </p:nvSpPr>
        <p:spPr>
          <a:xfrm>
            <a:off x="685800" y="3575304"/>
            <a:ext cx="566928" cy="182880"/>
          </a:xfrm>
          <a:prstGeom prst="rect">
            <a:avLst/>
          </a:prstGeom>
          <a:noFill/>
          <a:ln/>
        </p:spPr>
        <p:txBody>
          <a:bodyPr wrap="square" lIns="0" tIns="0" rIns="0" bIns="0" rtlCol="0" anchor="ctr"/>
          <a:lstStyle/>
          <a:p>
            <a:pPr algn="ctr" indent="0" marL="0">
              <a:buNone/>
            </a:pPr>
            <a:r>
              <a:rPr lang="en-US" sz="1100" b="1" dirty="0">
                <a:solidFill>
                  <a:srgbClr val="0B1020"/>
                </a:solidFill>
              </a:rPr>
              <a:t>4</a:t>
            </a:r>
            <a:endParaRPr lang="en-US" sz="1100" dirty="0"/>
          </a:p>
        </p:txBody>
      </p:sp>
      <p:sp>
        <p:nvSpPr>
          <p:cNvPr id="20" name="Text 18"/>
          <p:cNvSpPr/>
          <p:nvPr/>
        </p:nvSpPr>
        <p:spPr>
          <a:xfrm>
            <a:off x="1435608" y="3447288"/>
            <a:ext cx="2651760" cy="292608"/>
          </a:xfrm>
          <a:prstGeom prst="rect">
            <a:avLst/>
          </a:prstGeom>
          <a:noFill/>
          <a:ln/>
        </p:spPr>
        <p:txBody>
          <a:bodyPr wrap="square" lIns="0" tIns="0" rIns="0" bIns="0" rtlCol="0" anchor="ctr"/>
          <a:lstStyle/>
          <a:p>
            <a:pPr indent="0" marL="0">
              <a:buNone/>
            </a:pPr>
            <a:r>
              <a:rPr lang="en-US" sz="1500" b="1" dirty="0">
                <a:solidFill>
                  <a:srgbClr val="F7FAFC"/>
                </a:solidFill>
              </a:rPr>
              <a:t>Open LIVE app</a:t>
            </a:r>
            <a:endParaRPr lang="en-US" sz="1500" dirty="0"/>
          </a:p>
        </p:txBody>
      </p:sp>
      <p:sp>
        <p:nvSpPr>
          <p:cNvPr id="21" name="Text 19"/>
          <p:cNvSpPr/>
          <p:nvPr/>
        </p:nvSpPr>
        <p:spPr>
          <a:xfrm>
            <a:off x="1435608" y="3886200"/>
            <a:ext cx="2606040" cy="566928"/>
          </a:xfrm>
          <a:prstGeom prst="rect">
            <a:avLst/>
          </a:prstGeom>
          <a:noFill/>
          <a:ln/>
        </p:spPr>
        <p:txBody>
          <a:bodyPr wrap="square" lIns="0" tIns="0" rIns="0" bIns="0" rtlCol="0" anchor="ctr">
            <a:normAutofit/>
          </a:bodyPr>
          <a:lstStyle/>
          <a:p>
            <a:pPr indent="0" marL="0">
              <a:buNone/>
            </a:pPr>
            <a:r>
              <a:rPr lang="en-US" sz="1100" dirty="0">
                <a:solidFill>
                  <a:srgbClr val="A9B4C7"/>
                </a:solidFill>
              </a:rPr>
              <a:t>Verify the public application endpoint.</a:t>
            </a:r>
            <a:endParaRPr lang="en-US" sz="1100" dirty="0"/>
          </a:p>
        </p:txBody>
      </p:sp>
      <p:sp>
        <p:nvSpPr>
          <p:cNvPr id="22" name="Shape 20"/>
          <p:cNvSpPr/>
          <p:nvPr/>
        </p:nvSpPr>
        <p:spPr>
          <a:xfrm>
            <a:off x="4480560" y="3429000"/>
            <a:ext cx="566928" cy="566928"/>
          </a:xfrm>
          <a:prstGeom prst="ellipse">
            <a:avLst/>
          </a:prstGeom>
          <a:solidFill>
            <a:srgbClr val="06B6D4"/>
          </a:solidFill>
          <a:ln w="12700">
            <a:solidFill>
              <a:srgbClr val="06B6D4"/>
            </a:solidFill>
            <a:prstDash val="solid"/>
          </a:ln>
        </p:spPr>
      </p:sp>
      <p:sp>
        <p:nvSpPr>
          <p:cNvPr id="23" name="Text 21"/>
          <p:cNvSpPr/>
          <p:nvPr/>
        </p:nvSpPr>
        <p:spPr>
          <a:xfrm>
            <a:off x="4480560" y="3575304"/>
            <a:ext cx="566928" cy="182880"/>
          </a:xfrm>
          <a:prstGeom prst="rect">
            <a:avLst/>
          </a:prstGeom>
          <a:noFill/>
          <a:ln/>
        </p:spPr>
        <p:txBody>
          <a:bodyPr wrap="square" lIns="0" tIns="0" rIns="0" bIns="0" rtlCol="0" anchor="ctr"/>
          <a:lstStyle/>
          <a:p>
            <a:pPr algn="ctr" indent="0" marL="0">
              <a:buNone/>
            </a:pPr>
            <a:r>
              <a:rPr lang="en-US" sz="1100" b="1" dirty="0">
                <a:solidFill>
                  <a:srgbClr val="0B1020"/>
                </a:solidFill>
              </a:rPr>
              <a:t>5</a:t>
            </a:r>
            <a:endParaRPr lang="en-US" sz="1100" dirty="0"/>
          </a:p>
        </p:txBody>
      </p:sp>
      <p:sp>
        <p:nvSpPr>
          <p:cNvPr id="24" name="Text 22"/>
          <p:cNvSpPr/>
          <p:nvPr/>
        </p:nvSpPr>
        <p:spPr>
          <a:xfrm>
            <a:off x="5230368" y="3447288"/>
            <a:ext cx="2651760" cy="292608"/>
          </a:xfrm>
          <a:prstGeom prst="rect">
            <a:avLst/>
          </a:prstGeom>
          <a:noFill/>
          <a:ln/>
        </p:spPr>
        <p:txBody>
          <a:bodyPr wrap="square" lIns="0" tIns="0" rIns="0" bIns="0" rtlCol="0" anchor="ctr"/>
          <a:lstStyle/>
          <a:p>
            <a:pPr indent="0" marL="0">
              <a:buNone/>
            </a:pPr>
            <a:r>
              <a:rPr lang="en-US" sz="1500" b="1" dirty="0">
                <a:solidFill>
                  <a:srgbClr val="F7FAFC"/>
                </a:solidFill>
              </a:rPr>
              <a:t>Show evidence</a:t>
            </a:r>
            <a:endParaRPr lang="en-US" sz="1500" dirty="0"/>
          </a:p>
        </p:txBody>
      </p:sp>
      <p:sp>
        <p:nvSpPr>
          <p:cNvPr id="25" name="Text 23"/>
          <p:cNvSpPr/>
          <p:nvPr/>
        </p:nvSpPr>
        <p:spPr>
          <a:xfrm>
            <a:off x="5230368" y="3886200"/>
            <a:ext cx="2606040" cy="566928"/>
          </a:xfrm>
          <a:prstGeom prst="rect">
            <a:avLst/>
          </a:prstGeom>
          <a:noFill/>
          <a:ln/>
        </p:spPr>
        <p:txBody>
          <a:bodyPr wrap="square" lIns="0" tIns="0" rIns="0" bIns="0" rtlCol="0" anchor="ctr">
            <a:normAutofit/>
          </a:bodyPr>
          <a:lstStyle/>
          <a:p>
            <a:pPr indent="0" marL="0">
              <a:buNone/>
            </a:pPr>
            <a:r>
              <a:rPr lang="en-US" sz="1100" dirty="0">
                <a:solidFill>
                  <a:srgbClr val="A9B4C7"/>
                </a:solidFill>
              </a:rPr>
              <a:t>Display deployment/runtime identity and health.</a:t>
            </a:r>
            <a:endParaRPr lang="en-US" sz="1100" dirty="0"/>
          </a:p>
        </p:txBody>
      </p:sp>
      <p:sp>
        <p:nvSpPr>
          <p:cNvPr id="26" name="Shape 24"/>
          <p:cNvSpPr/>
          <p:nvPr/>
        </p:nvSpPr>
        <p:spPr>
          <a:xfrm>
            <a:off x="8275320" y="3429000"/>
            <a:ext cx="566928" cy="566928"/>
          </a:xfrm>
          <a:prstGeom prst="ellipse">
            <a:avLst/>
          </a:prstGeom>
          <a:solidFill>
            <a:srgbClr val="EF4444"/>
          </a:solidFill>
          <a:ln w="12700">
            <a:solidFill>
              <a:srgbClr val="EF4444"/>
            </a:solidFill>
            <a:prstDash val="solid"/>
          </a:ln>
        </p:spPr>
      </p:sp>
      <p:sp>
        <p:nvSpPr>
          <p:cNvPr id="27" name="Text 25"/>
          <p:cNvSpPr/>
          <p:nvPr/>
        </p:nvSpPr>
        <p:spPr>
          <a:xfrm>
            <a:off x="8275320" y="3575304"/>
            <a:ext cx="566928" cy="182880"/>
          </a:xfrm>
          <a:prstGeom prst="rect">
            <a:avLst/>
          </a:prstGeom>
          <a:noFill/>
          <a:ln/>
        </p:spPr>
        <p:txBody>
          <a:bodyPr wrap="square" lIns="0" tIns="0" rIns="0" bIns="0" rtlCol="0" anchor="ctr"/>
          <a:lstStyle/>
          <a:p>
            <a:pPr algn="ctr" indent="0" marL="0">
              <a:buNone/>
            </a:pPr>
            <a:r>
              <a:rPr lang="en-US" sz="1100" b="1" dirty="0">
                <a:solidFill>
                  <a:srgbClr val="0B1020"/>
                </a:solidFill>
              </a:rPr>
              <a:t>6</a:t>
            </a:r>
            <a:endParaRPr lang="en-US" sz="1100" dirty="0"/>
          </a:p>
        </p:txBody>
      </p:sp>
      <p:sp>
        <p:nvSpPr>
          <p:cNvPr id="28" name="Text 26"/>
          <p:cNvSpPr/>
          <p:nvPr/>
        </p:nvSpPr>
        <p:spPr>
          <a:xfrm>
            <a:off x="9025128" y="3447288"/>
            <a:ext cx="2651760" cy="292608"/>
          </a:xfrm>
          <a:prstGeom prst="rect">
            <a:avLst/>
          </a:prstGeom>
          <a:noFill/>
          <a:ln/>
        </p:spPr>
        <p:txBody>
          <a:bodyPr wrap="square" lIns="0" tIns="0" rIns="0" bIns="0" rtlCol="0" anchor="ctr"/>
          <a:lstStyle/>
          <a:p>
            <a:pPr indent="0" marL="0">
              <a:buNone/>
            </a:pPr>
            <a:r>
              <a:rPr lang="en-US" sz="1500" b="1" dirty="0">
                <a:solidFill>
                  <a:srgbClr val="F7FAFC"/>
                </a:solidFill>
              </a:rPr>
              <a:t>Destroy</a:t>
            </a:r>
            <a:endParaRPr lang="en-US" sz="1500" dirty="0"/>
          </a:p>
        </p:txBody>
      </p:sp>
      <p:sp>
        <p:nvSpPr>
          <p:cNvPr id="29" name="Text 27"/>
          <p:cNvSpPr/>
          <p:nvPr/>
        </p:nvSpPr>
        <p:spPr>
          <a:xfrm>
            <a:off x="9025128" y="3886200"/>
            <a:ext cx="2606040" cy="566928"/>
          </a:xfrm>
          <a:prstGeom prst="rect">
            <a:avLst/>
          </a:prstGeom>
          <a:noFill/>
          <a:ln/>
        </p:spPr>
        <p:txBody>
          <a:bodyPr wrap="square" lIns="0" tIns="0" rIns="0" bIns="0" rtlCol="0" anchor="ctr">
            <a:normAutofit/>
          </a:bodyPr>
          <a:lstStyle/>
          <a:p>
            <a:pPr indent="0" marL="0">
              <a:buNone/>
            </a:pPr>
            <a:r>
              <a:rPr lang="en-US" sz="1100" dirty="0">
                <a:solidFill>
                  <a:srgbClr val="A9B4C7"/>
                </a:solidFill>
              </a:rPr>
              <a:t>Remove project-scoped runtime resources.</a:t>
            </a:r>
            <a:endParaRPr lang="en-US" sz="1100" dirty="0"/>
          </a:p>
        </p:txBody>
      </p:sp>
      <p:sp>
        <p:nvSpPr>
          <p:cNvPr id="30" name="Text 28"/>
          <p:cNvSpPr/>
          <p:nvPr/>
        </p:nvSpPr>
        <p:spPr>
          <a:xfrm>
            <a:off x="914400" y="5623560"/>
            <a:ext cx="10149840" cy="411480"/>
          </a:xfrm>
          <a:prstGeom prst="rect">
            <a:avLst/>
          </a:prstGeom>
          <a:noFill/>
          <a:ln/>
        </p:spPr>
        <p:txBody>
          <a:bodyPr wrap="square" lIns="0" tIns="0" rIns="0" bIns="0" rtlCol="0" anchor="ctr"/>
          <a:lstStyle/>
          <a:p>
            <a:pPr algn="ctr" indent="0" marL="0">
              <a:buNone/>
            </a:pPr>
            <a:r>
              <a:rPr lang="en-US" sz="1250" b="1" dirty="0">
                <a:solidFill>
                  <a:srgbClr val="FBBF24"/>
                </a:solidFill>
              </a:rPr>
              <a:t>Presentation rule: use a previously certified application and do not modify core infrastructure immediately before the demo.</a:t>
            </a:r>
            <a:endParaRPr lang="en-US" sz="1250" dirty="0"/>
          </a:p>
        </p:txBody>
      </p:sp>
      <p:sp>
        <p:nvSpPr>
          <p:cNvPr id="25" name="Slide Number Placeholder 0"/>
          <p:cNvSpPr>
            <a:spLocks noGrp="1"/>
          </p:cNvSpPr>
          <p:nvPr>
            <p:ph type="sldNum" sz="quarter" idx="4294967295"/>
          </p:nvPr>
        </p:nvSpPr>
        <p:spPr>
          <a:xfrm>
            <a:off x="1138428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7C8AA5"/>
                </a:solidFill>
                <a:latin typeface="Aptos"/>
                <a:ea typeface="Aptos"/>
                <a:cs typeface="Aptos"/>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02920" y="320040"/>
            <a:ext cx="11064240" cy="502920"/>
          </a:xfrm>
          <a:prstGeom prst="rect">
            <a:avLst/>
          </a:prstGeom>
          <a:noFill/>
          <a:ln/>
        </p:spPr>
        <p:txBody>
          <a:bodyPr wrap="square" lIns="0" tIns="0" rIns="0" bIns="0" rtlCol="0" anchor="ctr"/>
          <a:lstStyle/>
          <a:p>
            <a:pPr indent="0" marL="0">
              <a:buNone/>
            </a:pPr>
            <a:r>
              <a:rPr lang="en-US" sz="2800" b="1" dirty="0">
                <a:solidFill>
                  <a:srgbClr val="F7FAFC"/>
                </a:solidFill>
                <a:latin typeface="Aptos Display" pitchFamily="34" charset="0"/>
                <a:ea typeface="Aptos Display" pitchFamily="34" charset="-122"/>
                <a:cs typeface="Aptos Display" pitchFamily="34" charset="-120"/>
              </a:rPr>
              <a:t>Current boundaries and next engineering steps</a:t>
            </a:r>
            <a:endParaRPr lang="en-US" sz="2800" dirty="0"/>
          </a:p>
        </p:txBody>
      </p:sp>
      <p:sp>
        <p:nvSpPr>
          <p:cNvPr id="3" name="Text 1"/>
          <p:cNvSpPr/>
          <p:nvPr/>
        </p:nvSpPr>
        <p:spPr>
          <a:xfrm>
            <a:off x="521208" y="868680"/>
            <a:ext cx="10972800" cy="310896"/>
          </a:xfrm>
          <a:prstGeom prst="rect">
            <a:avLst/>
          </a:prstGeom>
          <a:noFill/>
          <a:ln/>
        </p:spPr>
        <p:txBody>
          <a:bodyPr wrap="square" lIns="0" tIns="0" rIns="0" bIns="0" rtlCol="0" anchor="ctr"/>
          <a:lstStyle/>
          <a:p>
            <a:pPr indent="0" marL="0">
              <a:buNone/>
            </a:pPr>
            <a:r>
              <a:rPr lang="en-US" sz="1250" dirty="0">
                <a:solidFill>
                  <a:srgbClr val="A9B4C7"/>
                </a:solidFill>
              </a:rPr>
              <a:t>A reliable platform also defines what it does not claim</a:t>
            </a:r>
            <a:endParaRPr lang="en-US" sz="1250" dirty="0"/>
          </a:p>
        </p:txBody>
      </p:sp>
      <p:sp>
        <p:nvSpPr>
          <p:cNvPr id="4" name="Shape 2"/>
          <p:cNvSpPr/>
          <p:nvPr/>
        </p:nvSpPr>
        <p:spPr>
          <a:xfrm>
            <a:off x="10469880" y="338328"/>
            <a:ext cx="1078992" cy="274320"/>
          </a:xfrm>
          <a:prstGeom prst="roundRect">
            <a:avLst>
              <a:gd name="adj" fmla="val 16667"/>
            </a:avLst>
          </a:prstGeom>
          <a:solidFill>
            <a:srgbClr val="F59E0B">
              <a:alpha val="20000"/>
            </a:srgbClr>
          </a:solidFill>
          <a:ln w="12700">
            <a:solidFill>
              <a:srgbClr val="F59E0B">
                <a:alpha val="70000"/>
              </a:srgbClr>
            </a:solidFill>
            <a:prstDash val="solid"/>
          </a:ln>
        </p:spPr>
      </p:sp>
      <p:sp>
        <p:nvSpPr>
          <p:cNvPr id="5" name="Text 3"/>
          <p:cNvSpPr/>
          <p:nvPr/>
        </p:nvSpPr>
        <p:spPr>
          <a:xfrm>
            <a:off x="10543032" y="388620"/>
            <a:ext cx="932688" cy="155448"/>
          </a:xfrm>
          <a:prstGeom prst="rect">
            <a:avLst/>
          </a:prstGeom>
          <a:noFill/>
          <a:ln/>
        </p:spPr>
        <p:txBody>
          <a:bodyPr wrap="square" lIns="0" tIns="0" rIns="0" bIns="0" rtlCol="0" anchor="ctr"/>
          <a:lstStyle/>
          <a:p>
            <a:pPr algn="ctr" indent="0" marL="0">
              <a:buNone/>
            </a:pPr>
            <a:r>
              <a:rPr lang="en-US" sz="900" b="1" dirty="0">
                <a:solidFill>
                  <a:srgbClr val="F59E0B"/>
                </a:solidFill>
              </a:rPr>
              <a:t>HASSAN</a:t>
            </a:r>
            <a:endParaRPr lang="en-US" sz="900" dirty="0"/>
          </a:p>
        </p:txBody>
      </p:sp>
      <p:sp>
        <p:nvSpPr>
          <p:cNvPr id="6" name="Shape 4"/>
          <p:cNvSpPr/>
          <p:nvPr/>
        </p:nvSpPr>
        <p:spPr>
          <a:xfrm>
            <a:off x="640080" y="1325880"/>
            <a:ext cx="5303520" cy="4297680"/>
          </a:xfrm>
          <a:prstGeom prst="roundRect">
            <a:avLst>
              <a:gd name="adj" fmla="val 1277"/>
            </a:avLst>
          </a:prstGeom>
          <a:solidFill>
            <a:srgbClr val="121A2D"/>
          </a:solidFill>
          <a:ln w="12700">
            <a:solidFill>
              <a:srgbClr val="2A3853"/>
            </a:solidFill>
            <a:prstDash val="solid"/>
          </a:ln>
        </p:spPr>
      </p:sp>
      <p:sp>
        <p:nvSpPr>
          <p:cNvPr id="7" name="Shape 5"/>
          <p:cNvSpPr/>
          <p:nvPr/>
        </p:nvSpPr>
        <p:spPr>
          <a:xfrm>
            <a:off x="640080" y="1325880"/>
            <a:ext cx="54864" cy="4297680"/>
          </a:xfrm>
          <a:prstGeom prst="rect">
            <a:avLst/>
          </a:prstGeom>
          <a:solidFill>
            <a:srgbClr val="EF4444"/>
          </a:solidFill>
          <a:ln w="12700">
            <a:solidFill>
              <a:srgbClr val="EF4444"/>
            </a:solidFill>
            <a:prstDash val="solid"/>
          </a:ln>
        </p:spPr>
      </p:sp>
      <p:sp>
        <p:nvSpPr>
          <p:cNvPr id="8" name="Text 6"/>
          <p:cNvSpPr/>
          <p:nvPr/>
        </p:nvSpPr>
        <p:spPr>
          <a:xfrm>
            <a:off x="841248" y="1481328"/>
            <a:ext cx="4983480" cy="292608"/>
          </a:xfrm>
          <a:prstGeom prst="rect">
            <a:avLst/>
          </a:prstGeom>
          <a:noFill/>
          <a:ln/>
        </p:spPr>
        <p:txBody>
          <a:bodyPr wrap="square" lIns="0" tIns="0" rIns="0" bIns="0" rtlCol="0" anchor="ctr"/>
          <a:lstStyle/>
          <a:p>
            <a:pPr indent="0" marL="0">
              <a:buNone/>
            </a:pPr>
            <a:r>
              <a:rPr lang="en-US" sz="1800" b="1" dirty="0">
                <a:solidFill>
                  <a:srgbClr val="F7FAFC"/>
                </a:solidFill>
              </a:rPr>
              <a:t>Current boundaries</a:t>
            </a:r>
            <a:endParaRPr lang="en-US" sz="1800" dirty="0"/>
          </a:p>
        </p:txBody>
      </p:sp>
      <p:sp>
        <p:nvSpPr>
          <p:cNvPr id="9" name="Text 7"/>
          <p:cNvSpPr/>
          <p:nvPr/>
        </p:nvSpPr>
        <p:spPr>
          <a:xfrm>
            <a:off x="841248" y="1892808"/>
            <a:ext cx="4937760" cy="3611880"/>
          </a:xfrm>
          <a:prstGeom prst="rect">
            <a:avLst/>
          </a:prstGeom>
          <a:noFill/>
          <a:ln/>
        </p:spPr>
        <p:txBody>
          <a:bodyPr wrap="square" lIns="254" tIns="254" rIns="254" bIns="254" rtlCol="0" anchor="t">
            <a:normAutofit/>
          </a:bodyPr>
          <a:lstStyle/>
          <a:p>
            <a:pPr indent="0" marL="0">
              <a:buNone/>
            </a:pPr>
            <a:r>
              <a:rPr lang="en-US" sz="1420" dirty="0">
                <a:solidFill>
                  <a:srgbClr val="A9B4C7"/>
                </a:solidFill>
              </a:rPr>
              <a:t>• DeployGuard supports defined application/build contracts rather than arbitrary source trees.</a:t>
            </a:r>
            <a:endParaRPr lang="en-US" sz="1420" dirty="0"/>
          </a:p>
          <a:p>
            <a:pPr indent="0" marL="0">
              <a:buNone/>
            </a:pPr>
            <a:endParaRPr lang="en-US" sz="1420" dirty="0"/>
          </a:p>
          <a:p>
            <a:pPr indent="0" marL="0">
              <a:buNone/>
            </a:pPr>
            <a:r>
              <a:rPr lang="en-US" sz="1420" dirty="0">
                <a:solidFill>
                  <a:srgbClr val="A9B4C7"/>
                </a:solidFill>
              </a:rPr>
              <a:t>• Cloud execution is currently AWS-focused.</a:t>
            </a:r>
            <a:endParaRPr lang="en-US" sz="1420" dirty="0"/>
          </a:p>
          <a:p>
            <a:pPr indent="0" marL="0">
              <a:buNone/>
            </a:pPr>
            <a:endParaRPr lang="en-US" sz="1420" dirty="0"/>
          </a:p>
          <a:p>
            <a:pPr indent="0" marL="0">
              <a:buNone/>
            </a:pPr>
            <a:r>
              <a:rPr lang="en-US" sz="1420" dirty="0">
                <a:solidFill>
                  <a:srgbClr val="A9B4C7"/>
                </a:solidFill>
              </a:rPr>
              <a:t>• Normal operation is designed around preconfigured cloud authority rather than creating unrestricted IAM at runtime.</a:t>
            </a:r>
            <a:endParaRPr lang="en-US" sz="1420" dirty="0"/>
          </a:p>
          <a:p>
            <a:pPr indent="0" marL="0">
              <a:buNone/>
            </a:pPr>
            <a:endParaRPr lang="en-US" sz="1420" dirty="0"/>
          </a:p>
          <a:p>
            <a:pPr indent="0" marL="0">
              <a:buNone/>
            </a:pPr>
            <a:r>
              <a:rPr lang="en-US" sz="1420" dirty="0">
                <a:solidFill>
                  <a:srgbClr val="A9B4C7"/>
                </a:solidFill>
              </a:rPr>
              <a:t>• External provider outages and quotas remain outside platform control.</a:t>
            </a:r>
            <a:endParaRPr lang="en-US" sz="1420" dirty="0"/>
          </a:p>
        </p:txBody>
      </p:sp>
      <p:sp>
        <p:nvSpPr>
          <p:cNvPr id="10" name="Shape 8"/>
          <p:cNvSpPr/>
          <p:nvPr/>
        </p:nvSpPr>
        <p:spPr>
          <a:xfrm>
            <a:off x="6263640" y="1325880"/>
            <a:ext cx="5303520" cy="4297680"/>
          </a:xfrm>
          <a:prstGeom prst="roundRect">
            <a:avLst>
              <a:gd name="adj" fmla="val 1277"/>
            </a:avLst>
          </a:prstGeom>
          <a:solidFill>
            <a:srgbClr val="121A2D"/>
          </a:solidFill>
          <a:ln w="12700">
            <a:solidFill>
              <a:srgbClr val="2A3853"/>
            </a:solidFill>
            <a:prstDash val="solid"/>
          </a:ln>
        </p:spPr>
      </p:sp>
      <p:sp>
        <p:nvSpPr>
          <p:cNvPr id="11" name="Shape 9"/>
          <p:cNvSpPr/>
          <p:nvPr/>
        </p:nvSpPr>
        <p:spPr>
          <a:xfrm>
            <a:off x="6263640" y="1325880"/>
            <a:ext cx="54864" cy="4297680"/>
          </a:xfrm>
          <a:prstGeom prst="rect">
            <a:avLst/>
          </a:prstGeom>
          <a:solidFill>
            <a:srgbClr val="22C55E"/>
          </a:solidFill>
          <a:ln w="12700">
            <a:solidFill>
              <a:srgbClr val="22C55E"/>
            </a:solidFill>
            <a:prstDash val="solid"/>
          </a:ln>
        </p:spPr>
      </p:sp>
      <p:sp>
        <p:nvSpPr>
          <p:cNvPr id="12" name="Text 10"/>
          <p:cNvSpPr/>
          <p:nvPr/>
        </p:nvSpPr>
        <p:spPr>
          <a:xfrm>
            <a:off x="6464808" y="1481328"/>
            <a:ext cx="4983480" cy="292608"/>
          </a:xfrm>
          <a:prstGeom prst="rect">
            <a:avLst/>
          </a:prstGeom>
          <a:noFill/>
          <a:ln/>
        </p:spPr>
        <p:txBody>
          <a:bodyPr wrap="square" lIns="0" tIns="0" rIns="0" bIns="0" rtlCol="0" anchor="ctr"/>
          <a:lstStyle/>
          <a:p>
            <a:pPr indent="0" marL="0">
              <a:buNone/>
            </a:pPr>
            <a:r>
              <a:rPr lang="en-US" sz="1800" b="1" dirty="0">
                <a:solidFill>
                  <a:srgbClr val="F7FAFC"/>
                </a:solidFill>
              </a:rPr>
              <a:t>Next steps</a:t>
            </a:r>
            <a:endParaRPr lang="en-US" sz="1800" dirty="0"/>
          </a:p>
        </p:txBody>
      </p:sp>
      <p:sp>
        <p:nvSpPr>
          <p:cNvPr id="13" name="Text 11"/>
          <p:cNvSpPr/>
          <p:nvPr/>
        </p:nvSpPr>
        <p:spPr>
          <a:xfrm>
            <a:off x="6464808" y="1892808"/>
            <a:ext cx="4937760" cy="3611880"/>
          </a:xfrm>
          <a:prstGeom prst="rect">
            <a:avLst/>
          </a:prstGeom>
          <a:noFill/>
          <a:ln/>
        </p:spPr>
        <p:txBody>
          <a:bodyPr wrap="square" lIns="254" tIns="254" rIns="254" bIns="254" rtlCol="0" anchor="t">
            <a:normAutofit/>
          </a:bodyPr>
          <a:lstStyle/>
          <a:p>
            <a:pPr indent="0" marL="0">
              <a:buNone/>
            </a:pPr>
            <a:r>
              <a:rPr lang="en-US" sz="1420" dirty="0">
                <a:solidFill>
                  <a:srgbClr val="A9B4C7"/>
                </a:solidFill>
              </a:rPr>
              <a:t>• Expand certified application/runtime contracts.</a:t>
            </a:r>
            <a:endParaRPr lang="en-US" sz="1420" dirty="0"/>
          </a:p>
          <a:p>
            <a:pPr indent="0" marL="0">
              <a:buNone/>
            </a:pPr>
            <a:endParaRPr lang="en-US" sz="1420" dirty="0"/>
          </a:p>
          <a:p>
            <a:pPr indent="0" marL="0">
              <a:buNone/>
            </a:pPr>
            <a:r>
              <a:rPr lang="en-US" sz="1420" dirty="0">
                <a:solidFill>
                  <a:srgbClr val="A9B4C7"/>
                </a:solidFill>
              </a:rPr>
              <a:t>• Complete additional managed database live certification.</a:t>
            </a:r>
            <a:endParaRPr lang="en-US" sz="1420" dirty="0"/>
          </a:p>
          <a:p>
            <a:pPr indent="0" marL="0">
              <a:buNone/>
            </a:pPr>
            <a:endParaRPr lang="en-US" sz="1420" dirty="0"/>
          </a:p>
          <a:p>
            <a:pPr indent="0" marL="0">
              <a:buNone/>
            </a:pPr>
            <a:r>
              <a:rPr lang="en-US" sz="1420" dirty="0">
                <a:solidFill>
                  <a:srgbClr val="A9B4C7"/>
                </a:solidFill>
              </a:rPr>
              <a:t>• Strengthen setup automation for new AWS accounts.</a:t>
            </a:r>
            <a:endParaRPr lang="en-US" sz="1420" dirty="0"/>
          </a:p>
          <a:p>
            <a:pPr indent="0" marL="0">
              <a:buNone/>
            </a:pPr>
            <a:endParaRPr lang="en-US" sz="1420" dirty="0"/>
          </a:p>
          <a:p>
            <a:pPr indent="0" marL="0">
              <a:buNone/>
            </a:pPr>
            <a:r>
              <a:rPr lang="en-US" sz="1420" dirty="0">
                <a:solidFill>
                  <a:srgbClr val="A9B4C7"/>
                </a:solidFill>
              </a:rPr>
              <a:t>• Extend observability, multi-region options and production-grade controller credentials.</a:t>
            </a:r>
            <a:endParaRPr lang="en-US" sz="1420" dirty="0"/>
          </a:p>
        </p:txBody>
      </p:sp>
      <p:sp>
        <p:nvSpPr>
          <p:cNvPr id="25" name="Slide Number Placeholder 0"/>
          <p:cNvSpPr>
            <a:spLocks noGrp="1"/>
          </p:cNvSpPr>
          <p:nvPr>
            <p:ph type="sldNum" sz="quarter" idx="4294967295"/>
          </p:nvPr>
        </p:nvSpPr>
        <p:spPr>
          <a:xfrm>
            <a:off x="1138428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7C8AA5"/>
                </a:solidFill>
                <a:latin typeface="Aptos"/>
                <a:ea typeface="Aptos"/>
                <a:cs typeface="Aptos"/>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685800" y="960120"/>
            <a:ext cx="4937760" cy="640080"/>
          </a:xfrm>
          <a:prstGeom prst="rect">
            <a:avLst/>
          </a:prstGeom>
          <a:noFill/>
          <a:ln/>
        </p:spPr>
        <p:txBody>
          <a:bodyPr wrap="square" lIns="0" tIns="0" rIns="0" bIns="0" rtlCol="0" anchor="ctr"/>
          <a:lstStyle/>
          <a:p>
            <a:pPr indent="0" marL="0">
              <a:buNone/>
            </a:pPr>
            <a:r>
              <a:rPr lang="en-US" sz="4000" b="1" dirty="0">
                <a:solidFill>
                  <a:srgbClr val="F7FAFC"/>
                </a:solidFill>
                <a:latin typeface="Aptos Display" pitchFamily="34" charset="0"/>
                <a:ea typeface="Aptos Display" pitchFamily="34" charset="-122"/>
                <a:cs typeface="Aptos Display" pitchFamily="34" charset="-120"/>
              </a:rPr>
              <a:t>DeployGuard</a:t>
            </a:r>
            <a:endParaRPr lang="en-US" sz="4000" dirty="0"/>
          </a:p>
        </p:txBody>
      </p:sp>
      <p:sp>
        <p:nvSpPr>
          <p:cNvPr id="3" name="Text 1"/>
          <p:cNvSpPr/>
          <p:nvPr/>
        </p:nvSpPr>
        <p:spPr>
          <a:xfrm>
            <a:off x="713232" y="1737360"/>
            <a:ext cx="7863840" cy="457200"/>
          </a:xfrm>
          <a:prstGeom prst="rect">
            <a:avLst/>
          </a:prstGeom>
          <a:noFill/>
          <a:ln/>
        </p:spPr>
        <p:txBody>
          <a:bodyPr wrap="square" lIns="0" tIns="0" rIns="0" bIns="0" rtlCol="0" anchor="ctr"/>
          <a:lstStyle/>
          <a:p>
            <a:pPr indent="0" marL="0">
              <a:buNone/>
            </a:pPr>
            <a:r>
              <a:rPr lang="en-US" sz="2000" b="1" dirty="0">
                <a:solidFill>
                  <a:srgbClr val="FBBF24"/>
                </a:solidFill>
              </a:rPr>
              <a:t>Implemented deployment automation from repository to verified cloud runtime.</a:t>
            </a:r>
            <a:endParaRPr lang="en-US" sz="2000" dirty="0"/>
          </a:p>
        </p:txBody>
      </p:sp>
      <p:sp>
        <p:nvSpPr>
          <p:cNvPr id="4" name="Shape 2"/>
          <p:cNvSpPr/>
          <p:nvPr/>
        </p:nvSpPr>
        <p:spPr>
          <a:xfrm>
            <a:off x="731520" y="2743200"/>
            <a:ext cx="1143000" cy="310896"/>
          </a:xfrm>
          <a:prstGeom prst="roundRect">
            <a:avLst/>
          </a:prstGeom>
          <a:solidFill>
            <a:srgbClr val="A78BFA">
              <a:alpha val="18000"/>
            </a:srgbClr>
          </a:solidFill>
          <a:ln w="12700">
            <a:solidFill>
              <a:srgbClr val="A78BFA">
                <a:alpha val="70000"/>
              </a:srgbClr>
            </a:solidFill>
            <a:prstDash val="solid"/>
          </a:ln>
        </p:spPr>
      </p:sp>
      <p:sp>
        <p:nvSpPr>
          <p:cNvPr id="5" name="Text 3"/>
          <p:cNvSpPr/>
          <p:nvPr/>
        </p:nvSpPr>
        <p:spPr>
          <a:xfrm>
            <a:off x="786384" y="2807208"/>
            <a:ext cx="1033272" cy="155448"/>
          </a:xfrm>
          <a:prstGeom prst="rect">
            <a:avLst/>
          </a:prstGeom>
          <a:noFill/>
          <a:ln/>
        </p:spPr>
        <p:txBody>
          <a:bodyPr wrap="square" lIns="0" tIns="0" rIns="0" bIns="0" rtlCol="0" anchor="ctr"/>
          <a:lstStyle/>
          <a:p>
            <a:pPr algn="ctr" indent="0" marL="0">
              <a:buNone/>
            </a:pPr>
            <a:r>
              <a:rPr lang="en-US" sz="950" b="1" dirty="0">
                <a:solidFill>
                  <a:srgbClr val="A78BFA"/>
                </a:solidFill>
              </a:rPr>
              <a:t>Analyze</a:t>
            </a:r>
            <a:endParaRPr lang="en-US" sz="950" dirty="0"/>
          </a:p>
        </p:txBody>
      </p:sp>
      <p:sp>
        <p:nvSpPr>
          <p:cNvPr id="6" name="Text 4"/>
          <p:cNvSpPr/>
          <p:nvPr/>
        </p:nvSpPr>
        <p:spPr>
          <a:xfrm>
            <a:off x="2057400" y="2761488"/>
            <a:ext cx="2057400" cy="292608"/>
          </a:xfrm>
          <a:prstGeom prst="rect">
            <a:avLst/>
          </a:prstGeom>
          <a:noFill/>
          <a:ln/>
        </p:spPr>
        <p:txBody>
          <a:bodyPr wrap="square" lIns="0" tIns="0" rIns="0" bIns="0" rtlCol="0" anchor="ctr"/>
          <a:lstStyle/>
          <a:p>
            <a:pPr indent="0" marL="0">
              <a:buNone/>
            </a:pPr>
            <a:r>
              <a:rPr lang="en-US" sz="1080" dirty="0">
                <a:solidFill>
                  <a:srgbClr val="A9B4C7"/>
                </a:solidFill>
              </a:rPr>
              <a:t>Exact source + deployment contract</a:t>
            </a:r>
            <a:endParaRPr lang="en-US" sz="1080" dirty="0"/>
          </a:p>
        </p:txBody>
      </p:sp>
      <p:sp>
        <p:nvSpPr>
          <p:cNvPr id="7" name="Shape 5"/>
          <p:cNvSpPr/>
          <p:nvPr/>
        </p:nvSpPr>
        <p:spPr>
          <a:xfrm>
            <a:off x="4434840" y="2743200"/>
            <a:ext cx="1143000" cy="310896"/>
          </a:xfrm>
          <a:prstGeom prst="roundRect">
            <a:avLst/>
          </a:prstGeom>
          <a:solidFill>
            <a:srgbClr val="38BDF8">
              <a:alpha val="18000"/>
            </a:srgbClr>
          </a:solidFill>
          <a:ln w="12700">
            <a:solidFill>
              <a:srgbClr val="38BDF8">
                <a:alpha val="70000"/>
              </a:srgbClr>
            </a:solidFill>
            <a:prstDash val="solid"/>
          </a:ln>
        </p:spPr>
      </p:sp>
      <p:sp>
        <p:nvSpPr>
          <p:cNvPr id="8" name="Text 6"/>
          <p:cNvSpPr/>
          <p:nvPr/>
        </p:nvSpPr>
        <p:spPr>
          <a:xfrm>
            <a:off x="4489704" y="2807208"/>
            <a:ext cx="1033272" cy="155448"/>
          </a:xfrm>
          <a:prstGeom prst="rect">
            <a:avLst/>
          </a:prstGeom>
          <a:noFill/>
          <a:ln/>
        </p:spPr>
        <p:txBody>
          <a:bodyPr wrap="square" lIns="0" tIns="0" rIns="0" bIns="0" rtlCol="0" anchor="ctr"/>
          <a:lstStyle/>
          <a:p>
            <a:pPr algn="ctr" indent="0" marL="0">
              <a:buNone/>
            </a:pPr>
            <a:r>
              <a:rPr lang="en-US" sz="950" b="1" dirty="0">
                <a:solidFill>
                  <a:srgbClr val="38BDF8"/>
                </a:solidFill>
              </a:rPr>
              <a:t>Build</a:t>
            </a:r>
            <a:endParaRPr lang="en-US" sz="950" dirty="0"/>
          </a:p>
        </p:txBody>
      </p:sp>
      <p:sp>
        <p:nvSpPr>
          <p:cNvPr id="9" name="Text 7"/>
          <p:cNvSpPr/>
          <p:nvPr/>
        </p:nvSpPr>
        <p:spPr>
          <a:xfrm>
            <a:off x="5760720" y="2761488"/>
            <a:ext cx="2057400" cy="292608"/>
          </a:xfrm>
          <a:prstGeom prst="rect">
            <a:avLst/>
          </a:prstGeom>
          <a:noFill/>
          <a:ln/>
        </p:spPr>
        <p:txBody>
          <a:bodyPr wrap="square" lIns="0" tIns="0" rIns="0" bIns="0" rtlCol="0" anchor="ctr"/>
          <a:lstStyle/>
          <a:p>
            <a:pPr indent="0" marL="0">
              <a:buNone/>
            </a:pPr>
            <a:r>
              <a:rPr lang="en-US" sz="1080" dirty="0">
                <a:solidFill>
                  <a:srgbClr val="A9B4C7"/>
                </a:solidFill>
              </a:rPr>
              <a:t>Validated container image</a:t>
            </a:r>
            <a:endParaRPr lang="en-US" sz="1080" dirty="0"/>
          </a:p>
        </p:txBody>
      </p:sp>
      <p:sp>
        <p:nvSpPr>
          <p:cNvPr id="10" name="Shape 8"/>
          <p:cNvSpPr/>
          <p:nvPr/>
        </p:nvSpPr>
        <p:spPr>
          <a:xfrm>
            <a:off x="8138160" y="2743200"/>
            <a:ext cx="1143000" cy="310896"/>
          </a:xfrm>
          <a:prstGeom prst="roundRect">
            <a:avLst/>
          </a:prstGeom>
          <a:solidFill>
            <a:srgbClr val="EF4444">
              <a:alpha val="18000"/>
            </a:srgbClr>
          </a:solidFill>
          <a:ln w="12700">
            <a:solidFill>
              <a:srgbClr val="EF4444">
                <a:alpha val="70000"/>
              </a:srgbClr>
            </a:solidFill>
            <a:prstDash val="solid"/>
          </a:ln>
        </p:spPr>
      </p:sp>
      <p:sp>
        <p:nvSpPr>
          <p:cNvPr id="11" name="Text 9"/>
          <p:cNvSpPr/>
          <p:nvPr/>
        </p:nvSpPr>
        <p:spPr>
          <a:xfrm>
            <a:off x="8193024" y="2807208"/>
            <a:ext cx="1033272" cy="155448"/>
          </a:xfrm>
          <a:prstGeom prst="rect">
            <a:avLst/>
          </a:prstGeom>
          <a:noFill/>
          <a:ln/>
        </p:spPr>
        <p:txBody>
          <a:bodyPr wrap="square" lIns="0" tIns="0" rIns="0" bIns="0" rtlCol="0" anchor="ctr"/>
          <a:lstStyle/>
          <a:p>
            <a:pPr algn="ctr" indent="0" marL="0">
              <a:buNone/>
            </a:pPr>
            <a:r>
              <a:rPr lang="en-US" sz="950" b="1" dirty="0">
                <a:solidFill>
                  <a:srgbClr val="EF4444"/>
                </a:solidFill>
              </a:rPr>
              <a:t>Secure</a:t>
            </a:r>
            <a:endParaRPr lang="en-US" sz="950" dirty="0"/>
          </a:p>
        </p:txBody>
      </p:sp>
      <p:sp>
        <p:nvSpPr>
          <p:cNvPr id="12" name="Text 10"/>
          <p:cNvSpPr/>
          <p:nvPr/>
        </p:nvSpPr>
        <p:spPr>
          <a:xfrm>
            <a:off x="9464040" y="2761488"/>
            <a:ext cx="2057400" cy="292608"/>
          </a:xfrm>
          <a:prstGeom prst="rect">
            <a:avLst/>
          </a:prstGeom>
          <a:noFill/>
          <a:ln/>
        </p:spPr>
        <p:txBody>
          <a:bodyPr wrap="square" lIns="0" tIns="0" rIns="0" bIns="0" rtlCol="0" anchor="ctr"/>
          <a:lstStyle/>
          <a:p>
            <a:pPr indent="0" marL="0">
              <a:buNone/>
            </a:pPr>
            <a:r>
              <a:rPr lang="en-US" sz="1080" dirty="0">
                <a:solidFill>
                  <a:srgbClr val="A9B4C7"/>
                </a:solidFill>
              </a:rPr>
              <a:t>Policy and evidence gates</a:t>
            </a:r>
            <a:endParaRPr lang="en-US" sz="1080" dirty="0"/>
          </a:p>
        </p:txBody>
      </p:sp>
      <p:sp>
        <p:nvSpPr>
          <p:cNvPr id="13" name="Shape 11"/>
          <p:cNvSpPr/>
          <p:nvPr/>
        </p:nvSpPr>
        <p:spPr>
          <a:xfrm>
            <a:off x="731520" y="3977640"/>
            <a:ext cx="1143000" cy="310896"/>
          </a:xfrm>
          <a:prstGeom prst="roundRect">
            <a:avLst/>
          </a:prstGeom>
          <a:solidFill>
            <a:srgbClr val="F59E0B">
              <a:alpha val="18000"/>
            </a:srgbClr>
          </a:solidFill>
          <a:ln w="12700">
            <a:solidFill>
              <a:srgbClr val="F59E0B">
                <a:alpha val="70000"/>
              </a:srgbClr>
            </a:solidFill>
            <a:prstDash val="solid"/>
          </a:ln>
        </p:spPr>
      </p:sp>
      <p:sp>
        <p:nvSpPr>
          <p:cNvPr id="14" name="Text 12"/>
          <p:cNvSpPr/>
          <p:nvPr/>
        </p:nvSpPr>
        <p:spPr>
          <a:xfrm>
            <a:off x="786384" y="4041648"/>
            <a:ext cx="1033272" cy="155448"/>
          </a:xfrm>
          <a:prstGeom prst="rect">
            <a:avLst/>
          </a:prstGeom>
          <a:noFill/>
          <a:ln/>
        </p:spPr>
        <p:txBody>
          <a:bodyPr wrap="square" lIns="0" tIns="0" rIns="0" bIns="0" rtlCol="0" anchor="ctr"/>
          <a:lstStyle/>
          <a:p>
            <a:pPr algn="ctr" indent="0" marL="0">
              <a:buNone/>
            </a:pPr>
            <a:r>
              <a:rPr lang="en-US" sz="950" b="1" dirty="0">
                <a:solidFill>
                  <a:srgbClr val="F59E0B"/>
                </a:solidFill>
              </a:rPr>
              <a:t>Provision</a:t>
            </a:r>
            <a:endParaRPr lang="en-US" sz="950" dirty="0"/>
          </a:p>
        </p:txBody>
      </p:sp>
      <p:sp>
        <p:nvSpPr>
          <p:cNvPr id="15" name="Text 13"/>
          <p:cNvSpPr/>
          <p:nvPr/>
        </p:nvSpPr>
        <p:spPr>
          <a:xfrm>
            <a:off x="2057400" y="3995928"/>
            <a:ext cx="2057400" cy="292608"/>
          </a:xfrm>
          <a:prstGeom prst="rect">
            <a:avLst/>
          </a:prstGeom>
          <a:noFill/>
          <a:ln/>
        </p:spPr>
        <p:txBody>
          <a:bodyPr wrap="square" lIns="0" tIns="0" rIns="0" bIns="0" rtlCol="0" anchor="ctr"/>
          <a:lstStyle/>
          <a:p>
            <a:pPr indent="0" marL="0">
              <a:buNone/>
            </a:pPr>
            <a:r>
              <a:rPr lang="en-US" sz="1080" dirty="0">
                <a:solidFill>
                  <a:srgbClr val="A9B4C7"/>
                </a:solidFill>
              </a:rPr>
              <a:t>Terraform-managed AWS runtime</a:t>
            </a:r>
            <a:endParaRPr lang="en-US" sz="1080" dirty="0"/>
          </a:p>
        </p:txBody>
      </p:sp>
      <p:sp>
        <p:nvSpPr>
          <p:cNvPr id="16" name="Shape 14"/>
          <p:cNvSpPr/>
          <p:nvPr/>
        </p:nvSpPr>
        <p:spPr>
          <a:xfrm>
            <a:off x="4434840" y="3977640"/>
            <a:ext cx="1143000" cy="310896"/>
          </a:xfrm>
          <a:prstGeom prst="roundRect">
            <a:avLst/>
          </a:prstGeom>
          <a:solidFill>
            <a:srgbClr val="22C55E">
              <a:alpha val="18000"/>
            </a:srgbClr>
          </a:solidFill>
          <a:ln w="12700">
            <a:solidFill>
              <a:srgbClr val="22C55E">
                <a:alpha val="70000"/>
              </a:srgbClr>
            </a:solidFill>
            <a:prstDash val="solid"/>
          </a:ln>
        </p:spPr>
      </p:sp>
      <p:sp>
        <p:nvSpPr>
          <p:cNvPr id="17" name="Text 15"/>
          <p:cNvSpPr/>
          <p:nvPr/>
        </p:nvSpPr>
        <p:spPr>
          <a:xfrm>
            <a:off x="4489704" y="4041648"/>
            <a:ext cx="1033272" cy="155448"/>
          </a:xfrm>
          <a:prstGeom prst="rect">
            <a:avLst/>
          </a:prstGeom>
          <a:noFill/>
          <a:ln/>
        </p:spPr>
        <p:txBody>
          <a:bodyPr wrap="square" lIns="0" tIns="0" rIns="0" bIns="0" rtlCol="0" anchor="ctr"/>
          <a:lstStyle/>
          <a:p>
            <a:pPr algn="ctr" indent="0" marL="0">
              <a:buNone/>
            </a:pPr>
            <a:r>
              <a:rPr lang="en-US" sz="950" b="1" dirty="0">
                <a:solidFill>
                  <a:srgbClr val="22C55E"/>
                </a:solidFill>
              </a:rPr>
              <a:t>Verify</a:t>
            </a:r>
            <a:endParaRPr lang="en-US" sz="950" dirty="0"/>
          </a:p>
        </p:txBody>
      </p:sp>
      <p:sp>
        <p:nvSpPr>
          <p:cNvPr id="18" name="Text 16"/>
          <p:cNvSpPr/>
          <p:nvPr/>
        </p:nvSpPr>
        <p:spPr>
          <a:xfrm>
            <a:off x="5760720" y="3995928"/>
            <a:ext cx="2057400" cy="292608"/>
          </a:xfrm>
          <a:prstGeom prst="rect">
            <a:avLst/>
          </a:prstGeom>
          <a:noFill/>
          <a:ln/>
        </p:spPr>
        <p:txBody>
          <a:bodyPr wrap="square" lIns="0" tIns="0" rIns="0" bIns="0" rtlCol="0" anchor="ctr"/>
          <a:lstStyle/>
          <a:p>
            <a:pPr indent="0" marL="0">
              <a:buNone/>
            </a:pPr>
            <a:r>
              <a:rPr lang="en-US" sz="1080" dirty="0">
                <a:solidFill>
                  <a:srgbClr val="A9B4C7"/>
                </a:solidFill>
              </a:rPr>
              <a:t>Health + operational evidence</a:t>
            </a:r>
            <a:endParaRPr lang="en-US" sz="1080" dirty="0"/>
          </a:p>
        </p:txBody>
      </p:sp>
      <p:sp>
        <p:nvSpPr>
          <p:cNvPr id="19" name="Shape 17"/>
          <p:cNvSpPr/>
          <p:nvPr/>
        </p:nvSpPr>
        <p:spPr>
          <a:xfrm>
            <a:off x="8138160" y="3977640"/>
            <a:ext cx="1143000" cy="310896"/>
          </a:xfrm>
          <a:prstGeom prst="roundRect">
            <a:avLst/>
          </a:prstGeom>
          <a:solidFill>
            <a:srgbClr val="06B6D4">
              <a:alpha val="18000"/>
            </a:srgbClr>
          </a:solidFill>
          <a:ln w="12700">
            <a:solidFill>
              <a:srgbClr val="06B6D4">
                <a:alpha val="70000"/>
              </a:srgbClr>
            </a:solidFill>
            <a:prstDash val="solid"/>
          </a:ln>
        </p:spPr>
      </p:sp>
      <p:sp>
        <p:nvSpPr>
          <p:cNvPr id="20" name="Text 18"/>
          <p:cNvSpPr/>
          <p:nvPr/>
        </p:nvSpPr>
        <p:spPr>
          <a:xfrm>
            <a:off x="8193024" y="4041648"/>
            <a:ext cx="1033272" cy="155448"/>
          </a:xfrm>
          <a:prstGeom prst="rect">
            <a:avLst/>
          </a:prstGeom>
          <a:noFill/>
          <a:ln/>
        </p:spPr>
        <p:txBody>
          <a:bodyPr wrap="square" lIns="0" tIns="0" rIns="0" bIns="0" rtlCol="0" anchor="ctr"/>
          <a:lstStyle/>
          <a:p>
            <a:pPr algn="ctr" indent="0" marL="0">
              <a:buNone/>
            </a:pPr>
            <a:r>
              <a:rPr lang="en-US" sz="950" b="1" dirty="0">
                <a:solidFill>
                  <a:srgbClr val="06B6D4"/>
                </a:solidFill>
              </a:rPr>
              <a:t>Destroy</a:t>
            </a:r>
            <a:endParaRPr lang="en-US" sz="950" dirty="0"/>
          </a:p>
        </p:txBody>
      </p:sp>
      <p:sp>
        <p:nvSpPr>
          <p:cNvPr id="21" name="Text 19"/>
          <p:cNvSpPr/>
          <p:nvPr/>
        </p:nvSpPr>
        <p:spPr>
          <a:xfrm>
            <a:off x="9464040" y="3995928"/>
            <a:ext cx="2057400" cy="292608"/>
          </a:xfrm>
          <a:prstGeom prst="rect">
            <a:avLst/>
          </a:prstGeom>
          <a:noFill/>
          <a:ln/>
        </p:spPr>
        <p:txBody>
          <a:bodyPr wrap="square" lIns="0" tIns="0" rIns="0" bIns="0" rtlCol="0" anchor="ctr"/>
          <a:lstStyle/>
          <a:p>
            <a:pPr indent="0" marL="0">
              <a:buNone/>
            </a:pPr>
            <a:r>
              <a:rPr lang="en-US" sz="1080" dirty="0">
                <a:solidFill>
                  <a:srgbClr val="A9B4C7"/>
                </a:solidFill>
              </a:rPr>
              <a:t>Controlled cleanup</a:t>
            </a:r>
            <a:endParaRPr lang="en-US" sz="1080" dirty="0"/>
          </a:p>
        </p:txBody>
      </p:sp>
      <p:sp>
        <p:nvSpPr>
          <p:cNvPr id="22" name="Text 20"/>
          <p:cNvSpPr/>
          <p:nvPr/>
        </p:nvSpPr>
        <p:spPr>
          <a:xfrm>
            <a:off x="731520" y="5440680"/>
            <a:ext cx="2286000" cy="457200"/>
          </a:xfrm>
          <a:prstGeom prst="rect">
            <a:avLst/>
          </a:prstGeom>
          <a:noFill/>
          <a:ln/>
        </p:spPr>
        <p:txBody>
          <a:bodyPr wrap="square" lIns="0" tIns="0" rIns="0" bIns="0" rtlCol="0" anchor="ctr"/>
          <a:lstStyle/>
          <a:p>
            <a:pPr indent="0" marL="0">
              <a:buNone/>
            </a:pPr>
            <a:r>
              <a:rPr lang="en-US" sz="2600" b="1" dirty="0">
                <a:solidFill>
                  <a:srgbClr val="F7FAFC"/>
                </a:solidFill>
              </a:rPr>
              <a:t>Questions</a:t>
            </a:r>
            <a:endParaRPr lang="en-US" sz="2600" dirty="0"/>
          </a:p>
        </p:txBody>
      </p:sp>
      <p:sp>
        <p:nvSpPr>
          <p:cNvPr id="23" name="Text 21"/>
          <p:cNvSpPr/>
          <p:nvPr/>
        </p:nvSpPr>
        <p:spPr>
          <a:xfrm>
            <a:off x="8595360" y="5504688"/>
            <a:ext cx="2743200" cy="256032"/>
          </a:xfrm>
          <a:prstGeom prst="rect">
            <a:avLst/>
          </a:prstGeom>
          <a:noFill/>
          <a:ln/>
        </p:spPr>
        <p:txBody>
          <a:bodyPr wrap="square" lIns="0" tIns="0" rIns="0" bIns="0" rtlCol="0" anchor="ctr"/>
          <a:lstStyle/>
          <a:p>
            <a:pPr algn="r" indent="0" marL="0">
              <a:buNone/>
            </a:pPr>
            <a:r>
              <a:rPr lang="en-US" sz="1250" dirty="0">
                <a:solidFill>
                  <a:srgbClr val="A9B4C7"/>
                </a:solidFill>
              </a:rPr>
              <a:t>Tania • Faria • Hassan</a:t>
            </a:r>
            <a:endParaRPr lang="en-US" sz="1250" dirty="0"/>
          </a:p>
        </p:txBody>
      </p:sp>
      <p:sp>
        <p:nvSpPr>
          <p:cNvPr id="25" name="Slide Number Placeholder 0"/>
          <p:cNvSpPr>
            <a:spLocks noGrp="1"/>
          </p:cNvSpPr>
          <p:nvPr>
            <p:ph type="sldNum" sz="quarter" idx="4294967295"/>
          </p:nvPr>
        </p:nvSpPr>
        <p:spPr>
          <a:xfrm>
            <a:off x="1138428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7C8AA5"/>
                </a:solidFill>
                <a:latin typeface="Aptos"/>
                <a:ea typeface="Aptos"/>
                <a:cs typeface="Aptos"/>
              </a:defRPr>
            </a:lvl1pPr>
          </a:lstStyle>
          <a:p>
            <a:pPr algn="l"/>
            <a:fld id="{F7021451-1387-4CA6-816F-3879F97B5CBC}" type="slidenum">
              <a:rPr b="0" lang="en-US"/>
              <a:t>26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Air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DeployGuard — FYP-II Implementation Defense</dc:title>
  <dc:subject>FYP-II Implementation Defense</dc:subject>
  <dc:creator>DeployGuard Team</dc:creator>
  <cp:lastModifiedBy>DeployGuard Team</cp:lastModifiedBy>
  <cp:revision>1</cp:revision>
  <dcterms:created xsi:type="dcterms:W3CDTF">2026-09-11T06:35:08Z</dcterms:created>
  <dcterms:modified xsi:type="dcterms:W3CDTF">2026-09-11T06:35:08Z</dcterms:modified>
</cp:coreProperties>
</file>