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Sorts Mill Goudy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l.tech/d5e8fdee28d5a23e99fcc459e43dda938f49298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20" b="72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8B0000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514350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FINAL YEAR PROJECT PROPOSAL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704850"/>
            <a:ext cx="2457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Department of Computer Science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305455" y="38100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Air University Islamabad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14980" y="571500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Academic Year 2024-2025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1628775"/>
            <a:ext cx="760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2571750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Reliable Repository Scanning and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Orchestration System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3805237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81000" y="4148137"/>
            <a:ext cx="74104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 enterprise-ready, cloud-native DevOps orchestration platform transforming the deployment experience through zero-configuration pipelines, integrated security scanning, and AI-powered troubleshooting.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5715119"/>
            <a:ext cx="3667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Members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59055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Hassan Sajjad (232460)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60960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Faria Fatima (233169)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1000" y="62865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Tania Khawar (232378)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292560" y="5715119"/>
            <a:ext cx="3667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92560" y="59055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Sir Yaseen Mushtaq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04121" y="5715119"/>
            <a:ext cx="3667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04121" y="59055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Air University Islamabad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04121" y="6096000"/>
            <a:ext cx="3667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Department of Computer Science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DOCUMENT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3333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6002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194310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DevOps challenge facing startups and SMEs, including skill gaps, deployment complexities, and security vulnerabilities in cloud infrastructure.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6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2769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0" y="16002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Related System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34200" y="194310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Comparative analysis of existing solutions: Raw AWS Console, Standard PaaS platforms, and Basic GitHub Actions versus DeployGuard's approach.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876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375" y="2876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287655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Proposed Solution &amp; Objectives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321945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solution architecture featuring rule-based scanning, secure infrastructure provisioning, and integrated AI-powered troubleshooting.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4600" y="2876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276975" y="28765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287655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Scope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4200" y="321945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 scope definition covering orchestration web application, automatic scanning, containerization, and deployment to AWS ECS Fargate Spot.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4152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33375" y="4152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41529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System Modules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449580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Detailed presentation of sixteen modules including authentication, stack detection, CI/CD pipeline, vulnerability scanning, and AI integration.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24600" y="4152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276975" y="4152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4200" y="415290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Limitations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4200" y="449580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Transparent acknowledgment of constraints including cloud provider lock-in, Spot instance volatility, and template mapping boundaries.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429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33375" y="54292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542925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Stack &amp; Team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0600" y="577215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 technology stack with rationale and detailed project team structure with assigned modules and clear responsibility divisions.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24600" y="5429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276975" y="54292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34200" y="5429250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 &amp; Future Vision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200" y="5772150"/>
            <a:ext cx="4943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Summary of DeployGuard's value proposition and its potential to bridge the DevOps skill gap for SMEs through comprehensive automation.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1.0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Introduction: The DevOps Challenge for SMEs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09700"/>
            <a:ext cx="38100" cy="1238250"/>
          </a:xfrm>
          <a:custGeom>
            <a:avLst/>
            <a:gdLst/>
            <a:ahLst/>
            <a:cxnLst/>
            <a:rect l="l" t="t" r="r" b="b"/>
            <a:pathLst>
              <a:path w="38100" h="1238250">
                <a:moveTo>
                  <a:pt x="0" y="0"/>
                </a:moveTo>
                <a:lnTo>
                  <a:pt x="38100" y="0"/>
                </a:lnTo>
                <a:lnTo>
                  <a:pt x="38100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409700"/>
            <a:ext cx="658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Growing Software Development Sector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790700"/>
            <a:ext cx="65627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software development sector is experiencing rapid growth, yet startups and Small-to-Medium Enterprises (SMEs) remain heavily constrained by the complexities of cloud deployment. This creates a significant bottleneck in software delivery and innovation.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810" y="2804160"/>
            <a:ext cx="3255645" cy="1264920"/>
          </a:xfrm>
          <a:custGeom>
            <a:avLst/>
            <a:gdLst/>
            <a:ahLst/>
            <a:cxnLst/>
            <a:rect l="l" t="t" r="r" b="b"/>
            <a:pathLst>
              <a:path w="3255645" h="1264920">
                <a:moveTo>
                  <a:pt x="38099" y="0"/>
                </a:moveTo>
                <a:lnTo>
                  <a:pt x="3217546" y="0"/>
                </a:lnTo>
                <a:cubicBezTo>
                  <a:pt x="3238587" y="0"/>
                  <a:pt x="3255645" y="17058"/>
                  <a:pt x="3255645" y="38099"/>
                </a:cubicBezTo>
                <a:lnTo>
                  <a:pt x="3255645" y="1226821"/>
                </a:lnTo>
                <a:cubicBezTo>
                  <a:pt x="3255645" y="1247862"/>
                  <a:pt x="3238587" y="1264920"/>
                  <a:pt x="3217546" y="1264920"/>
                </a:cubicBezTo>
                <a:lnTo>
                  <a:pt x="38099" y="1264920"/>
                </a:lnTo>
                <a:cubicBezTo>
                  <a:pt x="17058" y="1264920"/>
                  <a:pt x="0" y="1247862"/>
                  <a:pt x="0" y="122682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0070" y="29984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07720" y="296037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Developer Struggles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1020" y="3265170"/>
            <a:ext cx="30099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Developers struggle to configure reliable infrastructure while businesses are deprived of cost savings due to a severe DevOps skill gap.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8570" y="2804160"/>
            <a:ext cx="3255645" cy="1264920"/>
          </a:xfrm>
          <a:custGeom>
            <a:avLst/>
            <a:gdLst/>
            <a:ahLst/>
            <a:cxnLst/>
            <a:rect l="l" t="t" r="r" b="b"/>
            <a:pathLst>
              <a:path w="3255645" h="1264920">
                <a:moveTo>
                  <a:pt x="38099" y="0"/>
                </a:moveTo>
                <a:lnTo>
                  <a:pt x="3217546" y="0"/>
                </a:lnTo>
                <a:cubicBezTo>
                  <a:pt x="3238587" y="0"/>
                  <a:pt x="3255645" y="17058"/>
                  <a:pt x="3255645" y="38099"/>
                </a:cubicBezTo>
                <a:lnTo>
                  <a:pt x="3255645" y="1226821"/>
                </a:lnTo>
                <a:cubicBezTo>
                  <a:pt x="3255645" y="1247862"/>
                  <a:pt x="3238587" y="1264920"/>
                  <a:pt x="3217546" y="1264920"/>
                </a:cubicBezTo>
                <a:lnTo>
                  <a:pt x="38099" y="1264920"/>
                </a:lnTo>
                <a:cubicBezTo>
                  <a:pt x="17058" y="1264920"/>
                  <a:pt x="0" y="1247862"/>
                  <a:pt x="0" y="122682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64305" y="29984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21480" y="296037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Manual Deployment Risks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54780" y="3265170"/>
            <a:ext cx="30099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Traditional manual deployments are highly prone to human error, resulting in security vulnerabilities and unstandardized environments.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4231481"/>
            <a:ext cx="6665595" cy="1798320"/>
          </a:xfrm>
          <a:custGeom>
            <a:avLst/>
            <a:gdLst/>
            <a:ahLst/>
            <a:cxnLst/>
            <a:rect l="l" t="t" r="r" b="b"/>
            <a:pathLst>
              <a:path w="6665595" h="1798320">
                <a:moveTo>
                  <a:pt x="38106" y="0"/>
                </a:moveTo>
                <a:lnTo>
                  <a:pt x="6627489" y="0"/>
                </a:lnTo>
                <a:cubicBezTo>
                  <a:pt x="6648534" y="0"/>
                  <a:pt x="6665595" y="17061"/>
                  <a:pt x="6665595" y="38106"/>
                </a:cubicBezTo>
                <a:lnTo>
                  <a:pt x="6665595" y="1760214"/>
                </a:lnTo>
                <a:cubicBezTo>
                  <a:pt x="6665595" y="1781259"/>
                  <a:pt x="6648534" y="1798320"/>
                  <a:pt x="6627489" y="1798320"/>
                </a:cubicBezTo>
                <a:lnTo>
                  <a:pt x="38106" y="1798320"/>
                </a:lnTo>
                <a:cubicBezTo>
                  <a:pt x="17061" y="1798320"/>
                  <a:pt x="0" y="1781259"/>
                  <a:pt x="0" y="1760214"/>
                </a:cubicBezTo>
                <a:lnTo>
                  <a:pt x="0" y="38106"/>
                </a:lnTo>
                <a:cubicBezTo>
                  <a:pt x="0" y="17061"/>
                  <a:pt x="17061" y="0"/>
                  <a:pt x="38106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020" y="4387691"/>
            <a:ext cx="643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DeployGuard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020" y="4768693"/>
            <a:ext cx="6429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 propose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 enterprise-ready, cloud-native DevOps orchestration platform that transforms the deployment experience through: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5782" y="54163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80693" y="5378293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Zero-Configuration Pipeline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0693" y="5568793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Automatic code-to-infrastructure mapping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11768" y="54163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959298" y="5378293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Rule-Based Scanning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59298" y="5568793"/>
            <a:ext cx="183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Safe, deterministic template selection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72990" y="54163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5378293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Troubleshooting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5568793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Conversational error remediation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0920" y="1409700"/>
            <a:ext cx="4448175" cy="2971800"/>
          </a:xfrm>
          <a:custGeom>
            <a:avLst/>
            <a:gdLst/>
            <a:ahLst/>
            <a:cxnLst/>
            <a:rect l="l" t="t" r="r" b="b"/>
            <a:pathLst>
              <a:path w="4448175" h="2971800">
                <a:moveTo>
                  <a:pt x="76197" y="0"/>
                </a:moveTo>
                <a:lnTo>
                  <a:pt x="4371978" y="0"/>
                </a:lnTo>
                <a:cubicBezTo>
                  <a:pt x="4414060" y="0"/>
                  <a:pt x="4448175" y="34115"/>
                  <a:pt x="4448175" y="76197"/>
                </a:cubicBezTo>
                <a:lnTo>
                  <a:pt x="4448175" y="2895603"/>
                </a:lnTo>
                <a:cubicBezTo>
                  <a:pt x="4448175" y="2937685"/>
                  <a:pt x="4414060" y="2971800"/>
                  <a:pt x="4371978" y="2971800"/>
                </a:cubicBezTo>
                <a:lnTo>
                  <a:pt x="76197" y="2971800"/>
                </a:lnTo>
                <a:cubicBezTo>
                  <a:pt x="34115" y="2971800"/>
                  <a:pt x="0" y="2937685"/>
                  <a:pt x="0" y="2895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551420" y="16002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Challenges Addressed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1420" y="201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522845" y="20193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94320" y="2019300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Steep Learning Curve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94320" y="2209800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Raw AWS Console requires deep DevOps knowledge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51420" y="24763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522845" y="2476381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94320" y="2476381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PaaS Costs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94320" y="2666881"/>
            <a:ext cx="1895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Managed platforms expensive at scale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1420" y="29334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522845" y="2933462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94320" y="2933462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Vulnerabilities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94320" y="3123962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Manual deployments push vulnerable images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51420" y="339054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522845" y="3390543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94320" y="3390543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Slow Release Cycles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94320" y="3581043"/>
            <a:ext cx="2257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Unstandardized environments delay delivery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1420" y="38476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522845" y="384762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94320" y="3847624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Debugging Complexity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894320" y="4038124"/>
            <a:ext cx="2152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Cryptic logs waste hours without solutions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64730" y="4537115"/>
            <a:ext cx="4446270" cy="1836420"/>
          </a:xfrm>
          <a:custGeom>
            <a:avLst/>
            <a:gdLst/>
            <a:ahLst/>
            <a:cxnLst/>
            <a:rect l="l" t="t" r="r" b="b"/>
            <a:pathLst>
              <a:path w="4446270" h="1836420">
                <a:moveTo>
                  <a:pt x="38106" y="0"/>
                </a:moveTo>
                <a:lnTo>
                  <a:pt x="4408164" y="0"/>
                </a:lnTo>
                <a:cubicBezTo>
                  <a:pt x="4429209" y="0"/>
                  <a:pt x="4446270" y="17061"/>
                  <a:pt x="4446270" y="38106"/>
                </a:cubicBezTo>
                <a:lnTo>
                  <a:pt x="4446270" y="1798314"/>
                </a:lnTo>
                <a:cubicBezTo>
                  <a:pt x="4446270" y="1819359"/>
                  <a:pt x="4429209" y="1836420"/>
                  <a:pt x="4408164" y="1836420"/>
                </a:cubicBezTo>
                <a:lnTo>
                  <a:pt x="38106" y="1836420"/>
                </a:lnTo>
                <a:cubicBezTo>
                  <a:pt x="17061" y="1836420"/>
                  <a:pt x="0" y="1819359"/>
                  <a:pt x="0" y="1798314"/>
                </a:cubicBezTo>
                <a:lnTo>
                  <a:pt x="0" y="38106"/>
                </a:lnTo>
                <a:cubicBezTo>
                  <a:pt x="0" y="17061"/>
                  <a:pt x="17061" y="0"/>
                  <a:pt x="38106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0940" y="4693325"/>
            <a:ext cx="419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1: Core Value Proposition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414510" y="503610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7478078" y="5455207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87603" y="5721907"/>
            <a:ext cx="4200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Strictly governed, secure pipeline enhancing deployment efficiency and operational confidence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2.0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Related System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13510"/>
            <a:ext cx="11418570" cy="2779395"/>
          </a:xfrm>
          <a:custGeom>
            <a:avLst/>
            <a:gdLst/>
            <a:ahLst/>
            <a:cxnLst/>
            <a:rect l="l" t="t" r="r" b="b"/>
            <a:pathLst>
              <a:path w="11418570" h="2779395">
                <a:moveTo>
                  <a:pt x="38106" y="0"/>
                </a:moveTo>
                <a:lnTo>
                  <a:pt x="11380464" y="0"/>
                </a:lnTo>
                <a:cubicBezTo>
                  <a:pt x="11401510" y="0"/>
                  <a:pt x="11418570" y="17060"/>
                  <a:pt x="11418570" y="38106"/>
                </a:cubicBezTo>
                <a:lnTo>
                  <a:pt x="11418570" y="2741289"/>
                </a:lnTo>
                <a:cubicBezTo>
                  <a:pt x="11418570" y="2762335"/>
                  <a:pt x="11401510" y="2779395"/>
                  <a:pt x="11380464" y="2779395"/>
                </a:cubicBezTo>
                <a:lnTo>
                  <a:pt x="38106" y="2779395"/>
                </a:lnTo>
                <a:cubicBezTo>
                  <a:pt x="17060" y="2779395"/>
                  <a:pt x="0" y="2762335"/>
                  <a:pt x="0" y="2741289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020" y="1569720"/>
            <a:ext cx="11163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1: Comparative Analysis of Existing Solutions vs. DeployGuard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1020" y="1836302"/>
          <a:ext cx="11106150" cy="2200275"/>
        </p:xfrm>
        <a:graphic>
          <a:graphicData uri="http://schemas.openxmlformats.org/drawingml/2006/table">
            <a:tbl>
              <a:tblPr/>
              <a:tblGrid>
                <a:gridCol w="1400175"/>
                <a:gridCol w="4362450"/>
                <a:gridCol w="5343525"/>
              </a:tblGrid>
              <a:tr h="550069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Application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Key Weaknesses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DeployGuard Solution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Raw AWS Console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Extremely steep learning curve; requires deep DevOps knowledge to manually configure VPCs, ALBs, ECS, and networking components.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Abstracts AWS complexity using automated orchestration engine to deploy code seamlessly without requiring raw console access.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Standard PaaS (Heroku)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Heavily abstracted but very expensive at scale. Lacks transparent cost estimation before deploying infrastructure.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Deploys directly to user's AWS account using Fargate Spot instances for up to 70% cost savings, integrating Infracost for pre-deployment financial transparency.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Basic GitHub Actions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Only handles CI/CD automation; lacks built-in infrastructure provisioning, IaC state locking, and mandatory security gates.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Enforces mandatory Aqua Trivy security scanning and manages HashiCorp Terraform state locking via S3/DynamoDB to prevent concurrent deployment collisions.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1000" y="4389002"/>
            <a:ext cx="3686175" cy="1552575"/>
          </a:xfrm>
          <a:custGeom>
            <a:avLst/>
            <a:gdLst/>
            <a:ahLst/>
            <a:cxnLst/>
            <a:rect l="l" t="t" r="r" b="b"/>
            <a:pathLst>
              <a:path w="3686175" h="1552575">
                <a:moveTo>
                  <a:pt x="76200" y="0"/>
                </a:moveTo>
                <a:lnTo>
                  <a:pt x="3609975" y="0"/>
                </a:lnTo>
                <a:cubicBezTo>
                  <a:pt x="3652059" y="0"/>
                  <a:pt x="3686175" y="34116"/>
                  <a:pt x="3686175" y="76200"/>
                </a:cubicBezTo>
                <a:lnTo>
                  <a:pt x="3686175" y="1476375"/>
                </a:lnTo>
                <a:cubicBezTo>
                  <a:pt x="3686175" y="1518459"/>
                  <a:pt x="3652059" y="1552575"/>
                  <a:pt x="3609975" y="1552575"/>
                </a:cubicBezTo>
                <a:lnTo>
                  <a:pt x="76200" y="1552575"/>
                </a:lnTo>
                <a:cubicBezTo>
                  <a:pt x="34116" y="1552575"/>
                  <a:pt x="0" y="1518459"/>
                  <a:pt x="0" y="14763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6"/>
          <p:cNvSpPr/>
          <p:nvPr/>
        </p:nvSpPr>
        <p:spPr>
          <a:xfrm>
            <a:off x="561975" y="45604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33450" y="4541402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Complexity Abstraction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400" y="4922402"/>
            <a:ext cx="34480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 eliminates the need for deep AWS expertise by providing intelligent automation that handles VPC configuration, load balancing, and container orchestration automatically.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54460" y="4389002"/>
            <a:ext cx="3686175" cy="1552575"/>
          </a:xfrm>
          <a:custGeom>
            <a:avLst/>
            <a:gdLst/>
            <a:ahLst/>
            <a:cxnLst/>
            <a:rect l="l" t="t" r="r" b="b"/>
            <a:pathLst>
              <a:path w="3686175" h="1552575">
                <a:moveTo>
                  <a:pt x="76200" y="0"/>
                </a:moveTo>
                <a:lnTo>
                  <a:pt x="3609975" y="0"/>
                </a:lnTo>
                <a:cubicBezTo>
                  <a:pt x="3652059" y="0"/>
                  <a:pt x="3686175" y="34116"/>
                  <a:pt x="3686175" y="76200"/>
                </a:cubicBezTo>
                <a:lnTo>
                  <a:pt x="3686175" y="1476375"/>
                </a:lnTo>
                <a:cubicBezTo>
                  <a:pt x="3686175" y="1518459"/>
                  <a:pt x="3652059" y="1552575"/>
                  <a:pt x="3609975" y="1552575"/>
                </a:cubicBezTo>
                <a:lnTo>
                  <a:pt x="76200" y="1552575"/>
                </a:lnTo>
                <a:cubicBezTo>
                  <a:pt x="34116" y="1552575"/>
                  <a:pt x="0" y="1518459"/>
                  <a:pt x="0" y="14763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78298" y="4560452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806910" y="4541402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Cost Optimization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06860" y="4922402"/>
            <a:ext cx="34480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By leveraging AWS Fargate Spot instances with up to 70% savings over On-Demand pricing and integrating Infracost for pre-deployment estimates, DeployGuard provides financial transparency unmatched by PaaS platforms.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27921" y="4389002"/>
            <a:ext cx="3686175" cy="1552575"/>
          </a:xfrm>
          <a:custGeom>
            <a:avLst/>
            <a:gdLst/>
            <a:ahLst/>
            <a:cxnLst/>
            <a:rect l="l" t="t" r="r" b="b"/>
            <a:pathLst>
              <a:path w="3686175" h="1552575">
                <a:moveTo>
                  <a:pt x="76200" y="0"/>
                </a:moveTo>
                <a:lnTo>
                  <a:pt x="3609975" y="0"/>
                </a:lnTo>
                <a:cubicBezTo>
                  <a:pt x="3652059" y="0"/>
                  <a:pt x="3686175" y="34116"/>
                  <a:pt x="3686175" y="76200"/>
                </a:cubicBezTo>
                <a:lnTo>
                  <a:pt x="3686175" y="1476375"/>
                </a:lnTo>
                <a:cubicBezTo>
                  <a:pt x="3686175" y="1518459"/>
                  <a:pt x="3652059" y="1552575"/>
                  <a:pt x="3609975" y="1552575"/>
                </a:cubicBezTo>
                <a:lnTo>
                  <a:pt x="76200" y="1552575"/>
                </a:lnTo>
                <a:cubicBezTo>
                  <a:pt x="34116" y="1552575"/>
                  <a:pt x="0" y="1518459"/>
                  <a:pt x="0" y="14763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8337471" y="456045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0371" y="4541402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Integration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0321" y="4922402"/>
            <a:ext cx="34480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Unlike basic CI/CD tools, DeployGuard enforces mandatory security gates with Aqua Trivy vulnerability scanning and maintains infrastructure state integrity through distributed locking mechanisms.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6132077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6208277"/>
            <a:ext cx="11306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Existing solutions force SMEs to choose between expensive managed platforms or complex raw cloud primitives. DeployGuard bridges this gap by providing enterprise-grade orchestration with consumer-grade simplicity.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3.0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1600"/>
            <a:ext cx="7467600" cy="1257300"/>
          </a:xfrm>
          <a:custGeom>
            <a:avLst/>
            <a:gdLst/>
            <a:ahLst/>
            <a:cxnLst/>
            <a:rect l="l" t="t" r="r" b="b"/>
            <a:pathLst>
              <a:path w="7467600" h="1257300">
                <a:moveTo>
                  <a:pt x="76205" y="0"/>
                </a:moveTo>
                <a:lnTo>
                  <a:pt x="7391395" y="0"/>
                </a:lnTo>
                <a:cubicBezTo>
                  <a:pt x="7433482" y="0"/>
                  <a:pt x="7467600" y="34118"/>
                  <a:pt x="7467600" y="76205"/>
                </a:cubicBezTo>
                <a:lnTo>
                  <a:pt x="7467600" y="1181095"/>
                </a:lnTo>
                <a:cubicBezTo>
                  <a:pt x="7467600" y="1223182"/>
                  <a:pt x="7433482" y="1257300"/>
                  <a:pt x="73913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62100"/>
            <a:ext cx="718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Core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943100"/>
            <a:ext cx="7162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absence of accessible, secure, and cost-effective cloud orchestration for SMEs represents a significant bottleneck in software delivery. Existing solutions operate predominantly on two extremes: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810" y="2785110"/>
            <a:ext cx="3646170" cy="1779270"/>
          </a:xfrm>
          <a:custGeom>
            <a:avLst/>
            <a:gdLst/>
            <a:ahLst/>
            <a:cxnLst/>
            <a:rect l="l" t="t" r="r" b="b"/>
            <a:pathLst>
              <a:path w="3646170" h="1779270">
                <a:moveTo>
                  <a:pt x="38094" y="0"/>
                </a:moveTo>
                <a:lnTo>
                  <a:pt x="3608076" y="0"/>
                </a:lnTo>
                <a:cubicBezTo>
                  <a:pt x="3629115" y="0"/>
                  <a:pt x="3646170" y="17055"/>
                  <a:pt x="3646170" y="38094"/>
                </a:cubicBezTo>
                <a:lnTo>
                  <a:pt x="3646170" y="1741176"/>
                </a:lnTo>
                <a:cubicBezTo>
                  <a:pt x="3646170" y="1762215"/>
                  <a:pt x="3629115" y="1779270"/>
                  <a:pt x="3608076" y="1779270"/>
                </a:cubicBezTo>
                <a:lnTo>
                  <a:pt x="38094" y="1779270"/>
                </a:lnTo>
                <a:cubicBezTo>
                  <a:pt x="17055" y="1779270"/>
                  <a:pt x="0" y="1762215"/>
                  <a:pt x="0" y="1741176"/>
                </a:cubicBezTo>
                <a:lnTo>
                  <a:pt x="0" y="38094"/>
                </a:lnTo>
                <a:cubicBezTo>
                  <a:pt x="0" y="17055"/>
                  <a:pt x="17055" y="0"/>
                  <a:pt x="38094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0545" y="29794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42863" y="142875"/>
                </a:moveTo>
                <a:cubicBezTo>
                  <a:pt x="19199" y="142875"/>
                  <a:pt x="0" y="123676"/>
                  <a:pt x="0" y="100013"/>
                </a:cubicBezTo>
                <a:cubicBezTo>
                  <a:pt x="0" y="81141"/>
                  <a:pt x="12204" y="65127"/>
                  <a:pt x="29141" y="59382"/>
                </a:cubicBezTo>
                <a:cubicBezTo>
                  <a:pt x="28754" y="57090"/>
                  <a:pt x="28575" y="54769"/>
                  <a:pt x="28575" y="52388"/>
                </a:cubicBezTo>
                <a:cubicBezTo>
                  <a:pt x="28575" y="28724"/>
                  <a:pt x="47774" y="9525"/>
                  <a:pt x="71438" y="9525"/>
                </a:cubicBezTo>
                <a:cubicBezTo>
                  <a:pt x="87928" y="9525"/>
                  <a:pt x="102245" y="18842"/>
                  <a:pt x="109418" y="32474"/>
                </a:cubicBezTo>
                <a:cubicBezTo>
                  <a:pt x="113645" y="30004"/>
                  <a:pt x="118586" y="28575"/>
                  <a:pt x="123825" y="28575"/>
                </a:cubicBezTo>
                <a:cubicBezTo>
                  <a:pt x="139601" y="28575"/>
                  <a:pt x="152400" y="41374"/>
                  <a:pt x="152400" y="57150"/>
                </a:cubicBezTo>
                <a:cubicBezTo>
                  <a:pt x="152400" y="61823"/>
                  <a:pt x="151269" y="66258"/>
                  <a:pt x="149275" y="70158"/>
                </a:cubicBezTo>
                <a:cubicBezTo>
                  <a:pt x="162371" y="76200"/>
                  <a:pt x="171450" y="89416"/>
                  <a:pt x="171450" y="104775"/>
                </a:cubicBezTo>
                <a:cubicBezTo>
                  <a:pt x="171450" y="125819"/>
                  <a:pt x="154394" y="142875"/>
                  <a:pt x="133350" y="142875"/>
                </a:cubicBezTo>
                <a:lnTo>
                  <a:pt x="42863" y="142875"/>
                </a:lnTo>
                <a:close/>
                <a:moveTo>
                  <a:pt x="90785" y="56852"/>
                </a:moveTo>
                <a:cubicBezTo>
                  <a:pt x="87987" y="54054"/>
                  <a:pt x="83463" y="54054"/>
                  <a:pt x="80695" y="56852"/>
                </a:cubicBezTo>
                <a:lnTo>
                  <a:pt x="59263" y="78284"/>
                </a:lnTo>
                <a:cubicBezTo>
                  <a:pt x="56465" y="81082"/>
                  <a:pt x="56465" y="85606"/>
                  <a:pt x="59263" y="88374"/>
                </a:cubicBezTo>
                <a:cubicBezTo>
                  <a:pt x="62061" y="91142"/>
                  <a:pt x="66586" y="91172"/>
                  <a:pt x="69354" y="88374"/>
                </a:cubicBezTo>
                <a:lnTo>
                  <a:pt x="78581" y="79147"/>
                </a:lnTo>
                <a:lnTo>
                  <a:pt x="78581" y="109537"/>
                </a:lnTo>
                <a:cubicBezTo>
                  <a:pt x="78581" y="113496"/>
                  <a:pt x="81766" y="116681"/>
                  <a:pt x="85725" y="116681"/>
                </a:cubicBezTo>
                <a:cubicBezTo>
                  <a:pt x="89684" y="116681"/>
                  <a:pt x="92869" y="113496"/>
                  <a:pt x="92869" y="109537"/>
                </a:cubicBezTo>
                <a:lnTo>
                  <a:pt x="92869" y="79147"/>
                </a:lnTo>
                <a:lnTo>
                  <a:pt x="102096" y="88374"/>
                </a:lnTo>
                <a:cubicBezTo>
                  <a:pt x="104894" y="91172"/>
                  <a:pt x="109418" y="91172"/>
                  <a:pt x="112187" y="88374"/>
                </a:cubicBezTo>
                <a:cubicBezTo>
                  <a:pt x="114955" y="85576"/>
                  <a:pt x="114985" y="81052"/>
                  <a:pt x="112187" y="78284"/>
                </a:cubicBezTo>
                <a:lnTo>
                  <a:pt x="90755" y="5685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07720" y="294132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Extreme 1: Managed PaaS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1020" y="3246120"/>
            <a:ext cx="3400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Heavily abstracted platforms like Heroku, Vercel, or Railway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595" y="379380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3" name="Text 11"/>
          <p:cNvSpPr/>
          <p:nvPr/>
        </p:nvSpPr>
        <p:spPr>
          <a:xfrm>
            <a:off x="760095" y="3755708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Very expensive at scale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595" y="402240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5" name="Text 13"/>
          <p:cNvSpPr/>
          <p:nvPr/>
        </p:nvSpPr>
        <p:spPr>
          <a:xfrm>
            <a:off x="760095" y="3984308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Limited customization options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9595" y="425100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17" name="Text 15"/>
          <p:cNvSpPr/>
          <p:nvPr/>
        </p:nvSpPr>
        <p:spPr>
          <a:xfrm>
            <a:off x="760095" y="4212908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Vendor lock-in concerns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94810" y="2785110"/>
            <a:ext cx="3646170" cy="1779270"/>
          </a:xfrm>
          <a:custGeom>
            <a:avLst/>
            <a:gdLst/>
            <a:ahLst/>
            <a:cxnLst/>
            <a:rect l="l" t="t" r="r" b="b"/>
            <a:pathLst>
              <a:path w="3646170" h="1779270">
                <a:moveTo>
                  <a:pt x="38094" y="0"/>
                </a:moveTo>
                <a:lnTo>
                  <a:pt x="3608076" y="0"/>
                </a:lnTo>
                <a:cubicBezTo>
                  <a:pt x="3629115" y="0"/>
                  <a:pt x="3646170" y="17055"/>
                  <a:pt x="3646170" y="38094"/>
                </a:cubicBezTo>
                <a:lnTo>
                  <a:pt x="3646170" y="1741176"/>
                </a:lnTo>
                <a:cubicBezTo>
                  <a:pt x="3646170" y="1762215"/>
                  <a:pt x="3629115" y="1779270"/>
                  <a:pt x="3608076" y="1779270"/>
                </a:cubicBezTo>
                <a:lnTo>
                  <a:pt x="38094" y="1779270"/>
                </a:lnTo>
                <a:cubicBezTo>
                  <a:pt x="17055" y="1779270"/>
                  <a:pt x="0" y="1762215"/>
                  <a:pt x="0" y="1741176"/>
                </a:cubicBezTo>
                <a:lnTo>
                  <a:pt x="0" y="38094"/>
                </a:lnTo>
                <a:cubicBezTo>
                  <a:pt x="0" y="17055"/>
                  <a:pt x="17055" y="0"/>
                  <a:pt x="38094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9595" y="29794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94132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Extreme 2: Raw Cloud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51020" y="3246120"/>
            <a:ext cx="3400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 AWS/Azure/GCP console access and manual configuration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9595" y="379380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0095" y="3755708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Requires dedicated DevOps engineers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79595" y="402240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0095" y="3984308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Steep learning curve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79595" y="425100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0095" y="4212908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 risk of misconfiguration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810" y="4719638"/>
            <a:ext cx="7456170" cy="1493520"/>
          </a:xfrm>
          <a:custGeom>
            <a:avLst/>
            <a:gdLst/>
            <a:ahLst/>
            <a:cxnLst/>
            <a:rect l="l" t="t" r="r" b="b"/>
            <a:pathLst>
              <a:path w="7456170" h="1493520">
                <a:moveTo>
                  <a:pt x="38100" y="0"/>
                </a:moveTo>
                <a:lnTo>
                  <a:pt x="7418070" y="0"/>
                </a:lnTo>
                <a:cubicBezTo>
                  <a:pt x="7439112" y="0"/>
                  <a:pt x="7456170" y="17058"/>
                  <a:pt x="7456170" y="38100"/>
                </a:cubicBezTo>
                <a:lnTo>
                  <a:pt x="7456170" y="1455420"/>
                </a:lnTo>
                <a:cubicBezTo>
                  <a:pt x="7456170" y="1476462"/>
                  <a:pt x="7439112" y="1493520"/>
                  <a:pt x="7418070" y="1493520"/>
                </a:cubicBezTo>
                <a:lnTo>
                  <a:pt x="38100" y="1493520"/>
                </a:lnTo>
                <a:cubicBezTo>
                  <a:pt x="17058" y="1493520"/>
                  <a:pt x="0" y="1476462"/>
                  <a:pt x="0" y="14554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020" y="4875849"/>
            <a:ext cx="722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Consequences for Small Teams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9120" y="529494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07720" y="5256849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Manual Scripts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7720" y="5447349"/>
            <a:ext cx="1933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Unstandardized deployment processes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191000" y="52949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24897"/>
                </a:moveTo>
                <a:lnTo>
                  <a:pt x="0" y="32593"/>
                </a:lnTo>
                <a:cubicBezTo>
                  <a:pt x="0" y="25688"/>
                  <a:pt x="7174" y="21104"/>
                  <a:pt x="13781" y="23068"/>
                </a:cubicBezTo>
                <a:cubicBezTo>
                  <a:pt x="39886" y="30867"/>
                  <a:pt x="58341" y="24705"/>
                  <a:pt x="76914" y="18514"/>
                </a:cubicBezTo>
                <a:cubicBezTo>
                  <a:pt x="96113" y="12115"/>
                  <a:pt x="115431" y="5685"/>
                  <a:pt x="143381" y="14615"/>
                </a:cubicBezTo>
                <a:cubicBezTo>
                  <a:pt x="148888" y="16371"/>
                  <a:pt x="152400" y="21699"/>
                  <a:pt x="152400" y="27503"/>
                </a:cubicBezTo>
                <a:lnTo>
                  <a:pt x="152400" y="119807"/>
                </a:lnTo>
                <a:cubicBezTo>
                  <a:pt x="152400" y="126712"/>
                  <a:pt x="145226" y="131296"/>
                  <a:pt x="138648" y="129332"/>
                </a:cubicBezTo>
                <a:cubicBezTo>
                  <a:pt x="112544" y="121533"/>
                  <a:pt x="94059" y="127695"/>
                  <a:pt x="75515" y="133886"/>
                </a:cubicBezTo>
                <a:cubicBezTo>
                  <a:pt x="56317" y="140285"/>
                  <a:pt x="36999" y="146715"/>
                  <a:pt x="9049" y="137785"/>
                </a:cubicBezTo>
                <a:cubicBezTo>
                  <a:pt x="3542" y="136029"/>
                  <a:pt x="30" y="130701"/>
                  <a:pt x="30" y="124897"/>
                </a:cubicBezTo>
                <a:close/>
                <a:moveTo>
                  <a:pt x="100013" y="76200"/>
                </a:moveTo>
                <a:cubicBezTo>
                  <a:pt x="100013" y="60424"/>
                  <a:pt x="89356" y="47625"/>
                  <a:pt x="76200" y="47625"/>
                </a:cubicBezTo>
                <a:cubicBezTo>
                  <a:pt x="63044" y="47625"/>
                  <a:pt x="52388" y="60424"/>
                  <a:pt x="52388" y="76200"/>
                </a:cubicBezTo>
                <a:cubicBezTo>
                  <a:pt x="52388" y="91976"/>
                  <a:pt x="63044" y="104775"/>
                  <a:pt x="76200" y="104775"/>
                </a:cubicBezTo>
                <a:cubicBezTo>
                  <a:pt x="89356" y="104775"/>
                  <a:pt x="100013" y="91976"/>
                  <a:pt x="100013" y="76200"/>
                </a:cubicBezTo>
                <a:close/>
                <a:moveTo>
                  <a:pt x="35719" y="123111"/>
                </a:moveTo>
                <a:cubicBezTo>
                  <a:pt x="37028" y="123111"/>
                  <a:pt x="38070" y="121980"/>
                  <a:pt x="37862" y="120700"/>
                </a:cubicBezTo>
                <a:cubicBezTo>
                  <a:pt x="36493" y="112425"/>
                  <a:pt x="29825" y="105966"/>
                  <a:pt x="21431" y="104924"/>
                </a:cubicBezTo>
                <a:cubicBezTo>
                  <a:pt x="20122" y="104775"/>
                  <a:pt x="19050" y="105847"/>
                  <a:pt x="19050" y="107156"/>
                </a:cubicBezTo>
                <a:lnTo>
                  <a:pt x="19050" y="119033"/>
                </a:lnTo>
                <a:cubicBezTo>
                  <a:pt x="19050" y="120104"/>
                  <a:pt x="19764" y="121057"/>
                  <a:pt x="20836" y="121325"/>
                </a:cubicBezTo>
                <a:cubicBezTo>
                  <a:pt x="26164" y="122575"/>
                  <a:pt x="31046" y="123140"/>
                  <a:pt x="35719" y="123140"/>
                </a:cubicBezTo>
                <a:close/>
                <a:moveTo>
                  <a:pt x="130522" y="107900"/>
                </a:moveTo>
                <a:cubicBezTo>
                  <a:pt x="132011" y="108139"/>
                  <a:pt x="133350" y="107007"/>
                  <a:pt x="133350" y="105519"/>
                </a:cubicBezTo>
                <a:lnTo>
                  <a:pt x="133350" y="92839"/>
                </a:lnTo>
                <a:cubicBezTo>
                  <a:pt x="133350" y="91529"/>
                  <a:pt x="132278" y="90428"/>
                  <a:pt x="130969" y="90607"/>
                </a:cubicBezTo>
                <a:cubicBezTo>
                  <a:pt x="123468" y="91529"/>
                  <a:pt x="117306" y="96828"/>
                  <a:pt x="115133" y="103882"/>
                </a:cubicBezTo>
                <a:cubicBezTo>
                  <a:pt x="114717" y="105281"/>
                  <a:pt x="115818" y="106591"/>
                  <a:pt x="117277" y="106620"/>
                </a:cubicBezTo>
                <a:cubicBezTo>
                  <a:pt x="121503" y="106740"/>
                  <a:pt x="125909" y="107126"/>
                  <a:pt x="130493" y="107900"/>
                </a:cubicBezTo>
                <a:close/>
                <a:moveTo>
                  <a:pt x="133350" y="45244"/>
                </a:moveTo>
                <a:lnTo>
                  <a:pt x="133350" y="33367"/>
                </a:lnTo>
                <a:cubicBezTo>
                  <a:pt x="133350" y="32296"/>
                  <a:pt x="132606" y="31343"/>
                  <a:pt x="131564" y="31075"/>
                </a:cubicBezTo>
                <a:cubicBezTo>
                  <a:pt x="126236" y="29825"/>
                  <a:pt x="121354" y="29260"/>
                  <a:pt x="116681" y="29260"/>
                </a:cubicBezTo>
                <a:cubicBezTo>
                  <a:pt x="115372" y="29260"/>
                  <a:pt x="114330" y="30391"/>
                  <a:pt x="114538" y="31671"/>
                </a:cubicBezTo>
                <a:cubicBezTo>
                  <a:pt x="115907" y="39945"/>
                  <a:pt x="122575" y="46405"/>
                  <a:pt x="130969" y="47446"/>
                </a:cubicBezTo>
                <a:cubicBezTo>
                  <a:pt x="132278" y="47595"/>
                  <a:pt x="133350" y="46524"/>
                  <a:pt x="133350" y="45214"/>
                </a:cubicBezTo>
                <a:close/>
                <a:moveTo>
                  <a:pt x="37267" y="48488"/>
                </a:moveTo>
                <a:cubicBezTo>
                  <a:pt x="37683" y="47089"/>
                  <a:pt x="36582" y="45780"/>
                  <a:pt x="35123" y="45750"/>
                </a:cubicBezTo>
                <a:cubicBezTo>
                  <a:pt x="30897" y="45631"/>
                  <a:pt x="26491" y="45244"/>
                  <a:pt x="21908" y="44470"/>
                </a:cubicBezTo>
                <a:cubicBezTo>
                  <a:pt x="20419" y="44232"/>
                  <a:pt x="19080" y="45363"/>
                  <a:pt x="19080" y="46851"/>
                </a:cubicBezTo>
                <a:lnTo>
                  <a:pt x="19050" y="59531"/>
                </a:lnTo>
                <a:cubicBezTo>
                  <a:pt x="19050" y="60841"/>
                  <a:pt x="20122" y="61942"/>
                  <a:pt x="21431" y="61764"/>
                </a:cubicBezTo>
                <a:cubicBezTo>
                  <a:pt x="28932" y="60841"/>
                  <a:pt x="35094" y="55543"/>
                  <a:pt x="37267" y="484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438650" y="5256849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Bill Shock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38650" y="5447349"/>
            <a:ext cx="2124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Unexpected cloud costs without estimates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0545" y="575202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07720" y="5713928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Vulnerable Images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7720" y="5904428"/>
            <a:ext cx="1819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flaws pushed to production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91000" y="57520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4438650" y="5713928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Debug Waste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8650" y="5904428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Hours parsing cryptic logs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81010" y="1375410"/>
            <a:ext cx="3722370" cy="4065270"/>
          </a:xfrm>
          <a:custGeom>
            <a:avLst/>
            <a:gdLst/>
            <a:ahLst/>
            <a:cxnLst/>
            <a:rect l="l" t="t" r="r" b="b"/>
            <a:pathLst>
              <a:path w="3722370" h="4065270">
                <a:moveTo>
                  <a:pt x="38117" y="0"/>
                </a:moveTo>
                <a:lnTo>
                  <a:pt x="3684253" y="0"/>
                </a:lnTo>
                <a:cubicBezTo>
                  <a:pt x="3705304" y="0"/>
                  <a:pt x="3722370" y="17066"/>
                  <a:pt x="3722370" y="38117"/>
                </a:cubicBezTo>
                <a:lnTo>
                  <a:pt x="3722370" y="4027153"/>
                </a:lnTo>
                <a:cubicBezTo>
                  <a:pt x="3722370" y="4048204"/>
                  <a:pt x="3705304" y="4065270"/>
                  <a:pt x="3684253" y="4065270"/>
                </a:cubicBezTo>
                <a:lnTo>
                  <a:pt x="38117" y="4065270"/>
                </a:lnTo>
                <a:cubicBezTo>
                  <a:pt x="17066" y="4065270"/>
                  <a:pt x="0" y="4048204"/>
                  <a:pt x="0" y="4027153"/>
                </a:cubicBezTo>
                <a:lnTo>
                  <a:pt x="0" y="38117"/>
                </a:lnTo>
                <a:cubicBezTo>
                  <a:pt x="0" y="17080"/>
                  <a:pt x="17080" y="0"/>
                  <a:pt x="38117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37220" y="1531620"/>
            <a:ext cx="3467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2: The Deployment Gap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41030" y="1802012"/>
            <a:ext cx="3408045" cy="845820"/>
          </a:xfrm>
          <a:custGeom>
            <a:avLst/>
            <a:gdLst/>
            <a:ahLst/>
            <a:cxnLst/>
            <a:rect l="l" t="t" r="r" b="b"/>
            <a:pathLst>
              <a:path w="3408045" h="845820">
                <a:moveTo>
                  <a:pt x="38104" y="0"/>
                </a:moveTo>
                <a:lnTo>
                  <a:pt x="3369941" y="0"/>
                </a:lnTo>
                <a:cubicBezTo>
                  <a:pt x="3390985" y="0"/>
                  <a:pt x="3408045" y="17060"/>
                  <a:pt x="3408045" y="38104"/>
                </a:cubicBezTo>
                <a:lnTo>
                  <a:pt x="3408045" y="807716"/>
                </a:lnTo>
                <a:cubicBezTo>
                  <a:pt x="3408045" y="828760"/>
                  <a:pt x="3390985" y="845820"/>
                  <a:pt x="3369941" y="845820"/>
                </a:cubicBezTo>
                <a:lnTo>
                  <a:pt x="38104" y="845820"/>
                </a:lnTo>
                <a:cubicBezTo>
                  <a:pt x="17060" y="845820"/>
                  <a:pt x="0" y="828760"/>
                  <a:pt x="0" y="80771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58375" y="192012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6" name="Text 44"/>
          <p:cNvSpPr/>
          <p:nvPr/>
        </p:nvSpPr>
        <p:spPr>
          <a:xfrm>
            <a:off x="8211503" y="2186822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Large Enterprises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16265" y="2377322"/>
            <a:ext cx="345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Dedicated DevOps teams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872663" y="276582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8237220" y="3070622"/>
            <a:ext cx="3409950" cy="838200"/>
          </a:xfrm>
          <a:custGeom>
            <a:avLst/>
            <a:gdLst/>
            <a:ahLst/>
            <a:cxnLst/>
            <a:rect l="l" t="t" r="r" b="b"/>
            <a:pathLst>
              <a:path w="3409950" h="838200">
                <a:moveTo>
                  <a:pt x="38096" y="0"/>
                </a:moveTo>
                <a:lnTo>
                  <a:pt x="3371854" y="0"/>
                </a:lnTo>
                <a:cubicBezTo>
                  <a:pt x="3392894" y="0"/>
                  <a:pt x="3409950" y="17056"/>
                  <a:pt x="3409950" y="38096"/>
                </a:cubicBezTo>
                <a:lnTo>
                  <a:pt x="3409950" y="800104"/>
                </a:lnTo>
                <a:cubicBezTo>
                  <a:pt x="3409950" y="821144"/>
                  <a:pt x="3392894" y="838200"/>
                  <a:pt x="3371854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9829800" y="31849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203882" y="3451622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Gap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08645" y="3642122"/>
            <a:ext cx="3467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SMEs lack accessible solutions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872663" y="40230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8241030" y="4331613"/>
            <a:ext cx="3408045" cy="845820"/>
          </a:xfrm>
          <a:custGeom>
            <a:avLst/>
            <a:gdLst/>
            <a:ahLst/>
            <a:cxnLst/>
            <a:rect l="l" t="t" r="r" b="b"/>
            <a:pathLst>
              <a:path w="3408045" h="845820">
                <a:moveTo>
                  <a:pt x="38104" y="0"/>
                </a:moveTo>
                <a:lnTo>
                  <a:pt x="3369941" y="0"/>
                </a:lnTo>
                <a:cubicBezTo>
                  <a:pt x="3390985" y="0"/>
                  <a:pt x="3408045" y="17060"/>
                  <a:pt x="3408045" y="38104"/>
                </a:cubicBezTo>
                <a:lnTo>
                  <a:pt x="3408045" y="807716"/>
                </a:lnTo>
                <a:cubicBezTo>
                  <a:pt x="3408045" y="828760"/>
                  <a:pt x="3390985" y="845820"/>
                  <a:pt x="3369941" y="845820"/>
                </a:cubicBezTo>
                <a:lnTo>
                  <a:pt x="38104" y="845820"/>
                </a:lnTo>
                <a:cubicBezTo>
                  <a:pt x="17060" y="845820"/>
                  <a:pt x="0" y="828760"/>
                  <a:pt x="0" y="807716"/>
                </a:cubicBezTo>
                <a:lnTo>
                  <a:pt x="0" y="38104"/>
                </a:lnTo>
                <a:cubicBezTo>
                  <a:pt x="0" y="17074"/>
                  <a:pt x="17074" y="0"/>
                  <a:pt x="3810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01225" y="4449724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56" name="Text 54"/>
          <p:cNvSpPr/>
          <p:nvPr/>
        </p:nvSpPr>
        <p:spPr>
          <a:xfrm>
            <a:off x="8211503" y="4716424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Startups &amp; SMEs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16265" y="4906924"/>
            <a:ext cx="345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Limited technical resources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096250" y="5598319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8267700" y="5712619"/>
            <a:ext cx="36099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 Need: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Without integrated pre-deployment cost estimators or automated security gates, teams face unexpected expenses and security vulnerabilities.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183" y="328183"/>
            <a:ext cx="11593066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spc="45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4.0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8183" y="557911"/>
            <a:ext cx="11683316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Proposed Solution &amp; System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183" y="984549"/>
            <a:ext cx="656366" cy="32818"/>
          </a:xfrm>
          <a:custGeom>
            <a:avLst/>
            <a:gdLst/>
            <a:ahLst/>
            <a:cxnLst/>
            <a:rect l="l" t="t" r="r" b="b"/>
            <a:pathLst>
              <a:path w="656366" h="32818">
                <a:moveTo>
                  <a:pt x="0" y="0"/>
                </a:moveTo>
                <a:lnTo>
                  <a:pt x="656366" y="0"/>
                </a:lnTo>
                <a:lnTo>
                  <a:pt x="656366" y="32818"/>
                </a:lnTo>
                <a:lnTo>
                  <a:pt x="0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28183" y="1181459"/>
            <a:ext cx="6801594" cy="1083004"/>
          </a:xfrm>
          <a:custGeom>
            <a:avLst/>
            <a:gdLst/>
            <a:ahLst/>
            <a:cxnLst/>
            <a:rect l="l" t="t" r="r" b="b"/>
            <a:pathLst>
              <a:path w="6801594" h="1083004">
                <a:moveTo>
                  <a:pt x="65641" y="0"/>
                </a:moveTo>
                <a:lnTo>
                  <a:pt x="6735953" y="0"/>
                </a:lnTo>
                <a:cubicBezTo>
                  <a:pt x="6772205" y="0"/>
                  <a:pt x="6801594" y="29388"/>
                  <a:pt x="6801594" y="65641"/>
                </a:cubicBezTo>
                <a:lnTo>
                  <a:pt x="6801594" y="1017363"/>
                </a:lnTo>
                <a:cubicBezTo>
                  <a:pt x="6801594" y="1053616"/>
                  <a:pt x="6772205" y="1083004"/>
                  <a:pt x="6735953" y="1083004"/>
                </a:cubicBezTo>
                <a:lnTo>
                  <a:pt x="65641" y="1083004"/>
                </a:lnTo>
                <a:cubicBezTo>
                  <a:pt x="29388" y="1083004"/>
                  <a:pt x="0" y="1053616"/>
                  <a:pt x="0" y="1017363"/>
                </a:cubicBezTo>
                <a:lnTo>
                  <a:pt x="0" y="65641"/>
                </a:lnTo>
                <a:cubicBezTo>
                  <a:pt x="0" y="29413"/>
                  <a:pt x="29413" y="0"/>
                  <a:pt x="6564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92275" y="1345550"/>
            <a:ext cx="6555456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2275" y="1673734"/>
            <a:ext cx="6539047" cy="42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 address the limitations of current workflows, DeployGuard introduces a robust orchestration platform with three core pillars: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465" y="2399018"/>
            <a:ext cx="2172572" cy="1524410"/>
          </a:xfrm>
          <a:custGeom>
            <a:avLst/>
            <a:gdLst/>
            <a:ahLst/>
            <a:cxnLst/>
            <a:rect l="l" t="t" r="r" b="b"/>
            <a:pathLst>
              <a:path w="2172572" h="1524410">
                <a:moveTo>
                  <a:pt x="32821" y="0"/>
                </a:moveTo>
                <a:lnTo>
                  <a:pt x="2139751" y="0"/>
                </a:lnTo>
                <a:cubicBezTo>
                  <a:pt x="2157877" y="0"/>
                  <a:pt x="2172572" y="14694"/>
                  <a:pt x="2172572" y="32821"/>
                </a:cubicBezTo>
                <a:lnTo>
                  <a:pt x="2172572" y="1491590"/>
                </a:lnTo>
                <a:cubicBezTo>
                  <a:pt x="2172572" y="1509716"/>
                  <a:pt x="2157877" y="1524410"/>
                  <a:pt x="2139751" y="1524410"/>
                </a:cubicBezTo>
                <a:lnTo>
                  <a:pt x="32821" y="1524410"/>
                </a:lnTo>
                <a:cubicBezTo>
                  <a:pt x="14694" y="1524410"/>
                  <a:pt x="0" y="1509716"/>
                  <a:pt x="0" y="1491590"/>
                </a:cubicBezTo>
                <a:lnTo>
                  <a:pt x="0" y="32821"/>
                </a:lnTo>
                <a:cubicBezTo>
                  <a:pt x="0" y="14706"/>
                  <a:pt x="14706" y="0"/>
                  <a:pt x="3282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020" y="2533575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0"/>
                </a:moveTo>
                <a:lnTo>
                  <a:pt x="131273" y="0"/>
                </a:lnTo>
                <a:cubicBezTo>
                  <a:pt x="203773" y="0"/>
                  <a:pt x="262546" y="58773"/>
                  <a:pt x="262546" y="131273"/>
                </a:cubicBezTo>
                <a:lnTo>
                  <a:pt x="262546" y="131273"/>
                </a:lnTo>
                <a:cubicBezTo>
                  <a:pt x="262546" y="203773"/>
                  <a:pt x="203773" y="262546"/>
                  <a:pt x="131273" y="262546"/>
                </a:cubicBezTo>
                <a:lnTo>
                  <a:pt x="131273" y="262546"/>
                </a:lnTo>
                <a:cubicBezTo>
                  <a:pt x="58773" y="262546"/>
                  <a:pt x="0" y="203773"/>
                  <a:pt x="0" y="131273"/>
                </a:cubicBezTo>
                <a:lnTo>
                  <a:pt x="0" y="131273"/>
                </a:lnTo>
                <a:cubicBezTo>
                  <a:pt x="0" y="58773"/>
                  <a:pt x="58773" y="0"/>
                  <a:pt x="13127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37304" y="2533575"/>
            <a:ext cx="319978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4203" y="2566394"/>
            <a:ext cx="127170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Rule-Based Scanning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020" y="2894577"/>
            <a:ext cx="1960894" cy="37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Eliminates AI code hallucination during containerization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480" y="3349931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907" y="3333522"/>
            <a:ext cx="1345550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AST and file signature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480" y="3513918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907" y="3497509"/>
            <a:ext cx="1247096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Pre-stored Docker templates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480" y="3677906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907" y="3661496"/>
            <a:ext cx="910708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Guaranteed stability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43309" y="2399018"/>
            <a:ext cx="2172572" cy="1524410"/>
          </a:xfrm>
          <a:custGeom>
            <a:avLst/>
            <a:gdLst/>
            <a:ahLst/>
            <a:cxnLst/>
            <a:rect l="l" t="t" r="r" b="b"/>
            <a:pathLst>
              <a:path w="2172572" h="1524410">
                <a:moveTo>
                  <a:pt x="32821" y="0"/>
                </a:moveTo>
                <a:lnTo>
                  <a:pt x="2139751" y="0"/>
                </a:lnTo>
                <a:cubicBezTo>
                  <a:pt x="2157877" y="0"/>
                  <a:pt x="2172572" y="14694"/>
                  <a:pt x="2172572" y="32821"/>
                </a:cubicBezTo>
                <a:lnTo>
                  <a:pt x="2172572" y="1491590"/>
                </a:lnTo>
                <a:cubicBezTo>
                  <a:pt x="2172572" y="1509716"/>
                  <a:pt x="2157877" y="1524410"/>
                  <a:pt x="2139751" y="1524410"/>
                </a:cubicBezTo>
                <a:lnTo>
                  <a:pt x="32821" y="1524410"/>
                </a:lnTo>
                <a:cubicBezTo>
                  <a:pt x="14694" y="1524410"/>
                  <a:pt x="0" y="1509716"/>
                  <a:pt x="0" y="1491590"/>
                </a:cubicBezTo>
                <a:lnTo>
                  <a:pt x="0" y="32821"/>
                </a:lnTo>
                <a:cubicBezTo>
                  <a:pt x="0" y="14706"/>
                  <a:pt x="14706" y="0"/>
                  <a:pt x="3282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7864" y="2533575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0"/>
                </a:moveTo>
                <a:lnTo>
                  <a:pt x="131273" y="0"/>
                </a:lnTo>
                <a:cubicBezTo>
                  <a:pt x="203773" y="0"/>
                  <a:pt x="262546" y="58773"/>
                  <a:pt x="262546" y="131273"/>
                </a:cubicBezTo>
                <a:lnTo>
                  <a:pt x="262546" y="131273"/>
                </a:lnTo>
                <a:cubicBezTo>
                  <a:pt x="262546" y="203773"/>
                  <a:pt x="203773" y="262546"/>
                  <a:pt x="131273" y="262546"/>
                </a:cubicBezTo>
                <a:lnTo>
                  <a:pt x="131273" y="262546"/>
                </a:lnTo>
                <a:cubicBezTo>
                  <a:pt x="58773" y="262546"/>
                  <a:pt x="0" y="203773"/>
                  <a:pt x="0" y="131273"/>
                </a:cubicBezTo>
                <a:lnTo>
                  <a:pt x="0" y="131273"/>
                </a:lnTo>
                <a:cubicBezTo>
                  <a:pt x="0" y="58773"/>
                  <a:pt x="58773" y="0"/>
                  <a:pt x="13127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9148" y="2533575"/>
            <a:ext cx="319978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06047" y="2566394"/>
            <a:ext cx="119786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Secure Provisioning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77864" y="2894577"/>
            <a:ext cx="1960894" cy="37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HashiCorp Terraform with distributed state locking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96325" y="3349931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933751" y="3333522"/>
            <a:ext cx="1370164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S3 state storage with versioning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96325" y="3513918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2933751" y="3497509"/>
            <a:ext cx="1378369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DynamoDB concurrent locking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96325" y="3677906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2933751" y="3661496"/>
            <a:ext cx="992754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Split-brain prevention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55154" y="2399018"/>
            <a:ext cx="2172572" cy="1524410"/>
          </a:xfrm>
          <a:custGeom>
            <a:avLst/>
            <a:gdLst/>
            <a:ahLst/>
            <a:cxnLst/>
            <a:rect l="l" t="t" r="r" b="b"/>
            <a:pathLst>
              <a:path w="2172572" h="1524410">
                <a:moveTo>
                  <a:pt x="32821" y="0"/>
                </a:moveTo>
                <a:lnTo>
                  <a:pt x="2139751" y="0"/>
                </a:lnTo>
                <a:cubicBezTo>
                  <a:pt x="2157877" y="0"/>
                  <a:pt x="2172572" y="14694"/>
                  <a:pt x="2172572" y="32821"/>
                </a:cubicBezTo>
                <a:lnTo>
                  <a:pt x="2172572" y="1491590"/>
                </a:lnTo>
                <a:cubicBezTo>
                  <a:pt x="2172572" y="1509716"/>
                  <a:pt x="2157877" y="1524410"/>
                  <a:pt x="2139751" y="1524410"/>
                </a:cubicBezTo>
                <a:lnTo>
                  <a:pt x="32821" y="1524410"/>
                </a:lnTo>
                <a:cubicBezTo>
                  <a:pt x="14694" y="1524410"/>
                  <a:pt x="0" y="1509716"/>
                  <a:pt x="0" y="1491590"/>
                </a:cubicBezTo>
                <a:lnTo>
                  <a:pt x="0" y="32821"/>
                </a:lnTo>
                <a:cubicBezTo>
                  <a:pt x="0" y="14706"/>
                  <a:pt x="14706" y="0"/>
                  <a:pt x="3282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9709" y="2533575"/>
            <a:ext cx="262546" cy="262546"/>
          </a:xfrm>
          <a:custGeom>
            <a:avLst/>
            <a:gdLst/>
            <a:ahLst/>
            <a:cxnLst/>
            <a:rect l="l" t="t" r="r" b="b"/>
            <a:pathLst>
              <a:path w="262546" h="262546">
                <a:moveTo>
                  <a:pt x="131273" y="0"/>
                </a:moveTo>
                <a:lnTo>
                  <a:pt x="131273" y="0"/>
                </a:lnTo>
                <a:cubicBezTo>
                  <a:pt x="203773" y="0"/>
                  <a:pt x="262546" y="58773"/>
                  <a:pt x="262546" y="131273"/>
                </a:cubicBezTo>
                <a:lnTo>
                  <a:pt x="262546" y="131273"/>
                </a:lnTo>
                <a:cubicBezTo>
                  <a:pt x="262546" y="203773"/>
                  <a:pt x="203773" y="262546"/>
                  <a:pt x="131273" y="262546"/>
                </a:cubicBezTo>
                <a:lnTo>
                  <a:pt x="131273" y="262546"/>
                </a:lnTo>
                <a:cubicBezTo>
                  <a:pt x="58773" y="262546"/>
                  <a:pt x="0" y="203773"/>
                  <a:pt x="0" y="131273"/>
                </a:cubicBezTo>
                <a:lnTo>
                  <a:pt x="0" y="131273"/>
                </a:lnTo>
                <a:cubicBezTo>
                  <a:pt x="0" y="58773"/>
                  <a:pt x="58773" y="0"/>
                  <a:pt x="13127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060993" y="2533575"/>
            <a:ext cx="319978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17892" y="2566394"/>
            <a:ext cx="119786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Troubleshooting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89709" y="2894577"/>
            <a:ext cx="1960894" cy="37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4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Integrated LLM assistant for error remediation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08169" y="3349931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5245596" y="3333522"/>
            <a:ext cx="1066595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Automatic log ingestion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08169" y="3513918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5245596" y="3497509"/>
            <a:ext cx="1025572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Plain-English solutions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08169" y="3677906"/>
            <a:ext cx="86148" cy="98455"/>
          </a:xfrm>
          <a:custGeom>
            <a:avLst/>
            <a:gdLst/>
            <a:ahLst/>
            <a:cxnLst/>
            <a:rect l="l" t="t" r="r" b="b"/>
            <a:pathLst>
              <a:path w="86148" h="98455">
                <a:moveTo>
                  <a:pt x="83610" y="13480"/>
                </a:moveTo>
                <a:cubicBezTo>
                  <a:pt x="86360" y="15480"/>
                  <a:pt x="86975" y="19326"/>
                  <a:pt x="84975" y="22075"/>
                </a:cubicBezTo>
                <a:lnTo>
                  <a:pt x="35748" y="89763"/>
                </a:lnTo>
                <a:cubicBezTo>
                  <a:pt x="34690" y="91225"/>
                  <a:pt x="33055" y="92128"/>
                  <a:pt x="31248" y="92282"/>
                </a:cubicBezTo>
                <a:cubicBezTo>
                  <a:pt x="29440" y="92436"/>
                  <a:pt x="27690" y="91763"/>
                  <a:pt x="26421" y="90494"/>
                </a:cubicBezTo>
                <a:lnTo>
                  <a:pt x="1808" y="65880"/>
                </a:lnTo>
                <a:cubicBezTo>
                  <a:pt x="-596" y="63476"/>
                  <a:pt x="-596" y="59573"/>
                  <a:pt x="1808" y="57169"/>
                </a:cubicBezTo>
                <a:cubicBezTo>
                  <a:pt x="4211" y="54766"/>
                  <a:pt x="8115" y="54766"/>
                  <a:pt x="10519" y="57169"/>
                </a:cubicBezTo>
                <a:lnTo>
                  <a:pt x="30036" y="76687"/>
                </a:lnTo>
                <a:lnTo>
                  <a:pt x="75033" y="14826"/>
                </a:lnTo>
                <a:cubicBezTo>
                  <a:pt x="77033" y="12076"/>
                  <a:pt x="80879" y="11461"/>
                  <a:pt x="83629" y="1346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5245596" y="3661496"/>
            <a:ext cx="1115822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Step-by-step remediation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31465" y="4065060"/>
            <a:ext cx="6799953" cy="2607414"/>
          </a:xfrm>
          <a:custGeom>
            <a:avLst/>
            <a:gdLst/>
            <a:ahLst/>
            <a:cxnLst/>
            <a:rect l="l" t="t" r="r" b="b"/>
            <a:pathLst>
              <a:path w="6799953" h="2607414">
                <a:moveTo>
                  <a:pt x="32827" y="0"/>
                </a:moveTo>
                <a:lnTo>
                  <a:pt x="6767125" y="0"/>
                </a:lnTo>
                <a:cubicBezTo>
                  <a:pt x="6785255" y="0"/>
                  <a:pt x="6799953" y="14697"/>
                  <a:pt x="6799953" y="32827"/>
                </a:cubicBezTo>
                <a:lnTo>
                  <a:pt x="6799953" y="2574587"/>
                </a:lnTo>
                <a:cubicBezTo>
                  <a:pt x="6799953" y="2592717"/>
                  <a:pt x="6785255" y="2607414"/>
                  <a:pt x="6767125" y="2607414"/>
                </a:cubicBezTo>
                <a:lnTo>
                  <a:pt x="32827" y="2607414"/>
                </a:lnTo>
                <a:cubicBezTo>
                  <a:pt x="14697" y="2607414"/>
                  <a:pt x="0" y="2592717"/>
                  <a:pt x="0" y="2574587"/>
                </a:cubicBezTo>
                <a:lnTo>
                  <a:pt x="0" y="32827"/>
                </a:lnTo>
                <a:cubicBezTo>
                  <a:pt x="0" y="14697"/>
                  <a:pt x="14697" y="0"/>
                  <a:pt x="32827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020" y="4199617"/>
            <a:ext cx="6580070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2: System Objectives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020" y="4429241"/>
          <a:ext cx="6530843" cy="2108576"/>
        </p:xfrm>
        <a:graphic>
          <a:graphicData uri="http://schemas.openxmlformats.org/drawingml/2006/table">
            <a:tbl>
              <a:tblPr/>
              <a:tblGrid>
                <a:gridCol w="1788598"/>
                <a:gridCol w="3306444"/>
                <a:gridCol w="1435801"/>
              </a:tblGrid>
              <a:tr h="301225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Objective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Description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Key Technology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Zero-Configuration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Deploy platform tailored for startups/SMEs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Rule-Based Engine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Error Elimination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Pre-stored DevOps Docker templates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Template Registry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Shift-Left Security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Block critical vulnerability deployment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Aqua Trivy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Financial Transparency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Pre-deployment AWS cost estimates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Infracost API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 Integrity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Prevent concurrent deployment corruption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S3 + DynamoDB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1225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Troubleshooting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 analysis and remediation steps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API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5637" marB="6563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7332635" y="1184741"/>
            <a:ext cx="4527285" cy="4781627"/>
          </a:xfrm>
          <a:custGeom>
            <a:avLst/>
            <a:gdLst/>
            <a:ahLst/>
            <a:cxnLst/>
            <a:rect l="l" t="t" r="r" b="b"/>
            <a:pathLst>
              <a:path w="4527285" h="4781627">
                <a:moveTo>
                  <a:pt x="32823" y="0"/>
                </a:moveTo>
                <a:lnTo>
                  <a:pt x="4494462" y="0"/>
                </a:lnTo>
                <a:cubicBezTo>
                  <a:pt x="4512590" y="0"/>
                  <a:pt x="4527285" y="14695"/>
                  <a:pt x="4527285" y="32823"/>
                </a:cubicBezTo>
                <a:lnTo>
                  <a:pt x="4527285" y="4748804"/>
                </a:lnTo>
                <a:cubicBezTo>
                  <a:pt x="4527285" y="4766932"/>
                  <a:pt x="4512590" y="4781627"/>
                  <a:pt x="4494462" y="4781627"/>
                </a:cubicBezTo>
                <a:lnTo>
                  <a:pt x="32823" y="4781627"/>
                </a:lnTo>
                <a:cubicBezTo>
                  <a:pt x="14695" y="4781627"/>
                  <a:pt x="0" y="4766932"/>
                  <a:pt x="0" y="4748804"/>
                </a:cubicBezTo>
                <a:lnTo>
                  <a:pt x="0" y="32823"/>
                </a:lnTo>
                <a:cubicBezTo>
                  <a:pt x="0" y="14695"/>
                  <a:pt x="14695" y="0"/>
                  <a:pt x="32823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67190" y="1319296"/>
            <a:ext cx="4307402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3: DeployGuard Workflow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67190" y="1604610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164092" y="0"/>
                </a:moveTo>
                <a:lnTo>
                  <a:pt x="164092" y="0"/>
                </a:lnTo>
                <a:cubicBezTo>
                  <a:pt x="254656" y="0"/>
                  <a:pt x="328183" y="73527"/>
                  <a:pt x="328183" y="164092"/>
                </a:cubicBezTo>
                <a:lnTo>
                  <a:pt x="328183" y="164092"/>
                </a:lnTo>
                <a:cubicBezTo>
                  <a:pt x="328183" y="254656"/>
                  <a:pt x="254656" y="328183"/>
                  <a:pt x="164092" y="328183"/>
                </a:cubicBezTo>
                <a:lnTo>
                  <a:pt x="164092" y="328183"/>
                </a:lnTo>
                <a:cubicBezTo>
                  <a:pt x="73527" y="328183"/>
                  <a:pt x="0" y="254656"/>
                  <a:pt x="0" y="164092"/>
                </a:cubicBezTo>
                <a:lnTo>
                  <a:pt x="0" y="164092"/>
                </a:lnTo>
                <a:cubicBezTo>
                  <a:pt x="0" y="73527"/>
                  <a:pt x="73527" y="0"/>
                  <a:pt x="16409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7" name="Text 44"/>
          <p:cNvSpPr/>
          <p:nvPr/>
        </p:nvSpPr>
        <p:spPr>
          <a:xfrm>
            <a:off x="7438474" y="1604610"/>
            <a:ext cx="385615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897110" y="1552204"/>
            <a:ext cx="3829896" cy="433202"/>
          </a:xfrm>
          <a:custGeom>
            <a:avLst/>
            <a:gdLst/>
            <a:ahLst/>
            <a:cxnLst/>
            <a:rect l="l" t="t" r="r" b="b"/>
            <a:pathLst>
              <a:path w="3829896" h="433202">
                <a:moveTo>
                  <a:pt x="32819" y="0"/>
                </a:moveTo>
                <a:lnTo>
                  <a:pt x="3797077" y="0"/>
                </a:lnTo>
                <a:cubicBezTo>
                  <a:pt x="3815202" y="0"/>
                  <a:pt x="3829896" y="14694"/>
                  <a:pt x="3829896" y="32819"/>
                </a:cubicBezTo>
                <a:lnTo>
                  <a:pt x="3829896" y="400382"/>
                </a:lnTo>
                <a:cubicBezTo>
                  <a:pt x="3829896" y="418508"/>
                  <a:pt x="3815202" y="433202"/>
                  <a:pt x="3797077" y="433202"/>
                </a:cubicBezTo>
                <a:lnTo>
                  <a:pt x="32819" y="433202"/>
                </a:lnTo>
                <a:cubicBezTo>
                  <a:pt x="14694" y="433202"/>
                  <a:pt x="0" y="418508"/>
                  <a:pt x="0" y="400382"/>
                </a:cubicBezTo>
                <a:lnTo>
                  <a:pt x="0" y="32819"/>
                </a:lnTo>
                <a:cubicBezTo>
                  <a:pt x="0" y="14706"/>
                  <a:pt x="14706" y="0"/>
                  <a:pt x="3281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66028" y="1621123"/>
            <a:ext cx="3749491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Repository Link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966028" y="1785214"/>
            <a:ext cx="3741287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 OAuth integration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9548179" y="2054221"/>
            <a:ext cx="98455" cy="131273"/>
          </a:xfrm>
          <a:custGeom>
            <a:avLst/>
            <a:gdLst/>
            <a:ahLst/>
            <a:cxnLst/>
            <a:rect l="l" t="t" r="r" b="b"/>
            <a:pathLst>
              <a:path w="98455" h="131273">
                <a:moveTo>
                  <a:pt x="43433" y="128863"/>
                </a:moveTo>
                <a:cubicBezTo>
                  <a:pt x="46638" y="132068"/>
                  <a:pt x="51843" y="132068"/>
                  <a:pt x="55048" y="128863"/>
                </a:cubicBezTo>
                <a:lnTo>
                  <a:pt x="96070" y="87840"/>
                </a:lnTo>
                <a:cubicBezTo>
                  <a:pt x="99275" y="84635"/>
                  <a:pt x="99275" y="79431"/>
                  <a:pt x="96070" y="76226"/>
                </a:cubicBezTo>
                <a:cubicBezTo>
                  <a:pt x="92866" y="73021"/>
                  <a:pt x="87661" y="73021"/>
                  <a:pt x="84456" y="76226"/>
                </a:cubicBezTo>
                <a:lnTo>
                  <a:pt x="57432" y="103249"/>
                </a:lnTo>
                <a:lnTo>
                  <a:pt x="57432" y="8205"/>
                </a:lnTo>
                <a:cubicBezTo>
                  <a:pt x="57432" y="3666"/>
                  <a:pt x="53766" y="0"/>
                  <a:pt x="49227" y="0"/>
                </a:cubicBezTo>
                <a:cubicBezTo>
                  <a:pt x="44689" y="0"/>
                  <a:pt x="41023" y="3666"/>
                  <a:pt x="41023" y="8205"/>
                </a:cubicBezTo>
                <a:lnTo>
                  <a:pt x="41023" y="103249"/>
                </a:lnTo>
                <a:lnTo>
                  <a:pt x="13999" y="76226"/>
                </a:lnTo>
                <a:cubicBezTo>
                  <a:pt x="10794" y="73021"/>
                  <a:pt x="5589" y="73021"/>
                  <a:pt x="2384" y="76226"/>
                </a:cubicBezTo>
                <a:cubicBezTo>
                  <a:pt x="-820" y="79431"/>
                  <a:pt x="-820" y="84635"/>
                  <a:pt x="2384" y="87840"/>
                </a:cubicBezTo>
                <a:lnTo>
                  <a:pt x="43407" y="1288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7467190" y="2306820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164092" y="0"/>
                </a:moveTo>
                <a:lnTo>
                  <a:pt x="164092" y="0"/>
                </a:lnTo>
                <a:cubicBezTo>
                  <a:pt x="254656" y="0"/>
                  <a:pt x="328183" y="73527"/>
                  <a:pt x="328183" y="164092"/>
                </a:cubicBezTo>
                <a:lnTo>
                  <a:pt x="328183" y="164092"/>
                </a:lnTo>
                <a:cubicBezTo>
                  <a:pt x="328183" y="254656"/>
                  <a:pt x="254656" y="328183"/>
                  <a:pt x="164092" y="328183"/>
                </a:cubicBezTo>
                <a:lnTo>
                  <a:pt x="164092" y="328183"/>
                </a:lnTo>
                <a:cubicBezTo>
                  <a:pt x="73527" y="328183"/>
                  <a:pt x="0" y="254656"/>
                  <a:pt x="0" y="164092"/>
                </a:cubicBezTo>
                <a:lnTo>
                  <a:pt x="0" y="164092"/>
                </a:lnTo>
                <a:cubicBezTo>
                  <a:pt x="0" y="73527"/>
                  <a:pt x="73527" y="0"/>
                  <a:pt x="16409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0"/>
          <p:cNvSpPr/>
          <p:nvPr/>
        </p:nvSpPr>
        <p:spPr>
          <a:xfrm>
            <a:off x="7438474" y="2306820"/>
            <a:ext cx="385615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897110" y="2254412"/>
            <a:ext cx="3829896" cy="433202"/>
          </a:xfrm>
          <a:custGeom>
            <a:avLst/>
            <a:gdLst/>
            <a:ahLst/>
            <a:cxnLst/>
            <a:rect l="l" t="t" r="r" b="b"/>
            <a:pathLst>
              <a:path w="3829896" h="433202">
                <a:moveTo>
                  <a:pt x="32819" y="0"/>
                </a:moveTo>
                <a:lnTo>
                  <a:pt x="3797077" y="0"/>
                </a:lnTo>
                <a:cubicBezTo>
                  <a:pt x="3815202" y="0"/>
                  <a:pt x="3829896" y="14694"/>
                  <a:pt x="3829896" y="32819"/>
                </a:cubicBezTo>
                <a:lnTo>
                  <a:pt x="3829896" y="400382"/>
                </a:lnTo>
                <a:cubicBezTo>
                  <a:pt x="3829896" y="418508"/>
                  <a:pt x="3815202" y="433202"/>
                  <a:pt x="3797077" y="433202"/>
                </a:cubicBezTo>
                <a:lnTo>
                  <a:pt x="32819" y="433202"/>
                </a:lnTo>
                <a:cubicBezTo>
                  <a:pt x="14694" y="433202"/>
                  <a:pt x="0" y="418508"/>
                  <a:pt x="0" y="400382"/>
                </a:cubicBezTo>
                <a:lnTo>
                  <a:pt x="0" y="32819"/>
                </a:lnTo>
                <a:cubicBezTo>
                  <a:pt x="0" y="14706"/>
                  <a:pt x="14706" y="0"/>
                  <a:pt x="3281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966028" y="2323333"/>
            <a:ext cx="3749491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Stack Detection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966028" y="2487425"/>
            <a:ext cx="3741287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AST scanning &amp; template mapping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9548179" y="2756429"/>
            <a:ext cx="98455" cy="131273"/>
          </a:xfrm>
          <a:custGeom>
            <a:avLst/>
            <a:gdLst/>
            <a:ahLst/>
            <a:cxnLst/>
            <a:rect l="l" t="t" r="r" b="b"/>
            <a:pathLst>
              <a:path w="98455" h="131273">
                <a:moveTo>
                  <a:pt x="43433" y="128863"/>
                </a:moveTo>
                <a:cubicBezTo>
                  <a:pt x="46638" y="132068"/>
                  <a:pt x="51843" y="132068"/>
                  <a:pt x="55048" y="128863"/>
                </a:cubicBezTo>
                <a:lnTo>
                  <a:pt x="96070" y="87840"/>
                </a:lnTo>
                <a:cubicBezTo>
                  <a:pt x="99275" y="84635"/>
                  <a:pt x="99275" y="79431"/>
                  <a:pt x="96070" y="76226"/>
                </a:cubicBezTo>
                <a:cubicBezTo>
                  <a:pt x="92866" y="73021"/>
                  <a:pt x="87661" y="73021"/>
                  <a:pt x="84456" y="76226"/>
                </a:cubicBezTo>
                <a:lnTo>
                  <a:pt x="57432" y="103249"/>
                </a:lnTo>
                <a:lnTo>
                  <a:pt x="57432" y="8205"/>
                </a:lnTo>
                <a:cubicBezTo>
                  <a:pt x="57432" y="3666"/>
                  <a:pt x="53766" y="0"/>
                  <a:pt x="49227" y="0"/>
                </a:cubicBezTo>
                <a:cubicBezTo>
                  <a:pt x="44689" y="0"/>
                  <a:pt x="41023" y="3666"/>
                  <a:pt x="41023" y="8205"/>
                </a:cubicBezTo>
                <a:lnTo>
                  <a:pt x="41023" y="103249"/>
                </a:lnTo>
                <a:lnTo>
                  <a:pt x="13999" y="76226"/>
                </a:lnTo>
                <a:cubicBezTo>
                  <a:pt x="10794" y="73021"/>
                  <a:pt x="5589" y="73021"/>
                  <a:pt x="2384" y="76226"/>
                </a:cubicBezTo>
                <a:cubicBezTo>
                  <a:pt x="-820" y="79431"/>
                  <a:pt x="-820" y="84635"/>
                  <a:pt x="2384" y="87840"/>
                </a:cubicBezTo>
                <a:lnTo>
                  <a:pt x="43407" y="1288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8" name="Shape 55"/>
          <p:cNvSpPr/>
          <p:nvPr/>
        </p:nvSpPr>
        <p:spPr>
          <a:xfrm>
            <a:off x="7467190" y="3009028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164092" y="0"/>
                </a:moveTo>
                <a:lnTo>
                  <a:pt x="164092" y="0"/>
                </a:lnTo>
                <a:cubicBezTo>
                  <a:pt x="254656" y="0"/>
                  <a:pt x="328183" y="73527"/>
                  <a:pt x="328183" y="164092"/>
                </a:cubicBezTo>
                <a:lnTo>
                  <a:pt x="328183" y="164092"/>
                </a:lnTo>
                <a:cubicBezTo>
                  <a:pt x="328183" y="254656"/>
                  <a:pt x="254656" y="328183"/>
                  <a:pt x="164092" y="328183"/>
                </a:cubicBezTo>
                <a:lnTo>
                  <a:pt x="164092" y="328183"/>
                </a:lnTo>
                <a:cubicBezTo>
                  <a:pt x="73527" y="328183"/>
                  <a:pt x="0" y="254656"/>
                  <a:pt x="0" y="164092"/>
                </a:cubicBezTo>
                <a:lnTo>
                  <a:pt x="0" y="164092"/>
                </a:lnTo>
                <a:cubicBezTo>
                  <a:pt x="0" y="73527"/>
                  <a:pt x="73527" y="0"/>
                  <a:pt x="16409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9" name="Text 56"/>
          <p:cNvSpPr/>
          <p:nvPr/>
        </p:nvSpPr>
        <p:spPr>
          <a:xfrm>
            <a:off x="7438474" y="3009028"/>
            <a:ext cx="385615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897110" y="2956621"/>
            <a:ext cx="3829896" cy="433202"/>
          </a:xfrm>
          <a:custGeom>
            <a:avLst/>
            <a:gdLst/>
            <a:ahLst/>
            <a:cxnLst/>
            <a:rect l="l" t="t" r="r" b="b"/>
            <a:pathLst>
              <a:path w="3829896" h="433202">
                <a:moveTo>
                  <a:pt x="32819" y="0"/>
                </a:moveTo>
                <a:lnTo>
                  <a:pt x="3797077" y="0"/>
                </a:lnTo>
                <a:cubicBezTo>
                  <a:pt x="3815202" y="0"/>
                  <a:pt x="3829896" y="14694"/>
                  <a:pt x="3829896" y="32819"/>
                </a:cubicBezTo>
                <a:lnTo>
                  <a:pt x="3829896" y="400382"/>
                </a:lnTo>
                <a:cubicBezTo>
                  <a:pt x="3829896" y="418508"/>
                  <a:pt x="3815202" y="433202"/>
                  <a:pt x="3797077" y="433202"/>
                </a:cubicBezTo>
                <a:lnTo>
                  <a:pt x="32819" y="433202"/>
                </a:lnTo>
                <a:cubicBezTo>
                  <a:pt x="14694" y="433202"/>
                  <a:pt x="0" y="418508"/>
                  <a:pt x="0" y="400382"/>
                </a:cubicBezTo>
                <a:lnTo>
                  <a:pt x="0" y="32819"/>
                </a:lnTo>
                <a:cubicBezTo>
                  <a:pt x="0" y="14706"/>
                  <a:pt x="14706" y="0"/>
                  <a:pt x="3281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966028" y="3025542"/>
            <a:ext cx="3749491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Scan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7966028" y="3189633"/>
            <a:ext cx="3741287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Aqua Trivy vulnerability check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9548179" y="3458641"/>
            <a:ext cx="98455" cy="131273"/>
          </a:xfrm>
          <a:custGeom>
            <a:avLst/>
            <a:gdLst/>
            <a:ahLst/>
            <a:cxnLst/>
            <a:rect l="l" t="t" r="r" b="b"/>
            <a:pathLst>
              <a:path w="98455" h="131273">
                <a:moveTo>
                  <a:pt x="43433" y="128863"/>
                </a:moveTo>
                <a:cubicBezTo>
                  <a:pt x="46638" y="132068"/>
                  <a:pt x="51843" y="132068"/>
                  <a:pt x="55048" y="128863"/>
                </a:cubicBezTo>
                <a:lnTo>
                  <a:pt x="96070" y="87840"/>
                </a:lnTo>
                <a:cubicBezTo>
                  <a:pt x="99275" y="84635"/>
                  <a:pt x="99275" y="79431"/>
                  <a:pt x="96070" y="76226"/>
                </a:cubicBezTo>
                <a:cubicBezTo>
                  <a:pt x="92866" y="73021"/>
                  <a:pt x="87661" y="73021"/>
                  <a:pt x="84456" y="76226"/>
                </a:cubicBezTo>
                <a:lnTo>
                  <a:pt x="57432" y="103249"/>
                </a:lnTo>
                <a:lnTo>
                  <a:pt x="57432" y="8205"/>
                </a:lnTo>
                <a:cubicBezTo>
                  <a:pt x="57432" y="3666"/>
                  <a:pt x="53766" y="0"/>
                  <a:pt x="49227" y="0"/>
                </a:cubicBezTo>
                <a:cubicBezTo>
                  <a:pt x="44689" y="0"/>
                  <a:pt x="41023" y="3666"/>
                  <a:pt x="41023" y="8205"/>
                </a:cubicBezTo>
                <a:lnTo>
                  <a:pt x="41023" y="103249"/>
                </a:lnTo>
                <a:lnTo>
                  <a:pt x="13999" y="76226"/>
                </a:lnTo>
                <a:cubicBezTo>
                  <a:pt x="10794" y="73021"/>
                  <a:pt x="5589" y="73021"/>
                  <a:pt x="2384" y="76226"/>
                </a:cubicBezTo>
                <a:cubicBezTo>
                  <a:pt x="-820" y="79431"/>
                  <a:pt x="-820" y="84635"/>
                  <a:pt x="2384" y="87840"/>
                </a:cubicBezTo>
                <a:lnTo>
                  <a:pt x="43407" y="1288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4" name="Shape 61"/>
          <p:cNvSpPr/>
          <p:nvPr/>
        </p:nvSpPr>
        <p:spPr>
          <a:xfrm>
            <a:off x="7467190" y="3711237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164092" y="0"/>
                </a:moveTo>
                <a:lnTo>
                  <a:pt x="164092" y="0"/>
                </a:lnTo>
                <a:cubicBezTo>
                  <a:pt x="254656" y="0"/>
                  <a:pt x="328183" y="73527"/>
                  <a:pt x="328183" y="164092"/>
                </a:cubicBezTo>
                <a:lnTo>
                  <a:pt x="328183" y="164092"/>
                </a:lnTo>
                <a:cubicBezTo>
                  <a:pt x="328183" y="254656"/>
                  <a:pt x="254656" y="328183"/>
                  <a:pt x="164092" y="328183"/>
                </a:cubicBezTo>
                <a:lnTo>
                  <a:pt x="164092" y="328183"/>
                </a:lnTo>
                <a:cubicBezTo>
                  <a:pt x="73527" y="328183"/>
                  <a:pt x="0" y="254656"/>
                  <a:pt x="0" y="164092"/>
                </a:cubicBezTo>
                <a:lnTo>
                  <a:pt x="0" y="164092"/>
                </a:lnTo>
                <a:cubicBezTo>
                  <a:pt x="0" y="73527"/>
                  <a:pt x="73527" y="0"/>
                  <a:pt x="16409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5" name="Text 62"/>
          <p:cNvSpPr/>
          <p:nvPr/>
        </p:nvSpPr>
        <p:spPr>
          <a:xfrm>
            <a:off x="7438474" y="3711237"/>
            <a:ext cx="385615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897110" y="3658833"/>
            <a:ext cx="3829896" cy="433202"/>
          </a:xfrm>
          <a:custGeom>
            <a:avLst/>
            <a:gdLst/>
            <a:ahLst/>
            <a:cxnLst/>
            <a:rect l="l" t="t" r="r" b="b"/>
            <a:pathLst>
              <a:path w="3829896" h="433202">
                <a:moveTo>
                  <a:pt x="32819" y="0"/>
                </a:moveTo>
                <a:lnTo>
                  <a:pt x="3797077" y="0"/>
                </a:lnTo>
                <a:cubicBezTo>
                  <a:pt x="3815202" y="0"/>
                  <a:pt x="3829896" y="14694"/>
                  <a:pt x="3829896" y="32819"/>
                </a:cubicBezTo>
                <a:lnTo>
                  <a:pt x="3829896" y="400382"/>
                </a:lnTo>
                <a:cubicBezTo>
                  <a:pt x="3829896" y="418508"/>
                  <a:pt x="3815202" y="433202"/>
                  <a:pt x="3797077" y="433202"/>
                </a:cubicBezTo>
                <a:lnTo>
                  <a:pt x="32819" y="433202"/>
                </a:lnTo>
                <a:cubicBezTo>
                  <a:pt x="14694" y="433202"/>
                  <a:pt x="0" y="418508"/>
                  <a:pt x="0" y="400382"/>
                </a:cubicBezTo>
                <a:lnTo>
                  <a:pt x="0" y="32819"/>
                </a:lnTo>
                <a:cubicBezTo>
                  <a:pt x="0" y="14706"/>
                  <a:pt x="14706" y="0"/>
                  <a:pt x="3281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966028" y="3727750"/>
            <a:ext cx="3749491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Cost Analysis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7966028" y="3891841"/>
            <a:ext cx="3741287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Infracost pre-deployment estimate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9548179" y="4160850"/>
            <a:ext cx="98455" cy="131273"/>
          </a:xfrm>
          <a:custGeom>
            <a:avLst/>
            <a:gdLst/>
            <a:ahLst/>
            <a:cxnLst/>
            <a:rect l="l" t="t" r="r" b="b"/>
            <a:pathLst>
              <a:path w="98455" h="131273">
                <a:moveTo>
                  <a:pt x="43433" y="128863"/>
                </a:moveTo>
                <a:cubicBezTo>
                  <a:pt x="46638" y="132068"/>
                  <a:pt x="51843" y="132068"/>
                  <a:pt x="55048" y="128863"/>
                </a:cubicBezTo>
                <a:lnTo>
                  <a:pt x="96070" y="87840"/>
                </a:lnTo>
                <a:cubicBezTo>
                  <a:pt x="99275" y="84635"/>
                  <a:pt x="99275" y="79431"/>
                  <a:pt x="96070" y="76226"/>
                </a:cubicBezTo>
                <a:cubicBezTo>
                  <a:pt x="92866" y="73021"/>
                  <a:pt x="87661" y="73021"/>
                  <a:pt x="84456" y="76226"/>
                </a:cubicBezTo>
                <a:lnTo>
                  <a:pt x="57432" y="103249"/>
                </a:lnTo>
                <a:lnTo>
                  <a:pt x="57432" y="8205"/>
                </a:lnTo>
                <a:cubicBezTo>
                  <a:pt x="57432" y="3666"/>
                  <a:pt x="53766" y="0"/>
                  <a:pt x="49227" y="0"/>
                </a:cubicBezTo>
                <a:cubicBezTo>
                  <a:pt x="44689" y="0"/>
                  <a:pt x="41023" y="3666"/>
                  <a:pt x="41023" y="8205"/>
                </a:cubicBezTo>
                <a:lnTo>
                  <a:pt x="41023" y="103249"/>
                </a:lnTo>
                <a:lnTo>
                  <a:pt x="13999" y="76226"/>
                </a:lnTo>
                <a:cubicBezTo>
                  <a:pt x="10794" y="73021"/>
                  <a:pt x="5589" y="73021"/>
                  <a:pt x="2384" y="76226"/>
                </a:cubicBezTo>
                <a:cubicBezTo>
                  <a:pt x="-820" y="79431"/>
                  <a:pt x="-820" y="84635"/>
                  <a:pt x="2384" y="87840"/>
                </a:cubicBezTo>
                <a:lnTo>
                  <a:pt x="43407" y="1288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0" name="Shape 67"/>
          <p:cNvSpPr/>
          <p:nvPr/>
        </p:nvSpPr>
        <p:spPr>
          <a:xfrm>
            <a:off x="7467190" y="4413449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164092" y="0"/>
                </a:moveTo>
                <a:lnTo>
                  <a:pt x="164092" y="0"/>
                </a:lnTo>
                <a:cubicBezTo>
                  <a:pt x="254656" y="0"/>
                  <a:pt x="328183" y="73527"/>
                  <a:pt x="328183" y="164092"/>
                </a:cubicBezTo>
                <a:lnTo>
                  <a:pt x="328183" y="164092"/>
                </a:lnTo>
                <a:cubicBezTo>
                  <a:pt x="328183" y="254656"/>
                  <a:pt x="254656" y="328183"/>
                  <a:pt x="164092" y="328183"/>
                </a:cubicBezTo>
                <a:lnTo>
                  <a:pt x="164092" y="328183"/>
                </a:lnTo>
                <a:cubicBezTo>
                  <a:pt x="73527" y="328183"/>
                  <a:pt x="0" y="254656"/>
                  <a:pt x="0" y="164092"/>
                </a:cubicBezTo>
                <a:lnTo>
                  <a:pt x="0" y="164092"/>
                </a:lnTo>
                <a:cubicBezTo>
                  <a:pt x="0" y="73527"/>
                  <a:pt x="73527" y="0"/>
                  <a:pt x="16409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1" name="Text 68"/>
          <p:cNvSpPr/>
          <p:nvPr/>
        </p:nvSpPr>
        <p:spPr>
          <a:xfrm>
            <a:off x="7438474" y="4413449"/>
            <a:ext cx="385615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7897110" y="4361041"/>
            <a:ext cx="3829896" cy="433202"/>
          </a:xfrm>
          <a:custGeom>
            <a:avLst/>
            <a:gdLst/>
            <a:ahLst/>
            <a:cxnLst/>
            <a:rect l="l" t="t" r="r" b="b"/>
            <a:pathLst>
              <a:path w="3829896" h="433202">
                <a:moveTo>
                  <a:pt x="32819" y="0"/>
                </a:moveTo>
                <a:lnTo>
                  <a:pt x="3797077" y="0"/>
                </a:lnTo>
                <a:cubicBezTo>
                  <a:pt x="3815202" y="0"/>
                  <a:pt x="3829896" y="14694"/>
                  <a:pt x="3829896" y="32819"/>
                </a:cubicBezTo>
                <a:lnTo>
                  <a:pt x="3829896" y="400382"/>
                </a:lnTo>
                <a:cubicBezTo>
                  <a:pt x="3829896" y="418508"/>
                  <a:pt x="3815202" y="433202"/>
                  <a:pt x="3797077" y="433202"/>
                </a:cubicBezTo>
                <a:lnTo>
                  <a:pt x="32819" y="433202"/>
                </a:lnTo>
                <a:cubicBezTo>
                  <a:pt x="14694" y="433202"/>
                  <a:pt x="0" y="418508"/>
                  <a:pt x="0" y="400382"/>
                </a:cubicBezTo>
                <a:lnTo>
                  <a:pt x="0" y="32819"/>
                </a:lnTo>
                <a:cubicBezTo>
                  <a:pt x="0" y="14706"/>
                  <a:pt x="14706" y="0"/>
                  <a:pt x="3281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966028" y="4429958"/>
            <a:ext cx="3749491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 to AWS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7966028" y="4594050"/>
            <a:ext cx="3741287" cy="1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ECS Fargate Spot orchestration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7345762" y="6103796"/>
            <a:ext cx="32818" cy="574320"/>
          </a:xfrm>
          <a:custGeom>
            <a:avLst/>
            <a:gdLst/>
            <a:ahLst/>
            <a:cxnLst/>
            <a:rect l="l" t="t" r="r" b="b"/>
            <a:pathLst>
              <a:path w="32818" h="574320">
                <a:moveTo>
                  <a:pt x="0" y="0"/>
                </a:moveTo>
                <a:lnTo>
                  <a:pt x="32818" y="0"/>
                </a:lnTo>
                <a:lnTo>
                  <a:pt x="32818" y="574320"/>
                </a:lnTo>
                <a:lnTo>
                  <a:pt x="0" y="57432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6" name="Text 73"/>
          <p:cNvSpPr/>
          <p:nvPr/>
        </p:nvSpPr>
        <p:spPr>
          <a:xfrm>
            <a:off x="7493445" y="6202251"/>
            <a:ext cx="4430471" cy="37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Innovation:</a:t>
            </a:r>
            <a:pPr>
              <a:lnSpc>
                <a:spcPct val="140000"/>
              </a:lnSpc>
            </a:pPr>
            <a:r>
              <a:rPr lang="en-US" sz="904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DeployGuard eliminates the friction of debugging by automatically parsing failed logs and providing conversational, step-by-step remediation instructions.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spc="50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5.0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082931"/>
            <a:ext cx="721954" cy="36098"/>
          </a:xfrm>
          <a:custGeom>
            <a:avLst/>
            <a:gdLst/>
            <a:ahLst/>
            <a:cxnLst/>
            <a:rect l="l" t="t" r="r" b="b"/>
            <a:pathLst>
              <a:path w="721954" h="36098">
                <a:moveTo>
                  <a:pt x="0" y="0"/>
                </a:moveTo>
                <a:lnTo>
                  <a:pt x="721954" y="0"/>
                </a:lnTo>
                <a:lnTo>
                  <a:pt x="721954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60977" y="1299517"/>
            <a:ext cx="6750271" cy="1191224"/>
          </a:xfrm>
          <a:custGeom>
            <a:avLst/>
            <a:gdLst/>
            <a:ahLst/>
            <a:cxnLst/>
            <a:rect l="l" t="t" r="r" b="b"/>
            <a:pathLst>
              <a:path w="6750271" h="1191224">
                <a:moveTo>
                  <a:pt x="72200" y="0"/>
                </a:moveTo>
                <a:lnTo>
                  <a:pt x="6678071" y="0"/>
                </a:lnTo>
                <a:cubicBezTo>
                  <a:pt x="6717946" y="0"/>
                  <a:pt x="6750271" y="32325"/>
                  <a:pt x="6750271" y="72200"/>
                </a:cubicBezTo>
                <a:lnTo>
                  <a:pt x="6750271" y="1119024"/>
                </a:lnTo>
                <a:cubicBezTo>
                  <a:pt x="6750271" y="1158872"/>
                  <a:pt x="6717919" y="1191224"/>
                  <a:pt x="6678071" y="1191224"/>
                </a:cubicBezTo>
                <a:lnTo>
                  <a:pt x="72200" y="1191224"/>
                </a:lnTo>
                <a:cubicBezTo>
                  <a:pt x="32325" y="1191224"/>
                  <a:pt x="0" y="1158899"/>
                  <a:pt x="0" y="1119024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1466" y="1480006"/>
            <a:ext cx="647953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Scope 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1466" y="1840983"/>
            <a:ext cx="6461489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scope of this project is to develop a comprehensive DevOps orchestration web application for seamless cloud deployments, targeting startups and SMEs with limited DevOps expertise.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4587" y="2638742"/>
            <a:ext cx="3301135" cy="1442103"/>
          </a:xfrm>
          <a:custGeom>
            <a:avLst/>
            <a:gdLst/>
            <a:ahLst/>
            <a:cxnLst/>
            <a:rect l="l" t="t" r="r" b="b"/>
            <a:pathLst>
              <a:path w="3301135" h="1442103">
                <a:moveTo>
                  <a:pt x="36096" y="0"/>
                </a:moveTo>
                <a:lnTo>
                  <a:pt x="3265039" y="0"/>
                </a:lnTo>
                <a:cubicBezTo>
                  <a:pt x="3284974" y="0"/>
                  <a:pt x="3301135" y="16161"/>
                  <a:pt x="3301135" y="36096"/>
                </a:cubicBezTo>
                <a:lnTo>
                  <a:pt x="3301135" y="1406007"/>
                </a:lnTo>
                <a:cubicBezTo>
                  <a:pt x="3301135" y="1425943"/>
                  <a:pt x="3284974" y="1442103"/>
                  <a:pt x="3265039" y="1442103"/>
                </a:cubicBezTo>
                <a:lnTo>
                  <a:pt x="36096" y="1442103"/>
                </a:lnTo>
                <a:cubicBezTo>
                  <a:pt x="16161" y="1442103"/>
                  <a:pt x="0" y="1425943"/>
                  <a:pt x="0" y="1406007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429" y="2804794"/>
            <a:ext cx="157927" cy="180489"/>
          </a:xfrm>
          <a:custGeom>
            <a:avLst/>
            <a:gdLst/>
            <a:ahLst/>
            <a:cxnLst/>
            <a:rect l="l" t="t" r="r" b="b"/>
            <a:pathLst>
              <a:path w="157927" h="180489">
                <a:moveTo>
                  <a:pt x="28201" y="36662"/>
                </a:moveTo>
                <a:cubicBezTo>
                  <a:pt x="32871" y="36662"/>
                  <a:pt x="36662" y="32871"/>
                  <a:pt x="36662" y="28201"/>
                </a:cubicBezTo>
                <a:cubicBezTo>
                  <a:pt x="36662" y="23532"/>
                  <a:pt x="32871" y="19741"/>
                  <a:pt x="28201" y="19741"/>
                </a:cubicBezTo>
                <a:cubicBezTo>
                  <a:pt x="23532" y="19741"/>
                  <a:pt x="19741" y="23532"/>
                  <a:pt x="19741" y="28201"/>
                </a:cubicBezTo>
                <a:cubicBezTo>
                  <a:pt x="19741" y="32871"/>
                  <a:pt x="23532" y="36662"/>
                  <a:pt x="28201" y="36662"/>
                </a:cubicBezTo>
                <a:close/>
                <a:moveTo>
                  <a:pt x="56403" y="28201"/>
                </a:moveTo>
                <a:cubicBezTo>
                  <a:pt x="56403" y="39764"/>
                  <a:pt x="49458" y="49705"/>
                  <a:pt x="39482" y="54041"/>
                </a:cubicBezTo>
                <a:lnTo>
                  <a:pt x="39482" y="78964"/>
                </a:lnTo>
                <a:lnTo>
                  <a:pt x="101525" y="78964"/>
                </a:lnTo>
                <a:cubicBezTo>
                  <a:pt x="110866" y="78964"/>
                  <a:pt x="118446" y="71385"/>
                  <a:pt x="118446" y="62043"/>
                </a:cubicBezTo>
                <a:lnTo>
                  <a:pt x="118446" y="54041"/>
                </a:lnTo>
                <a:cubicBezTo>
                  <a:pt x="108469" y="49705"/>
                  <a:pt x="101525" y="39764"/>
                  <a:pt x="101525" y="28201"/>
                </a:cubicBezTo>
                <a:cubicBezTo>
                  <a:pt x="101525" y="12620"/>
                  <a:pt x="114145" y="0"/>
                  <a:pt x="129726" y="0"/>
                </a:cubicBezTo>
                <a:cubicBezTo>
                  <a:pt x="145307" y="0"/>
                  <a:pt x="157927" y="12620"/>
                  <a:pt x="157927" y="28201"/>
                </a:cubicBezTo>
                <a:cubicBezTo>
                  <a:pt x="157927" y="39764"/>
                  <a:pt x="150983" y="49705"/>
                  <a:pt x="141007" y="54041"/>
                </a:cubicBezTo>
                <a:lnTo>
                  <a:pt x="141007" y="62043"/>
                </a:lnTo>
                <a:cubicBezTo>
                  <a:pt x="141007" y="83864"/>
                  <a:pt x="123346" y="101525"/>
                  <a:pt x="101525" y="101525"/>
                </a:cubicBezTo>
                <a:lnTo>
                  <a:pt x="39482" y="101525"/>
                </a:lnTo>
                <a:lnTo>
                  <a:pt x="39482" y="126448"/>
                </a:lnTo>
                <a:cubicBezTo>
                  <a:pt x="49458" y="130784"/>
                  <a:pt x="56403" y="140725"/>
                  <a:pt x="56403" y="152287"/>
                </a:cubicBezTo>
                <a:cubicBezTo>
                  <a:pt x="56403" y="167868"/>
                  <a:pt x="43783" y="180489"/>
                  <a:pt x="28201" y="180489"/>
                </a:cubicBezTo>
                <a:cubicBezTo>
                  <a:pt x="12620" y="180489"/>
                  <a:pt x="0" y="167868"/>
                  <a:pt x="0" y="152287"/>
                </a:cubicBezTo>
                <a:cubicBezTo>
                  <a:pt x="0" y="140725"/>
                  <a:pt x="6945" y="130784"/>
                  <a:pt x="16921" y="126448"/>
                </a:cubicBezTo>
                <a:lnTo>
                  <a:pt x="16921" y="54076"/>
                </a:lnTo>
                <a:cubicBezTo>
                  <a:pt x="6945" y="49705"/>
                  <a:pt x="0" y="39764"/>
                  <a:pt x="0" y="28201"/>
                </a:cubicBezTo>
                <a:cubicBezTo>
                  <a:pt x="0" y="12620"/>
                  <a:pt x="12620" y="0"/>
                  <a:pt x="28201" y="0"/>
                </a:cubicBezTo>
                <a:cubicBezTo>
                  <a:pt x="43783" y="0"/>
                  <a:pt x="56403" y="12620"/>
                  <a:pt x="56403" y="28201"/>
                </a:cubicBezTo>
                <a:close/>
                <a:moveTo>
                  <a:pt x="138187" y="28201"/>
                </a:moveTo>
                <a:cubicBezTo>
                  <a:pt x="138187" y="23532"/>
                  <a:pt x="134396" y="19741"/>
                  <a:pt x="129726" y="19741"/>
                </a:cubicBezTo>
                <a:cubicBezTo>
                  <a:pt x="125057" y="19741"/>
                  <a:pt x="121266" y="23532"/>
                  <a:pt x="121266" y="28201"/>
                </a:cubicBezTo>
                <a:cubicBezTo>
                  <a:pt x="121266" y="32871"/>
                  <a:pt x="125057" y="36662"/>
                  <a:pt x="129726" y="36662"/>
                </a:cubicBezTo>
                <a:cubicBezTo>
                  <a:pt x="134396" y="36662"/>
                  <a:pt x="138187" y="32871"/>
                  <a:pt x="138187" y="28201"/>
                </a:cubicBezTo>
                <a:close/>
                <a:moveTo>
                  <a:pt x="28201" y="160748"/>
                </a:moveTo>
                <a:cubicBezTo>
                  <a:pt x="32871" y="160748"/>
                  <a:pt x="36662" y="156957"/>
                  <a:pt x="36662" y="152287"/>
                </a:cubicBezTo>
                <a:cubicBezTo>
                  <a:pt x="36662" y="147618"/>
                  <a:pt x="32871" y="143827"/>
                  <a:pt x="28201" y="143827"/>
                </a:cubicBezTo>
                <a:cubicBezTo>
                  <a:pt x="23532" y="143827"/>
                  <a:pt x="19741" y="147618"/>
                  <a:pt x="19741" y="152287"/>
                </a:cubicBezTo>
                <a:cubicBezTo>
                  <a:pt x="19741" y="156957"/>
                  <a:pt x="23532" y="160748"/>
                  <a:pt x="28201" y="16074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10394" y="2786746"/>
            <a:ext cx="148000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Repository Integration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587" y="3111625"/>
            <a:ext cx="3068305" cy="61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Users link GitHub repositories to the platform, enabling automatic scanning, containerization, and deployment workflows triggered by code commits.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3046" y="2638742"/>
            <a:ext cx="3301135" cy="1442103"/>
          </a:xfrm>
          <a:custGeom>
            <a:avLst/>
            <a:gdLst/>
            <a:ahLst/>
            <a:cxnLst/>
            <a:rect l="l" t="t" r="r" b="b"/>
            <a:pathLst>
              <a:path w="3301135" h="1442103">
                <a:moveTo>
                  <a:pt x="36096" y="0"/>
                </a:moveTo>
                <a:lnTo>
                  <a:pt x="3265039" y="0"/>
                </a:lnTo>
                <a:cubicBezTo>
                  <a:pt x="3284974" y="0"/>
                  <a:pt x="3301135" y="16161"/>
                  <a:pt x="3301135" y="36096"/>
                </a:cubicBezTo>
                <a:lnTo>
                  <a:pt x="3301135" y="1406007"/>
                </a:lnTo>
                <a:cubicBezTo>
                  <a:pt x="3301135" y="1425943"/>
                  <a:pt x="3284974" y="1442103"/>
                  <a:pt x="3265039" y="1442103"/>
                </a:cubicBezTo>
                <a:lnTo>
                  <a:pt x="36096" y="1442103"/>
                </a:lnTo>
                <a:cubicBezTo>
                  <a:pt x="16161" y="1442103"/>
                  <a:pt x="0" y="1425943"/>
                  <a:pt x="0" y="1406007"/>
                </a:cubicBezTo>
                <a:lnTo>
                  <a:pt x="0" y="36096"/>
                </a:lnTo>
                <a:cubicBezTo>
                  <a:pt x="0" y="16174"/>
                  <a:pt x="16174" y="0"/>
                  <a:pt x="36096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2327" y="2804794"/>
            <a:ext cx="203050" cy="180489"/>
          </a:xfrm>
          <a:custGeom>
            <a:avLst/>
            <a:gdLst/>
            <a:ahLst/>
            <a:cxnLst/>
            <a:rect l="l" t="t" r="r" b="b"/>
            <a:pathLst>
              <a:path w="203050" h="180489">
                <a:moveTo>
                  <a:pt x="50762" y="169208"/>
                </a:moveTo>
                <a:cubicBezTo>
                  <a:pt x="22737" y="169208"/>
                  <a:pt x="0" y="146471"/>
                  <a:pt x="0" y="118446"/>
                </a:cubicBezTo>
                <a:cubicBezTo>
                  <a:pt x="0" y="96096"/>
                  <a:pt x="14453" y="77131"/>
                  <a:pt x="34511" y="70327"/>
                </a:cubicBezTo>
                <a:cubicBezTo>
                  <a:pt x="34053" y="67613"/>
                  <a:pt x="33842" y="64863"/>
                  <a:pt x="33842" y="62043"/>
                </a:cubicBezTo>
                <a:cubicBezTo>
                  <a:pt x="33842" y="34018"/>
                  <a:pt x="56579" y="11281"/>
                  <a:pt x="84604" y="11281"/>
                </a:cubicBezTo>
                <a:cubicBezTo>
                  <a:pt x="104133" y="11281"/>
                  <a:pt x="121089" y="22314"/>
                  <a:pt x="129585" y="38460"/>
                </a:cubicBezTo>
                <a:cubicBezTo>
                  <a:pt x="134591" y="35534"/>
                  <a:pt x="140443" y="33842"/>
                  <a:pt x="146647" y="33842"/>
                </a:cubicBezTo>
                <a:cubicBezTo>
                  <a:pt x="165330" y="33842"/>
                  <a:pt x="180489" y="49000"/>
                  <a:pt x="180489" y="67683"/>
                </a:cubicBezTo>
                <a:cubicBezTo>
                  <a:pt x="180489" y="73218"/>
                  <a:pt x="179149" y="78470"/>
                  <a:pt x="176787" y="83088"/>
                </a:cubicBezTo>
                <a:cubicBezTo>
                  <a:pt x="192298" y="90244"/>
                  <a:pt x="203050" y="105896"/>
                  <a:pt x="203050" y="124086"/>
                </a:cubicBezTo>
                <a:cubicBezTo>
                  <a:pt x="203050" y="149009"/>
                  <a:pt x="182850" y="169208"/>
                  <a:pt x="157927" y="169208"/>
                </a:cubicBezTo>
                <a:lnTo>
                  <a:pt x="50762" y="169208"/>
                </a:lnTo>
                <a:close/>
                <a:moveTo>
                  <a:pt x="107518" y="67331"/>
                </a:moveTo>
                <a:cubicBezTo>
                  <a:pt x="104204" y="64017"/>
                  <a:pt x="98846" y="64017"/>
                  <a:pt x="95567" y="67331"/>
                </a:cubicBezTo>
                <a:lnTo>
                  <a:pt x="70186" y="92712"/>
                </a:lnTo>
                <a:cubicBezTo>
                  <a:pt x="66872" y="96026"/>
                  <a:pt x="66872" y="101384"/>
                  <a:pt x="70186" y="104662"/>
                </a:cubicBezTo>
                <a:cubicBezTo>
                  <a:pt x="73500" y="107941"/>
                  <a:pt x="78858" y="107976"/>
                  <a:pt x="82136" y="104662"/>
                </a:cubicBezTo>
                <a:lnTo>
                  <a:pt x="93064" y="93734"/>
                </a:lnTo>
                <a:lnTo>
                  <a:pt x="93064" y="129726"/>
                </a:lnTo>
                <a:cubicBezTo>
                  <a:pt x="93064" y="134415"/>
                  <a:pt x="96836" y="138187"/>
                  <a:pt x="101525" y="138187"/>
                </a:cubicBezTo>
                <a:cubicBezTo>
                  <a:pt x="106213" y="138187"/>
                  <a:pt x="109985" y="134415"/>
                  <a:pt x="109985" y="129726"/>
                </a:cubicBezTo>
                <a:lnTo>
                  <a:pt x="109985" y="93734"/>
                </a:lnTo>
                <a:lnTo>
                  <a:pt x="120913" y="104662"/>
                </a:lnTo>
                <a:cubicBezTo>
                  <a:pt x="124227" y="107976"/>
                  <a:pt x="129585" y="107976"/>
                  <a:pt x="132864" y="104662"/>
                </a:cubicBezTo>
                <a:cubicBezTo>
                  <a:pt x="136142" y="101349"/>
                  <a:pt x="136177" y="95990"/>
                  <a:pt x="132864" y="92712"/>
                </a:cubicBezTo>
                <a:lnTo>
                  <a:pt x="107482" y="6733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8853" y="2786746"/>
            <a:ext cx="124537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AWS Fargate Spot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61047" y="3111625"/>
            <a:ext cx="3068305" cy="821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 applications to AWS ECS Fargate Spot instances, achieving up to 70% cost savings compared to On-Demand pricing with automatic interruption handling.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4587" y="4232457"/>
            <a:ext cx="3301135" cy="1234542"/>
          </a:xfrm>
          <a:custGeom>
            <a:avLst/>
            <a:gdLst/>
            <a:ahLst/>
            <a:cxnLst/>
            <a:rect l="l" t="t" r="r" b="b"/>
            <a:pathLst>
              <a:path w="3301135" h="1234542">
                <a:moveTo>
                  <a:pt x="36098" y="0"/>
                </a:moveTo>
                <a:lnTo>
                  <a:pt x="3265037" y="0"/>
                </a:lnTo>
                <a:cubicBezTo>
                  <a:pt x="3284974" y="0"/>
                  <a:pt x="3301135" y="16162"/>
                  <a:pt x="3301135" y="36098"/>
                </a:cubicBezTo>
                <a:lnTo>
                  <a:pt x="3301135" y="1198444"/>
                </a:lnTo>
                <a:cubicBezTo>
                  <a:pt x="3301135" y="1218380"/>
                  <a:pt x="3284974" y="1234542"/>
                  <a:pt x="3265037" y="1234542"/>
                </a:cubicBezTo>
                <a:lnTo>
                  <a:pt x="36098" y="1234542"/>
                </a:lnTo>
                <a:cubicBezTo>
                  <a:pt x="16162" y="1234542"/>
                  <a:pt x="0" y="1218380"/>
                  <a:pt x="0" y="1198444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5148" y="4398505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169243" y="67683"/>
                </a:moveTo>
                <a:lnTo>
                  <a:pt x="172028" y="67683"/>
                </a:lnTo>
                <a:cubicBezTo>
                  <a:pt x="176717" y="67683"/>
                  <a:pt x="180489" y="63911"/>
                  <a:pt x="180489" y="59223"/>
                </a:cubicBezTo>
                <a:lnTo>
                  <a:pt x="180489" y="8460"/>
                </a:lnTo>
                <a:cubicBezTo>
                  <a:pt x="180489" y="5041"/>
                  <a:pt x="178444" y="1939"/>
                  <a:pt x="175271" y="635"/>
                </a:cubicBezTo>
                <a:cubicBezTo>
                  <a:pt x="172099" y="-670"/>
                  <a:pt x="168468" y="71"/>
                  <a:pt x="166035" y="2468"/>
                </a:cubicBezTo>
                <a:lnTo>
                  <a:pt x="147810" y="20728"/>
                </a:lnTo>
                <a:cubicBezTo>
                  <a:pt x="132194" y="7791"/>
                  <a:pt x="112100" y="0"/>
                  <a:pt x="90244" y="0"/>
                </a:cubicBezTo>
                <a:cubicBezTo>
                  <a:pt x="44770" y="0"/>
                  <a:pt x="7156" y="33630"/>
                  <a:pt x="917" y="77377"/>
                </a:cubicBezTo>
                <a:cubicBezTo>
                  <a:pt x="35" y="83546"/>
                  <a:pt x="4301" y="89257"/>
                  <a:pt x="10470" y="90139"/>
                </a:cubicBezTo>
                <a:cubicBezTo>
                  <a:pt x="16639" y="91020"/>
                  <a:pt x="22350" y="86719"/>
                  <a:pt x="23231" y="80585"/>
                </a:cubicBezTo>
                <a:cubicBezTo>
                  <a:pt x="27919" y="47766"/>
                  <a:pt x="56156" y="22561"/>
                  <a:pt x="90244" y="22561"/>
                </a:cubicBezTo>
                <a:cubicBezTo>
                  <a:pt x="105896" y="22561"/>
                  <a:pt x="120279" y="27849"/>
                  <a:pt x="131735" y="36767"/>
                </a:cubicBezTo>
                <a:lnTo>
                  <a:pt x="115273" y="53230"/>
                </a:lnTo>
                <a:cubicBezTo>
                  <a:pt x="112841" y="55662"/>
                  <a:pt x="112136" y="59293"/>
                  <a:pt x="113440" y="62466"/>
                </a:cubicBezTo>
                <a:cubicBezTo>
                  <a:pt x="114744" y="65639"/>
                  <a:pt x="117846" y="67683"/>
                  <a:pt x="121266" y="67683"/>
                </a:cubicBezTo>
                <a:lnTo>
                  <a:pt x="169243" y="67683"/>
                </a:lnTo>
                <a:close/>
                <a:moveTo>
                  <a:pt x="179607" y="103111"/>
                </a:moveTo>
                <a:cubicBezTo>
                  <a:pt x="180489" y="96942"/>
                  <a:pt x="176188" y="91231"/>
                  <a:pt x="170054" y="90350"/>
                </a:cubicBezTo>
                <a:cubicBezTo>
                  <a:pt x="163920" y="89469"/>
                  <a:pt x="158174" y="93769"/>
                  <a:pt x="157293" y="99903"/>
                </a:cubicBezTo>
                <a:cubicBezTo>
                  <a:pt x="152604" y="132687"/>
                  <a:pt x="124368" y="157892"/>
                  <a:pt x="90280" y="157892"/>
                </a:cubicBezTo>
                <a:cubicBezTo>
                  <a:pt x="74628" y="157892"/>
                  <a:pt x="60245" y="152604"/>
                  <a:pt x="48788" y="143686"/>
                </a:cubicBezTo>
                <a:lnTo>
                  <a:pt x="65216" y="127259"/>
                </a:lnTo>
                <a:cubicBezTo>
                  <a:pt x="67648" y="124826"/>
                  <a:pt x="68353" y="121195"/>
                  <a:pt x="67049" y="118023"/>
                </a:cubicBezTo>
                <a:cubicBezTo>
                  <a:pt x="65744" y="114850"/>
                  <a:pt x="62642" y="112805"/>
                  <a:pt x="59223" y="112805"/>
                </a:cubicBezTo>
                <a:lnTo>
                  <a:pt x="8460" y="112805"/>
                </a:lnTo>
                <a:cubicBezTo>
                  <a:pt x="3772" y="112805"/>
                  <a:pt x="0" y="116577"/>
                  <a:pt x="0" y="121266"/>
                </a:cubicBezTo>
                <a:lnTo>
                  <a:pt x="0" y="172028"/>
                </a:lnTo>
                <a:cubicBezTo>
                  <a:pt x="0" y="175448"/>
                  <a:pt x="2045" y="178550"/>
                  <a:pt x="5217" y="179854"/>
                </a:cubicBezTo>
                <a:cubicBezTo>
                  <a:pt x="8390" y="181158"/>
                  <a:pt x="12021" y="180418"/>
                  <a:pt x="14453" y="178021"/>
                </a:cubicBezTo>
                <a:lnTo>
                  <a:pt x="32714" y="159761"/>
                </a:lnTo>
                <a:cubicBezTo>
                  <a:pt x="48295" y="172698"/>
                  <a:pt x="68388" y="180489"/>
                  <a:pt x="90244" y="180489"/>
                </a:cubicBezTo>
                <a:cubicBezTo>
                  <a:pt x="135719" y="180489"/>
                  <a:pt x="173332" y="146858"/>
                  <a:pt x="179572" y="10311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10394" y="4380456"/>
            <a:ext cx="132659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CI/CD Automation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587" y="4705335"/>
            <a:ext cx="3068305" cy="61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Robust continuous integration and deployment automation through GitHub Actions integration, with Redis/BullMQ queuing for long-running operations.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3046" y="4232457"/>
            <a:ext cx="3301135" cy="1234542"/>
          </a:xfrm>
          <a:custGeom>
            <a:avLst/>
            <a:gdLst/>
            <a:ahLst/>
            <a:cxnLst/>
            <a:rect l="l" t="t" r="r" b="b"/>
            <a:pathLst>
              <a:path w="3301135" h="1234542">
                <a:moveTo>
                  <a:pt x="36098" y="0"/>
                </a:moveTo>
                <a:lnTo>
                  <a:pt x="3265037" y="0"/>
                </a:lnTo>
                <a:cubicBezTo>
                  <a:pt x="3284974" y="0"/>
                  <a:pt x="3301135" y="16162"/>
                  <a:pt x="3301135" y="36098"/>
                </a:cubicBezTo>
                <a:lnTo>
                  <a:pt x="3301135" y="1198444"/>
                </a:lnTo>
                <a:cubicBezTo>
                  <a:pt x="3301135" y="1218380"/>
                  <a:pt x="3284974" y="1234542"/>
                  <a:pt x="3265037" y="1234542"/>
                </a:cubicBezTo>
                <a:lnTo>
                  <a:pt x="36098" y="1234542"/>
                </a:lnTo>
                <a:cubicBezTo>
                  <a:pt x="16162" y="1234542"/>
                  <a:pt x="0" y="1218380"/>
                  <a:pt x="0" y="1198444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83608" y="4398505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89328" y="1022"/>
                </a:moveTo>
                <a:cubicBezTo>
                  <a:pt x="87847" y="353"/>
                  <a:pt x="86261" y="0"/>
                  <a:pt x="84604" y="0"/>
                </a:cubicBezTo>
                <a:cubicBezTo>
                  <a:pt x="82947" y="0"/>
                  <a:pt x="81361" y="353"/>
                  <a:pt x="79880" y="1022"/>
                </a:cubicBezTo>
                <a:lnTo>
                  <a:pt x="13501" y="29188"/>
                </a:lnTo>
                <a:cubicBezTo>
                  <a:pt x="5746" y="32467"/>
                  <a:pt x="-35" y="40116"/>
                  <a:pt x="0" y="49352"/>
                </a:cubicBezTo>
                <a:cubicBezTo>
                  <a:pt x="176" y="84322"/>
                  <a:pt x="14559" y="148304"/>
                  <a:pt x="75298" y="177386"/>
                </a:cubicBezTo>
                <a:cubicBezTo>
                  <a:pt x="81185" y="180207"/>
                  <a:pt x="88023" y="180207"/>
                  <a:pt x="93910" y="177386"/>
                </a:cubicBezTo>
                <a:cubicBezTo>
                  <a:pt x="154684" y="148304"/>
                  <a:pt x="169067" y="84322"/>
                  <a:pt x="169208" y="49352"/>
                </a:cubicBezTo>
                <a:cubicBezTo>
                  <a:pt x="169243" y="40116"/>
                  <a:pt x="163462" y="32467"/>
                  <a:pt x="155707" y="29188"/>
                </a:cubicBezTo>
                <a:lnTo>
                  <a:pt x="89328" y="1022"/>
                </a:lnTo>
                <a:close/>
                <a:moveTo>
                  <a:pt x="84604" y="45122"/>
                </a:moveTo>
                <a:cubicBezTo>
                  <a:pt x="89292" y="45122"/>
                  <a:pt x="93064" y="48894"/>
                  <a:pt x="93064" y="53583"/>
                </a:cubicBezTo>
                <a:cubicBezTo>
                  <a:pt x="93064" y="61655"/>
                  <a:pt x="102829" y="65709"/>
                  <a:pt x="108540" y="59998"/>
                </a:cubicBezTo>
                <a:cubicBezTo>
                  <a:pt x="111854" y="56685"/>
                  <a:pt x="117212" y="56685"/>
                  <a:pt x="120490" y="59998"/>
                </a:cubicBezTo>
                <a:cubicBezTo>
                  <a:pt x="123769" y="63312"/>
                  <a:pt x="123804" y="68670"/>
                  <a:pt x="120490" y="71949"/>
                </a:cubicBezTo>
                <a:cubicBezTo>
                  <a:pt x="114779" y="77659"/>
                  <a:pt x="118833" y="87424"/>
                  <a:pt x="126906" y="87424"/>
                </a:cubicBezTo>
                <a:cubicBezTo>
                  <a:pt x="131594" y="87424"/>
                  <a:pt x="135366" y="91196"/>
                  <a:pt x="135366" y="95885"/>
                </a:cubicBezTo>
                <a:cubicBezTo>
                  <a:pt x="135366" y="100573"/>
                  <a:pt x="131594" y="104345"/>
                  <a:pt x="126906" y="104345"/>
                </a:cubicBezTo>
                <a:cubicBezTo>
                  <a:pt x="118833" y="104345"/>
                  <a:pt x="114779" y="114110"/>
                  <a:pt x="120490" y="119820"/>
                </a:cubicBezTo>
                <a:cubicBezTo>
                  <a:pt x="123804" y="123134"/>
                  <a:pt x="123804" y="128492"/>
                  <a:pt x="120490" y="131771"/>
                </a:cubicBezTo>
                <a:cubicBezTo>
                  <a:pt x="117177" y="135049"/>
                  <a:pt x="111818" y="135084"/>
                  <a:pt x="108540" y="131771"/>
                </a:cubicBezTo>
                <a:cubicBezTo>
                  <a:pt x="102829" y="126060"/>
                  <a:pt x="93064" y="130114"/>
                  <a:pt x="93064" y="138187"/>
                </a:cubicBezTo>
                <a:cubicBezTo>
                  <a:pt x="93064" y="142875"/>
                  <a:pt x="89292" y="146647"/>
                  <a:pt x="84604" y="146647"/>
                </a:cubicBezTo>
                <a:cubicBezTo>
                  <a:pt x="79916" y="146647"/>
                  <a:pt x="76144" y="142875"/>
                  <a:pt x="76144" y="138187"/>
                </a:cubicBezTo>
                <a:cubicBezTo>
                  <a:pt x="76144" y="130114"/>
                  <a:pt x="66379" y="126060"/>
                  <a:pt x="60668" y="131771"/>
                </a:cubicBezTo>
                <a:cubicBezTo>
                  <a:pt x="57354" y="135084"/>
                  <a:pt x="51996" y="135084"/>
                  <a:pt x="48718" y="131771"/>
                </a:cubicBezTo>
                <a:cubicBezTo>
                  <a:pt x="45439" y="128457"/>
                  <a:pt x="45404" y="123099"/>
                  <a:pt x="48718" y="119820"/>
                </a:cubicBezTo>
                <a:cubicBezTo>
                  <a:pt x="54429" y="114110"/>
                  <a:pt x="50375" y="104345"/>
                  <a:pt x="42302" y="104345"/>
                </a:cubicBezTo>
                <a:cubicBezTo>
                  <a:pt x="37614" y="104345"/>
                  <a:pt x="33842" y="100573"/>
                  <a:pt x="33842" y="95885"/>
                </a:cubicBezTo>
                <a:cubicBezTo>
                  <a:pt x="33842" y="91196"/>
                  <a:pt x="37614" y="87424"/>
                  <a:pt x="42302" y="87424"/>
                </a:cubicBezTo>
                <a:cubicBezTo>
                  <a:pt x="50375" y="87424"/>
                  <a:pt x="54429" y="77659"/>
                  <a:pt x="48718" y="71949"/>
                </a:cubicBezTo>
                <a:cubicBezTo>
                  <a:pt x="45404" y="68635"/>
                  <a:pt x="45404" y="63277"/>
                  <a:pt x="48718" y="59998"/>
                </a:cubicBezTo>
                <a:cubicBezTo>
                  <a:pt x="52031" y="56720"/>
                  <a:pt x="57390" y="56685"/>
                  <a:pt x="60668" y="59998"/>
                </a:cubicBezTo>
                <a:cubicBezTo>
                  <a:pt x="66379" y="65709"/>
                  <a:pt x="76144" y="61655"/>
                  <a:pt x="76144" y="53583"/>
                </a:cubicBezTo>
                <a:cubicBezTo>
                  <a:pt x="76144" y="48894"/>
                  <a:pt x="79916" y="45122"/>
                  <a:pt x="84604" y="45122"/>
                </a:cubicBezTo>
                <a:close/>
                <a:moveTo>
                  <a:pt x="73323" y="93064"/>
                </a:moveTo>
                <a:cubicBezTo>
                  <a:pt x="77993" y="93064"/>
                  <a:pt x="81784" y="89273"/>
                  <a:pt x="81784" y="84604"/>
                </a:cubicBezTo>
                <a:cubicBezTo>
                  <a:pt x="81784" y="79935"/>
                  <a:pt x="77993" y="76144"/>
                  <a:pt x="73323" y="76144"/>
                </a:cubicBezTo>
                <a:cubicBezTo>
                  <a:pt x="68654" y="76144"/>
                  <a:pt x="64863" y="79935"/>
                  <a:pt x="64863" y="84604"/>
                </a:cubicBezTo>
                <a:cubicBezTo>
                  <a:pt x="64863" y="89273"/>
                  <a:pt x="68654" y="93064"/>
                  <a:pt x="73323" y="93064"/>
                </a:cubicBezTo>
                <a:close/>
                <a:moveTo>
                  <a:pt x="104345" y="107165"/>
                </a:moveTo>
                <a:cubicBezTo>
                  <a:pt x="104345" y="102496"/>
                  <a:pt x="100554" y="98705"/>
                  <a:pt x="95885" y="98705"/>
                </a:cubicBezTo>
                <a:cubicBezTo>
                  <a:pt x="91215" y="98705"/>
                  <a:pt x="87424" y="102496"/>
                  <a:pt x="87424" y="107165"/>
                </a:cubicBezTo>
                <a:cubicBezTo>
                  <a:pt x="87424" y="111834"/>
                  <a:pt x="91215" y="115625"/>
                  <a:pt x="95885" y="115625"/>
                </a:cubicBezTo>
                <a:cubicBezTo>
                  <a:pt x="100554" y="115625"/>
                  <a:pt x="104345" y="111834"/>
                  <a:pt x="104345" y="10716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258853" y="4380456"/>
            <a:ext cx="129951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61047" y="4705335"/>
            <a:ext cx="3068305" cy="61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Vulnerability reporting dashboard powered by Aqua Trivy, displaying scan results against the National Vulnerability Database with severity classifications.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4587" y="5620866"/>
            <a:ext cx="6748466" cy="1036004"/>
          </a:xfrm>
          <a:custGeom>
            <a:avLst/>
            <a:gdLst/>
            <a:ahLst/>
            <a:cxnLst/>
            <a:rect l="l" t="t" r="r" b="b"/>
            <a:pathLst>
              <a:path w="6748466" h="1036004">
                <a:moveTo>
                  <a:pt x="36094" y="0"/>
                </a:moveTo>
                <a:lnTo>
                  <a:pt x="6712372" y="0"/>
                </a:lnTo>
                <a:cubicBezTo>
                  <a:pt x="6732306" y="0"/>
                  <a:pt x="6748466" y="16160"/>
                  <a:pt x="6748466" y="36094"/>
                </a:cubicBezTo>
                <a:lnTo>
                  <a:pt x="6748466" y="999910"/>
                </a:lnTo>
                <a:cubicBezTo>
                  <a:pt x="6748466" y="1019844"/>
                  <a:pt x="6732306" y="1036004"/>
                  <a:pt x="6712372" y="1036004"/>
                </a:cubicBezTo>
                <a:lnTo>
                  <a:pt x="36094" y="1036004"/>
                </a:lnTo>
                <a:cubicBezTo>
                  <a:pt x="16173" y="1036004"/>
                  <a:pt x="0" y="1019831"/>
                  <a:pt x="0" y="999910"/>
                </a:cubicBezTo>
                <a:lnTo>
                  <a:pt x="0" y="36094"/>
                </a:lnTo>
                <a:cubicBezTo>
                  <a:pt x="0" y="16160"/>
                  <a:pt x="16160" y="0"/>
                  <a:pt x="36094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990" y="5786913"/>
            <a:ext cx="112805" cy="180489"/>
          </a:xfrm>
          <a:custGeom>
            <a:avLst/>
            <a:gdLst/>
            <a:ahLst/>
            <a:cxnLst/>
            <a:rect l="l" t="t" r="r" b="b"/>
            <a:pathLst>
              <a:path w="112805" h="180489">
                <a:moveTo>
                  <a:pt x="47942" y="8460"/>
                </a:moveTo>
                <a:cubicBezTo>
                  <a:pt x="47942" y="3772"/>
                  <a:pt x="51714" y="0"/>
                  <a:pt x="56403" y="0"/>
                </a:cubicBezTo>
                <a:cubicBezTo>
                  <a:pt x="61091" y="0"/>
                  <a:pt x="64863" y="3772"/>
                  <a:pt x="64863" y="8460"/>
                </a:cubicBezTo>
                <a:lnTo>
                  <a:pt x="64863" y="22561"/>
                </a:lnTo>
                <a:lnTo>
                  <a:pt x="84604" y="22561"/>
                </a:lnTo>
                <a:cubicBezTo>
                  <a:pt x="90844" y="22561"/>
                  <a:pt x="95885" y="27602"/>
                  <a:pt x="95885" y="33842"/>
                </a:cubicBezTo>
                <a:cubicBezTo>
                  <a:pt x="95885" y="40081"/>
                  <a:pt x="90844" y="45122"/>
                  <a:pt x="84604" y="45122"/>
                </a:cubicBezTo>
                <a:lnTo>
                  <a:pt x="44100" y="45122"/>
                </a:lnTo>
                <a:cubicBezTo>
                  <a:pt x="35322" y="45122"/>
                  <a:pt x="28201" y="52243"/>
                  <a:pt x="28201" y="61021"/>
                </a:cubicBezTo>
                <a:cubicBezTo>
                  <a:pt x="28201" y="68952"/>
                  <a:pt x="34018" y="75650"/>
                  <a:pt x="41844" y="76778"/>
                </a:cubicBezTo>
                <a:lnTo>
                  <a:pt x="74134" y="81396"/>
                </a:lnTo>
                <a:cubicBezTo>
                  <a:pt x="93100" y="84110"/>
                  <a:pt x="107165" y="100326"/>
                  <a:pt x="107165" y="119468"/>
                </a:cubicBezTo>
                <a:cubicBezTo>
                  <a:pt x="107165" y="140725"/>
                  <a:pt x="89927" y="157927"/>
                  <a:pt x="68705" y="157927"/>
                </a:cubicBezTo>
                <a:lnTo>
                  <a:pt x="64863" y="157927"/>
                </a:lnTo>
                <a:lnTo>
                  <a:pt x="64863" y="172028"/>
                </a:lnTo>
                <a:cubicBezTo>
                  <a:pt x="64863" y="176717"/>
                  <a:pt x="61091" y="180489"/>
                  <a:pt x="56403" y="180489"/>
                </a:cubicBezTo>
                <a:cubicBezTo>
                  <a:pt x="51714" y="180489"/>
                  <a:pt x="47942" y="176717"/>
                  <a:pt x="47942" y="172028"/>
                </a:cubicBezTo>
                <a:lnTo>
                  <a:pt x="47942" y="157927"/>
                </a:lnTo>
                <a:lnTo>
                  <a:pt x="22561" y="157927"/>
                </a:lnTo>
                <a:cubicBezTo>
                  <a:pt x="16322" y="157927"/>
                  <a:pt x="11281" y="152886"/>
                  <a:pt x="11281" y="146647"/>
                </a:cubicBezTo>
                <a:cubicBezTo>
                  <a:pt x="11281" y="140407"/>
                  <a:pt x="16322" y="135366"/>
                  <a:pt x="22561" y="135366"/>
                </a:cubicBezTo>
                <a:lnTo>
                  <a:pt x="68705" y="135366"/>
                </a:lnTo>
                <a:cubicBezTo>
                  <a:pt x="77483" y="135366"/>
                  <a:pt x="84604" y="128246"/>
                  <a:pt x="84604" y="119468"/>
                </a:cubicBezTo>
                <a:cubicBezTo>
                  <a:pt x="84604" y="111536"/>
                  <a:pt x="78787" y="104838"/>
                  <a:pt x="70962" y="103710"/>
                </a:cubicBezTo>
                <a:lnTo>
                  <a:pt x="38671" y="99092"/>
                </a:lnTo>
                <a:cubicBezTo>
                  <a:pt x="19706" y="96413"/>
                  <a:pt x="5640" y="80162"/>
                  <a:pt x="5640" y="61021"/>
                </a:cubicBezTo>
                <a:cubicBezTo>
                  <a:pt x="5640" y="39799"/>
                  <a:pt x="22878" y="22561"/>
                  <a:pt x="44100" y="22561"/>
                </a:cubicBezTo>
                <a:lnTo>
                  <a:pt x="47942" y="22561"/>
                </a:lnTo>
                <a:lnTo>
                  <a:pt x="47942" y="846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10394" y="5768865"/>
            <a:ext cx="199439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Pre-Deployment Cost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587" y="6093744"/>
            <a:ext cx="6515636" cy="415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Financial transparency through Infracost integration, providing real-time AWS pricing estimates before infrastructure provisioning with explicit user approval workflows.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33813" y="1303127"/>
            <a:ext cx="4492359" cy="3616990"/>
          </a:xfrm>
          <a:custGeom>
            <a:avLst/>
            <a:gdLst/>
            <a:ahLst/>
            <a:cxnLst/>
            <a:rect l="l" t="t" r="r" b="b"/>
            <a:pathLst>
              <a:path w="4492359" h="3616990">
                <a:moveTo>
                  <a:pt x="36098" y="0"/>
                </a:moveTo>
                <a:lnTo>
                  <a:pt x="4456262" y="0"/>
                </a:lnTo>
                <a:cubicBezTo>
                  <a:pt x="4476198" y="0"/>
                  <a:pt x="4492359" y="16161"/>
                  <a:pt x="4492359" y="36098"/>
                </a:cubicBezTo>
                <a:lnTo>
                  <a:pt x="4492359" y="3580893"/>
                </a:lnTo>
                <a:cubicBezTo>
                  <a:pt x="4492359" y="3600829"/>
                  <a:pt x="4476198" y="3616990"/>
                  <a:pt x="4456262" y="3616990"/>
                </a:cubicBezTo>
                <a:lnTo>
                  <a:pt x="36098" y="3616990"/>
                </a:lnTo>
                <a:cubicBezTo>
                  <a:pt x="16161" y="3616990"/>
                  <a:pt x="0" y="3600829"/>
                  <a:pt x="0" y="3580893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81813" y="1451130"/>
            <a:ext cx="4250505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4: Platform Capabilities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85423" y="1707310"/>
            <a:ext cx="4194553" cy="620881"/>
          </a:xfrm>
          <a:custGeom>
            <a:avLst/>
            <a:gdLst/>
            <a:ahLst/>
            <a:cxnLst/>
            <a:rect l="l" t="t" r="r" b="b"/>
            <a:pathLst>
              <a:path w="4194553" h="620881">
                <a:moveTo>
                  <a:pt x="36098" y="0"/>
                </a:moveTo>
                <a:lnTo>
                  <a:pt x="4158455" y="0"/>
                </a:lnTo>
                <a:cubicBezTo>
                  <a:pt x="4178392" y="0"/>
                  <a:pt x="4194553" y="16162"/>
                  <a:pt x="4194553" y="36098"/>
                </a:cubicBezTo>
                <a:lnTo>
                  <a:pt x="4194553" y="584783"/>
                </a:lnTo>
                <a:cubicBezTo>
                  <a:pt x="4194553" y="604719"/>
                  <a:pt x="4178392" y="620881"/>
                  <a:pt x="4158455" y="620881"/>
                </a:cubicBezTo>
                <a:lnTo>
                  <a:pt x="36098" y="620881"/>
                </a:lnTo>
                <a:cubicBezTo>
                  <a:pt x="16162" y="620881"/>
                  <a:pt x="0" y="604719"/>
                  <a:pt x="0" y="58478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5375" y="1837260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80092" y="-367"/>
                </a:moveTo>
                <a:cubicBezTo>
                  <a:pt x="75213" y="-3187"/>
                  <a:pt x="69178" y="-3187"/>
                  <a:pt x="64299" y="-367"/>
                </a:cubicBezTo>
                <a:lnTo>
                  <a:pt x="40554" y="13339"/>
                </a:lnTo>
                <a:cubicBezTo>
                  <a:pt x="35675" y="16159"/>
                  <a:pt x="32657" y="21377"/>
                  <a:pt x="32657" y="27017"/>
                </a:cubicBezTo>
                <a:lnTo>
                  <a:pt x="32657" y="55754"/>
                </a:lnTo>
                <a:lnTo>
                  <a:pt x="7755" y="70137"/>
                </a:lnTo>
                <a:cubicBezTo>
                  <a:pt x="2877" y="72957"/>
                  <a:pt x="-141" y="78174"/>
                  <a:pt x="-141" y="83814"/>
                </a:cubicBezTo>
                <a:lnTo>
                  <a:pt x="-141" y="111254"/>
                </a:lnTo>
                <a:cubicBezTo>
                  <a:pt x="-141" y="116895"/>
                  <a:pt x="2877" y="122112"/>
                  <a:pt x="7755" y="124932"/>
                </a:cubicBezTo>
                <a:lnTo>
                  <a:pt x="31529" y="138638"/>
                </a:lnTo>
                <a:cubicBezTo>
                  <a:pt x="36408" y="141458"/>
                  <a:pt x="42443" y="141458"/>
                  <a:pt x="47322" y="138638"/>
                </a:cubicBezTo>
                <a:lnTo>
                  <a:pt x="72224" y="124255"/>
                </a:lnTo>
                <a:lnTo>
                  <a:pt x="97125" y="138638"/>
                </a:lnTo>
                <a:cubicBezTo>
                  <a:pt x="102004" y="141458"/>
                  <a:pt x="108039" y="141458"/>
                  <a:pt x="112918" y="138638"/>
                </a:cubicBezTo>
                <a:lnTo>
                  <a:pt x="136635" y="124932"/>
                </a:lnTo>
                <a:cubicBezTo>
                  <a:pt x="141514" y="122112"/>
                  <a:pt x="144532" y="116895"/>
                  <a:pt x="144532" y="111254"/>
                </a:cubicBezTo>
                <a:lnTo>
                  <a:pt x="144532" y="83814"/>
                </a:lnTo>
                <a:cubicBezTo>
                  <a:pt x="144532" y="78174"/>
                  <a:pt x="141514" y="72957"/>
                  <a:pt x="136635" y="70137"/>
                </a:cubicBezTo>
                <a:lnTo>
                  <a:pt x="111734" y="55754"/>
                </a:lnTo>
                <a:lnTo>
                  <a:pt x="111734" y="27017"/>
                </a:lnTo>
                <a:cubicBezTo>
                  <a:pt x="111734" y="21377"/>
                  <a:pt x="108716" y="16159"/>
                  <a:pt x="103837" y="13339"/>
                </a:cubicBezTo>
                <a:lnTo>
                  <a:pt x="80092" y="-367"/>
                </a:lnTo>
                <a:close/>
                <a:moveTo>
                  <a:pt x="65427" y="82517"/>
                </a:moveTo>
                <a:lnTo>
                  <a:pt x="65427" y="112552"/>
                </a:lnTo>
                <a:lnTo>
                  <a:pt x="40525" y="126934"/>
                </a:lnTo>
                <a:cubicBezTo>
                  <a:pt x="40187" y="127132"/>
                  <a:pt x="39792" y="127244"/>
                  <a:pt x="39397" y="127244"/>
                </a:cubicBezTo>
                <a:lnTo>
                  <a:pt x="39397" y="97548"/>
                </a:lnTo>
                <a:lnTo>
                  <a:pt x="65427" y="82517"/>
                </a:lnTo>
                <a:close/>
                <a:moveTo>
                  <a:pt x="130685" y="82686"/>
                </a:moveTo>
                <a:cubicBezTo>
                  <a:pt x="130882" y="83025"/>
                  <a:pt x="130995" y="83420"/>
                  <a:pt x="130995" y="83814"/>
                </a:cubicBezTo>
                <a:lnTo>
                  <a:pt x="130995" y="111254"/>
                </a:lnTo>
                <a:cubicBezTo>
                  <a:pt x="130995" y="112072"/>
                  <a:pt x="130572" y="112805"/>
                  <a:pt x="129867" y="113200"/>
                </a:cubicBezTo>
                <a:lnTo>
                  <a:pt x="106093" y="126906"/>
                </a:lnTo>
                <a:cubicBezTo>
                  <a:pt x="105755" y="127103"/>
                  <a:pt x="105360" y="127216"/>
                  <a:pt x="104965" y="127216"/>
                </a:cubicBezTo>
                <a:lnTo>
                  <a:pt x="104965" y="97520"/>
                </a:lnTo>
                <a:lnTo>
                  <a:pt x="130685" y="82686"/>
                </a:lnTo>
                <a:close/>
                <a:moveTo>
                  <a:pt x="98225" y="27017"/>
                </a:moveTo>
                <a:lnTo>
                  <a:pt x="98225" y="55754"/>
                </a:lnTo>
                <a:lnTo>
                  <a:pt x="72195" y="70785"/>
                </a:lnTo>
                <a:lnTo>
                  <a:pt x="72195" y="40751"/>
                </a:lnTo>
                <a:lnTo>
                  <a:pt x="97915" y="25917"/>
                </a:lnTo>
                <a:cubicBezTo>
                  <a:pt x="98112" y="26255"/>
                  <a:pt x="98225" y="26650"/>
                  <a:pt x="98225" y="2704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850010" y="1819211"/>
            <a:ext cx="983662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IaC Provisioning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97326" y="2071895"/>
            <a:ext cx="4024894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Terraform-based infrastructure as code with S3/DynamoDB state management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85423" y="2443589"/>
            <a:ext cx="4194553" cy="765271"/>
          </a:xfrm>
          <a:custGeom>
            <a:avLst/>
            <a:gdLst/>
            <a:ahLst/>
            <a:cxnLst/>
            <a:rect l="l" t="t" r="r" b="b"/>
            <a:pathLst>
              <a:path w="4194553" h="765271">
                <a:moveTo>
                  <a:pt x="36098" y="0"/>
                </a:moveTo>
                <a:lnTo>
                  <a:pt x="4158456" y="0"/>
                </a:lnTo>
                <a:cubicBezTo>
                  <a:pt x="4178392" y="0"/>
                  <a:pt x="4194553" y="16162"/>
                  <a:pt x="4194553" y="36098"/>
                </a:cubicBezTo>
                <a:lnTo>
                  <a:pt x="4194553" y="729174"/>
                </a:lnTo>
                <a:cubicBezTo>
                  <a:pt x="4194553" y="749110"/>
                  <a:pt x="4178392" y="765271"/>
                  <a:pt x="4158456" y="765271"/>
                </a:cubicBezTo>
                <a:lnTo>
                  <a:pt x="36098" y="765271"/>
                </a:lnTo>
                <a:cubicBezTo>
                  <a:pt x="16175" y="765271"/>
                  <a:pt x="0" y="749096"/>
                  <a:pt x="0" y="729174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97326" y="2573543"/>
            <a:ext cx="180489" cy="144391"/>
          </a:xfrm>
          <a:custGeom>
            <a:avLst/>
            <a:gdLst/>
            <a:ahLst/>
            <a:cxnLst/>
            <a:rect l="l" t="t" r="r" b="b"/>
            <a:pathLst>
              <a:path w="180489" h="144391">
                <a:moveTo>
                  <a:pt x="99269" y="0"/>
                </a:moveTo>
                <a:cubicBezTo>
                  <a:pt x="99269" y="-4992"/>
                  <a:pt x="95236" y="-9024"/>
                  <a:pt x="90244" y="-9024"/>
                </a:cubicBezTo>
                <a:cubicBezTo>
                  <a:pt x="85253" y="-9024"/>
                  <a:pt x="81220" y="-4992"/>
                  <a:pt x="81220" y="0"/>
                </a:cubicBezTo>
                <a:lnTo>
                  <a:pt x="81220" y="18049"/>
                </a:lnTo>
                <a:lnTo>
                  <a:pt x="54147" y="18049"/>
                </a:lnTo>
                <a:cubicBezTo>
                  <a:pt x="39200" y="18049"/>
                  <a:pt x="27073" y="30175"/>
                  <a:pt x="27073" y="45122"/>
                </a:cubicBezTo>
                <a:lnTo>
                  <a:pt x="27073" y="108293"/>
                </a:lnTo>
                <a:cubicBezTo>
                  <a:pt x="27073" y="123240"/>
                  <a:pt x="39200" y="135366"/>
                  <a:pt x="54147" y="135366"/>
                </a:cubicBezTo>
                <a:lnTo>
                  <a:pt x="126342" y="135366"/>
                </a:lnTo>
                <a:cubicBezTo>
                  <a:pt x="141289" y="135366"/>
                  <a:pt x="153415" y="123240"/>
                  <a:pt x="153415" y="108293"/>
                </a:cubicBezTo>
                <a:lnTo>
                  <a:pt x="153415" y="45122"/>
                </a:lnTo>
                <a:cubicBezTo>
                  <a:pt x="153415" y="30175"/>
                  <a:pt x="141289" y="18049"/>
                  <a:pt x="126342" y="18049"/>
                </a:cubicBezTo>
                <a:lnTo>
                  <a:pt x="99269" y="18049"/>
                </a:lnTo>
                <a:lnTo>
                  <a:pt x="99269" y="0"/>
                </a:lnTo>
                <a:close/>
                <a:moveTo>
                  <a:pt x="45122" y="103781"/>
                </a:moveTo>
                <a:cubicBezTo>
                  <a:pt x="45122" y="100030"/>
                  <a:pt x="48140" y="97013"/>
                  <a:pt x="51890" y="97013"/>
                </a:cubicBezTo>
                <a:lnTo>
                  <a:pt x="60915" y="97013"/>
                </a:lnTo>
                <a:cubicBezTo>
                  <a:pt x="64666" y="97013"/>
                  <a:pt x="67683" y="100030"/>
                  <a:pt x="67683" y="103781"/>
                </a:cubicBezTo>
                <a:cubicBezTo>
                  <a:pt x="67683" y="107532"/>
                  <a:pt x="64666" y="110549"/>
                  <a:pt x="60915" y="110549"/>
                </a:cubicBezTo>
                <a:lnTo>
                  <a:pt x="51890" y="110549"/>
                </a:lnTo>
                <a:cubicBezTo>
                  <a:pt x="48140" y="110549"/>
                  <a:pt x="45122" y="107532"/>
                  <a:pt x="45122" y="103781"/>
                </a:cubicBezTo>
                <a:close/>
                <a:moveTo>
                  <a:pt x="78964" y="103781"/>
                </a:moveTo>
                <a:cubicBezTo>
                  <a:pt x="78964" y="100030"/>
                  <a:pt x="81981" y="97013"/>
                  <a:pt x="85732" y="97013"/>
                </a:cubicBezTo>
                <a:lnTo>
                  <a:pt x="94756" y="97013"/>
                </a:lnTo>
                <a:cubicBezTo>
                  <a:pt x="98507" y="97013"/>
                  <a:pt x="101525" y="100030"/>
                  <a:pt x="101525" y="103781"/>
                </a:cubicBezTo>
                <a:cubicBezTo>
                  <a:pt x="101525" y="107532"/>
                  <a:pt x="98507" y="110549"/>
                  <a:pt x="94756" y="110549"/>
                </a:cubicBezTo>
                <a:lnTo>
                  <a:pt x="85732" y="110549"/>
                </a:lnTo>
                <a:cubicBezTo>
                  <a:pt x="81981" y="110549"/>
                  <a:pt x="78964" y="107532"/>
                  <a:pt x="78964" y="103781"/>
                </a:cubicBezTo>
                <a:close/>
                <a:moveTo>
                  <a:pt x="112805" y="103781"/>
                </a:moveTo>
                <a:cubicBezTo>
                  <a:pt x="112805" y="100030"/>
                  <a:pt x="115823" y="97013"/>
                  <a:pt x="119574" y="97013"/>
                </a:cubicBezTo>
                <a:lnTo>
                  <a:pt x="128598" y="97013"/>
                </a:lnTo>
                <a:cubicBezTo>
                  <a:pt x="132349" y="97013"/>
                  <a:pt x="135366" y="100030"/>
                  <a:pt x="135366" y="103781"/>
                </a:cubicBezTo>
                <a:cubicBezTo>
                  <a:pt x="135366" y="107532"/>
                  <a:pt x="132349" y="110549"/>
                  <a:pt x="128598" y="110549"/>
                </a:cubicBezTo>
                <a:lnTo>
                  <a:pt x="119574" y="110549"/>
                </a:lnTo>
                <a:cubicBezTo>
                  <a:pt x="115823" y="110549"/>
                  <a:pt x="112805" y="107532"/>
                  <a:pt x="112805" y="103781"/>
                </a:cubicBezTo>
                <a:close/>
                <a:moveTo>
                  <a:pt x="63171" y="49634"/>
                </a:moveTo>
                <a:cubicBezTo>
                  <a:pt x="70642" y="49634"/>
                  <a:pt x="76708" y="55700"/>
                  <a:pt x="76708" y="63171"/>
                </a:cubicBezTo>
                <a:cubicBezTo>
                  <a:pt x="76708" y="70642"/>
                  <a:pt x="70642" y="76708"/>
                  <a:pt x="63171" y="76708"/>
                </a:cubicBezTo>
                <a:cubicBezTo>
                  <a:pt x="55700" y="76708"/>
                  <a:pt x="49634" y="70642"/>
                  <a:pt x="49634" y="63171"/>
                </a:cubicBezTo>
                <a:cubicBezTo>
                  <a:pt x="49634" y="55700"/>
                  <a:pt x="55700" y="49634"/>
                  <a:pt x="63171" y="49634"/>
                </a:cubicBezTo>
                <a:close/>
                <a:moveTo>
                  <a:pt x="103781" y="63171"/>
                </a:moveTo>
                <a:cubicBezTo>
                  <a:pt x="103781" y="55700"/>
                  <a:pt x="109846" y="49634"/>
                  <a:pt x="117318" y="49634"/>
                </a:cubicBezTo>
                <a:cubicBezTo>
                  <a:pt x="124789" y="49634"/>
                  <a:pt x="130854" y="55700"/>
                  <a:pt x="130854" y="63171"/>
                </a:cubicBezTo>
                <a:cubicBezTo>
                  <a:pt x="130854" y="70642"/>
                  <a:pt x="124789" y="76708"/>
                  <a:pt x="117318" y="76708"/>
                </a:cubicBezTo>
                <a:cubicBezTo>
                  <a:pt x="109846" y="76708"/>
                  <a:pt x="103781" y="70642"/>
                  <a:pt x="103781" y="63171"/>
                </a:cubicBezTo>
                <a:close/>
                <a:moveTo>
                  <a:pt x="18049" y="63171"/>
                </a:moveTo>
                <a:cubicBezTo>
                  <a:pt x="18049" y="58179"/>
                  <a:pt x="14016" y="54147"/>
                  <a:pt x="9024" y="54147"/>
                </a:cubicBezTo>
                <a:cubicBezTo>
                  <a:pt x="4033" y="54147"/>
                  <a:pt x="0" y="58179"/>
                  <a:pt x="0" y="63171"/>
                </a:cubicBezTo>
                <a:lnTo>
                  <a:pt x="0" y="90244"/>
                </a:lnTo>
                <a:cubicBezTo>
                  <a:pt x="0" y="95236"/>
                  <a:pt x="4033" y="99269"/>
                  <a:pt x="9024" y="99269"/>
                </a:cubicBezTo>
                <a:cubicBezTo>
                  <a:pt x="14016" y="99269"/>
                  <a:pt x="18049" y="95236"/>
                  <a:pt x="18049" y="90244"/>
                </a:cubicBezTo>
                <a:lnTo>
                  <a:pt x="18049" y="63171"/>
                </a:lnTo>
                <a:close/>
                <a:moveTo>
                  <a:pt x="171464" y="54147"/>
                </a:moveTo>
                <a:cubicBezTo>
                  <a:pt x="166472" y="54147"/>
                  <a:pt x="162440" y="58179"/>
                  <a:pt x="162440" y="63171"/>
                </a:cubicBezTo>
                <a:lnTo>
                  <a:pt x="162440" y="90244"/>
                </a:lnTo>
                <a:cubicBezTo>
                  <a:pt x="162440" y="95236"/>
                  <a:pt x="166472" y="99269"/>
                  <a:pt x="171464" y="99269"/>
                </a:cubicBezTo>
                <a:cubicBezTo>
                  <a:pt x="176456" y="99269"/>
                  <a:pt x="180489" y="95236"/>
                  <a:pt x="180489" y="90244"/>
                </a:cubicBezTo>
                <a:lnTo>
                  <a:pt x="180489" y="63171"/>
                </a:lnTo>
                <a:cubicBezTo>
                  <a:pt x="180489" y="58179"/>
                  <a:pt x="176456" y="54147"/>
                  <a:pt x="171464" y="5414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7850010" y="2555495"/>
            <a:ext cx="821223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Chatbot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97326" y="2808179"/>
            <a:ext cx="4024894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AI-powered assistance for platform guidance, log analysis, and error detection during build/deployment failures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85423" y="3324149"/>
            <a:ext cx="4194553" cy="620881"/>
          </a:xfrm>
          <a:custGeom>
            <a:avLst/>
            <a:gdLst/>
            <a:ahLst/>
            <a:cxnLst/>
            <a:rect l="l" t="t" r="r" b="b"/>
            <a:pathLst>
              <a:path w="4194553" h="620881">
                <a:moveTo>
                  <a:pt x="36098" y="0"/>
                </a:moveTo>
                <a:lnTo>
                  <a:pt x="4158455" y="0"/>
                </a:lnTo>
                <a:cubicBezTo>
                  <a:pt x="4178392" y="0"/>
                  <a:pt x="4194553" y="16162"/>
                  <a:pt x="4194553" y="36098"/>
                </a:cubicBezTo>
                <a:lnTo>
                  <a:pt x="4194553" y="584783"/>
                </a:lnTo>
                <a:cubicBezTo>
                  <a:pt x="4194553" y="604719"/>
                  <a:pt x="4178392" y="620881"/>
                  <a:pt x="4158455" y="620881"/>
                </a:cubicBezTo>
                <a:lnTo>
                  <a:pt x="36098" y="620881"/>
                </a:lnTo>
                <a:cubicBezTo>
                  <a:pt x="16162" y="620881"/>
                  <a:pt x="0" y="604719"/>
                  <a:pt x="0" y="58478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15375" y="3454099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8049" y="18049"/>
                </a:moveTo>
                <a:cubicBezTo>
                  <a:pt x="18049" y="13057"/>
                  <a:pt x="14016" y="9024"/>
                  <a:pt x="9024" y="9024"/>
                </a:cubicBezTo>
                <a:cubicBezTo>
                  <a:pt x="4033" y="9024"/>
                  <a:pt x="0" y="13057"/>
                  <a:pt x="0" y="18049"/>
                </a:cubicBezTo>
                <a:lnTo>
                  <a:pt x="0" y="112805"/>
                </a:lnTo>
                <a:cubicBezTo>
                  <a:pt x="0" y="125270"/>
                  <a:pt x="10096" y="135366"/>
                  <a:pt x="22561" y="135366"/>
                </a:cubicBezTo>
                <a:lnTo>
                  <a:pt x="135366" y="135366"/>
                </a:lnTo>
                <a:cubicBezTo>
                  <a:pt x="140358" y="135366"/>
                  <a:pt x="144391" y="131334"/>
                  <a:pt x="144391" y="126342"/>
                </a:cubicBezTo>
                <a:cubicBezTo>
                  <a:pt x="144391" y="121350"/>
                  <a:pt x="140358" y="117318"/>
                  <a:pt x="135366" y="117318"/>
                </a:cubicBezTo>
                <a:lnTo>
                  <a:pt x="22561" y="117318"/>
                </a:lnTo>
                <a:cubicBezTo>
                  <a:pt x="20079" y="117318"/>
                  <a:pt x="18049" y="115287"/>
                  <a:pt x="18049" y="112805"/>
                </a:cubicBezTo>
                <a:lnTo>
                  <a:pt x="18049" y="18049"/>
                </a:lnTo>
                <a:close/>
                <a:moveTo>
                  <a:pt x="132715" y="42471"/>
                </a:moveTo>
                <a:cubicBezTo>
                  <a:pt x="136241" y="38946"/>
                  <a:pt x="136241" y="33221"/>
                  <a:pt x="132715" y="29696"/>
                </a:cubicBezTo>
                <a:cubicBezTo>
                  <a:pt x="129190" y="26171"/>
                  <a:pt x="123465" y="26171"/>
                  <a:pt x="119940" y="29696"/>
                </a:cubicBezTo>
                <a:lnTo>
                  <a:pt x="90244" y="59420"/>
                </a:lnTo>
                <a:lnTo>
                  <a:pt x="74057" y="43261"/>
                </a:lnTo>
                <a:cubicBezTo>
                  <a:pt x="70532" y="39736"/>
                  <a:pt x="64807" y="39736"/>
                  <a:pt x="61281" y="43261"/>
                </a:cubicBezTo>
                <a:lnTo>
                  <a:pt x="34208" y="70334"/>
                </a:lnTo>
                <a:cubicBezTo>
                  <a:pt x="30683" y="73859"/>
                  <a:pt x="30683" y="79584"/>
                  <a:pt x="34208" y="83109"/>
                </a:cubicBezTo>
                <a:cubicBezTo>
                  <a:pt x="37733" y="86634"/>
                  <a:pt x="43458" y="86634"/>
                  <a:pt x="46983" y="83109"/>
                </a:cubicBezTo>
                <a:lnTo>
                  <a:pt x="67683" y="62410"/>
                </a:lnTo>
                <a:lnTo>
                  <a:pt x="83871" y="78597"/>
                </a:lnTo>
                <a:cubicBezTo>
                  <a:pt x="87396" y="82122"/>
                  <a:pt x="93121" y="82122"/>
                  <a:pt x="96646" y="78597"/>
                </a:cubicBezTo>
                <a:lnTo>
                  <a:pt x="132744" y="4249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7850010" y="3436050"/>
            <a:ext cx="803174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97326" y="3688734"/>
            <a:ext cx="4024894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monitoring via Server-Sent Events and Prometheus telemetry integration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85423" y="4060429"/>
            <a:ext cx="4194553" cy="620881"/>
          </a:xfrm>
          <a:custGeom>
            <a:avLst/>
            <a:gdLst/>
            <a:ahLst/>
            <a:cxnLst/>
            <a:rect l="l" t="t" r="r" b="b"/>
            <a:pathLst>
              <a:path w="4194553" h="620881">
                <a:moveTo>
                  <a:pt x="36098" y="0"/>
                </a:moveTo>
                <a:lnTo>
                  <a:pt x="4158455" y="0"/>
                </a:lnTo>
                <a:cubicBezTo>
                  <a:pt x="4178392" y="0"/>
                  <a:pt x="4194553" y="16162"/>
                  <a:pt x="4194553" y="36098"/>
                </a:cubicBezTo>
                <a:lnTo>
                  <a:pt x="4194553" y="584783"/>
                </a:lnTo>
                <a:cubicBezTo>
                  <a:pt x="4194553" y="604719"/>
                  <a:pt x="4178392" y="620881"/>
                  <a:pt x="4158455" y="620881"/>
                </a:cubicBezTo>
                <a:lnTo>
                  <a:pt x="36098" y="620881"/>
                </a:lnTo>
                <a:cubicBezTo>
                  <a:pt x="16162" y="620881"/>
                  <a:pt x="0" y="604719"/>
                  <a:pt x="0" y="584783"/>
                </a:cubicBezTo>
                <a:lnTo>
                  <a:pt x="0" y="36098"/>
                </a:lnTo>
                <a:cubicBezTo>
                  <a:pt x="0" y="16175"/>
                  <a:pt x="16175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24399" y="4190379"/>
            <a:ext cx="126342" cy="144391"/>
          </a:xfrm>
          <a:custGeom>
            <a:avLst/>
            <a:gdLst/>
            <a:ahLst/>
            <a:cxnLst/>
            <a:rect l="l" t="t" r="r" b="b"/>
            <a:pathLst>
              <a:path w="126342" h="144391">
                <a:moveTo>
                  <a:pt x="63171" y="0"/>
                </a:moveTo>
                <a:cubicBezTo>
                  <a:pt x="58179" y="0"/>
                  <a:pt x="54147" y="4033"/>
                  <a:pt x="54147" y="9024"/>
                </a:cubicBezTo>
                <a:lnTo>
                  <a:pt x="54147" y="9927"/>
                </a:lnTo>
                <a:cubicBezTo>
                  <a:pt x="33560" y="14101"/>
                  <a:pt x="18049" y="32319"/>
                  <a:pt x="18049" y="54147"/>
                </a:cubicBezTo>
                <a:lnTo>
                  <a:pt x="18049" y="60266"/>
                </a:lnTo>
                <a:cubicBezTo>
                  <a:pt x="18049" y="73831"/>
                  <a:pt x="13424" y="87001"/>
                  <a:pt x="4963" y="97605"/>
                </a:cubicBezTo>
                <a:lnTo>
                  <a:pt x="2200" y="101045"/>
                </a:lnTo>
                <a:cubicBezTo>
                  <a:pt x="761" y="102822"/>
                  <a:pt x="0" y="105022"/>
                  <a:pt x="0" y="107306"/>
                </a:cubicBezTo>
                <a:cubicBezTo>
                  <a:pt x="0" y="112834"/>
                  <a:pt x="4484" y="117318"/>
                  <a:pt x="10011" y="117318"/>
                </a:cubicBezTo>
                <a:lnTo>
                  <a:pt x="116302" y="117318"/>
                </a:lnTo>
                <a:cubicBezTo>
                  <a:pt x="121830" y="117318"/>
                  <a:pt x="126314" y="112834"/>
                  <a:pt x="126314" y="107306"/>
                </a:cubicBezTo>
                <a:cubicBezTo>
                  <a:pt x="126314" y="105022"/>
                  <a:pt x="125552" y="102822"/>
                  <a:pt x="124114" y="101045"/>
                </a:cubicBezTo>
                <a:lnTo>
                  <a:pt x="121350" y="97605"/>
                </a:lnTo>
                <a:cubicBezTo>
                  <a:pt x="112918" y="87001"/>
                  <a:pt x="108293" y="73831"/>
                  <a:pt x="108293" y="60266"/>
                </a:cubicBezTo>
                <a:lnTo>
                  <a:pt x="108293" y="54147"/>
                </a:lnTo>
                <a:cubicBezTo>
                  <a:pt x="108293" y="32319"/>
                  <a:pt x="92782" y="14101"/>
                  <a:pt x="72195" y="9927"/>
                </a:cubicBezTo>
                <a:lnTo>
                  <a:pt x="72195" y="9024"/>
                </a:lnTo>
                <a:cubicBezTo>
                  <a:pt x="72195" y="4033"/>
                  <a:pt x="68163" y="0"/>
                  <a:pt x="63171" y="0"/>
                </a:cubicBezTo>
                <a:close/>
                <a:moveTo>
                  <a:pt x="45686" y="130854"/>
                </a:moveTo>
                <a:cubicBezTo>
                  <a:pt x="47688" y="138638"/>
                  <a:pt x="54767" y="144391"/>
                  <a:pt x="63171" y="144391"/>
                </a:cubicBezTo>
                <a:cubicBezTo>
                  <a:pt x="71575" y="144391"/>
                  <a:pt x="78654" y="138638"/>
                  <a:pt x="80656" y="130854"/>
                </a:cubicBezTo>
                <a:lnTo>
                  <a:pt x="45686" y="13085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7850010" y="4172330"/>
            <a:ext cx="76707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97326" y="4425014"/>
            <a:ext cx="4024894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AWS SNS integration for Slack, Microsoft Teams, and email alerts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30203" y="5067669"/>
            <a:ext cx="4503189" cy="1588299"/>
          </a:xfrm>
          <a:custGeom>
            <a:avLst/>
            <a:gdLst/>
            <a:ahLst/>
            <a:cxnLst/>
            <a:rect l="l" t="t" r="r" b="b"/>
            <a:pathLst>
              <a:path w="4503189" h="1588299">
                <a:moveTo>
                  <a:pt x="72188" y="0"/>
                </a:moveTo>
                <a:lnTo>
                  <a:pt x="4431001" y="0"/>
                </a:lnTo>
                <a:cubicBezTo>
                  <a:pt x="4470869" y="0"/>
                  <a:pt x="4503189" y="32320"/>
                  <a:pt x="4503189" y="72188"/>
                </a:cubicBezTo>
                <a:lnTo>
                  <a:pt x="4503189" y="1516111"/>
                </a:lnTo>
                <a:cubicBezTo>
                  <a:pt x="4503189" y="1555979"/>
                  <a:pt x="4470869" y="1588299"/>
                  <a:pt x="4431001" y="1588299"/>
                </a:cubicBezTo>
                <a:lnTo>
                  <a:pt x="72188" y="1588299"/>
                </a:lnTo>
                <a:cubicBezTo>
                  <a:pt x="32320" y="1588299"/>
                  <a:pt x="0" y="1555979"/>
                  <a:pt x="0" y="1516111"/>
                </a:cubicBezTo>
                <a:lnTo>
                  <a:pt x="0" y="72188"/>
                </a:lnTo>
                <a:cubicBezTo>
                  <a:pt x="0" y="32346"/>
                  <a:pt x="32346" y="0"/>
                  <a:pt x="7218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7474594" y="5212060"/>
            <a:ext cx="429562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Scope Boundaries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92643" y="5609135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704717" y="5573037"/>
            <a:ext cx="1831959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 repository platform only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92643" y="5861819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7704717" y="5825721"/>
            <a:ext cx="2120740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AWS cloud infrastructure exclusively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92643" y="6114503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7704717" y="6078405"/>
            <a:ext cx="179586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Pre-stored template frameworks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92643" y="6367187"/>
            <a:ext cx="126342" cy="126342"/>
          </a:xfrm>
          <a:custGeom>
            <a:avLst/>
            <a:gdLst/>
            <a:ahLst/>
            <a:cxnLst/>
            <a:rect l="l" t="t" r="r" b="b"/>
            <a:pathLst>
              <a:path w="126342" h="126342">
                <a:moveTo>
                  <a:pt x="63171" y="126342"/>
                </a:moveTo>
                <a:cubicBezTo>
                  <a:pt x="98036" y="126342"/>
                  <a:pt x="126342" y="98036"/>
                  <a:pt x="126342" y="63171"/>
                </a:cubicBezTo>
                <a:cubicBezTo>
                  <a:pt x="126342" y="28306"/>
                  <a:pt x="98036" y="0"/>
                  <a:pt x="63171" y="0"/>
                </a:cubicBezTo>
                <a:cubicBezTo>
                  <a:pt x="28306" y="0"/>
                  <a:pt x="0" y="28306"/>
                  <a:pt x="0" y="63171"/>
                </a:cubicBezTo>
                <a:cubicBezTo>
                  <a:pt x="0" y="98036"/>
                  <a:pt x="28306" y="126342"/>
                  <a:pt x="63171" y="126342"/>
                </a:cubicBezTo>
                <a:close/>
                <a:moveTo>
                  <a:pt x="83998" y="52486"/>
                </a:moveTo>
                <a:lnTo>
                  <a:pt x="64257" y="84072"/>
                </a:lnTo>
                <a:cubicBezTo>
                  <a:pt x="63220" y="85725"/>
                  <a:pt x="61444" y="86761"/>
                  <a:pt x="59494" y="86860"/>
                </a:cubicBezTo>
                <a:cubicBezTo>
                  <a:pt x="57545" y="86959"/>
                  <a:pt x="55669" y="86070"/>
                  <a:pt x="54510" y="84491"/>
                </a:cubicBezTo>
                <a:lnTo>
                  <a:pt x="42665" y="68698"/>
                </a:lnTo>
                <a:cubicBezTo>
                  <a:pt x="40691" y="66083"/>
                  <a:pt x="41234" y="62381"/>
                  <a:pt x="43850" y="60407"/>
                </a:cubicBezTo>
                <a:cubicBezTo>
                  <a:pt x="46465" y="58433"/>
                  <a:pt x="50167" y="58976"/>
                  <a:pt x="52141" y="61592"/>
                </a:cubicBezTo>
                <a:lnTo>
                  <a:pt x="58803" y="70475"/>
                </a:lnTo>
                <a:lnTo>
                  <a:pt x="73954" y="46218"/>
                </a:lnTo>
                <a:cubicBezTo>
                  <a:pt x="75682" y="43455"/>
                  <a:pt x="79334" y="42591"/>
                  <a:pt x="82122" y="44343"/>
                </a:cubicBezTo>
                <a:cubicBezTo>
                  <a:pt x="84911" y="46095"/>
                  <a:pt x="85750" y="49722"/>
                  <a:pt x="83998" y="52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7704717" y="6331089"/>
            <a:ext cx="179586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Containerized applications only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99" y="333799"/>
            <a:ext cx="11582817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spc="46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6.0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799" y="567458"/>
            <a:ext cx="11674612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System Modules (Part 1)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799" y="968016"/>
            <a:ext cx="1159116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Modules 6.1 through 6.8: Foundation, Detection, Security &amp; Cost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799" y="1268435"/>
            <a:ext cx="667598" cy="33380"/>
          </a:xfrm>
          <a:custGeom>
            <a:avLst/>
            <a:gdLst/>
            <a:ahLst/>
            <a:cxnLst/>
            <a:rect l="l" t="t" r="r" b="b"/>
            <a:pathLst>
              <a:path w="667598" h="33380">
                <a:moveTo>
                  <a:pt x="0" y="0"/>
                </a:moveTo>
                <a:lnTo>
                  <a:pt x="667598" y="0"/>
                </a:lnTo>
                <a:lnTo>
                  <a:pt x="667598" y="33380"/>
                </a:lnTo>
                <a:lnTo>
                  <a:pt x="0" y="333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37137" y="1438673"/>
            <a:ext cx="5689600" cy="1174972"/>
          </a:xfrm>
          <a:custGeom>
            <a:avLst/>
            <a:gdLst/>
            <a:ahLst/>
            <a:cxnLst/>
            <a:rect l="l" t="t" r="r" b="b"/>
            <a:pathLst>
              <a:path w="5689600" h="1174972">
                <a:moveTo>
                  <a:pt x="33381" y="0"/>
                </a:moveTo>
                <a:lnTo>
                  <a:pt x="5656219" y="0"/>
                </a:lnTo>
                <a:cubicBezTo>
                  <a:pt x="5674655" y="0"/>
                  <a:pt x="5689600" y="14945"/>
                  <a:pt x="5689600" y="33381"/>
                </a:cubicBezTo>
                <a:lnTo>
                  <a:pt x="5689600" y="1141591"/>
                </a:lnTo>
                <a:cubicBezTo>
                  <a:pt x="5689600" y="1160027"/>
                  <a:pt x="5674655" y="1174972"/>
                  <a:pt x="5656219" y="1174972"/>
                </a:cubicBezTo>
                <a:lnTo>
                  <a:pt x="33381" y="1174972"/>
                </a:lnTo>
                <a:cubicBezTo>
                  <a:pt x="14945" y="1174972"/>
                  <a:pt x="0" y="1160027"/>
                  <a:pt x="0" y="1141591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3994" y="1575533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44787" y="1575533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173" y="1608913"/>
            <a:ext cx="228652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Authentication &amp; Audit Logging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2770" y="1942711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65929" y="1909331"/>
            <a:ext cx="2369971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 OAuth &amp; email/password credentials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2770" y="2142991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5929" y="2109611"/>
            <a:ext cx="2269832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RBAC: Admin, Developer, Read-Only roles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2770" y="2343270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929" y="2309890"/>
            <a:ext cx="2052862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TypeORM audit logging in PostgreSQL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7137" y="2720461"/>
            <a:ext cx="5689600" cy="1174972"/>
          </a:xfrm>
          <a:custGeom>
            <a:avLst/>
            <a:gdLst/>
            <a:ahLst/>
            <a:cxnLst/>
            <a:rect l="l" t="t" r="r" b="b"/>
            <a:pathLst>
              <a:path w="5689600" h="1174972">
                <a:moveTo>
                  <a:pt x="33381" y="0"/>
                </a:moveTo>
                <a:lnTo>
                  <a:pt x="5656219" y="0"/>
                </a:lnTo>
                <a:cubicBezTo>
                  <a:pt x="5674655" y="0"/>
                  <a:pt x="5689600" y="14945"/>
                  <a:pt x="5689600" y="33381"/>
                </a:cubicBezTo>
                <a:lnTo>
                  <a:pt x="5689600" y="1141591"/>
                </a:lnTo>
                <a:cubicBezTo>
                  <a:pt x="5689600" y="1160027"/>
                  <a:pt x="5674655" y="1174972"/>
                  <a:pt x="5656219" y="1174972"/>
                </a:cubicBezTo>
                <a:lnTo>
                  <a:pt x="33381" y="1174972"/>
                </a:lnTo>
                <a:cubicBezTo>
                  <a:pt x="14945" y="1174972"/>
                  <a:pt x="0" y="1160027"/>
                  <a:pt x="0" y="1141591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994" y="2857317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4787" y="2857317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173" y="2890697"/>
            <a:ext cx="208624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&amp; Workspace Management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2770" y="3224495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5929" y="3191115"/>
            <a:ext cx="194437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Isolated "Projects" within workspaces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2770" y="3424775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929" y="3391395"/>
            <a:ext cx="1368575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 repository linking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2770" y="3625054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65929" y="3591674"/>
            <a:ext cx="2061207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AES-256-GCM encrypted .env variables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7137" y="4002249"/>
            <a:ext cx="5689600" cy="1174972"/>
          </a:xfrm>
          <a:custGeom>
            <a:avLst/>
            <a:gdLst/>
            <a:ahLst/>
            <a:cxnLst/>
            <a:rect l="l" t="t" r="r" b="b"/>
            <a:pathLst>
              <a:path w="5689600" h="1174972">
                <a:moveTo>
                  <a:pt x="33381" y="0"/>
                </a:moveTo>
                <a:lnTo>
                  <a:pt x="5656219" y="0"/>
                </a:lnTo>
                <a:cubicBezTo>
                  <a:pt x="5674655" y="0"/>
                  <a:pt x="5689600" y="14945"/>
                  <a:pt x="5689600" y="33381"/>
                </a:cubicBezTo>
                <a:lnTo>
                  <a:pt x="5689600" y="1141591"/>
                </a:lnTo>
                <a:cubicBezTo>
                  <a:pt x="5689600" y="1160027"/>
                  <a:pt x="5674655" y="1174972"/>
                  <a:pt x="5656219" y="1174972"/>
                </a:cubicBezTo>
                <a:lnTo>
                  <a:pt x="33381" y="1174972"/>
                </a:lnTo>
                <a:cubicBezTo>
                  <a:pt x="14945" y="1174972"/>
                  <a:pt x="0" y="1160027"/>
                  <a:pt x="0" y="1141591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994" y="4139105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44787" y="4139105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173" y="4172485"/>
            <a:ext cx="210293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Rule-Based Stack Detection Engine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2770" y="4506283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65929" y="4472903"/>
            <a:ext cx="188596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Ephemeral shallow repository clones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2770" y="4706563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65929" y="4673183"/>
            <a:ext cx="1660649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AST and file signature scanning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2770" y="4906842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65929" y="4873462"/>
            <a:ext cx="187761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Runtime environment identification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7137" y="5284037"/>
            <a:ext cx="5689600" cy="1174972"/>
          </a:xfrm>
          <a:custGeom>
            <a:avLst/>
            <a:gdLst/>
            <a:ahLst/>
            <a:cxnLst/>
            <a:rect l="l" t="t" r="r" b="b"/>
            <a:pathLst>
              <a:path w="5689600" h="1174972">
                <a:moveTo>
                  <a:pt x="33381" y="0"/>
                </a:moveTo>
                <a:lnTo>
                  <a:pt x="5656219" y="0"/>
                </a:lnTo>
                <a:cubicBezTo>
                  <a:pt x="5674655" y="0"/>
                  <a:pt x="5689600" y="14945"/>
                  <a:pt x="5689600" y="33381"/>
                </a:cubicBezTo>
                <a:lnTo>
                  <a:pt x="5689600" y="1141591"/>
                </a:lnTo>
                <a:cubicBezTo>
                  <a:pt x="5689600" y="1160027"/>
                  <a:pt x="5674655" y="1174972"/>
                  <a:pt x="5656219" y="1174972"/>
                </a:cubicBezTo>
                <a:lnTo>
                  <a:pt x="33381" y="1174972"/>
                </a:lnTo>
                <a:cubicBezTo>
                  <a:pt x="14945" y="1174972"/>
                  <a:pt x="0" y="1160027"/>
                  <a:pt x="0" y="1141591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994" y="5420893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444787" y="5420893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1173" y="5454273"/>
            <a:ext cx="1552164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DevOps Template Engine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92770" y="5788071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65929" y="5754692"/>
            <a:ext cx="1518784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Distroless/alpine base images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2770" y="5988351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65929" y="5954971"/>
            <a:ext cx="1577199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Multi-stage build optimization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92770" y="6188630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665929" y="6155250"/>
            <a:ext cx="1435335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Pre-flight validation reports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7454" y="1438673"/>
            <a:ext cx="5689600" cy="1375251"/>
          </a:xfrm>
          <a:custGeom>
            <a:avLst/>
            <a:gdLst/>
            <a:ahLst/>
            <a:cxnLst/>
            <a:rect l="l" t="t" r="r" b="b"/>
            <a:pathLst>
              <a:path w="5689600" h="1375251">
                <a:moveTo>
                  <a:pt x="33377" y="0"/>
                </a:moveTo>
                <a:lnTo>
                  <a:pt x="5656223" y="0"/>
                </a:lnTo>
                <a:cubicBezTo>
                  <a:pt x="5674656" y="0"/>
                  <a:pt x="5689600" y="14944"/>
                  <a:pt x="5689600" y="33377"/>
                </a:cubicBezTo>
                <a:lnTo>
                  <a:pt x="5689600" y="1341874"/>
                </a:lnTo>
                <a:cubicBezTo>
                  <a:pt x="5689600" y="1360307"/>
                  <a:pt x="5674656" y="1375251"/>
                  <a:pt x="5656223" y="1375251"/>
                </a:cubicBezTo>
                <a:lnTo>
                  <a:pt x="33377" y="1375251"/>
                </a:lnTo>
                <a:cubicBezTo>
                  <a:pt x="14944" y="1375251"/>
                  <a:pt x="0" y="1360307"/>
                  <a:pt x="0" y="1341874"/>
                </a:cubicBezTo>
                <a:lnTo>
                  <a:pt x="0" y="33377"/>
                </a:lnTo>
                <a:cubicBezTo>
                  <a:pt x="0" y="14956"/>
                  <a:pt x="14956" y="0"/>
                  <a:pt x="33377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4311" y="1575533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275104" y="1575533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71490" y="1608913"/>
            <a:ext cx="2027828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CI/CD Pipeline &amp; Redis Queuing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3088" y="1942711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6496246" y="1909331"/>
            <a:ext cx="184423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Redis &amp; BullMQ async job queuing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3088" y="2142991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6496246" y="2109611"/>
            <a:ext cx="177747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 Actions workflow triggers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3088" y="2343270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6496246" y="2309890"/>
            <a:ext cx="185258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 commit hash immutable tagging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3088" y="2543549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6496246" y="2510169"/>
            <a:ext cx="188596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ECR lifecycle policies (30-day purge)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67454" y="2920740"/>
            <a:ext cx="5689600" cy="1375251"/>
          </a:xfrm>
          <a:custGeom>
            <a:avLst/>
            <a:gdLst/>
            <a:ahLst/>
            <a:cxnLst/>
            <a:rect l="l" t="t" r="r" b="b"/>
            <a:pathLst>
              <a:path w="5689600" h="1375251">
                <a:moveTo>
                  <a:pt x="33377" y="0"/>
                </a:moveTo>
                <a:lnTo>
                  <a:pt x="5656223" y="0"/>
                </a:lnTo>
                <a:cubicBezTo>
                  <a:pt x="5674656" y="0"/>
                  <a:pt x="5689600" y="14944"/>
                  <a:pt x="5689600" y="33377"/>
                </a:cubicBezTo>
                <a:lnTo>
                  <a:pt x="5689600" y="1341874"/>
                </a:lnTo>
                <a:cubicBezTo>
                  <a:pt x="5689600" y="1360307"/>
                  <a:pt x="5674656" y="1375251"/>
                  <a:pt x="5656223" y="1375251"/>
                </a:cubicBezTo>
                <a:lnTo>
                  <a:pt x="33377" y="1375251"/>
                </a:lnTo>
                <a:cubicBezTo>
                  <a:pt x="14944" y="1375251"/>
                  <a:pt x="0" y="1360307"/>
                  <a:pt x="0" y="1341874"/>
                </a:cubicBezTo>
                <a:lnTo>
                  <a:pt x="0" y="33377"/>
                </a:lnTo>
                <a:cubicBezTo>
                  <a:pt x="0" y="14956"/>
                  <a:pt x="14956" y="0"/>
                  <a:pt x="33377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4311" y="3057596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275104" y="3057596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6.6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71490" y="3090976"/>
            <a:ext cx="220307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Vulnerability Scanning (DevSecOps)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23088" y="3424775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3" name="Text 61"/>
          <p:cNvSpPr/>
          <p:nvPr/>
        </p:nvSpPr>
        <p:spPr>
          <a:xfrm>
            <a:off x="6496246" y="3391395"/>
            <a:ext cx="1618924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Aqua Trivy CI/CD integration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23088" y="3625054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5" name="Text 63"/>
          <p:cNvSpPr/>
          <p:nvPr/>
        </p:nvSpPr>
        <p:spPr>
          <a:xfrm>
            <a:off x="6496246" y="3591674"/>
            <a:ext cx="1268435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NVD database scanning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23088" y="3825333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6496246" y="3791953"/>
            <a:ext cx="1618924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Critical/High severity blocking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23088" y="4025612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9" name="Text 67"/>
          <p:cNvSpPr/>
          <p:nvPr/>
        </p:nvSpPr>
        <p:spPr>
          <a:xfrm>
            <a:off x="6496246" y="3992232"/>
            <a:ext cx="144368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Zero-trust shift-left security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67454" y="4402807"/>
            <a:ext cx="5689600" cy="1174972"/>
          </a:xfrm>
          <a:custGeom>
            <a:avLst/>
            <a:gdLst/>
            <a:ahLst/>
            <a:cxnLst/>
            <a:rect l="l" t="t" r="r" b="b"/>
            <a:pathLst>
              <a:path w="5689600" h="1174972">
                <a:moveTo>
                  <a:pt x="33381" y="0"/>
                </a:moveTo>
                <a:lnTo>
                  <a:pt x="5656219" y="0"/>
                </a:lnTo>
                <a:cubicBezTo>
                  <a:pt x="5674655" y="0"/>
                  <a:pt x="5689600" y="14945"/>
                  <a:pt x="5689600" y="33381"/>
                </a:cubicBezTo>
                <a:lnTo>
                  <a:pt x="5689600" y="1141591"/>
                </a:lnTo>
                <a:cubicBezTo>
                  <a:pt x="5689600" y="1160027"/>
                  <a:pt x="5674655" y="1174972"/>
                  <a:pt x="5656219" y="1174972"/>
                </a:cubicBezTo>
                <a:lnTo>
                  <a:pt x="33381" y="1174972"/>
                </a:lnTo>
                <a:cubicBezTo>
                  <a:pt x="14945" y="1174972"/>
                  <a:pt x="0" y="1160027"/>
                  <a:pt x="0" y="1141591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04311" y="4539663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6275104" y="4539663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6.7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671490" y="4573043"/>
            <a:ext cx="2019483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Predictive Cost Analysis (FinOps)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23088" y="4906842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5" name="Text 73"/>
          <p:cNvSpPr/>
          <p:nvPr/>
        </p:nvSpPr>
        <p:spPr>
          <a:xfrm>
            <a:off x="6496246" y="4873462"/>
            <a:ext cx="200279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Speculative Terraform plan generation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23088" y="5107121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7" name="Text 75"/>
          <p:cNvSpPr/>
          <p:nvPr/>
        </p:nvSpPr>
        <p:spPr>
          <a:xfrm>
            <a:off x="6496246" y="5073741"/>
            <a:ext cx="1585544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Infracost API real-time pricing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23088" y="5307400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9" name="Text 77"/>
          <p:cNvSpPr/>
          <p:nvPr/>
        </p:nvSpPr>
        <p:spPr>
          <a:xfrm>
            <a:off x="6496246" y="5274021"/>
            <a:ext cx="126009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approval workflow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167454" y="5684595"/>
            <a:ext cx="5689600" cy="1174972"/>
          </a:xfrm>
          <a:custGeom>
            <a:avLst/>
            <a:gdLst/>
            <a:ahLst/>
            <a:cxnLst/>
            <a:rect l="l" t="t" r="r" b="b"/>
            <a:pathLst>
              <a:path w="5689600" h="1174972">
                <a:moveTo>
                  <a:pt x="33381" y="0"/>
                </a:moveTo>
                <a:lnTo>
                  <a:pt x="5656219" y="0"/>
                </a:lnTo>
                <a:cubicBezTo>
                  <a:pt x="5674655" y="0"/>
                  <a:pt x="5689600" y="14945"/>
                  <a:pt x="5689600" y="33381"/>
                </a:cubicBezTo>
                <a:lnTo>
                  <a:pt x="5689600" y="1141591"/>
                </a:lnTo>
                <a:cubicBezTo>
                  <a:pt x="5689600" y="1160027"/>
                  <a:pt x="5674655" y="1174972"/>
                  <a:pt x="5656219" y="1174972"/>
                </a:cubicBezTo>
                <a:lnTo>
                  <a:pt x="33381" y="1174972"/>
                </a:lnTo>
                <a:cubicBezTo>
                  <a:pt x="14945" y="1174972"/>
                  <a:pt x="0" y="1160027"/>
                  <a:pt x="0" y="1141591"/>
                </a:cubicBezTo>
                <a:lnTo>
                  <a:pt x="0" y="33381"/>
                </a:lnTo>
                <a:cubicBezTo>
                  <a:pt x="0" y="14957"/>
                  <a:pt x="14957" y="0"/>
                  <a:pt x="33381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4311" y="5821451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33380" y="0"/>
                </a:moveTo>
                <a:lnTo>
                  <a:pt x="233659" y="0"/>
                </a:lnTo>
                <a:cubicBezTo>
                  <a:pt x="252082" y="0"/>
                  <a:pt x="267039" y="14957"/>
                  <a:pt x="267039" y="33380"/>
                </a:cubicBezTo>
                <a:lnTo>
                  <a:pt x="267039" y="233659"/>
                </a:lnTo>
                <a:cubicBezTo>
                  <a:pt x="267039" y="252082"/>
                  <a:pt x="252082" y="267039"/>
                  <a:pt x="233659" y="267039"/>
                </a:cubicBezTo>
                <a:lnTo>
                  <a:pt x="33380" y="267039"/>
                </a:lnTo>
                <a:cubicBezTo>
                  <a:pt x="14957" y="267039"/>
                  <a:pt x="0" y="252082"/>
                  <a:pt x="0" y="2336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2" name="Text 80"/>
          <p:cNvSpPr/>
          <p:nvPr/>
        </p:nvSpPr>
        <p:spPr>
          <a:xfrm>
            <a:off x="6275104" y="5821451"/>
            <a:ext cx="325454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6.8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671490" y="5854831"/>
            <a:ext cx="1627269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Infrastructure Provisioning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323088" y="6188630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6246" y="6155250"/>
            <a:ext cx="2153002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Terraform AWS networking (VPC, ALB)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23088" y="6388909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7" name="Text 85"/>
          <p:cNvSpPr/>
          <p:nvPr/>
        </p:nvSpPr>
        <p:spPr>
          <a:xfrm>
            <a:off x="6496246" y="6355529"/>
            <a:ext cx="182754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AWS Cloud Map service discovery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323088" y="6589188"/>
            <a:ext cx="87622" cy="100140"/>
          </a:xfrm>
          <a:custGeom>
            <a:avLst/>
            <a:gdLst/>
            <a:ahLst/>
            <a:cxnLst/>
            <a:rect l="l" t="t" r="r" b="b"/>
            <a:pathLst>
              <a:path w="87622" h="100140">
                <a:moveTo>
                  <a:pt x="85040" y="13711"/>
                </a:moveTo>
                <a:cubicBezTo>
                  <a:pt x="87837" y="15745"/>
                  <a:pt x="88463" y="19656"/>
                  <a:pt x="86429" y="22453"/>
                </a:cubicBezTo>
                <a:lnTo>
                  <a:pt x="36359" y="91299"/>
                </a:lnTo>
                <a:cubicBezTo>
                  <a:pt x="35284" y="92786"/>
                  <a:pt x="33621" y="93705"/>
                  <a:pt x="31783" y="93861"/>
                </a:cubicBezTo>
                <a:cubicBezTo>
                  <a:pt x="29944" y="94018"/>
                  <a:pt x="28164" y="93333"/>
                  <a:pt x="26873" y="92042"/>
                </a:cubicBezTo>
                <a:lnTo>
                  <a:pt x="1839" y="67007"/>
                </a:lnTo>
                <a:cubicBezTo>
                  <a:pt x="-606" y="64563"/>
                  <a:pt x="-606" y="60592"/>
                  <a:pt x="1839" y="58147"/>
                </a:cubicBezTo>
                <a:cubicBezTo>
                  <a:pt x="4283" y="55703"/>
                  <a:pt x="8254" y="55703"/>
                  <a:pt x="10699" y="58147"/>
                </a:cubicBezTo>
                <a:lnTo>
                  <a:pt x="30550" y="77999"/>
                </a:lnTo>
                <a:lnTo>
                  <a:pt x="76317" y="15080"/>
                </a:lnTo>
                <a:cubicBezTo>
                  <a:pt x="78351" y="12283"/>
                  <a:pt x="82263" y="11657"/>
                  <a:pt x="85060" y="136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9" name="Text 87"/>
          <p:cNvSpPr/>
          <p:nvPr/>
        </p:nvSpPr>
        <p:spPr>
          <a:xfrm>
            <a:off x="6496246" y="6555809"/>
            <a:ext cx="1426990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Multi-service microsupport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spc="47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6.0 (CONTINUED)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System Modules (Part 2)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3679" y="996668"/>
            <a:ext cx="1157337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Modules 6.9 through 6.16: State Management, Orchestration, AI &amp; Lifecycle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679" y="1305979"/>
            <a:ext cx="687357" cy="34368"/>
          </a:xfrm>
          <a:custGeom>
            <a:avLst/>
            <a:gdLst/>
            <a:ahLst/>
            <a:cxnLst/>
            <a:rect l="l" t="t" r="r" b="b"/>
            <a:pathLst>
              <a:path w="687357" h="34368">
                <a:moveTo>
                  <a:pt x="0" y="0"/>
                </a:moveTo>
                <a:lnTo>
                  <a:pt x="687357" y="0"/>
                </a:lnTo>
                <a:lnTo>
                  <a:pt x="687357" y="34368"/>
                </a:lnTo>
                <a:lnTo>
                  <a:pt x="0" y="3436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47115" y="1481255"/>
            <a:ext cx="5677571" cy="1209749"/>
          </a:xfrm>
          <a:custGeom>
            <a:avLst/>
            <a:gdLst/>
            <a:ahLst/>
            <a:cxnLst/>
            <a:rect l="l" t="t" r="r" b="b"/>
            <a:pathLst>
              <a:path w="5677571" h="1209749">
                <a:moveTo>
                  <a:pt x="34369" y="0"/>
                </a:moveTo>
                <a:lnTo>
                  <a:pt x="5643202" y="0"/>
                </a:lnTo>
                <a:cubicBezTo>
                  <a:pt x="5662184" y="0"/>
                  <a:pt x="5677571" y="15388"/>
                  <a:pt x="5677571" y="34369"/>
                </a:cubicBezTo>
                <a:lnTo>
                  <a:pt x="5677571" y="1175380"/>
                </a:lnTo>
                <a:cubicBezTo>
                  <a:pt x="5677571" y="1194361"/>
                  <a:pt x="5662184" y="1209749"/>
                  <a:pt x="5643202" y="1209749"/>
                </a:cubicBezTo>
                <a:lnTo>
                  <a:pt x="34369" y="1209749"/>
                </a:lnTo>
                <a:cubicBezTo>
                  <a:pt x="15388" y="1209749"/>
                  <a:pt x="0" y="1194361"/>
                  <a:pt x="0" y="1175380"/>
                </a:cubicBezTo>
                <a:lnTo>
                  <a:pt x="0" y="34369"/>
                </a:lnTo>
                <a:cubicBezTo>
                  <a:pt x="0" y="15400"/>
                  <a:pt x="15400" y="0"/>
                  <a:pt x="3436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8024" y="1622166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952" y="1622166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6070" y="1656534"/>
            <a:ext cx="188164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Distributed State Management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356" y="2000212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639" y="1965844"/>
            <a:ext cx="168402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Split-brain collision prevention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356" y="220641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639" y="2172052"/>
            <a:ext cx="167543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S3 state storage with versioning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356" y="2412627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639" y="2378259"/>
            <a:ext cx="215658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DynamoDB concurrent execution queue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115" y="2800982"/>
            <a:ext cx="5677571" cy="1209749"/>
          </a:xfrm>
          <a:custGeom>
            <a:avLst/>
            <a:gdLst/>
            <a:ahLst/>
            <a:cxnLst/>
            <a:rect l="l" t="t" r="r" b="b"/>
            <a:pathLst>
              <a:path w="5677571" h="1209749">
                <a:moveTo>
                  <a:pt x="34369" y="0"/>
                </a:moveTo>
                <a:lnTo>
                  <a:pt x="5643202" y="0"/>
                </a:lnTo>
                <a:cubicBezTo>
                  <a:pt x="5662184" y="0"/>
                  <a:pt x="5677571" y="15388"/>
                  <a:pt x="5677571" y="34369"/>
                </a:cubicBezTo>
                <a:lnTo>
                  <a:pt x="5677571" y="1175380"/>
                </a:lnTo>
                <a:cubicBezTo>
                  <a:pt x="5677571" y="1194361"/>
                  <a:pt x="5662184" y="1209749"/>
                  <a:pt x="5643202" y="1209749"/>
                </a:cubicBezTo>
                <a:lnTo>
                  <a:pt x="34369" y="1209749"/>
                </a:lnTo>
                <a:cubicBezTo>
                  <a:pt x="15388" y="1209749"/>
                  <a:pt x="0" y="1194361"/>
                  <a:pt x="0" y="1175380"/>
                </a:cubicBezTo>
                <a:lnTo>
                  <a:pt x="0" y="34369"/>
                </a:lnTo>
                <a:cubicBezTo>
                  <a:pt x="0" y="15400"/>
                  <a:pt x="15400" y="0"/>
                  <a:pt x="3436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8024" y="2941888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952" y="2941888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6070" y="2976256"/>
            <a:ext cx="1486410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Persistent Storage (EFS)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7356" y="3319935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639" y="3285567"/>
            <a:ext cx="145204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Dynamic EFS provisioning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7356" y="3526142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639" y="3491774"/>
            <a:ext cx="156373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POSIX permission mounting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356" y="373234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639" y="3697981"/>
            <a:ext cx="158951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AWS KMS encryption at rest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7115" y="4120709"/>
            <a:ext cx="5677571" cy="1415956"/>
          </a:xfrm>
          <a:custGeom>
            <a:avLst/>
            <a:gdLst/>
            <a:ahLst/>
            <a:cxnLst/>
            <a:rect l="l" t="t" r="r" b="b"/>
            <a:pathLst>
              <a:path w="5677571" h="1415956">
                <a:moveTo>
                  <a:pt x="34365" y="0"/>
                </a:moveTo>
                <a:lnTo>
                  <a:pt x="5643206" y="0"/>
                </a:lnTo>
                <a:cubicBezTo>
                  <a:pt x="5662185" y="0"/>
                  <a:pt x="5677571" y="15386"/>
                  <a:pt x="5677571" y="34365"/>
                </a:cubicBezTo>
                <a:lnTo>
                  <a:pt x="5677571" y="1381591"/>
                </a:lnTo>
                <a:cubicBezTo>
                  <a:pt x="5677571" y="1400570"/>
                  <a:pt x="5662185" y="1415956"/>
                  <a:pt x="5643206" y="1415956"/>
                </a:cubicBezTo>
                <a:lnTo>
                  <a:pt x="34365" y="1415956"/>
                </a:lnTo>
                <a:cubicBezTo>
                  <a:pt x="15386" y="1415956"/>
                  <a:pt x="0" y="1400570"/>
                  <a:pt x="0" y="1381591"/>
                </a:cubicBezTo>
                <a:lnTo>
                  <a:pt x="0" y="34365"/>
                </a:lnTo>
                <a:cubicBezTo>
                  <a:pt x="0" y="15399"/>
                  <a:pt x="15399" y="0"/>
                  <a:pt x="34365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8024" y="4261615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952" y="4261615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6070" y="4295983"/>
            <a:ext cx="1546554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Container Orchestration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7356" y="4639662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639" y="4605294"/>
            <a:ext cx="162388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ECS Fargate Spot deployment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7356" y="484586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85639" y="4811501"/>
            <a:ext cx="181290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Target-tracking CPU auto-scaling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7356" y="5052076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85639" y="5017708"/>
            <a:ext cx="185586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EventBridge interruption handling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7356" y="5258283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85639" y="5223915"/>
            <a:ext cx="130597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Zero-downtime rollback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7115" y="5646643"/>
            <a:ext cx="5677571" cy="1209749"/>
          </a:xfrm>
          <a:custGeom>
            <a:avLst/>
            <a:gdLst/>
            <a:ahLst/>
            <a:cxnLst/>
            <a:rect l="l" t="t" r="r" b="b"/>
            <a:pathLst>
              <a:path w="5677571" h="1209749">
                <a:moveTo>
                  <a:pt x="34369" y="0"/>
                </a:moveTo>
                <a:lnTo>
                  <a:pt x="5643202" y="0"/>
                </a:lnTo>
                <a:cubicBezTo>
                  <a:pt x="5662184" y="0"/>
                  <a:pt x="5677571" y="15388"/>
                  <a:pt x="5677571" y="34369"/>
                </a:cubicBezTo>
                <a:lnTo>
                  <a:pt x="5677571" y="1175380"/>
                </a:lnTo>
                <a:cubicBezTo>
                  <a:pt x="5677571" y="1194361"/>
                  <a:pt x="5662184" y="1209749"/>
                  <a:pt x="5643202" y="1209749"/>
                </a:cubicBezTo>
                <a:lnTo>
                  <a:pt x="34369" y="1209749"/>
                </a:lnTo>
                <a:cubicBezTo>
                  <a:pt x="15388" y="1209749"/>
                  <a:pt x="0" y="1194361"/>
                  <a:pt x="0" y="1175380"/>
                </a:cubicBezTo>
                <a:lnTo>
                  <a:pt x="0" y="34369"/>
                </a:lnTo>
                <a:cubicBezTo>
                  <a:pt x="0" y="15400"/>
                  <a:pt x="15400" y="0"/>
                  <a:pt x="3436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8024" y="5787549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952" y="5787549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6070" y="5821917"/>
            <a:ext cx="174416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Monitoring &amp; Observability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7356" y="6165596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85639" y="6131228"/>
            <a:ext cx="177853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Pipeline: GitHub Actions metrics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7356" y="6371803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685639" y="6337435"/>
            <a:ext cx="176994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Infrastructure: SSE log streaming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7356" y="6578010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685639" y="6543642"/>
            <a:ext cx="176135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Prometheus telemetry dashboard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66669" y="1481255"/>
            <a:ext cx="5677571" cy="1209749"/>
          </a:xfrm>
          <a:custGeom>
            <a:avLst/>
            <a:gdLst/>
            <a:ahLst/>
            <a:cxnLst/>
            <a:rect l="l" t="t" r="r" b="b"/>
            <a:pathLst>
              <a:path w="5677571" h="1209749">
                <a:moveTo>
                  <a:pt x="34369" y="0"/>
                </a:moveTo>
                <a:lnTo>
                  <a:pt x="5643202" y="0"/>
                </a:lnTo>
                <a:cubicBezTo>
                  <a:pt x="5662184" y="0"/>
                  <a:pt x="5677571" y="15388"/>
                  <a:pt x="5677571" y="34369"/>
                </a:cubicBezTo>
                <a:lnTo>
                  <a:pt x="5677571" y="1175380"/>
                </a:lnTo>
                <a:cubicBezTo>
                  <a:pt x="5677571" y="1194361"/>
                  <a:pt x="5662184" y="1209749"/>
                  <a:pt x="5643202" y="1209749"/>
                </a:cubicBezTo>
                <a:lnTo>
                  <a:pt x="34369" y="1209749"/>
                </a:lnTo>
                <a:cubicBezTo>
                  <a:pt x="15388" y="1209749"/>
                  <a:pt x="0" y="1194361"/>
                  <a:pt x="0" y="1175380"/>
                </a:cubicBezTo>
                <a:lnTo>
                  <a:pt x="0" y="34369"/>
                </a:lnTo>
                <a:cubicBezTo>
                  <a:pt x="0" y="15400"/>
                  <a:pt x="15400" y="0"/>
                  <a:pt x="3436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7577" y="1622166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277505" y="1622166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85624" y="1656534"/>
            <a:ext cx="170980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Log Analysis &amp; Chatbot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6909" y="2000212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6505192" y="1965844"/>
            <a:ext cx="178712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LLM-powered dashboard chatbot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6909" y="220641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6505192" y="2172052"/>
            <a:ext cx="130597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Automatic log ingestion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6909" y="2412627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6505192" y="2378259"/>
            <a:ext cx="1795721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Conversational remediation steps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66669" y="2800982"/>
            <a:ext cx="5677571" cy="1209749"/>
          </a:xfrm>
          <a:custGeom>
            <a:avLst/>
            <a:gdLst/>
            <a:ahLst/>
            <a:cxnLst/>
            <a:rect l="l" t="t" r="r" b="b"/>
            <a:pathLst>
              <a:path w="5677571" h="1209749">
                <a:moveTo>
                  <a:pt x="34369" y="0"/>
                </a:moveTo>
                <a:lnTo>
                  <a:pt x="5643202" y="0"/>
                </a:lnTo>
                <a:cubicBezTo>
                  <a:pt x="5662184" y="0"/>
                  <a:pt x="5677571" y="15388"/>
                  <a:pt x="5677571" y="34369"/>
                </a:cubicBezTo>
                <a:lnTo>
                  <a:pt x="5677571" y="1175380"/>
                </a:lnTo>
                <a:cubicBezTo>
                  <a:pt x="5677571" y="1194361"/>
                  <a:pt x="5662184" y="1209749"/>
                  <a:pt x="5643202" y="1209749"/>
                </a:cubicBezTo>
                <a:lnTo>
                  <a:pt x="34369" y="1209749"/>
                </a:lnTo>
                <a:cubicBezTo>
                  <a:pt x="15388" y="1209749"/>
                  <a:pt x="0" y="1194361"/>
                  <a:pt x="0" y="1175380"/>
                </a:cubicBezTo>
                <a:lnTo>
                  <a:pt x="0" y="34369"/>
                </a:lnTo>
                <a:cubicBezTo>
                  <a:pt x="0" y="15400"/>
                  <a:pt x="15400" y="0"/>
                  <a:pt x="3436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7577" y="2941888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277505" y="2941888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85624" y="2976256"/>
            <a:ext cx="1529370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Alerting &amp; Notifications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26909" y="3319935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3" name="Text 61"/>
          <p:cNvSpPr/>
          <p:nvPr/>
        </p:nvSpPr>
        <p:spPr>
          <a:xfrm>
            <a:off x="6505192" y="3285567"/>
            <a:ext cx="1606698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lifecycle tracking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26909" y="3526142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5" name="Text 63"/>
          <p:cNvSpPr/>
          <p:nvPr/>
        </p:nvSpPr>
        <p:spPr>
          <a:xfrm>
            <a:off x="6505192" y="3491774"/>
            <a:ext cx="173557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AWS SNS webhook integration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26909" y="373234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6505192" y="3697981"/>
            <a:ext cx="136612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Slack/Teams/email alerts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66669" y="4120709"/>
            <a:ext cx="5677571" cy="1209749"/>
          </a:xfrm>
          <a:custGeom>
            <a:avLst/>
            <a:gdLst/>
            <a:ahLst/>
            <a:cxnLst/>
            <a:rect l="l" t="t" r="r" b="b"/>
            <a:pathLst>
              <a:path w="5677571" h="1209749">
                <a:moveTo>
                  <a:pt x="34369" y="0"/>
                </a:moveTo>
                <a:lnTo>
                  <a:pt x="5643202" y="0"/>
                </a:lnTo>
                <a:cubicBezTo>
                  <a:pt x="5662184" y="0"/>
                  <a:pt x="5677571" y="15388"/>
                  <a:pt x="5677571" y="34369"/>
                </a:cubicBezTo>
                <a:lnTo>
                  <a:pt x="5677571" y="1175380"/>
                </a:lnTo>
                <a:cubicBezTo>
                  <a:pt x="5677571" y="1194361"/>
                  <a:pt x="5662184" y="1209749"/>
                  <a:pt x="5643202" y="1209749"/>
                </a:cubicBezTo>
                <a:lnTo>
                  <a:pt x="34369" y="1209749"/>
                </a:lnTo>
                <a:cubicBezTo>
                  <a:pt x="15388" y="1209749"/>
                  <a:pt x="0" y="1194361"/>
                  <a:pt x="0" y="1175380"/>
                </a:cubicBezTo>
                <a:lnTo>
                  <a:pt x="0" y="34369"/>
                </a:lnTo>
                <a:cubicBezTo>
                  <a:pt x="0" y="15400"/>
                  <a:pt x="15400" y="0"/>
                  <a:pt x="3436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07577" y="4261615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0" name="Text 68"/>
          <p:cNvSpPr/>
          <p:nvPr/>
        </p:nvSpPr>
        <p:spPr>
          <a:xfrm>
            <a:off x="6277505" y="4261615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6.15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85624" y="4295983"/>
            <a:ext cx="145204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Infrastructure Lifecycle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26909" y="4639662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3" name="Text 71"/>
          <p:cNvSpPr/>
          <p:nvPr/>
        </p:nvSpPr>
        <p:spPr>
          <a:xfrm>
            <a:off x="6505192" y="4605294"/>
            <a:ext cx="194178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Dual-confirmation destroy workflow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26909" y="484586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5" name="Text 73"/>
          <p:cNvSpPr/>
          <p:nvPr/>
        </p:nvSpPr>
        <p:spPr>
          <a:xfrm>
            <a:off x="6505192" y="4811501"/>
            <a:ext cx="1254427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EFS volume protection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326909" y="5052076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7" name="Text 75"/>
          <p:cNvSpPr/>
          <p:nvPr/>
        </p:nvSpPr>
        <p:spPr>
          <a:xfrm>
            <a:off x="6505192" y="5017708"/>
            <a:ext cx="150359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Safe environment teardown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166669" y="5440435"/>
            <a:ext cx="5677571" cy="1209749"/>
          </a:xfrm>
          <a:custGeom>
            <a:avLst/>
            <a:gdLst/>
            <a:ahLst/>
            <a:cxnLst/>
            <a:rect l="l" t="t" r="r" b="b"/>
            <a:pathLst>
              <a:path w="5677571" h="1209749">
                <a:moveTo>
                  <a:pt x="34369" y="0"/>
                </a:moveTo>
                <a:lnTo>
                  <a:pt x="5643202" y="0"/>
                </a:lnTo>
                <a:cubicBezTo>
                  <a:pt x="5662184" y="0"/>
                  <a:pt x="5677571" y="15388"/>
                  <a:pt x="5677571" y="34369"/>
                </a:cubicBezTo>
                <a:lnTo>
                  <a:pt x="5677571" y="1175380"/>
                </a:lnTo>
                <a:cubicBezTo>
                  <a:pt x="5677571" y="1194361"/>
                  <a:pt x="5662184" y="1209749"/>
                  <a:pt x="5643202" y="1209749"/>
                </a:cubicBezTo>
                <a:lnTo>
                  <a:pt x="34369" y="1209749"/>
                </a:lnTo>
                <a:cubicBezTo>
                  <a:pt x="15388" y="1209749"/>
                  <a:pt x="0" y="1194361"/>
                  <a:pt x="0" y="1175380"/>
                </a:cubicBezTo>
                <a:lnTo>
                  <a:pt x="0" y="34369"/>
                </a:lnTo>
                <a:cubicBezTo>
                  <a:pt x="0" y="15400"/>
                  <a:pt x="15400" y="0"/>
                  <a:pt x="34369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07577" y="5581342"/>
            <a:ext cx="274943" cy="274943"/>
          </a:xfrm>
          <a:custGeom>
            <a:avLst/>
            <a:gdLst/>
            <a:ahLst/>
            <a:cxnLst/>
            <a:rect l="l" t="t" r="r" b="b"/>
            <a:pathLst>
              <a:path w="274943" h="274943">
                <a:moveTo>
                  <a:pt x="34368" y="0"/>
                </a:moveTo>
                <a:lnTo>
                  <a:pt x="240575" y="0"/>
                </a:lnTo>
                <a:cubicBezTo>
                  <a:pt x="259556" y="0"/>
                  <a:pt x="274943" y="15387"/>
                  <a:pt x="274943" y="34368"/>
                </a:cubicBezTo>
                <a:lnTo>
                  <a:pt x="274943" y="240575"/>
                </a:lnTo>
                <a:cubicBezTo>
                  <a:pt x="274943" y="259556"/>
                  <a:pt x="259556" y="274943"/>
                  <a:pt x="240575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0" name="Text 78"/>
          <p:cNvSpPr/>
          <p:nvPr/>
        </p:nvSpPr>
        <p:spPr>
          <a:xfrm>
            <a:off x="6277505" y="5581342"/>
            <a:ext cx="33508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6.16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685624" y="5615710"/>
            <a:ext cx="1400490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Vendor Independence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26909" y="5959389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3" name="Text 81"/>
          <p:cNvSpPr/>
          <p:nvPr/>
        </p:nvSpPr>
        <p:spPr>
          <a:xfrm>
            <a:off x="6505192" y="5925021"/>
            <a:ext cx="150359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One-click Terraform export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326909" y="6165596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5" name="Text 83"/>
          <p:cNvSpPr/>
          <p:nvPr/>
        </p:nvSpPr>
        <p:spPr>
          <a:xfrm>
            <a:off x="6505192" y="6131228"/>
            <a:ext cx="149500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.zip archive with all artifacts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26909" y="6371803"/>
            <a:ext cx="90216" cy="103104"/>
          </a:xfrm>
          <a:custGeom>
            <a:avLst/>
            <a:gdLst/>
            <a:ahLst/>
            <a:cxnLst/>
            <a:rect l="l" t="t" r="r" b="b"/>
            <a:pathLst>
              <a:path w="90216" h="103104">
                <a:moveTo>
                  <a:pt x="87558" y="14116"/>
                </a:moveTo>
                <a:cubicBezTo>
                  <a:pt x="90437" y="16211"/>
                  <a:pt x="91082" y="20238"/>
                  <a:pt x="88987" y="23118"/>
                </a:cubicBezTo>
                <a:lnTo>
                  <a:pt x="37435" y="94001"/>
                </a:lnTo>
                <a:cubicBezTo>
                  <a:pt x="36328" y="95532"/>
                  <a:pt x="34616" y="96478"/>
                  <a:pt x="32723" y="96639"/>
                </a:cubicBezTo>
                <a:cubicBezTo>
                  <a:pt x="30830" y="96801"/>
                  <a:pt x="28998" y="96096"/>
                  <a:pt x="27669" y="94767"/>
                </a:cubicBezTo>
                <a:lnTo>
                  <a:pt x="1893" y="68991"/>
                </a:lnTo>
                <a:cubicBezTo>
                  <a:pt x="-624" y="66474"/>
                  <a:pt x="-624" y="62386"/>
                  <a:pt x="1893" y="59869"/>
                </a:cubicBezTo>
                <a:cubicBezTo>
                  <a:pt x="4410" y="57351"/>
                  <a:pt x="8498" y="57351"/>
                  <a:pt x="11015" y="59869"/>
                </a:cubicBezTo>
                <a:lnTo>
                  <a:pt x="31455" y="80308"/>
                </a:lnTo>
                <a:lnTo>
                  <a:pt x="78576" y="15526"/>
                </a:lnTo>
                <a:cubicBezTo>
                  <a:pt x="80671" y="12646"/>
                  <a:pt x="84698" y="12002"/>
                  <a:pt x="87578" y="1409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7" name="Text 85"/>
          <p:cNvSpPr/>
          <p:nvPr/>
        </p:nvSpPr>
        <p:spPr>
          <a:xfrm>
            <a:off x="6505192" y="6337435"/>
            <a:ext cx="163247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100% infrastructure ownership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7.0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Limitations &amp;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43000"/>
            <a:ext cx="6818313" cy="1047750"/>
          </a:xfrm>
          <a:custGeom>
            <a:avLst/>
            <a:gdLst/>
            <a:ahLst/>
            <a:cxnLst/>
            <a:rect l="l" t="t" r="r" b="b"/>
            <a:pathLst>
              <a:path w="6818313" h="1047750">
                <a:moveTo>
                  <a:pt x="63504" y="0"/>
                </a:moveTo>
                <a:lnTo>
                  <a:pt x="6754808" y="0"/>
                </a:lnTo>
                <a:cubicBezTo>
                  <a:pt x="6789881" y="0"/>
                  <a:pt x="6818313" y="28432"/>
                  <a:pt x="6818313" y="63504"/>
                </a:cubicBezTo>
                <a:lnTo>
                  <a:pt x="6818313" y="984246"/>
                </a:lnTo>
                <a:cubicBezTo>
                  <a:pt x="6818313" y="1019318"/>
                  <a:pt x="6789881" y="1047750"/>
                  <a:pt x="6754808" y="1047750"/>
                </a:cubicBezTo>
                <a:lnTo>
                  <a:pt x="63504" y="1047750"/>
                </a:lnTo>
                <a:cubicBezTo>
                  <a:pt x="28432" y="1047750"/>
                  <a:pt x="0" y="1019318"/>
                  <a:pt x="0" y="984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1301750"/>
            <a:ext cx="658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Transparent Scope Boundaries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" y="1619250"/>
            <a:ext cx="6564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following limitations and constraints are acknowledged to demonstrate academic rigor and realistic project scoping. These boundaries define what is explicitly out of scope for the initial deployment of DeployGuard.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675" y="2320925"/>
            <a:ext cx="3340100" cy="1514475"/>
          </a:xfrm>
          <a:custGeom>
            <a:avLst/>
            <a:gdLst/>
            <a:ahLst/>
            <a:cxnLst/>
            <a:rect l="l" t="t" r="r" b="b"/>
            <a:pathLst>
              <a:path w="3340100" h="1514475">
                <a:moveTo>
                  <a:pt x="31743" y="0"/>
                </a:moveTo>
                <a:lnTo>
                  <a:pt x="3308357" y="0"/>
                </a:lnTo>
                <a:cubicBezTo>
                  <a:pt x="3325888" y="0"/>
                  <a:pt x="3340100" y="14212"/>
                  <a:pt x="3340100" y="31743"/>
                </a:cubicBezTo>
                <a:lnTo>
                  <a:pt x="3340100" y="1482732"/>
                </a:lnTo>
                <a:cubicBezTo>
                  <a:pt x="3340100" y="1500263"/>
                  <a:pt x="3325888" y="1514475"/>
                  <a:pt x="3308357" y="1514475"/>
                </a:cubicBezTo>
                <a:lnTo>
                  <a:pt x="31743" y="1514475"/>
                </a:lnTo>
                <a:cubicBezTo>
                  <a:pt x="14212" y="1514475"/>
                  <a:pt x="0" y="1500263"/>
                  <a:pt x="0" y="1482732"/>
                </a:cubicBezTo>
                <a:lnTo>
                  <a:pt x="0" y="31743"/>
                </a:lnTo>
                <a:cubicBezTo>
                  <a:pt x="0" y="14212"/>
                  <a:pt x="14212" y="0"/>
                  <a:pt x="31743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772" y="246697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12788" y="2451102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Cloud Provider Lock-in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850" y="2736852"/>
            <a:ext cx="31353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Terraform modules are tailored specifically to AWS APIs.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0850" y="3161509"/>
            <a:ext cx="31353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Multi-cloud deployment (Azure/GCP) is out of scope. Organizations requiring multi-cloud orchestration would need significant module refactoring.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94125" y="2320925"/>
            <a:ext cx="3340100" cy="1514475"/>
          </a:xfrm>
          <a:custGeom>
            <a:avLst/>
            <a:gdLst/>
            <a:ahLst/>
            <a:cxnLst/>
            <a:rect l="l" t="t" r="r" b="b"/>
            <a:pathLst>
              <a:path w="3340100" h="1514475">
                <a:moveTo>
                  <a:pt x="31743" y="0"/>
                </a:moveTo>
                <a:lnTo>
                  <a:pt x="3308357" y="0"/>
                </a:lnTo>
                <a:cubicBezTo>
                  <a:pt x="3325888" y="0"/>
                  <a:pt x="3340100" y="14212"/>
                  <a:pt x="3340100" y="31743"/>
                </a:cubicBezTo>
                <a:lnTo>
                  <a:pt x="3340100" y="1482732"/>
                </a:lnTo>
                <a:cubicBezTo>
                  <a:pt x="3340100" y="1500263"/>
                  <a:pt x="3325888" y="1514475"/>
                  <a:pt x="3308357" y="1514475"/>
                </a:cubicBezTo>
                <a:lnTo>
                  <a:pt x="31743" y="1514475"/>
                </a:lnTo>
                <a:cubicBezTo>
                  <a:pt x="14212" y="1514475"/>
                  <a:pt x="0" y="1500263"/>
                  <a:pt x="0" y="1482732"/>
                </a:cubicBezTo>
                <a:lnTo>
                  <a:pt x="0" y="31743"/>
                </a:lnTo>
                <a:cubicBezTo>
                  <a:pt x="0" y="14212"/>
                  <a:pt x="14212" y="0"/>
                  <a:pt x="31743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54066" y="246697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86238" y="2451102"/>
            <a:ext cx="135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Spot Instance Volatility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24300" y="2736852"/>
            <a:ext cx="31353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Platform relies on AWS Fargate Spot for cost savings.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24300" y="3161509"/>
            <a:ext cx="31353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Compute nodes may be reclaimed by AWS during regional capacity shortages with only 2-minute warning. Not suitable for mission-critical stateful workloads.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675" y="3966766"/>
            <a:ext cx="3340100" cy="1514475"/>
          </a:xfrm>
          <a:custGeom>
            <a:avLst/>
            <a:gdLst/>
            <a:ahLst/>
            <a:cxnLst/>
            <a:rect l="l" t="t" r="r" b="b"/>
            <a:pathLst>
              <a:path w="3340100" h="1514475">
                <a:moveTo>
                  <a:pt x="31743" y="0"/>
                </a:moveTo>
                <a:lnTo>
                  <a:pt x="3308357" y="0"/>
                </a:lnTo>
                <a:cubicBezTo>
                  <a:pt x="3325888" y="0"/>
                  <a:pt x="3340100" y="14212"/>
                  <a:pt x="3340100" y="31743"/>
                </a:cubicBezTo>
                <a:lnTo>
                  <a:pt x="3340100" y="1482732"/>
                </a:lnTo>
                <a:cubicBezTo>
                  <a:pt x="3340100" y="1500263"/>
                  <a:pt x="3325888" y="1514475"/>
                  <a:pt x="3308357" y="1514475"/>
                </a:cubicBezTo>
                <a:lnTo>
                  <a:pt x="31743" y="1514475"/>
                </a:lnTo>
                <a:cubicBezTo>
                  <a:pt x="14212" y="1514475"/>
                  <a:pt x="0" y="1500263"/>
                  <a:pt x="0" y="1482732"/>
                </a:cubicBezTo>
                <a:lnTo>
                  <a:pt x="0" y="31743"/>
                </a:lnTo>
                <a:cubicBezTo>
                  <a:pt x="0" y="14212"/>
                  <a:pt x="14212" y="0"/>
                  <a:pt x="31743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694" y="411281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3919" y="123217"/>
                </a:moveTo>
                <a:cubicBezTo>
                  <a:pt x="53919" y="123837"/>
                  <a:pt x="53206" y="124333"/>
                  <a:pt x="52307" y="124333"/>
                </a:cubicBezTo>
                <a:cubicBezTo>
                  <a:pt x="51284" y="124427"/>
                  <a:pt x="50571" y="123930"/>
                  <a:pt x="50571" y="123217"/>
                </a:cubicBezTo>
                <a:cubicBezTo>
                  <a:pt x="50571" y="122597"/>
                  <a:pt x="51284" y="122101"/>
                  <a:pt x="52183" y="122101"/>
                </a:cubicBezTo>
                <a:cubicBezTo>
                  <a:pt x="53113" y="122008"/>
                  <a:pt x="53919" y="122504"/>
                  <a:pt x="53919" y="123217"/>
                </a:cubicBezTo>
                <a:close/>
                <a:moveTo>
                  <a:pt x="44276" y="121822"/>
                </a:moveTo>
                <a:cubicBezTo>
                  <a:pt x="44059" y="122442"/>
                  <a:pt x="44679" y="123155"/>
                  <a:pt x="45610" y="123341"/>
                </a:cubicBezTo>
                <a:cubicBezTo>
                  <a:pt x="46416" y="123651"/>
                  <a:pt x="47346" y="123341"/>
                  <a:pt x="47532" y="122721"/>
                </a:cubicBezTo>
                <a:cubicBezTo>
                  <a:pt x="47718" y="122101"/>
                  <a:pt x="47129" y="121388"/>
                  <a:pt x="46199" y="121109"/>
                </a:cubicBezTo>
                <a:cubicBezTo>
                  <a:pt x="45393" y="120892"/>
                  <a:pt x="44493" y="121202"/>
                  <a:pt x="44276" y="121822"/>
                </a:cubicBezTo>
                <a:close/>
                <a:moveTo>
                  <a:pt x="57981" y="121295"/>
                </a:moveTo>
                <a:cubicBezTo>
                  <a:pt x="57082" y="121512"/>
                  <a:pt x="56462" y="122101"/>
                  <a:pt x="56555" y="122814"/>
                </a:cubicBezTo>
                <a:cubicBezTo>
                  <a:pt x="56648" y="123434"/>
                  <a:pt x="57454" y="123837"/>
                  <a:pt x="58384" y="123620"/>
                </a:cubicBezTo>
                <a:cubicBezTo>
                  <a:pt x="59283" y="123403"/>
                  <a:pt x="59903" y="122814"/>
                  <a:pt x="59810" y="122194"/>
                </a:cubicBezTo>
                <a:cubicBezTo>
                  <a:pt x="59717" y="121605"/>
                  <a:pt x="58880" y="121202"/>
                  <a:pt x="57981" y="121295"/>
                </a:cubicBezTo>
                <a:close/>
                <a:moveTo>
                  <a:pt x="78383" y="2480"/>
                </a:moveTo>
                <a:cubicBezTo>
                  <a:pt x="35378" y="2480"/>
                  <a:pt x="2480" y="35130"/>
                  <a:pt x="2480" y="78135"/>
                </a:cubicBezTo>
                <a:cubicBezTo>
                  <a:pt x="2480" y="112520"/>
                  <a:pt x="24123" y="141945"/>
                  <a:pt x="55035" y="152301"/>
                </a:cubicBezTo>
                <a:cubicBezTo>
                  <a:pt x="59004" y="153014"/>
                  <a:pt x="60399" y="150564"/>
                  <a:pt x="60399" y="148549"/>
                </a:cubicBezTo>
                <a:cubicBezTo>
                  <a:pt x="60399" y="146627"/>
                  <a:pt x="60306" y="136023"/>
                  <a:pt x="60306" y="129511"/>
                </a:cubicBezTo>
                <a:cubicBezTo>
                  <a:pt x="60306" y="129511"/>
                  <a:pt x="38602" y="134162"/>
                  <a:pt x="34044" y="120272"/>
                </a:cubicBezTo>
                <a:cubicBezTo>
                  <a:pt x="34044" y="120272"/>
                  <a:pt x="30510" y="111249"/>
                  <a:pt x="25425" y="108924"/>
                </a:cubicBezTo>
                <a:cubicBezTo>
                  <a:pt x="25425" y="108924"/>
                  <a:pt x="18324" y="104056"/>
                  <a:pt x="25921" y="104149"/>
                </a:cubicBezTo>
                <a:cubicBezTo>
                  <a:pt x="25921" y="104149"/>
                  <a:pt x="33641" y="104769"/>
                  <a:pt x="37889" y="112148"/>
                </a:cubicBezTo>
                <a:cubicBezTo>
                  <a:pt x="44679" y="124116"/>
                  <a:pt x="56059" y="120675"/>
                  <a:pt x="60492" y="118628"/>
                </a:cubicBezTo>
                <a:cubicBezTo>
                  <a:pt x="61206" y="113667"/>
                  <a:pt x="63221" y="110226"/>
                  <a:pt x="65453" y="108179"/>
                </a:cubicBezTo>
                <a:cubicBezTo>
                  <a:pt x="48121" y="106257"/>
                  <a:pt x="30634" y="103746"/>
                  <a:pt x="30634" y="73918"/>
                </a:cubicBezTo>
                <a:cubicBezTo>
                  <a:pt x="30634" y="65391"/>
                  <a:pt x="32990" y="61113"/>
                  <a:pt x="37951" y="55656"/>
                </a:cubicBezTo>
                <a:cubicBezTo>
                  <a:pt x="37145" y="53640"/>
                  <a:pt x="34510" y="45331"/>
                  <a:pt x="38757" y="34603"/>
                </a:cubicBezTo>
                <a:cubicBezTo>
                  <a:pt x="45238" y="32587"/>
                  <a:pt x="60151" y="42974"/>
                  <a:pt x="60151" y="42974"/>
                </a:cubicBezTo>
                <a:cubicBezTo>
                  <a:pt x="66353" y="41238"/>
                  <a:pt x="73019" y="40339"/>
                  <a:pt x="79623" y="40339"/>
                </a:cubicBezTo>
                <a:cubicBezTo>
                  <a:pt x="86227" y="40339"/>
                  <a:pt x="92894" y="41238"/>
                  <a:pt x="99095" y="42974"/>
                </a:cubicBezTo>
                <a:cubicBezTo>
                  <a:pt x="99095" y="42974"/>
                  <a:pt x="114009" y="32556"/>
                  <a:pt x="120489" y="34603"/>
                </a:cubicBezTo>
                <a:cubicBezTo>
                  <a:pt x="124737" y="45362"/>
                  <a:pt x="122101" y="53640"/>
                  <a:pt x="121295" y="55656"/>
                </a:cubicBezTo>
                <a:cubicBezTo>
                  <a:pt x="126256" y="61144"/>
                  <a:pt x="129294" y="65422"/>
                  <a:pt x="129294" y="73918"/>
                </a:cubicBezTo>
                <a:cubicBezTo>
                  <a:pt x="129294" y="103839"/>
                  <a:pt x="111032" y="106226"/>
                  <a:pt x="93700" y="108179"/>
                </a:cubicBezTo>
                <a:cubicBezTo>
                  <a:pt x="96552" y="110629"/>
                  <a:pt x="98971" y="115280"/>
                  <a:pt x="98971" y="122566"/>
                </a:cubicBezTo>
                <a:cubicBezTo>
                  <a:pt x="98971" y="133015"/>
                  <a:pt x="98878" y="145945"/>
                  <a:pt x="98878" y="148487"/>
                </a:cubicBezTo>
                <a:cubicBezTo>
                  <a:pt x="98878" y="150502"/>
                  <a:pt x="100304" y="152952"/>
                  <a:pt x="104242" y="152239"/>
                </a:cubicBezTo>
                <a:cubicBezTo>
                  <a:pt x="135248" y="141945"/>
                  <a:pt x="156270" y="112520"/>
                  <a:pt x="156270" y="78135"/>
                </a:cubicBezTo>
                <a:cubicBezTo>
                  <a:pt x="156270" y="35130"/>
                  <a:pt x="121388" y="2480"/>
                  <a:pt x="78383" y="2480"/>
                </a:cubicBezTo>
                <a:close/>
                <a:moveTo>
                  <a:pt x="32618" y="109420"/>
                </a:moveTo>
                <a:cubicBezTo>
                  <a:pt x="32215" y="109730"/>
                  <a:pt x="32308" y="110443"/>
                  <a:pt x="32835" y="111032"/>
                </a:cubicBezTo>
                <a:cubicBezTo>
                  <a:pt x="33331" y="111528"/>
                  <a:pt x="34044" y="111745"/>
                  <a:pt x="34448" y="111342"/>
                </a:cubicBezTo>
                <a:cubicBezTo>
                  <a:pt x="34851" y="111032"/>
                  <a:pt x="34758" y="110319"/>
                  <a:pt x="34230" y="109730"/>
                </a:cubicBezTo>
                <a:cubicBezTo>
                  <a:pt x="33734" y="109234"/>
                  <a:pt x="33021" y="109017"/>
                  <a:pt x="32618" y="109420"/>
                </a:cubicBezTo>
                <a:close/>
                <a:moveTo>
                  <a:pt x="29270" y="106908"/>
                </a:moveTo>
                <a:cubicBezTo>
                  <a:pt x="29052" y="107311"/>
                  <a:pt x="29363" y="107807"/>
                  <a:pt x="29983" y="108117"/>
                </a:cubicBezTo>
                <a:cubicBezTo>
                  <a:pt x="30479" y="108427"/>
                  <a:pt x="31099" y="108334"/>
                  <a:pt x="31316" y="107900"/>
                </a:cubicBezTo>
                <a:cubicBezTo>
                  <a:pt x="31533" y="107497"/>
                  <a:pt x="31223" y="107001"/>
                  <a:pt x="30603" y="106691"/>
                </a:cubicBezTo>
                <a:cubicBezTo>
                  <a:pt x="29983" y="106505"/>
                  <a:pt x="29487" y="106598"/>
                  <a:pt x="29270" y="106908"/>
                </a:cubicBezTo>
                <a:close/>
                <a:moveTo>
                  <a:pt x="39315" y="117946"/>
                </a:moveTo>
                <a:cubicBezTo>
                  <a:pt x="38819" y="118349"/>
                  <a:pt x="39005" y="119280"/>
                  <a:pt x="39719" y="119869"/>
                </a:cubicBezTo>
                <a:cubicBezTo>
                  <a:pt x="40432" y="120582"/>
                  <a:pt x="41331" y="120675"/>
                  <a:pt x="41734" y="120179"/>
                </a:cubicBezTo>
                <a:cubicBezTo>
                  <a:pt x="42137" y="119776"/>
                  <a:pt x="41951" y="118845"/>
                  <a:pt x="41331" y="118256"/>
                </a:cubicBezTo>
                <a:cubicBezTo>
                  <a:pt x="40649" y="117543"/>
                  <a:pt x="39719" y="117450"/>
                  <a:pt x="39315" y="117946"/>
                </a:cubicBezTo>
                <a:close/>
                <a:moveTo>
                  <a:pt x="35781" y="113388"/>
                </a:moveTo>
                <a:cubicBezTo>
                  <a:pt x="35285" y="113698"/>
                  <a:pt x="35285" y="114505"/>
                  <a:pt x="35781" y="115218"/>
                </a:cubicBezTo>
                <a:cubicBezTo>
                  <a:pt x="36277" y="115931"/>
                  <a:pt x="37114" y="116241"/>
                  <a:pt x="37517" y="115931"/>
                </a:cubicBezTo>
                <a:cubicBezTo>
                  <a:pt x="38013" y="115528"/>
                  <a:pt x="38013" y="114722"/>
                  <a:pt x="37517" y="114009"/>
                </a:cubicBezTo>
                <a:cubicBezTo>
                  <a:pt x="37083" y="113295"/>
                  <a:pt x="36277" y="112985"/>
                  <a:pt x="35781" y="1133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12788" y="4096940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Repository Platform Limitation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0850" y="4382690"/>
            <a:ext cx="31353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CI/CD pipeline requires GitHub-hosted source code.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0850" y="4807346"/>
            <a:ext cx="31353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Organizations using GitLab, Bitbucket, or Azure DevOps cannot directly integrate. GitHub Actions workflows are hardcoded into the deployment pipeline.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94125" y="3966766"/>
            <a:ext cx="3340100" cy="1514475"/>
          </a:xfrm>
          <a:custGeom>
            <a:avLst/>
            <a:gdLst/>
            <a:ahLst/>
            <a:cxnLst/>
            <a:rect l="l" t="t" r="r" b="b"/>
            <a:pathLst>
              <a:path w="3340100" h="1514475">
                <a:moveTo>
                  <a:pt x="31743" y="0"/>
                </a:moveTo>
                <a:lnTo>
                  <a:pt x="3308357" y="0"/>
                </a:lnTo>
                <a:cubicBezTo>
                  <a:pt x="3325888" y="0"/>
                  <a:pt x="3340100" y="14212"/>
                  <a:pt x="3340100" y="31743"/>
                </a:cubicBezTo>
                <a:lnTo>
                  <a:pt x="3340100" y="1482732"/>
                </a:lnTo>
                <a:cubicBezTo>
                  <a:pt x="3340100" y="1500263"/>
                  <a:pt x="3325888" y="1514475"/>
                  <a:pt x="3308357" y="1514475"/>
                </a:cubicBezTo>
                <a:lnTo>
                  <a:pt x="31743" y="1514475"/>
                </a:lnTo>
                <a:cubicBezTo>
                  <a:pt x="14212" y="1514475"/>
                  <a:pt x="0" y="1500263"/>
                  <a:pt x="0" y="1482732"/>
                </a:cubicBezTo>
                <a:lnTo>
                  <a:pt x="0" y="31743"/>
                </a:lnTo>
                <a:cubicBezTo>
                  <a:pt x="0" y="14212"/>
                  <a:pt x="14212" y="0"/>
                  <a:pt x="31743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44144" y="411281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186238" y="4096940"/>
            <a:ext cx="174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Template Mapping Boundaries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24300" y="4382690"/>
            <a:ext cx="3135313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System deploys frameworks matching pre-stored templates.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24300" y="4807346"/>
            <a:ext cx="31353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Highly unconventional stacks require manual Dockerfile inclusion. Niche or proprietary frameworks may not be automatically detected.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3375" y="5609433"/>
            <a:ext cx="31750" cy="555625"/>
          </a:xfrm>
          <a:custGeom>
            <a:avLst/>
            <a:gdLst/>
            <a:ahLst/>
            <a:cxnLst/>
            <a:rect l="l" t="t" r="r" b="b"/>
            <a:pathLst>
              <a:path w="31750" h="555625">
                <a:moveTo>
                  <a:pt x="0" y="0"/>
                </a:moveTo>
                <a:lnTo>
                  <a:pt x="31750" y="0"/>
                </a:lnTo>
                <a:lnTo>
                  <a:pt x="31750" y="555625"/>
                </a:lnTo>
                <a:lnTo>
                  <a:pt x="0" y="5556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76250" y="5704683"/>
            <a:ext cx="6715125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Mitigation Strategy: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These limitations are documented for transparency. Future iterations could address multi-cloud support, additional repository platforms, and expanded template libraries based on user feedback and resource availability.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31075" y="1146175"/>
            <a:ext cx="4538663" cy="4149725"/>
          </a:xfrm>
          <a:custGeom>
            <a:avLst/>
            <a:gdLst/>
            <a:ahLst/>
            <a:cxnLst/>
            <a:rect l="l" t="t" r="r" b="b"/>
            <a:pathLst>
              <a:path w="4538663" h="4149725">
                <a:moveTo>
                  <a:pt x="31745" y="0"/>
                </a:moveTo>
                <a:lnTo>
                  <a:pt x="4506917" y="0"/>
                </a:lnTo>
                <a:cubicBezTo>
                  <a:pt x="4524450" y="0"/>
                  <a:pt x="4538663" y="14213"/>
                  <a:pt x="4538663" y="31745"/>
                </a:cubicBezTo>
                <a:lnTo>
                  <a:pt x="4538663" y="4117980"/>
                </a:lnTo>
                <a:cubicBezTo>
                  <a:pt x="4538663" y="4135512"/>
                  <a:pt x="4524450" y="4149725"/>
                  <a:pt x="4506917" y="4149725"/>
                </a:cubicBezTo>
                <a:lnTo>
                  <a:pt x="31745" y="4149725"/>
                </a:lnTo>
                <a:cubicBezTo>
                  <a:pt x="14213" y="4149725"/>
                  <a:pt x="0" y="4135512"/>
                  <a:pt x="0" y="4117980"/>
                </a:cubicBezTo>
                <a:lnTo>
                  <a:pt x="0" y="31745"/>
                </a:lnTo>
                <a:cubicBezTo>
                  <a:pt x="0" y="14225"/>
                  <a:pt x="14225" y="0"/>
                  <a:pt x="31745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250" y="1276352"/>
            <a:ext cx="4325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5: Constraint Impact Matrix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64425" y="1501677"/>
            <a:ext cx="4276725" cy="514350"/>
          </a:xfrm>
          <a:custGeom>
            <a:avLst/>
            <a:gdLst/>
            <a:ahLst/>
            <a:cxnLst/>
            <a:rect l="l" t="t" r="r" b="b"/>
            <a:pathLst>
              <a:path w="4276725" h="514350">
                <a:moveTo>
                  <a:pt x="31751" y="0"/>
                </a:moveTo>
                <a:lnTo>
                  <a:pt x="4244974" y="0"/>
                </a:lnTo>
                <a:cubicBezTo>
                  <a:pt x="4262510" y="0"/>
                  <a:pt x="4276725" y="14215"/>
                  <a:pt x="4276725" y="31751"/>
                </a:cubicBezTo>
                <a:lnTo>
                  <a:pt x="4276725" y="482599"/>
                </a:lnTo>
                <a:cubicBezTo>
                  <a:pt x="4276725" y="500135"/>
                  <a:pt x="4262510" y="514350"/>
                  <a:pt x="4244974" y="514350"/>
                </a:cubicBezTo>
                <a:lnTo>
                  <a:pt x="31751" y="514350"/>
                </a:lnTo>
                <a:cubicBezTo>
                  <a:pt x="14215" y="514350"/>
                  <a:pt x="0" y="500135"/>
                  <a:pt x="0" y="482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62850" y="1615878"/>
            <a:ext cx="73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AWS Lock-in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166078" y="1600100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31751" y="0"/>
                </a:moveTo>
                <a:lnTo>
                  <a:pt x="444499" y="0"/>
                </a:lnTo>
                <a:cubicBezTo>
                  <a:pt x="462035" y="0"/>
                  <a:pt x="476250" y="14215"/>
                  <a:pt x="476250" y="31751"/>
                </a:cubicBezTo>
                <a:lnTo>
                  <a:pt x="476250" y="158749"/>
                </a:lnTo>
                <a:cubicBezTo>
                  <a:pt x="476250" y="176285"/>
                  <a:pt x="462035" y="190500"/>
                  <a:pt x="4444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35" name="Text 33"/>
          <p:cNvSpPr/>
          <p:nvPr/>
        </p:nvSpPr>
        <p:spPr>
          <a:xfrm>
            <a:off x="11166078" y="1600100"/>
            <a:ext cx="5238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94B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Medium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62850" y="1854003"/>
            <a:ext cx="4079875" cy="63500"/>
          </a:xfrm>
          <a:custGeom>
            <a:avLst/>
            <a:gdLst/>
            <a:ahLst/>
            <a:cxnLst/>
            <a:rect l="l" t="t" r="r" b="b"/>
            <a:pathLst>
              <a:path w="4079875" h="63500">
                <a:moveTo>
                  <a:pt x="31750" y="0"/>
                </a:moveTo>
                <a:lnTo>
                  <a:pt x="4048125" y="0"/>
                </a:lnTo>
                <a:cubicBezTo>
                  <a:pt x="4065648" y="0"/>
                  <a:pt x="4079875" y="14227"/>
                  <a:pt x="4079875" y="31750"/>
                </a:cubicBezTo>
                <a:lnTo>
                  <a:pt x="4079875" y="31750"/>
                </a:lnTo>
                <a:cubicBezTo>
                  <a:pt x="4079875" y="49273"/>
                  <a:pt x="4065648" y="63500"/>
                  <a:pt x="4048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7562850" y="1854003"/>
            <a:ext cx="2444750" cy="63500"/>
          </a:xfrm>
          <a:custGeom>
            <a:avLst/>
            <a:gdLst/>
            <a:ahLst/>
            <a:cxnLst/>
            <a:rect l="l" t="t" r="r" b="b"/>
            <a:pathLst>
              <a:path w="2444750" h="63500">
                <a:moveTo>
                  <a:pt x="31750" y="0"/>
                </a:moveTo>
                <a:lnTo>
                  <a:pt x="2413000" y="0"/>
                </a:lnTo>
                <a:cubicBezTo>
                  <a:pt x="2430523" y="0"/>
                  <a:pt x="2444750" y="14227"/>
                  <a:pt x="2444750" y="31750"/>
                </a:cubicBezTo>
                <a:lnTo>
                  <a:pt x="2444750" y="31750"/>
                </a:lnTo>
                <a:cubicBezTo>
                  <a:pt x="2444750" y="49273"/>
                  <a:pt x="2430523" y="63500"/>
                  <a:pt x="241300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8" name="Shape 36"/>
          <p:cNvSpPr/>
          <p:nvPr/>
        </p:nvSpPr>
        <p:spPr>
          <a:xfrm>
            <a:off x="7464425" y="2117527"/>
            <a:ext cx="4276725" cy="514350"/>
          </a:xfrm>
          <a:custGeom>
            <a:avLst/>
            <a:gdLst/>
            <a:ahLst/>
            <a:cxnLst/>
            <a:rect l="l" t="t" r="r" b="b"/>
            <a:pathLst>
              <a:path w="4276725" h="514350">
                <a:moveTo>
                  <a:pt x="31751" y="0"/>
                </a:moveTo>
                <a:lnTo>
                  <a:pt x="4244974" y="0"/>
                </a:lnTo>
                <a:cubicBezTo>
                  <a:pt x="4262510" y="0"/>
                  <a:pt x="4276725" y="14215"/>
                  <a:pt x="4276725" y="31751"/>
                </a:cubicBezTo>
                <a:lnTo>
                  <a:pt x="4276725" y="482599"/>
                </a:lnTo>
                <a:cubicBezTo>
                  <a:pt x="4276725" y="500135"/>
                  <a:pt x="4262510" y="514350"/>
                  <a:pt x="4244974" y="514350"/>
                </a:cubicBezTo>
                <a:lnTo>
                  <a:pt x="31751" y="514350"/>
                </a:lnTo>
                <a:cubicBezTo>
                  <a:pt x="14215" y="514350"/>
                  <a:pt x="0" y="500135"/>
                  <a:pt x="0" y="482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2850" y="2231728"/>
            <a:ext cx="76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Spot Volatility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307663" y="2215954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333375" h="190500">
                <a:moveTo>
                  <a:pt x="31751" y="0"/>
                </a:moveTo>
                <a:lnTo>
                  <a:pt x="301624" y="0"/>
                </a:lnTo>
                <a:cubicBezTo>
                  <a:pt x="319160" y="0"/>
                  <a:pt x="333375" y="14215"/>
                  <a:pt x="333375" y="31751"/>
                </a:cubicBezTo>
                <a:lnTo>
                  <a:pt x="333375" y="158749"/>
                </a:lnTo>
                <a:cubicBezTo>
                  <a:pt x="333375" y="176285"/>
                  <a:pt x="319160" y="190500"/>
                  <a:pt x="301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41" name="Text 39"/>
          <p:cNvSpPr/>
          <p:nvPr/>
        </p:nvSpPr>
        <p:spPr>
          <a:xfrm>
            <a:off x="11307663" y="2215954"/>
            <a:ext cx="3810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62850" y="2469853"/>
            <a:ext cx="4079875" cy="63500"/>
          </a:xfrm>
          <a:custGeom>
            <a:avLst/>
            <a:gdLst/>
            <a:ahLst/>
            <a:cxnLst/>
            <a:rect l="l" t="t" r="r" b="b"/>
            <a:pathLst>
              <a:path w="4079875" h="63500">
                <a:moveTo>
                  <a:pt x="31750" y="0"/>
                </a:moveTo>
                <a:lnTo>
                  <a:pt x="4048125" y="0"/>
                </a:lnTo>
                <a:cubicBezTo>
                  <a:pt x="4065648" y="0"/>
                  <a:pt x="4079875" y="14227"/>
                  <a:pt x="4079875" y="31750"/>
                </a:cubicBezTo>
                <a:lnTo>
                  <a:pt x="4079875" y="31750"/>
                </a:lnTo>
                <a:cubicBezTo>
                  <a:pt x="4079875" y="49273"/>
                  <a:pt x="4065648" y="63500"/>
                  <a:pt x="4048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3" name="Shape 41"/>
          <p:cNvSpPr/>
          <p:nvPr/>
        </p:nvSpPr>
        <p:spPr>
          <a:xfrm>
            <a:off x="7562850" y="2469853"/>
            <a:ext cx="3262313" cy="63500"/>
          </a:xfrm>
          <a:custGeom>
            <a:avLst/>
            <a:gdLst/>
            <a:ahLst/>
            <a:cxnLst/>
            <a:rect l="l" t="t" r="r" b="b"/>
            <a:pathLst>
              <a:path w="3262313" h="63500">
                <a:moveTo>
                  <a:pt x="31750" y="0"/>
                </a:moveTo>
                <a:lnTo>
                  <a:pt x="3230563" y="0"/>
                </a:lnTo>
                <a:cubicBezTo>
                  <a:pt x="3248086" y="0"/>
                  <a:pt x="3262313" y="14227"/>
                  <a:pt x="3262313" y="31750"/>
                </a:cubicBezTo>
                <a:lnTo>
                  <a:pt x="3262313" y="31750"/>
                </a:lnTo>
                <a:cubicBezTo>
                  <a:pt x="3262313" y="49273"/>
                  <a:pt x="3248086" y="63500"/>
                  <a:pt x="3230563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4" name="Shape 42"/>
          <p:cNvSpPr/>
          <p:nvPr/>
        </p:nvSpPr>
        <p:spPr>
          <a:xfrm>
            <a:off x="7464425" y="2733377"/>
            <a:ext cx="4276725" cy="514350"/>
          </a:xfrm>
          <a:custGeom>
            <a:avLst/>
            <a:gdLst/>
            <a:ahLst/>
            <a:cxnLst/>
            <a:rect l="l" t="t" r="r" b="b"/>
            <a:pathLst>
              <a:path w="4276725" h="514350">
                <a:moveTo>
                  <a:pt x="31751" y="0"/>
                </a:moveTo>
                <a:lnTo>
                  <a:pt x="4244974" y="0"/>
                </a:lnTo>
                <a:cubicBezTo>
                  <a:pt x="4262510" y="0"/>
                  <a:pt x="4276725" y="14215"/>
                  <a:pt x="4276725" y="31751"/>
                </a:cubicBezTo>
                <a:lnTo>
                  <a:pt x="4276725" y="482599"/>
                </a:lnTo>
                <a:cubicBezTo>
                  <a:pt x="4276725" y="500135"/>
                  <a:pt x="4262510" y="514350"/>
                  <a:pt x="4244974" y="514350"/>
                </a:cubicBezTo>
                <a:lnTo>
                  <a:pt x="31751" y="514350"/>
                </a:lnTo>
                <a:cubicBezTo>
                  <a:pt x="14215" y="514350"/>
                  <a:pt x="0" y="500135"/>
                  <a:pt x="0" y="482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62850" y="2847578"/>
            <a:ext cx="69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 Only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66078" y="2831804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31751" y="0"/>
                </a:moveTo>
                <a:lnTo>
                  <a:pt x="444499" y="0"/>
                </a:lnTo>
                <a:cubicBezTo>
                  <a:pt x="462035" y="0"/>
                  <a:pt x="476250" y="14215"/>
                  <a:pt x="476250" y="31751"/>
                </a:cubicBezTo>
                <a:lnTo>
                  <a:pt x="476250" y="158749"/>
                </a:lnTo>
                <a:cubicBezTo>
                  <a:pt x="476250" y="176285"/>
                  <a:pt x="462035" y="190500"/>
                  <a:pt x="4444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47" name="Text 45"/>
          <p:cNvSpPr/>
          <p:nvPr/>
        </p:nvSpPr>
        <p:spPr>
          <a:xfrm>
            <a:off x="11166078" y="2831804"/>
            <a:ext cx="5238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94B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Medium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62850" y="3085703"/>
            <a:ext cx="4079875" cy="63500"/>
          </a:xfrm>
          <a:custGeom>
            <a:avLst/>
            <a:gdLst/>
            <a:ahLst/>
            <a:cxnLst/>
            <a:rect l="l" t="t" r="r" b="b"/>
            <a:pathLst>
              <a:path w="4079875" h="63500">
                <a:moveTo>
                  <a:pt x="31750" y="0"/>
                </a:moveTo>
                <a:lnTo>
                  <a:pt x="4048125" y="0"/>
                </a:lnTo>
                <a:cubicBezTo>
                  <a:pt x="4065648" y="0"/>
                  <a:pt x="4079875" y="14227"/>
                  <a:pt x="4079875" y="31750"/>
                </a:cubicBezTo>
                <a:lnTo>
                  <a:pt x="4079875" y="31750"/>
                </a:lnTo>
                <a:cubicBezTo>
                  <a:pt x="4079875" y="49273"/>
                  <a:pt x="4065648" y="63500"/>
                  <a:pt x="4048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9" name="Shape 47"/>
          <p:cNvSpPr/>
          <p:nvPr/>
        </p:nvSpPr>
        <p:spPr>
          <a:xfrm>
            <a:off x="7562850" y="3085703"/>
            <a:ext cx="2039938" cy="63500"/>
          </a:xfrm>
          <a:custGeom>
            <a:avLst/>
            <a:gdLst/>
            <a:ahLst/>
            <a:cxnLst/>
            <a:rect l="l" t="t" r="r" b="b"/>
            <a:pathLst>
              <a:path w="2039938" h="63500">
                <a:moveTo>
                  <a:pt x="31750" y="0"/>
                </a:moveTo>
                <a:lnTo>
                  <a:pt x="2008187" y="0"/>
                </a:lnTo>
                <a:cubicBezTo>
                  <a:pt x="2025711" y="0"/>
                  <a:pt x="2039938" y="14227"/>
                  <a:pt x="2039938" y="31750"/>
                </a:cubicBezTo>
                <a:lnTo>
                  <a:pt x="2039938" y="31750"/>
                </a:lnTo>
                <a:cubicBezTo>
                  <a:pt x="2039938" y="49273"/>
                  <a:pt x="2025711" y="63500"/>
                  <a:pt x="2008187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0" name="Shape 48"/>
          <p:cNvSpPr/>
          <p:nvPr/>
        </p:nvSpPr>
        <p:spPr>
          <a:xfrm>
            <a:off x="7464425" y="3349230"/>
            <a:ext cx="4276725" cy="514350"/>
          </a:xfrm>
          <a:custGeom>
            <a:avLst/>
            <a:gdLst/>
            <a:ahLst/>
            <a:cxnLst/>
            <a:rect l="l" t="t" r="r" b="b"/>
            <a:pathLst>
              <a:path w="4276725" h="514350">
                <a:moveTo>
                  <a:pt x="31751" y="0"/>
                </a:moveTo>
                <a:lnTo>
                  <a:pt x="4244974" y="0"/>
                </a:lnTo>
                <a:cubicBezTo>
                  <a:pt x="4262510" y="0"/>
                  <a:pt x="4276725" y="14215"/>
                  <a:pt x="4276725" y="31751"/>
                </a:cubicBezTo>
                <a:lnTo>
                  <a:pt x="4276725" y="482599"/>
                </a:lnTo>
                <a:cubicBezTo>
                  <a:pt x="4276725" y="500135"/>
                  <a:pt x="4262510" y="514350"/>
                  <a:pt x="4244974" y="514350"/>
                </a:cubicBezTo>
                <a:lnTo>
                  <a:pt x="31751" y="514350"/>
                </a:lnTo>
                <a:cubicBezTo>
                  <a:pt x="14215" y="514350"/>
                  <a:pt x="0" y="500135"/>
                  <a:pt x="0" y="482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850" y="3463428"/>
            <a:ext cx="841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Template Limits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331675" y="3447654"/>
            <a:ext cx="309563" cy="190500"/>
          </a:xfrm>
          <a:custGeom>
            <a:avLst/>
            <a:gdLst/>
            <a:ahLst/>
            <a:cxnLst/>
            <a:rect l="l" t="t" r="r" b="b"/>
            <a:pathLst>
              <a:path w="309563" h="190500">
                <a:moveTo>
                  <a:pt x="31751" y="0"/>
                </a:moveTo>
                <a:lnTo>
                  <a:pt x="277812" y="0"/>
                </a:lnTo>
                <a:cubicBezTo>
                  <a:pt x="295347" y="0"/>
                  <a:pt x="309563" y="14215"/>
                  <a:pt x="309563" y="31751"/>
                </a:cubicBezTo>
                <a:lnTo>
                  <a:pt x="309563" y="158749"/>
                </a:lnTo>
                <a:cubicBezTo>
                  <a:pt x="309563" y="176285"/>
                  <a:pt x="295347" y="190500"/>
                  <a:pt x="2778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11331675" y="3447654"/>
            <a:ext cx="3571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62850" y="3701553"/>
            <a:ext cx="4079875" cy="63500"/>
          </a:xfrm>
          <a:custGeom>
            <a:avLst/>
            <a:gdLst/>
            <a:ahLst/>
            <a:cxnLst/>
            <a:rect l="l" t="t" r="r" b="b"/>
            <a:pathLst>
              <a:path w="4079875" h="63500">
                <a:moveTo>
                  <a:pt x="31750" y="0"/>
                </a:moveTo>
                <a:lnTo>
                  <a:pt x="4048125" y="0"/>
                </a:lnTo>
                <a:cubicBezTo>
                  <a:pt x="4065648" y="0"/>
                  <a:pt x="4079875" y="14227"/>
                  <a:pt x="4079875" y="31750"/>
                </a:cubicBezTo>
                <a:lnTo>
                  <a:pt x="4079875" y="31750"/>
                </a:lnTo>
                <a:cubicBezTo>
                  <a:pt x="4079875" y="49273"/>
                  <a:pt x="4065648" y="63500"/>
                  <a:pt x="40481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7562850" y="3701553"/>
            <a:ext cx="1222375" cy="63500"/>
          </a:xfrm>
          <a:custGeom>
            <a:avLst/>
            <a:gdLst/>
            <a:ahLst/>
            <a:cxnLst/>
            <a:rect l="l" t="t" r="r" b="b"/>
            <a:pathLst>
              <a:path w="1222375" h="63500">
                <a:moveTo>
                  <a:pt x="31750" y="0"/>
                </a:moveTo>
                <a:lnTo>
                  <a:pt x="1190625" y="0"/>
                </a:lnTo>
                <a:cubicBezTo>
                  <a:pt x="1208148" y="0"/>
                  <a:pt x="1222375" y="14227"/>
                  <a:pt x="1222375" y="31750"/>
                </a:cubicBezTo>
                <a:lnTo>
                  <a:pt x="1222375" y="31750"/>
                </a:lnTo>
                <a:cubicBezTo>
                  <a:pt x="1222375" y="49273"/>
                  <a:pt x="1208148" y="63500"/>
                  <a:pt x="11906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6" name="Shape 54"/>
          <p:cNvSpPr/>
          <p:nvPr/>
        </p:nvSpPr>
        <p:spPr>
          <a:xfrm>
            <a:off x="7327900" y="5427266"/>
            <a:ext cx="4548188" cy="1111250"/>
          </a:xfrm>
          <a:custGeom>
            <a:avLst/>
            <a:gdLst/>
            <a:ahLst/>
            <a:cxnLst/>
            <a:rect l="l" t="t" r="r" b="b"/>
            <a:pathLst>
              <a:path w="4548188" h="1111250">
                <a:moveTo>
                  <a:pt x="63497" y="0"/>
                </a:moveTo>
                <a:lnTo>
                  <a:pt x="4484691" y="0"/>
                </a:lnTo>
                <a:cubicBezTo>
                  <a:pt x="4519759" y="0"/>
                  <a:pt x="4548188" y="28428"/>
                  <a:pt x="4548188" y="63497"/>
                </a:cubicBezTo>
                <a:lnTo>
                  <a:pt x="4548188" y="1047753"/>
                </a:lnTo>
                <a:cubicBezTo>
                  <a:pt x="4548188" y="1082822"/>
                  <a:pt x="4519759" y="1111250"/>
                  <a:pt x="4484691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7454900" y="5554266"/>
            <a:ext cx="436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Academic Rigor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54900" y="5871766"/>
            <a:ext cx="434975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Acknowledging limitations demonstrates realistic project scoping and maturity in system design. These constraints are documented for evaluation committee review and future development planning.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537" y="357537"/>
            <a:ext cx="1153949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spc="49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SECTION 8.0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537" y="607812"/>
            <a:ext cx="11637818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Stack &amp; Project Team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537" y="1072610"/>
            <a:ext cx="715073" cy="35754"/>
          </a:xfrm>
          <a:custGeom>
            <a:avLst/>
            <a:gdLst/>
            <a:ahLst/>
            <a:cxnLst/>
            <a:rect l="l" t="t" r="r" b="b"/>
            <a:pathLst>
              <a:path w="715073" h="35754">
                <a:moveTo>
                  <a:pt x="0" y="0"/>
                </a:moveTo>
                <a:lnTo>
                  <a:pt x="715073" y="0"/>
                </a:lnTo>
                <a:lnTo>
                  <a:pt x="715073" y="35754"/>
                </a:lnTo>
                <a:lnTo>
                  <a:pt x="0" y="3575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61112" y="1290707"/>
            <a:ext cx="6746717" cy="4163514"/>
          </a:xfrm>
          <a:custGeom>
            <a:avLst/>
            <a:gdLst/>
            <a:ahLst/>
            <a:cxnLst/>
            <a:rect l="l" t="t" r="r" b="b"/>
            <a:pathLst>
              <a:path w="6746717" h="4163514">
                <a:moveTo>
                  <a:pt x="35765" y="0"/>
                </a:moveTo>
                <a:lnTo>
                  <a:pt x="6710952" y="0"/>
                </a:lnTo>
                <a:cubicBezTo>
                  <a:pt x="6730704" y="0"/>
                  <a:pt x="6746717" y="16012"/>
                  <a:pt x="6746717" y="35765"/>
                </a:cubicBezTo>
                <a:lnTo>
                  <a:pt x="6746717" y="4127750"/>
                </a:lnTo>
                <a:cubicBezTo>
                  <a:pt x="6746717" y="4147502"/>
                  <a:pt x="6730704" y="4163514"/>
                  <a:pt x="6710952" y="4163514"/>
                </a:cubicBezTo>
                <a:lnTo>
                  <a:pt x="35765" y="4163514"/>
                </a:lnTo>
                <a:cubicBezTo>
                  <a:pt x="16026" y="4163514"/>
                  <a:pt x="0" y="4147489"/>
                  <a:pt x="0" y="4127750"/>
                </a:cubicBezTo>
                <a:lnTo>
                  <a:pt x="0" y="35765"/>
                </a:lnTo>
                <a:cubicBezTo>
                  <a:pt x="0" y="16026"/>
                  <a:pt x="16026" y="0"/>
                  <a:pt x="35765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702" y="1437296"/>
            <a:ext cx="6507167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3: Technology Stack with Rationale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702" y="1687467"/>
          <a:ext cx="6453537" cy="3620059"/>
        </p:xfrm>
        <a:graphic>
          <a:graphicData uri="http://schemas.openxmlformats.org/drawingml/2006/table">
            <a:tbl>
              <a:tblPr/>
              <a:tblGrid>
                <a:gridCol w="1799114"/>
                <a:gridCol w="1611146"/>
                <a:gridCol w="3043277"/>
              </a:tblGrid>
              <a:tr h="329096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Technology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Purpose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Rationale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Next.js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Frontend Development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React-based SSR, UI/UX, Chatbot Interface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NestJS &amp; Node.js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Backend Orchestration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TypeScript enterprise architecture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PostgreSQL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Relational Database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User/project data with TypeORM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Redis (BullMQ)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Async Task Queuing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Deployment job management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AWS (ECS, ECR, S3)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Cloud Infrastructure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Enterprise-grade services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Terraform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Infrastructure as Code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Declarative provisioning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Aqua Trivy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Security Scanning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Container vulnerability detection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Infracost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Cost Estimation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Pre-deployment FinOps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GitHub Actions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CI/CD Automation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Native GitHub integration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9096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 API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Troubleshooting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 analysis &amp; remediation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1507" marB="7150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57537" y="5598914"/>
            <a:ext cx="6757443" cy="1251378"/>
          </a:xfrm>
          <a:custGeom>
            <a:avLst/>
            <a:gdLst/>
            <a:ahLst/>
            <a:cxnLst/>
            <a:rect l="l" t="t" r="r" b="b"/>
            <a:pathLst>
              <a:path w="6757443" h="1251378">
                <a:moveTo>
                  <a:pt x="71504" y="0"/>
                </a:moveTo>
                <a:lnTo>
                  <a:pt x="6685939" y="0"/>
                </a:lnTo>
                <a:cubicBezTo>
                  <a:pt x="6725429" y="0"/>
                  <a:pt x="6757443" y="32013"/>
                  <a:pt x="6757443" y="71504"/>
                </a:cubicBezTo>
                <a:lnTo>
                  <a:pt x="6757443" y="1179875"/>
                </a:lnTo>
                <a:cubicBezTo>
                  <a:pt x="6757443" y="1219365"/>
                  <a:pt x="6725429" y="1251378"/>
                  <a:pt x="6685939" y="1251378"/>
                </a:cubicBezTo>
                <a:lnTo>
                  <a:pt x="71504" y="1251378"/>
                </a:lnTo>
                <a:cubicBezTo>
                  <a:pt x="32013" y="1251378"/>
                  <a:pt x="0" y="1219365"/>
                  <a:pt x="0" y="1179875"/>
                </a:cubicBezTo>
                <a:lnTo>
                  <a:pt x="0" y="71504"/>
                </a:lnTo>
                <a:cubicBezTo>
                  <a:pt x="0" y="32013"/>
                  <a:pt x="32013" y="0"/>
                  <a:pt x="7150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6"/>
          <p:cNvSpPr/>
          <p:nvPr/>
        </p:nvSpPr>
        <p:spPr>
          <a:xfrm>
            <a:off x="500551" y="5741929"/>
            <a:ext cx="6551859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 Philosophy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0551" y="6099465"/>
            <a:ext cx="6533982" cy="607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technology stack is selected to balance enterprise reliability with developer productivity. TypeScript across frontend (Next.js) and backend (NestJS) ensures type safety and code sharing. AWS services provide battle-tested infrastructure primitives, while Terraform enables version-controlled, reproducible deployments.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30619" y="1290707"/>
            <a:ext cx="4494236" cy="4842834"/>
          </a:xfrm>
          <a:custGeom>
            <a:avLst/>
            <a:gdLst/>
            <a:ahLst/>
            <a:cxnLst/>
            <a:rect l="l" t="t" r="r" b="b"/>
            <a:pathLst>
              <a:path w="4494236" h="4842834">
                <a:moveTo>
                  <a:pt x="35774" y="0"/>
                </a:moveTo>
                <a:lnTo>
                  <a:pt x="4458462" y="0"/>
                </a:lnTo>
                <a:cubicBezTo>
                  <a:pt x="4478219" y="0"/>
                  <a:pt x="4494236" y="16017"/>
                  <a:pt x="4494236" y="35774"/>
                </a:cubicBezTo>
                <a:lnTo>
                  <a:pt x="4494236" y="4807060"/>
                </a:lnTo>
                <a:cubicBezTo>
                  <a:pt x="4494236" y="4826817"/>
                  <a:pt x="4478219" y="4842834"/>
                  <a:pt x="4458462" y="4842834"/>
                </a:cubicBezTo>
                <a:lnTo>
                  <a:pt x="35774" y="4842834"/>
                </a:lnTo>
                <a:cubicBezTo>
                  <a:pt x="16017" y="4842834"/>
                  <a:pt x="0" y="4826817"/>
                  <a:pt x="0" y="4807060"/>
                </a:cubicBezTo>
                <a:lnTo>
                  <a:pt x="0" y="35774"/>
                </a:lnTo>
                <a:cubicBezTo>
                  <a:pt x="0" y="16017"/>
                  <a:pt x="16017" y="0"/>
                  <a:pt x="35774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77209" y="1437296"/>
            <a:ext cx="425468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4: Team Structure &amp; Responsibilities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80784" y="1691042"/>
            <a:ext cx="4199268" cy="1294283"/>
          </a:xfrm>
          <a:custGeom>
            <a:avLst/>
            <a:gdLst/>
            <a:ahLst/>
            <a:cxnLst/>
            <a:rect l="l" t="t" r="r" b="b"/>
            <a:pathLst>
              <a:path w="4199268" h="1294283">
                <a:moveTo>
                  <a:pt x="35748" y="0"/>
                </a:moveTo>
                <a:lnTo>
                  <a:pt x="4163520" y="0"/>
                </a:lnTo>
                <a:cubicBezTo>
                  <a:pt x="4183263" y="0"/>
                  <a:pt x="4199268" y="16005"/>
                  <a:pt x="4199268" y="35748"/>
                </a:cubicBezTo>
                <a:lnTo>
                  <a:pt x="4199268" y="1258535"/>
                </a:lnTo>
                <a:cubicBezTo>
                  <a:pt x="4199268" y="1278278"/>
                  <a:pt x="4183263" y="1294283"/>
                  <a:pt x="4163520" y="1294283"/>
                </a:cubicBezTo>
                <a:lnTo>
                  <a:pt x="35748" y="1294283"/>
                </a:lnTo>
                <a:cubicBezTo>
                  <a:pt x="16018" y="1294283"/>
                  <a:pt x="0" y="1278265"/>
                  <a:pt x="0" y="1258535"/>
                </a:cubicBezTo>
                <a:lnTo>
                  <a:pt x="0" y="35748"/>
                </a:lnTo>
                <a:cubicBezTo>
                  <a:pt x="0" y="16018"/>
                  <a:pt x="16018" y="0"/>
                  <a:pt x="3574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91621" y="1801877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555867" y="1801877"/>
            <a:ext cx="429044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56418" y="1819753"/>
            <a:ext cx="124244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Hassan Sajjad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56418" y="1998522"/>
            <a:ext cx="1233501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Reg: 232460 | Project Lead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91621" y="2230921"/>
            <a:ext cx="4031226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DevOps &amp; Dockerization: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Optimized templates, image optimization, GitHub Actions CI/CD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91621" y="2552477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Cloud &amp; IaC: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Terraform modules, AWS networking (ECS, ALB, Cloud Map)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91621" y="2731131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Aqua Trivy vulnerability scanning integration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80784" y="3099288"/>
            <a:ext cx="4199268" cy="1151268"/>
          </a:xfrm>
          <a:custGeom>
            <a:avLst/>
            <a:gdLst/>
            <a:ahLst/>
            <a:cxnLst/>
            <a:rect l="l" t="t" r="r" b="b"/>
            <a:pathLst>
              <a:path w="4199268" h="1151268">
                <a:moveTo>
                  <a:pt x="35758" y="0"/>
                </a:moveTo>
                <a:lnTo>
                  <a:pt x="4163510" y="0"/>
                </a:lnTo>
                <a:cubicBezTo>
                  <a:pt x="4183258" y="0"/>
                  <a:pt x="4199268" y="16010"/>
                  <a:pt x="4199268" y="35758"/>
                </a:cubicBezTo>
                <a:lnTo>
                  <a:pt x="4199268" y="1115510"/>
                </a:lnTo>
                <a:cubicBezTo>
                  <a:pt x="4199268" y="1135258"/>
                  <a:pt x="4183258" y="1151268"/>
                  <a:pt x="4163510" y="1151268"/>
                </a:cubicBezTo>
                <a:lnTo>
                  <a:pt x="35758" y="1151268"/>
                </a:lnTo>
                <a:cubicBezTo>
                  <a:pt x="16010" y="1151268"/>
                  <a:pt x="0" y="1135258"/>
                  <a:pt x="0" y="1115510"/>
                </a:cubicBezTo>
                <a:lnTo>
                  <a:pt x="0" y="35758"/>
                </a:lnTo>
                <a:cubicBezTo>
                  <a:pt x="0" y="16023"/>
                  <a:pt x="16023" y="0"/>
                  <a:pt x="3575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91621" y="3210122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555867" y="3210122"/>
            <a:ext cx="429044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FF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56418" y="3227999"/>
            <a:ext cx="1287132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Faria Fatima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056418" y="3406767"/>
            <a:ext cx="1278194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Reg: 233169 | Backend Lead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91621" y="3639166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Backend: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NestJS orchestration API, Authentication, RBAC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591621" y="3817821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Async Processing: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Redis/BullMQ job queues for deployment tasks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91621" y="3996476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&amp; Logic: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Stack Detection engine, PostgreSQL management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480784" y="4364632"/>
            <a:ext cx="4199268" cy="1151268"/>
          </a:xfrm>
          <a:custGeom>
            <a:avLst/>
            <a:gdLst/>
            <a:ahLst/>
            <a:cxnLst/>
            <a:rect l="l" t="t" r="r" b="b"/>
            <a:pathLst>
              <a:path w="4199268" h="1151268">
                <a:moveTo>
                  <a:pt x="35758" y="0"/>
                </a:moveTo>
                <a:lnTo>
                  <a:pt x="4163510" y="0"/>
                </a:lnTo>
                <a:cubicBezTo>
                  <a:pt x="4183258" y="0"/>
                  <a:pt x="4199268" y="16010"/>
                  <a:pt x="4199268" y="35758"/>
                </a:cubicBezTo>
                <a:lnTo>
                  <a:pt x="4199268" y="1115510"/>
                </a:lnTo>
                <a:cubicBezTo>
                  <a:pt x="4199268" y="1135258"/>
                  <a:pt x="4183258" y="1151268"/>
                  <a:pt x="4163510" y="1151268"/>
                </a:cubicBezTo>
                <a:lnTo>
                  <a:pt x="35758" y="1151268"/>
                </a:lnTo>
                <a:cubicBezTo>
                  <a:pt x="16010" y="1151268"/>
                  <a:pt x="0" y="1135258"/>
                  <a:pt x="0" y="1115510"/>
                </a:cubicBezTo>
                <a:lnTo>
                  <a:pt x="0" y="35758"/>
                </a:lnTo>
                <a:cubicBezTo>
                  <a:pt x="0" y="16023"/>
                  <a:pt x="16023" y="0"/>
                  <a:pt x="3575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91621" y="4475467"/>
            <a:ext cx="357537" cy="357537"/>
          </a:xfrm>
          <a:custGeom>
            <a:avLst/>
            <a:gdLst/>
            <a:ahLst/>
            <a:cxnLst/>
            <a:rect l="l" t="t" r="r" b="b"/>
            <a:pathLst>
              <a:path w="357537" h="357537">
                <a:moveTo>
                  <a:pt x="178768" y="0"/>
                </a:moveTo>
                <a:lnTo>
                  <a:pt x="178768" y="0"/>
                </a:lnTo>
                <a:cubicBezTo>
                  <a:pt x="277433" y="0"/>
                  <a:pt x="357537" y="80103"/>
                  <a:pt x="357537" y="178768"/>
                </a:cubicBezTo>
                <a:lnTo>
                  <a:pt x="357537" y="178768"/>
                </a:lnTo>
                <a:cubicBezTo>
                  <a:pt x="357537" y="277433"/>
                  <a:pt x="277433" y="357537"/>
                  <a:pt x="178768" y="357537"/>
                </a:cubicBezTo>
                <a:lnTo>
                  <a:pt x="178768" y="357537"/>
                </a:lnTo>
                <a:cubicBezTo>
                  <a:pt x="80103" y="357537"/>
                  <a:pt x="0" y="277433"/>
                  <a:pt x="0" y="178768"/>
                </a:cubicBezTo>
                <a:lnTo>
                  <a:pt x="0" y="178768"/>
                </a:lnTo>
                <a:cubicBezTo>
                  <a:pt x="0" y="80103"/>
                  <a:pt x="80103" y="0"/>
                  <a:pt x="1787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7555867" y="4475467"/>
            <a:ext cx="429044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056418" y="4493344"/>
            <a:ext cx="1331824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Tania Khawar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056418" y="4672112"/>
            <a:ext cx="132288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Reg: 232378 | Frontend Lead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591621" y="4904511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UI/UX: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Next.js Dashboard, Project Management, FinOps UI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591621" y="5083166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Observability: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Server-Sent Events for real-time log streaming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91621" y="5261821"/>
            <a:ext cx="4031226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Development:</a:t>
            </a:r>
            <a:pPr>
              <a:lnSpc>
                <a:spcPct val="110000"/>
              </a:lnSpc>
            </a:pPr>
            <a:r>
              <a:rPr lang="en-US" sz="84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LLM Chatbot integration, log analysis features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344921" y="6280468"/>
            <a:ext cx="35754" cy="572059"/>
          </a:xfrm>
          <a:custGeom>
            <a:avLst/>
            <a:gdLst/>
            <a:ahLst/>
            <a:cxnLst/>
            <a:rect l="l" t="t" r="r" b="b"/>
            <a:pathLst>
              <a:path w="35754" h="572059">
                <a:moveTo>
                  <a:pt x="0" y="0"/>
                </a:moveTo>
                <a:lnTo>
                  <a:pt x="35754" y="0"/>
                </a:lnTo>
                <a:lnTo>
                  <a:pt x="35754" y="572059"/>
                </a:lnTo>
                <a:lnTo>
                  <a:pt x="0" y="57205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7505812" y="6387729"/>
            <a:ext cx="4388762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Supervisor:</a:t>
            </a:r>
            <a:pPr>
              <a:lnSpc>
                <a:spcPct val="120000"/>
              </a:lnSpc>
            </a:pPr>
            <a:r>
              <a:rPr lang="en-US" sz="98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Sir Yaseen Mushtaq | </a:t>
            </a:r>
            <a:pPr>
              <a:lnSpc>
                <a:spcPct val="120000"/>
              </a:lnSpc>
            </a:pPr>
            <a:r>
              <a:rPr lang="en-US" sz="98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Institution:</a:t>
            </a:r>
            <a:pPr>
              <a:lnSpc>
                <a:spcPct val="120000"/>
              </a:lnSpc>
            </a:pPr>
            <a:r>
              <a:rPr lang="en-US" sz="98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Air University Islamabad, Department of Computer Science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igen.com.au/1d032b4649c5100cdb0927d9f5b3b8905898a3be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406" b="340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8B0000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Vision &amp; Impact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10477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4"/>
          <p:cNvSpPr/>
          <p:nvPr/>
        </p:nvSpPr>
        <p:spPr>
          <a:xfrm>
            <a:off x="317500" y="1270000"/>
            <a:ext cx="6778625" cy="1381125"/>
          </a:xfrm>
          <a:custGeom>
            <a:avLst/>
            <a:gdLst/>
            <a:ahLst/>
            <a:cxnLst/>
            <a:rect l="l" t="t" r="r" b="b"/>
            <a:pathLst>
              <a:path w="6778625" h="1381125">
                <a:moveTo>
                  <a:pt x="63504" y="0"/>
                </a:moveTo>
                <a:lnTo>
                  <a:pt x="6715121" y="0"/>
                </a:lnTo>
                <a:cubicBezTo>
                  <a:pt x="6750193" y="0"/>
                  <a:pt x="6778625" y="28432"/>
                  <a:pt x="6778625" y="63504"/>
                </a:cubicBezTo>
                <a:lnTo>
                  <a:pt x="6778625" y="1317621"/>
                </a:lnTo>
                <a:cubicBezTo>
                  <a:pt x="6778625" y="1352693"/>
                  <a:pt x="6750193" y="1381125"/>
                  <a:pt x="6715121" y="1381125"/>
                </a:cubicBezTo>
                <a:lnTo>
                  <a:pt x="63504" y="1381125"/>
                </a:lnTo>
                <a:cubicBezTo>
                  <a:pt x="28432" y="1381125"/>
                  <a:pt x="0" y="1352693"/>
                  <a:pt x="0" y="1317621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1460500"/>
            <a:ext cx="6492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DeployGuard: Bridging the DevOps Gap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1841399"/>
            <a:ext cx="6461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 represents a comprehensive solution to bridge the DevOps skill gap for Small-to-Medium Enterprises. By combining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rule-based automation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integrated security scanning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predictive cost analysis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AI-powered troubleshooting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the platform delivers enterprise-grade deployment capabilities without enterprise-level complexity.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675" y="2812949"/>
            <a:ext cx="2173287" cy="1450975"/>
          </a:xfrm>
          <a:custGeom>
            <a:avLst/>
            <a:gdLst/>
            <a:ahLst/>
            <a:cxnLst/>
            <a:rect l="l" t="t" r="r" b="b"/>
            <a:pathLst>
              <a:path w="2173287" h="1450975">
                <a:moveTo>
                  <a:pt x="31747" y="0"/>
                </a:moveTo>
                <a:lnTo>
                  <a:pt x="2141540" y="0"/>
                </a:lnTo>
                <a:cubicBezTo>
                  <a:pt x="2159074" y="0"/>
                  <a:pt x="2173287" y="14214"/>
                  <a:pt x="2173287" y="31747"/>
                </a:cubicBezTo>
                <a:lnTo>
                  <a:pt x="2173287" y="1419228"/>
                </a:lnTo>
                <a:cubicBezTo>
                  <a:pt x="2173287" y="1436761"/>
                  <a:pt x="2159074" y="1450975"/>
                  <a:pt x="2141540" y="1450975"/>
                </a:cubicBezTo>
                <a:lnTo>
                  <a:pt x="31747" y="1450975"/>
                </a:lnTo>
                <a:cubicBezTo>
                  <a:pt x="14214" y="1450975"/>
                  <a:pt x="0" y="1436761"/>
                  <a:pt x="0" y="1419228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756" y="294313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52475" y="2943130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Academic Rigor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0850" y="3228880"/>
            <a:ext cx="1968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Demonstrates comprehensive understanding of DevOps principles, cloud architecture, and modern software engineering practices through rigorous methodology.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23542" y="2812949"/>
            <a:ext cx="2173287" cy="1450975"/>
          </a:xfrm>
          <a:custGeom>
            <a:avLst/>
            <a:gdLst/>
            <a:ahLst/>
            <a:cxnLst/>
            <a:rect l="l" t="t" r="r" b="b"/>
            <a:pathLst>
              <a:path w="2173287" h="1450975">
                <a:moveTo>
                  <a:pt x="31747" y="0"/>
                </a:moveTo>
                <a:lnTo>
                  <a:pt x="2141540" y="0"/>
                </a:lnTo>
                <a:cubicBezTo>
                  <a:pt x="2159074" y="0"/>
                  <a:pt x="2173287" y="14214"/>
                  <a:pt x="2173287" y="31747"/>
                </a:cubicBezTo>
                <a:lnTo>
                  <a:pt x="2173287" y="1419228"/>
                </a:lnTo>
                <a:cubicBezTo>
                  <a:pt x="2173287" y="1436761"/>
                  <a:pt x="2159074" y="1450975"/>
                  <a:pt x="2141540" y="1450975"/>
                </a:cubicBezTo>
                <a:lnTo>
                  <a:pt x="31747" y="1450975"/>
                </a:lnTo>
                <a:cubicBezTo>
                  <a:pt x="14214" y="1450975"/>
                  <a:pt x="0" y="1436761"/>
                  <a:pt x="0" y="1419228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77530" y="294313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56629"/>
                </a:lnTo>
                <a:cubicBezTo>
                  <a:pt x="190500" y="49857"/>
                  <a:pt x="183282" y="45579"/>
                  <a:pt x="177329" y="48778"/>
                </a:cubicBezTo>
                <a:lnTo>
                  <a:pt x="119063" y="80144"/>
                </a:lnTo>
                <a:lnTo>
                  <a:pt x="119063" y="56629"/>
                </a:lnTo>
                <a:cubicBezTo>
                  <a:pt x="119063" y="49857"/>
                  <a:pt x="111844" y="45579"/>
                  <a:pt x="105891" y="48778"/>
                </a:cubicBezTo>
                <a:lnTo>
                  <a:pt x="47625" y="80144"/>
                </a:lnTo>
                <a:lnTo>
                  <a:pt x="47625" y="23812"/>
                </a:lnTo>
                <a:cubicBezTo>
                  <a:pt x="47625" y="17227"/>
                  <a:pt x="42304" y="11906"/>
                  <a:pt x="35719" y="11906"/>
                </a:cubicBezTo>
                <a:lnTo>
                  <a:pt x="11906" y="1190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3055342" y="2943130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Industry Relevance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753717" y="3228880"/>
            <a:ext cx="1968500" cy="72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Addresses real market needs for accessible cloud orchestration, with direct application to startup and SME deployment challenges.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26509" y="2812949"/>
            <a:ext cx="2173287" cy="1450975"/>
          </a:xfrm>
          <a:custGeom>
            <a:avLst/>
            <a:gdLst/>
            <a:ahLst/>
            <a:cxnLst/>
            <a:rect l="l" t="t" r="r" b="b"/>
            <a:pathLst>
              <a:path w="2173287" h="1450975">
                <a:moveTo>
                  <a:pt x="31747" y="0"/>
                </a:moveTo>
                <a:lnTo>
                  <a:pt x="2141540" y="0"/>
                </a:lnTo>
                <a:cubicBezTo>
                  <a:pt x="2159074" y="0"/>
                  <a:pt x="2173287" y="14214"/>
                  <a:pt x="2173287" y="31747"/>
                </a:cubicBezTo>
                <a:lnTo>
                  <a:pt x="2173287" y="1419228"/>
                </a:lnTo>
                <a:cubicBezTo>
                  <a:pt x="2173287" y="1436761"/>
                  <a:pt x="2159074" y="1450975"/>
                  <a:pt x="2141540" y="1450975"/>
                </a:cubicBezTo>
                <a:lnTo>
                  <a:pt x="31747" y="1450975"/>
                </a:lnTo>
                <a:cubicBezTo>
                  <a:pt x="14214" y="1450975"/>
                  <a:pt x="0" y="1436761"/>
                  <a:pt x="0" y="1419228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80496" y="294313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5358309" y="2943130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56684" y="3228880"/>
            <a:ext cx="1968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Integrates cutting-edge technologies including LLM-powered troubleshooting, shift-left security, and FinOps cost management in a unified platform.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20675" y="4427045"/>
            <a:ext cx="6777038" cy="1339850"/>
          </a:xfrm>
          <a:custGeom>
            <a:avLst/>
            <a:gdLst/>
            <a:ahLst/>
            <a:cxnLst/>
            <a:rect l="l" t="t" r="r" b="b"/>
            <a:pathLst>
              <a:path w="6777038" h="1339850">
                <a:moveTo>
                  <a:pt x="31754" y="0"/>
                </a:moveTo>
                <a:lnTo>
                  <a:pt x="6745283" y="0"/>
                </a:lnTo>
                <a:cubicBezTo>
                  <a:pt x="6762821" y="0"/>
                  <a:pt x="6777038" y="14217"/>
                  <a:pt x="6777038" y="31754"/>
                </a:cubicBezTo>
                <a:lnTo>
                  <a:pt x="6777038" y="1308096"/>
                </a:lnTo>
                <a:cubicBezTo>
                  <a:pt x="6777038" y="1325633"/>
                  <a:pt x="6762821" y="1339850"/>
                  <a:pt x="6745283" y="1339850"/>
                </a:cubicBezTo>
                <a:lnTo>
                  <a:pt x="31754" y="1339850"/>
                </a:lnTo>
                <a:cubicBezTo>
                  <a:pt x="14217" y="1339850"/>
                  <a:pt x="0" y="1325633"/>
                  <a:pt x="0" y="1308096"/>
                </a:cubicBezTo>
                <a:lnTo>
                  <a:pt x="0" y="31754"/>
                </a:lnTo>
                <a:cubicBezTo>
                  <a:pt x="0" y="14217"/>
                  <a:pt x="14217" y="0"/>
                  <a:pt x="31754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600" y="4588968"/>
            <a:ext cx="652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2444" y="496996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756444" y="4938218"/>
            <a:ext cx="183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Zero-Configuration Deployment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6444" y="5096968"/>
            <a:ext cx="1825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code-to-infrastructure mapping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775869" y="496996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4029869" y="4938218"/>
            <a:ext cx="171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70% Cost Reduction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029869" y="5096968"/>
            <a:ext cx="1706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Fargate Spot with Infracost transparency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02444" y="535086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756444" y="5319117"/>
            <a:ext cx="169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Shift-Left Security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56444" y="5477867"/>
            <a:ext cx="1682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Mandatory Trivy vulnerability scanning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775869" y="535086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4029869" y="5319117"/>
            <a:ext cx="173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AI-Powered Support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029869" y="5477867"/>
            <a:ext cx="1730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Conversational troubleshooting assistant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356475" y="1273175"/>
            <a:ext cx="4514850" cy="4411663"/>
          </a:xfrm>
          <a:custGeom>
            <a:avLst/>
            <a:gdLst/>
            <a:ahLst/>
            <a:cxnLst/>
            <a:rect l="l" t="t" r="r" b="b"/>
            <a:pathLst>
              <a:path w="4514850" h="4411663">
                <a:moveTo>
                  <a:pt x="31764" y="0"/>
                </a:moveTo>
                <a:lnTo>
                  <a:pt x="4483086" y="0"/>
                </a:lnTo>
                <a:cubicBezTo>
                  <a:pt x="4500629" y="0"/>
                  <a:pt x="4514850" y="14221"/>
                  <a:pt x="4514850" y="31764"/>
                </a:cubicBezTo>
                <a:lnTo>
                  <a:pt x="4514850" y="4379899"/>
                </a:lnTo>
                <a:cubicBezTo>
                  <a:pt x="4514850" y="4397441"/>
                  <a:pt x="4500629" y="4411663"/>
                  <a:pt x="4483086" y="4411663"/>
                </a:cubicBezTo>
                <a:lnTo>
                  <a:pt x="31764" y="4411663"/>
                </a:lnTo>
                <a:cubicBezTo>
                  <a:pt x="14221" y="4411663"/>
                  <a:pt x="0" y="4397441"/>
                  <a:pt x="0" y="4379899"/>
                </a:cubicBezTo>
                <a:lnTo>
                  <a:pt x="0" y="31764"/>
                </a:lnTo>
                <a:cubicBezTo>
                  <a:pt x="0" y="14233"/>
                  <a:pt x="14233" y="0"/>
                  <a:pt x="31764" y="0"/>
                </a:cubicBezTo>
                <a:close/>
              </a:path>
            </a:pathLst>
          </a:custGeom>
          <a:solidFill>
            <a:srgbClr val="F9FA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18400" y="1435098"/>
            <a:ext cx="423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6: Project Impact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21575" y="1692180"/>
            <a:ext cx="4181475" cy="1022350"/>
          </a:xfrm>
          <a:custGeom>
            <a:avLst/>
            <a:gdLst/>
            <a:ahLst/>
            <a:cxnLst/>
            <a:rect l="l" t="t" r="r" b="b"/>
            <a:pathLst>
              <a:path w="4181475" h="1022350">
                <a:moveTo>
                  <a:pt x="31754" y="0"/>
                </a:moveTo>
                <a:lnTo>
                  <a:pt x="4149721" y="0"/>
                </a:lnTo>
                <a:cubicBezTo>
                  <a:pt x="4167258" y="0"/>
                  <a:pt x="4181475" y="14217"/>
                  <a:pt x="4181475" y="31754"/>
                </a:cubicBezTo>
                <a:lnTo>
                  <a:pt x="4181475" y="990596"/>
                </a:lnTo>
                <a:cubicBezTo>
                  <a:pt x="4181475" y="1008133"/>
                  <a:pt x="4167258" y="1022350"/>
                  <a:pt x="4149721" y="1022350"/>
                </a:cubicBezTo>
                <a:lnTo>
                  <a:pt x="31754" y="1022350"/>
                </a:lnTo>
                <a:cubicBezTo>
                  <a:pt x="14217" y="1022350"/>
                  <a:pt x="0" y="1008133"/>
                  <a:pt x="0" y="990596"/>
                </a:cubicBezTo>
                <a:lnTo>
                  <a:pt x="0" y="31754"/>
                </a:lnTo>
                <a:cubicBezTo>
                  <a:pt x="0" y="14229"/>
                  <a:pt x="14229" y="0"/>
                  <a:pt x="3175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435307" y="1822354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7"/>
          <p:cNvSpPr/>
          <p:nvPr/>
        </p:nvSpPr>
        <p:spPr>
          <a:xfrm>
            <a:off x="7477125" y="2171604"/>
            <a:ext cx="4270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SMEs &amp; Startups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496969" y="2425503"/>
            <a:ext cx="423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Primary beneficiaries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542463" y="284460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Shape 40"/>
          <p:cNvSpPr/>
          <p:nvPr/>
        </p:nvSpPr>
        <p:spPr>
          <a:xfrm>
            <a:off x="7518400" y="3162102"/>
            <a:ext cx="4191000" cy="936625"/>
          </a:xfrm>
          <a:custGeom>
            <a:avLst/>
            <a:gdLst/>
            <a:ahLst/>
            <a:cxnLst/>
            <a:rect l="l" t="t" r="r" b="b"/>
            <a:pathLst>
              <a:path w="4191000" h="936625">
                <a:moveTo>
                  <a:pt x="31752" y="0"/>
                </a:moveTo>
                <a:lnTo>
                  <a:pt x="4159248" y="0"/>
                </a:lnTo>
                <a:cubicBezTo>
                  <a:pt x="4176784" y="0"/>
                  <a:pt x="4191000" y="14216"/>
                  <a:pt x="4191000" y="31752"/>
                </a:cubicBezTo>
                <a:lnTo>
                  <a:pt x="4191000" y="904873"/>
                </a:lnTo>
                <a:cubicBezTo>
                  <a:pt x="4191000" y="922409"/>
                  <a:pt x="4176784" y="936625"/>
                  <a:pt x="4159248" y="936625"/>
                </a:cubicBezTo>
                <a:lnTo>
                  <a:pt x="31752" y="936625"/>
                </a:lnTo>
                <a:cubicBezTo>
                  <a:pt x="14216" y="936625"/>
                  <a:pt x="0" y="922409"/>
                  <a:pt x="0" y="904873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9496822" y="328910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21202" y="0"/>
                  <a:pt x="123341" y="465"/>
                  <a:pt x="125295" y="1349"/>
                </a:cubicBezTo>
                <a:lnTo>
                  <a:pt x="212917" y="38509"/>
                </a:lnTo>
                <a:cubicBezTo>
                  <a:pt x="223149" y="42835"/>
                  <a:pt x="230777" y="52927"/>
                  <a:pt x="230730" y="65112"/>
                </a:cubicBezTo>
                <a:cubicBezTo>
                  <a:pt x="230498" y="111249"/>
                  <a:pt x="211522" y="195662"/>
                  <a:pt x="131387" y="234032"/>
                </a:cubicBezTo>
                <a:cubicBezTo>
                  <a:pt x="123620" y="237753"/>
                  <a:pt x="114598" y="237753"/>
                  <a:pt x="106831" y="234032"/>
                </a:cubicBezTo>
                <a:cubicBezTo>
                  <a:pt x="26650" y="195662"/>
                  <a:pt x="7720" y="111249"/>
                  <a:pt x="7488" y="65112"/>
                </a:cubicBezTo>
                <a:cubicBezTo>
                  <a:pt x="7441" y="52927"/>
                  <a:pt x="15069" y="42835"/>
                  <a:pt x="25301" y="38509"/>
                </a:cubicBezTo>
                <a:lnTo>
                  <a:pt x="112877" y="1349"/>
                </a:lnTo>
                <a:cubicBezTo>
                  <a:pt x="114830" y="465"/>
                  <a:pt x="116923" y="0"/>
                  <a:pt x="119062" y="0"/>
                </a:cubicBezTo>
                <a:close/>
                <a:moveTo>
                  <a:pt x="119062" y="31068"/>
                </a:moveTo>
                <a:lnTo>
                  <a:pt x="119062" y="206918"/>
                </a:lnTo>
                <a:cubicBezTo>
                  <a:pt x="183245" y="175850"/>
                  <a:pt x="200499" y="107017"/>
                  <a:pt x="200918" y="65810"/>
                </a:cubicBezTo>
                <a:lnTo>
                  <a:pt x="119062" y="31114"/>
                </a:lnTo>
                <a:lnTo>
                  <a:pt x="119062" y="311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7478713" y="3590727"/>
            <a:ext cx="427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DeployGuard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90619" y="3812977"/>
            <a:ext cx="424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Democratizing DevOps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542463" y="422572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7521575" y="4546402"/>
            <a:ext cx="2054225" cy="450850"/>
          </a:xfrm>
          <a:custGeom>
            <a:avLst/>
            <a:gdLst/>
            <a:ahLst/>
            <a:cxnLst/>
            <a:rect l="l" t="t" r="r" b="b"/>
            <a:pathLst>
              <a:path w="2054225" h="450850">
                <a:moveTo>
                  <a:pt x="31749" y="0"/>
                </a:moveTo>
                <a:lnTo>
                  <a:pt x="2022476" y="0"/>
                </a:lnTo>
                <a:cubicBezTo>
                  <a:pt x="2039999" y="0"/>
                  <a:pt x="2054225" y="14226"/>
                  <a:pt x="2054225" y="31749"/>
                </a:cubicBezTo>
                <a:lnTo>
                  <a:pt x="2054225" y="419101"/>
                </a:lnTo>
                <a:cubicBezTo>
                  <a:pt x="2054225" y="436624"/>
                  <a:pt x="2039999" y="450850"/>
                  <a:pt x="2022476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494713" y="463212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7"/>
          <p:cNvSpPr/>
          <p:nvPr/>
        </p:nvSpPr>
        <p:spPr>
          <a:xfrm>
            <a:off x="7500938" y="4803575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Faster Deployment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9648826" y="4546402"/>
            <a:ext cx="2054225" cy="450850"/>
          </a:xfrm>
          <a:custGeom>
            <a:avLst/>
            <a:gdLst/>
            <a:ahLst/>
            <a:cxnLst/>
            <a:rect l="l" t="t" r="r" b="b"/>
            <a:pathLst>
              <a:path w="2054225" h="450850">
                <a:moveTo>
                  <a:pt x="31749" y="0"/>
                </a:moveTo>
                <a:lnTo>
                  <a:pt x="2022476" y="0"/>
                </a:lnTo>
                <a:cubicBezTo>
                  <a:pt x="2039999" y="0"/>
                  <a:pt x="2054225" y="14226"/>
                  <a:pt x="2054225" y="31749"/>
                </a:cubicBezTo>
                <a:lnTo>
                  <a:pt x="2054225" y="419101"/>
                </a:lnTo>
                <a:cubicBezTo>
                  <a:pt x="2054225" y="436624"/>
                  <a:pt x="2039999" y="450850"/>
                  <a:pt x="2022476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637838" y="4632128"/>
            <a:ext cx="79375" cy="127000"/>
          </a:xfrm>
          <a:custGeom>
            <a:avLst/>
            <a:gdLst/>
            <a:ahLst/>
            <a:cxnLst/>
            <a:rect l="l" t="t" r="r" b="b"/>
            <a:pathLst>
              <a:path w="79375" h="127000">
                <a:moveTo>
                  <a:pt x="33734" y="5953"/>
                </a:moveTo>
                <a:cubicBezTo>
                  <a:pt x="33734" y="2654"/>
                  <a:pt x="36388" y="0"/>
                  <a:pt x="39688" y="0"/>
                </a:cubicBezTo>
                <a:cubicBezTo>
                  <a:pt x="42987" y="0"/>
                  <a:pt x="45641" y="2654"/>
                  <a:pt x="45641" y="5953"/>
                </a:cubicBezTo>
                <a:lnTo>
                  <a:pt x="45641" y="15875"/>
                </a:lnTo>
                <a:lnTo>
                  <a:pt x="59531" y="15875"/>
                </a:lnTo>
                <a:cubicBezTo>
                  <a:pt x="63922" y="15875"/>
                  <a:pt x="67469" y="19422"/>
                  <a:pt x="67469" y="23812"/>
                </a:cubicBezTo>
                <a:cubicBezTo>
                  <a:pt x="67469" y="28203"/>
                  <a:pt x="63922" y="31750"/>
                  <a:pt x="59531" y="31750"/>
                </a:cubicBezTo>
                <a:lnTo>
                  <a:pt x="31031" y="31750"/>
                </a:lnTo>
                <a:cubicBezTo>
                  <a:pt x="24854" y="31750"/>
                  <a:pt x="19844" y="36761"/>
                  <a:pt x="19844" y="42937"/>
                </a:cubicBezTo>
                <a:cubicBezTo>
                  <a:pt x="19844" y="48518"/>
                  <a:pt x="23937" y="53231"/>
                  <a:pt x="29443" y="54025"/>
                </a:cubicBezTo>
                <a:lnTo>
                  <a:pt x="52164" y="57274"/>
                </a:lnTo>
                <a:cubicBezTo>
                  <a:pt x="65509" y="59184"/>
                  <a:pt x="75406" y="70594"/>
                  <a:pt x="75406" y="84063"/>
                </a:cubicBezTo>
                <a:cubicBezTo>
                  <a:pt x="75406" y="99020"/>
                  <a:pt x="63277" y="111125"/>
                  <a:pt x="48344" y="111125"/>
                </a:cubicBezTo>
                <a:lnTo>
                  <a:pt x="45641" y="111125"/>
                </a:lnTo>
                <a:lnTo>
                  <a:pt x="45641" y="121047"/>
                </a:lnTo>
                <a:cubicBezTo>
                  <a:pt x="45641" y="124346"/>
                  <a:pt x="42987" y="127000"/>
                  <a:pt x="39688" y="127000"/>
                </a:cubicBezTo>
                <a:cubicBezTo>
                  <a:pt x="36388" y="127000"/>
                  <a:pt x="33734" y="124346"/>
                  <a:pt x="33734" y="121047"/>
                </a:cubicBezTo>
                <a:lnTo>
                  <a:pt x="33734" y="111125"/>
                </a:lnTo>
                <a:lnTo>
                  <a:pt x="15875" y="111125"/>
                </a:lnTo>
                <a:cubicBezTo>
                  <a:pt x="11485" y="111125"/>
                  <a:pt x="7938" y="107578"/>
                  <a:pt x="7938" y="103188"/>
                </a:cubicBezTo>
                <a:cubicBezTo>
                  <a:pt x="7938" y="98797"/>
                  <a:pt x="11485" y="95250"/>
                  <a:pt x="15875" y="95250"/>
                </a:cubicBezTo>
                <a:lnTo>
                  <a:pt x="48344" y="95250"/>
                </a:lnTo>
                <a:cubicBezTo>
                  <a:pt x="54521" y="95250"/>
                  <a:pt x="59531" y="90239"/>
                  <a:pt x="59531" y="84063"/>
                </a:cubicBezTo>
                <a:cubicBezTo>
                  <a:pt x="59531" y="78482"/>
                  <a:pt x="55438" y="73769"/>
                  <a:pt x="49932" y="72975"/>
                </a:cubicBezTo>
                <a:lnTo>
                  <a:pt x="27211" y="69726"/>
                </a:lnTo>
                <a:cubicBezTo>
                  <a:pt x="13866" y="67841"/>
                  <a:pt x="3969" y="56406"/>
                  <a:pt x="3969" y="42937"/>
                </a:cubicBezTo>
                <a:cubicBezTo>
                  <a:pt x="3969" y="28004"/>
                  <a:pt x="16098" y="15875"/>
                  <a:pt x="31031" y="15875"/>
                </a:cubicBezTo>
                <a:lnTo>
                  <a:pt x="33734" y="15875"/>
                </a:lnTo>
                <a:lnTo>
                  <a:pt x="33734" y="595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0"/>
          <p:cNvSpPr/>
          <p:nvPr/>
        </p:nvSpPr>
        <p:spPr>
          <a:xfrm>
            <a:off x="9628188" y="4803575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Lower Costs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521575" y="5067005"/>
            <a:ext cx="2054225" cy="450850"/>
          </a:xfrm>
          <a:custGeom>
            <a:avLst/>
            <a:gdLst/>
            <a:ahLst/>
            <a:cxnLst/>
            <a:rect l="l" t="t" r="r" b="b"/>
            <a:pathLst>
              <a:path w="2054225" h="450850">
                <a:moveTo>
                  <a:pt x="31749" y="0"/>
                </a:moveTo>
                <a:lnTo>
                  <a:pt x="2022476" y="0"/>
                </a:lnTo>
                <a:cubicBezTo>
                  <a:pt x="2039999" y="0"/>
                  <a:pt x="2054225" y="14226"/>
                  <a:pt x="2054225" y="31749"/>
                </a:cubicBezTo>
                <a:lnTo>
                  <a:pt x="2054225" y="419101"/>
                </a:lnTo>
                <a:cubicBezTo>
                  <a:pt x="2054225" y="436624"/>
                  <a:pt x="2039999" y="450850"/>
                  <a:pt x="2022476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502651" y="515273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6" name="Text 53"/>
          <p:cNvSpPr/>
          <p:nvPr/>
        </p:nvSpPr>
        <p:spPr>
          <a:xfrm>
            <a:off x="7500938" y="5324179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Security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9648826" y="5067005"/>
            <a:ext cx="2054225" cy="450850"/>
          </a:xfrm>
          <a:custGeom>
            <a:avLst/>
            <a:gdLst/>
            <a:ahLst/>
            <a:cxnLst/>
            <a:rect l="l" t="t" r="r" b="b"/>
            <a:pathLst>
              <a:path w="2054225" h="450850">
                <a:moveTo>
                  <a:pt x="31749" y="0"/>
                </a:moveTo>
                <a:lnTo>
                  <a:pt x="2022476" y="0"/>
                </a:lnTo>
                <a:cubicBezTo>
                  <a:pt x="2039999" y="0"/>
                  <a:pt x="2054225" y="14226"/>
                  <a:pt x="2054225" y="31749"/>
                </a:cubicBezTo>
                <a:lnTo>
                  <a:pt x="2054225" y="419101"/>
                </a:lnTo>
                <a:cubicBezTo>
                  <a:pt x="2054225" y="436624"/>
                  <a:pt x="2039999" y="450850"/>
                  <a:pt x="2022476" y="450850"/>
                </a:cubicBezTo>
                <a:lnTo>
                  <a:pt x="31749" y="450850"/>
                </a:lnTo>
                <a:cubicBezTo>
                  <a:pt x="14226" y="450850"/>
                  <a:pt x="0" y="436624"/>
                  <a:pt x="0" y="4191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614026" y="515273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9" name="Text 56"/>
          <p:cNvSpPr/>
          <p:nvPr/>
        </p:nvSpPr>
        <p:spPr>
          <a:xfrm>
            <a:off x="9628188" y="5324179"/>
            <a:ext cx="2095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Support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353300" y="5844783"/>
            <a:ext cx="4524375" cy="1531938"/>
          </a:xfrm>
          <a:custGeom>
            <a:avLst/>
            <a:gdLst/>
            <a:ahLst/>
            <a:cxnLst/>
            <a:rect l="l" t="t" r="r" b="b"/>
            <a:pathLst>
              <a:path w="4524375" h="1531938">
                <a:moveTo>
                  <a:pt x="63499" y="0"/>
                </a:moveTo>
                <a:lnTo>
                  <a:pt x="4460876" y="0"/>
                </a:lnTo>
                <a:cubicBezTo>
                  <a:pt x="4495946" y="0"/>
                  <a:pt x="4524375" y="28429"/>
                  <a:pt x="4524375" y="63499"/>
                </a:cubicBezTo>
                <a:lnTo>
                  <a:pt x="4524375" y="1468439"/>
                </a:lnTo>
                <a:cubicBezTo>
                  <a:pt x="4524375" y="1503508"/>
                  <a:pt x="4495946" y="1531938"/>
                  <a:pt x="4460876" y="1531938"/>
                </a:cubicBezTo>
                <a:lnTo>
                  <a:pt x="63499" y="1531938"/>
                </a:lnTo>
                <a:cubicBezTo>
                  <a:pt x="28429" y="1531938"/>
                  <a:pt x="0" y="1503508"/>
                  <a:pt x="0" y="146843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1" name="Text 58"/>
          <p:cNvSpPr/>
          <p:nvPr/>
        </p:nvSpPr>
        <p:spPr>
          <a:xfrm>
            <a:off x="7512050" y="6003533"/>
            <a:ext cx="427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534871" y="634484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0"/>
          <p:cNvSpPr/>
          <p:nvPr/>
        </p:nvSpPr>
        <p:spPr>
          <a:xfrm>
            <a:off x="7714456" y="6321033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Hassan Sajjad (232460)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7534871" y="656709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2"/>
          <p:cNvSpPr/>
          <p:nvPr/>
        </p:nvSpPr>
        <p:spPr>
          <a:xfrm>
            <a:off x="7714456" y="6543283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Faria Fatima (233169)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534871" y="678934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4"/>
          <p:cNvSpPr/>
          <p:nvPr/>
        </p:nvSpPr>
        <p:spPr>
          <a:xfrm>
            <a:off x="7714456" y="6765533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Tania Khawar (232378)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7512050" y="6990958"/>
            <a:ext cx="4206875" cy="6350"/>
          </a:xfrm>
          <a:custGeom>
            <a:avLst/>
            <a:gdLst/>
            <a:ahLst/>
            <a:cxnLst/>
            <a:rect l="l" t="t" r="r" b="b"/>
            <a:pathLst>
              <a:path w="4206875" h="6350">
                <a:moveTo>
                  <a:pt x="0" y="0"/>
                </a:moveTo>
                <a:lnTo>
                  <a:pt x="4206875" y="0"/>
                </a:lnTo>
                <a:lnTo>
                  <a:pt x="42068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7514035" y="7081444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27781" y="20836"/>
                </a:moveTo>
                <a:cubicBezTo>
                  <a:pt x="27781" y="13174"/>
                  <a:pt x="34010" y="6945"/>
                  <a:pt x="41672" y="6945"/>
                </a:cubicBezTo>
                <a:lnTo>
                  <a:pt x="118070" y="6945"/>
                </a:lnTo>
                <a:cubicBezTo>
                  <a:pt x="125732" y="6945"/>
                  <a:pt x="131961" y="13174"/>
                  <a:pt x="131961" y="20836"/>
                </a:cubicBezTo>
                <a:lnTo>
                  <a:pt x="131961" y="72926"/>
                </a:lnTo>
                <a:lnTo>
                  <a:pt x="111125" y="72926"/>
                </a:lnTo>
                <a:lnTo>
                  <a:pt x="111125" y="69453"/>
                </a:lnTo>
                <a:cubicBezTo>
                  <a:pt x="111125" y="65611"/>
                  <a:pt x="108021" y="62508"/>
                  <a:pt x="104180" y="62508"/>
                </a:cubicBezTo>
                <a:lnTo>
                  <a:pt x="90289" y="62508"/>
                </a:lnTo>
                <a:cubicBezTo>
                  <a:pt x="86447" y="62508"/>
                  <a:pt x="83344" y="65611"/>
                  <a:pt x="83344" y="69453"/>
                </a:cubicBezTo>
                <a:lnTo>
                  <a:pt x="83344" y="72926"/>
                </a:lnTo>
                <a:lnTo>
                  <a:pt x="55324" y="72926"/>
                </a:lnTo>
                <a:cubicBezTo>
                  <a:pt x="57690" y="68845"/>
                  <a:pt x="59035" y="64092"/>
                  <a:pt x="59035" y="59035"/>
                </a:cubicBezTo>
                <a:cubicBezTo>
                  <a:pt x="59035" y="43690"/>
                  <a:pt x="46599" y="31254"/>
                  <a:pt x="31254" y="31254"/>
                </a:cubicBezTo>
                <a:cubicBezTo>
                  <a:pt x="30082" y="31254"/>
                  <a:pt x="28910" y="31319"/>
                  <a:pt x="27781" y="31471"/>
                </a:cubicBezTo>
                <a:lnTo>
                  <a:pt x="27781" y="20836"/>
                </a:lnTo>
                <a:close/>
                <a:moveTo>
                  <a:pt x="72275" y="97234"/>
                </a:moveTo>
                <a:cubicBezTo>
                  <a:pt x="71168" y="91982"/>
                  <a:pt x="68737" y="87229"/>
                  <a:pt x="65308" y="83344"/>
                </a:cubicBezTo>
                <a:lnTo>
                  <a:pt x="131961" y="83344"/>
                </a:lnTo>
                <a:cubicBezTo>
                  <a:pt x="131961" y="91005"/>
                  <a:pt x="125732" y="97234"/>
                  <a:pt x="118070" y="97234"/>
                </a:cubicBezTo>
                <a:lnTo>
                  <a:pt x="72275" y="97234"/>
                </a:lnTo>
                <a:close/>
                <a:moveTo>
                  <a:pt x="13891" y="59035"/>
                </a:moveTo>
                <a:cubicBezTo>
                  <a:pt x="13891" y="49452"/>
                  <a:pt x="21671" y="41672"/>
                  <a:pt x="31254" y="41672"/>
                </a:cubicBezTo>
                <a:cubicBezTo>
                  <a:pt x="40837" y="41672"/>
                  <a:pt x="48617" y="49452"/>
                  <a:pt x="48617" y="59035"/>
                </a:cubicBezTo>
                <a:cubicBezTo>
                  <a:pt x="48617" y="68618"/>
                  <a:pt x="40837" y="76398"/>
                  <a:pt x="31254" y="76398"/>
                </a:cubicBezTo>
                <a:cubicBezTo>
                  <a:pt x="21671" y="76398"/>
                  <a:pt x="13891" y="68618"/>
                  <a:pt x="13891" y="59035"/>
                </a:cubicBezTo>
                <a:close/>
                <a:moveTo>
                  <a:pt x="0" y="104180"/>
                </a:moveTo>
                <a:cubicBezTo>
                  <a:pt x="0" y="92677"/>
                  <a:pt x="9333" y="83344"/>
                  <a:pt x="20836" y="83344"/>
                </a:cubicBezTo>
                <a:lnTo>
                  <a:pt x="41672" y="83344"/>
                </a:lnTo>
                <a:cubicBezTo>
                  <a:pt x="53175" y="83344"/>
                  <a:pt x="62508" y="92677"/>
                  <a:pt x="62508" y="104180"/>
                </a:cubicBezTo>
                <a:cubicBezTo>
                  <a:pt x="62508" y="108021"/>
                  <a:pt x="59404" y="111125"/>
                  <a:pt x="55563" y="111125"/>
                </a:cubicBezTo>
                <a:lnTo>
                  <a:pt x="6945" y="111125"/>
                </a:lnTo>
                <a:cubicBezTo>
                  <a:pt x="3104" y="111125"/>
                  <a:pt x="0" y="108021"/>
                  <a:pt x="0" y="1041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Text 67"/>
          <p:cNvSpPr/>
          <p:nvPr/>
        </p:nvSpPr>
        <p:spPr>
          <a:xfrm>
            <a:off x="7714456" y="7057631"/>
            <a:ext cx="1587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Supervisor: Sir Yaseen Mushtaq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281781" y="7502131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Air University Islamabad | Department of Computer Science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289719" y="7724381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Final Year Project Proposal | Academic Year 2024-2025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DeployGuard: A Reliable Repository Scanning and Deployment Orchestration System</dc:title>
  <dc:subject>DeployGuard: A Reliable Repository Scanning and Deployment Orchestration System</dc:subject>
  <dc:creator>Kimi</dc:creator>
  <cp:lastModifiedBy>Kimi</cp:lastModifiedBy>
  <cp:revision>1</cp:revision>
  <dcterms:created xsi:type="dcterms:W3CDTF">2026-03-02T14:25:45Z</dcterms:created>
  <dcterms:modified xsi:type="dcterms:W3CDTF">2026-03-02T14:25:45Z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{"Label":"DeployGuard: A Reliable Repository Scanning and Deployment Orchestration System","ContentProducer":"001191110108MACG2KBH8F10000","ProduceID":"19caeeb5-e3e2-878b-8000-00004c1d4c9e","ReservedCode1":"","ContentPropagator":"001191110108MACG2KBH8F20000","PropagateID":"19caeeb5-e3e2-878b-8000-00004c1d4c9e","ReservedCode2":""}</vt:lpwstr>
  </property>
</Properties>
</file>